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60" r:id="rId4"/>
  </p:sldMasterIdLst>
  <p:notesMasterIdLst>
    <p:notesMasterId r:id="rId8"/>
  </p:notesMasterIdLst>
  <p:sldIdLst>
    <p:sldId id="256" r:id="rId5"/>
    <p:sldId id="257" r:id="rId6"/>
    <p:sldId id="259" r:id="rId7"/>
  </p:sldIdLst>
  <p:sldSz cx="43891200" cy="32918400"/>
  <p:notesSz cx="6858000" cy="9144000"/>
  <p:defaultTextStyle>
    <a:defPPr>
      <a:defRPr lang="en-US"/>
    </a:defPPr>
    <a:lvl1pPr algn="l" defTabSz="3677211" rtl="0" eaLnBrk="0" fontAlgn="base" hangingPunct="0">
      <a:spcBef>
        <a:spcPct val="0"/>
      </a:spcBef>
      <a:spcAft>
        <a:spcPct val="0"/>
      </a:spcAft>
      <a:defRPr sz="6989" kern="1200">
        <a:solidFill>
          <a:schemeClr val="tx1"/>
        </a:solidFill>
        <a:latin typeface="Arial" charset="0"/>
        <a:ea typeface="+mn-ea"/>
        <a:cs typeface="+mn-cs"/>
      </a:defRPr>
    </a:lvl1pPr>
    <a:lvl2pPr marL="1834340" indent="622826" algn="l" defTabSz="3677211" rtl="0" eaLnBrk="0" fontAlgn="base" hangingPunct="0">
      <a:spcBef>
        <a:spcPct val="0"/>
      </a:spcBef>
      <a:spcAft>
        <a:spcPct val="0"/>
      </a:spcAft>
      <a:defRPr sz="6989" kern="1200">
        <a:solidFill>
          <a:schemeClr val="tx1"/>
        </a:solidFill>
        <a:latin typeface="Arial" charset="0"/>
        <a:ea typeface="+mn-ea"/>
        <a:cs typeface="+mn-cs"/>
      </a:defRPr>
    </a:lvl2pPr>
    <a:lvl3pPr marL="3677211" indent="1237113" algn="l" defTabSz="3677211" rtl="0" eaLnBrk="0" fontAlgn="base" hangingPunct="0">
      <a:spcBef>
        <a:spcPct val="0"/>
      </a:spcBef>
      <a:spcAft>
        <a:spcPct val="0"/>
      </a:spcAft>
      <a:defRPr sz="6989" kern="1200">
        <a:solidFill>
          <a:schemeClr val="tx1"/>
        </a:solidFill>
        <a:latin typeface="Arial" charset="0"/>
        <a:ea typeface="+mn-ea"/>
        <a:cs typeface="+mn-cs"/>
      </a:defRPr>
    </a:lvl3pPr>
    <a:lvl4pPr marL="5520080" indent="1851405" algn="l" defTabSz="3677211" rtl="0" eaLnBrk="0" fontAlgn="base" hangingPunct="0">
      <a:spcBef>
        <a:spcPct val="0"/>
      </a:spcBef>
      <a:spcAft>
        <a:spcPct val="0"/>
      </a:spcAft>
      <a:defRPr sz="6989" kern="1200">
        <a:solidFill>
          <a:schemeClr val="tx1"/>
        </a:solidFill>
        <a:latin typeface="Arial" charset="0"/>
        <a:ea typeface="+mn-ea"/>
        <a:cs typeface="+mn-cs"/>
      </a:defRPr>
    </a:lvl4pPr>
    <a:lvl5pPr marL="7362950" indent="2465698" algn="l" defTabSz="3677211" rtl="0" eaLnBrk="0" fontAlgn="base" hangingPunct="0">
      <a:spcBef>
        <a:spcPct val="0"/>
      </a:spcBef>
      <a:spcAft>
        <a:spcPct val="0"/>
      </a:spcAft>
      <a:defRPr sz="6989" kern="1200">
        <a:solidFill>
          <a:schemeClr val="tx1"/>
        </a:solidFill>
        <a:latin typeface="Arial" charset="0"/>
        <a:ea typeface="+mn-ea"/>
        <a:cs typeface="+mn-cs"/>
      </a:defRPr>
    </a:lvl5pPr>
    <a:lvl6pPr marL="12285802" algn="l" defTabSz="4914318" rtl="0" eaLnBrk="1" latinLnBrk="0" hangingPunct="1">
      <a:defRPr sz="6989" kern="1200">
        <a:solidFill>
          <a:schemeClr val="tx1"/>
        </a:solidFill>
        <a:latin typeface="Arial" charset="0"/>
        <a:ea typeface="+mn-ea"/>
        <a:cs typeface="+mn-cs"/>
      </a:defRPr>
    </a:lvl6pPr>
    <a:lvl7pPr marL="14742958" algn="l" defTabSz="4914318" rtl="0" eaLnBrk="1" latinLnBrk="0" hangingPunct="1">
      <a:defRPr sz="6989" kern="1200">
        <a:solidFill>
          <a:schemeClr val="tx1"/>
        </a:solidFill>
        <a:latin typeface="Arial" charset="0"/>
        <a:ea typeface="+mn-ea"/>
        <a:cs typeface="+mn-cs"/>
      </a:defRPr>
    </a:lvl7pPr>
    <a:lvl8pPr marL="17200121" algn="l" defTabSz="4914318" rtl="0" eaLnBrk="1" latinLnBrk="0" hangingPunct="1">
      <a:defRPr sz="6989" kern="1200">
        <a:solidFill>
          <a:schemeClr val="tx1"/>
        </a:solidFill>
        <a:latin typeface="Arial" charset="0"/>
        <a:ea typeface="+mn-ea"/>
        <a:cs typeface="+mn-cs"/>
      </a:defRPr>
    </a:lvl8pPr>
    <a:lvl9pPr marL="19657281" algn="l" defTabSz="4914318" rtl="0" eaLnBrk="1" latinLnBrk="0" hangingPunct="1">
      <a:defRPr sz="6989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FF1A69-D84C-0747-911C-AC869D6DB898}">
          <p14:sldIdLst>
            <p14:sldId id="256"/>
            <p14:sldId id="257"/>
          </p14:sldIdLst>
        </p14:section>
        <p14:section name="Example" id="{FD2E2EF3-5BBD-0143-BB1B-DE35163E604C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188" userDrawn="1">
          <p15:clr>
            <a:srgbClr val="A4A3A4"/>
          </p15:clr>
        </p15:guide>
        <p15:guide id="2" pos="13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413CC6-001D-5AD0-BF20-948BA2BD4D06}" name="Kurtoglu, Furkan" initials="KF" userId="S::fkurtog@iu.edu::86b2b648-d831-401f-9d0d-3f03d731289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006297"/>
    <a:srgbClr val="924646"/>
    <a:srgbClr val="A80532"/>
    <a:srgbClr val="FF00FF"/>
    <a:srgbClr val="009BDC"/>
    <a:srgbClr val="00B0F0"/>
    <a:srgbClr val="CECECE"/>
    <a:srgbClr val="D2D2D2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CFB5ED-EE96-9340-B925-63DAE707E8DC}" v="56" dt="2025-07-21T15:16:23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88"/>
  </p:normalViewPr>
  <p:slideViewPr>
    <p:cSldViewPr snapToGrid="0">
      <p:cViewPr varScale="1">
        <p:scale>
          <a:sx n="25" d="100"/>
          <a:sy n="25" d="100"/>
        </p:scale>
        <p:origin x="1992" y="248"/>
      </p:cViewPr>
      <p:guideLst>
        <p:guide orient="horz" pos="10188"/>
        <p:guide pos="137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indiana.sharepoint.com/sites/msteams_cc5351/Shared%20Documents/Undergraduate%20Research/Fall%202023/390/PacMan%20sample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000" b="1" i="0" u="none" strike="noStrike" kern="1200" spc="0" baseline="0" dirty="0">
                <a:solidFill>
                  <a:schemeClr val="tx1"/>
                </a:solidFill>
                <a:latin typeface="Calibri" panose="020F0502020204030204"/>
              </a:rPr>
              <a:t>Survival Time (Human Control)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Time</c:v>
                </c:pt>
              </c:strCache>
            </c:strRef>
          </c:tx>
          <c:spPr>
            <a:ln w="762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errBars>
            <c:errDir val="x"/>
            <c:errBarType val="both"/>
            <c:errValType val="fixedVal"/>
            <c:noEndCap val="1"/>
            <c:val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errBars>
            <c:errDir val="y"/>
            <c:errBarType val="both"/>
            <c:errValType val="cust"/>
            <c:noEndCap val="0"/>
            <c:plus>
              <c:numRef>
                <c:f>Sheet1!$C$2:$C$12</c:f>
                <c:numCache>
                  <c:formatCode>General</c:formatCode>
                  <c:ptCount val="11"/>
                  <c:pt idx="0">
                    <c:v>28</c:v>
                  </c:pt>
                  <c:pt idx="1">
                    <c:v>35</c:v>
                  </c:pt>
                  <c:pt idx="2">
                    <c:v>39</c:v>
                  </c:pt>
                  <c:pt idx="3">
                    <c:v>35</c:v>
                  </c:pt>
                  <c:pt idx="4">
                    <c:v>34</c:v>
                  </c:pt>
                  <c:pt idx="5">
                    <c:v>33</c:v>
                  </c:pt>
                  <c:pt idx="6">
                    <c:v>35</c:v>
                  </c:pt>
                  <c:pt idx="7">
                    <c:v>30</c:v>
                  </c:pt>
                  <c:pt idx="8">
                    <c:v>28</c:v>
                  </c:pt>
                  <c:pt idx="9">
                    <c:v>25</c:v>
                  </c:pt>
                  <c:pt idx="10">
                    <c:v>22</c:v>
                  </c:pt>
                </c:numCache>
              </c:numRef>
            </c:plus>
            <c:minus>
              <c:numRef>
                <c:f>Sheet1!$C$2:$C$12</c:f>
                <c:numCache>
                  <c:formatCode>General</c:formatCode>
                  <c:ptCount val="11"/>
                  <c:pt idx="0">
                    <c:v>28</c:v>
                  </c:pt>
                  <c:pt idx="1">
                    <c:v>35</c:v>
                  </c:pt>
                  <c:pt idx="2">
                    <c:v>39</c:v>
                  </c:pt>
                  <c:pt idx="3">
                    <c:v>35</c:v>
                  </c:pt>
                  <c:pt idx="4">
                    <c:v>34</c:v>
                  </c:pt>
                  <c:pt idx="5">
                    <c:v>33</c:v>
                  </c:pt>
                  <c:pt idx="6">
                    <c:v>35</c:v>
                  </c:pt>
                  <c:pt idx="7">
                    <c:v>30</c:v>
                  </c:pt>
                  <c:pt idx="8">
                    <c:v>28</c:v>
                  </c:pt>
                  <c:pt idx="9">
                    <c:v>25</c:v>
                  </c:pt>
                  <c:pt idx="10">
                    <c:v>22</c:v>
                  </c:pt>
                </c:numCache>
              </c:numRef>
            </c:minus>
            <c:spPr>
              <a:noFill/>
              <a:ln w="76200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w="lg" len="lg"/>
                <a:tailEnd w="lg" len="lg"/>
              </a:ln>
              <a:effectLst/>
            </c:spPr>
          </c:errBars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30</c:v>
                </c:pt>
                <c:pt idx="1">
                  <c:v>68</c:v>
                </c:pt>
                <c:pt idx="2">
                  <c:v>90</c:v>
                </c:pt>
                <c:pt idx="3">
                  <c:v>105</c:v>
                </c:pt>
                <c:pt idx="4">
                  <c:v>123</c:v>
                </c:pt>
                <c:pt idx="5">
                  <c:v>129</c:v>
                </c:pt>
                <c:pt idx="6">
                  <c:v>140</c:v>
                </c:pt>
                <c:pt idx="7">
                  <c:v>142</c:v>
                </c:pt>
                <c:pt idx="8">
                  <c:v>145</c:v>
                </c:pt>
                <c:pt idx="9">
                  <c:v>146</c:v>
                </c:pt>
                <c:pt idx="10">
                  <c:v>148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728-EA4E-8304-D358950F57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0086159"/>
        <c:axId val="167617936"/>
      </c:scatterChart>
      <c:valAx>
        <c:axId val="2060086159"/>
        <c:scaling>
          <c:orientation val="minMax"/>
          <c:max val="10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>
                    <a:solidFill>
                      <a:schemeClr val="tx1"/>
                    </a:solidFill>
                  </a:rPr>
                  <a:t>Training Week</a:t>
                </a:r>
              </a:p>
            </c:rich>
          </c:tx>
          <c:layout>
            <c:manualLayout>
              <c:xMode val="edge"/>
              <c:yMode val="edge"/>
              <c:x val="0.44157158748492303"/>
              <c:y val="0.6218413162897734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in"/>
        <c:minorTickMark val="in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17936"/>
        <c:crosses val="autoZero"/>
        <c:crossBetween val="midCat"/>
        <c:majorUnit val="2"/>
        <c:minorUnit val="1"/>
      </c:valAx>
      <c:valAx>
        <c:axId val="167617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>
                    <a:solidFill>
                      <a:schemeClr val="tx1"/>
                    </a:solidFill>
                  </a:rPr>
                  <a:t>Survival</a:t>
                </a:r>
                <a:r>
                  <a:rPr lang="en-US" sz="1400" b="1" baseline="0">
                    <a:solidFill>
                      <a:schemeClr val="tx1"/>
                    </a:solidFill>
                  </a:rPr>
                  <a:t> Time (sec)</a:t>
                </a:r>
                <a:endParaRPr lang="en-US" sz="1400" b="1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3.8662861672805028E-3"/>
              <c:y val="0.1606121779432446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0086159"/>
        <c:crossesAt val="0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>
                <a:solidFill>
                  <a:schemeClr val="tx1"/>
                </a:solidFill>
              </a:rPr>
              <a:t>Score through training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Sheet2!$L$1</c:f>
              <c:strCache>
                <c:ptCount val="1"/>
                <c:pt idx="0">
                  <c:v>score (before death)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Sheet2!$K$5:$K$165</c:f>
              <c:numCache>
                <c:formatCode>General</c:formatCode>
                <c:ptCount val="161"/>
                <c:pt idx="0">
                  <c:v>30000</c:v>
                </c:pt>
                <c:pt idx="1">
                  <c:v>40000</c:v>
                </c:pt>
                <c:pt idx="2">
                  <c:v>50000</c:v>
                </c:pt>
                <c:pt idx="3">
                  <c:v>60000</c:v>
                </c:pt>
                <c:pt idx="4">
                  <c:v>70000</c:v>
                </c:pt>
                <c:pt idx="5">
                  <c:v>80000</c:v>
                </c:pt>
                <c:pt idx="6">
                  <c:v>90000</c:v>
                </c:pt>
                <c:pt idx="7">
                  <c:v>100000</c:v>
                </c:pt>
                <c:pt idx="8">
                  <c:v>110000</c:v>
                </c:pt>
                <c:pt idx="9">
                  <c:v>120000</c:v>
                </c:pt>
                <c:pt idx="10">
                  <c:v>130000</c:v>
                </c:pt>
                <c:pt idx="11">
                  <c:v>140000</c:v>
                </c:pt>
                <c:pt idx="12">
                  <c:v>150000</c:v>
                </c:pt>
                <c:pt idx="13">
                  <c:v>160000</c:v>
                </c:pt>
                <c:pt idx="14">
                  <c:v>170000</c:v>
                </c:pt>
                <c:pt idx="15">
                  <c:v>180000</c:v>
                </c:pt>
                <c:pt idx="16">
                  <c:v>190000</c:v>
                </c:pt>
                <c:pt idx="17">
                  <c:v>200000</c:v>
                </c:pt>
                <c:pt idx="18">
                  <c:v>210000</c:v>
                </c:pt>
                <c:pt idx="19">
                  <c:v>220000</c:v>
                </c:pt>
                <c:pt idx="20">
                  <c:v>230000</c:v>
                </c:pt>
                <c:pt idx="21">
                  <c:v>240000</c:v>
                </c:pt>
                <c:pt idx="22">
                  <c:v>250000</c:v>
                </c:pt>
                <c:pt idx="23">
                  <c:v>260000</c:v>
                </c:pt>
                <c:pt idx="24">
                  <c:v>270000</c:v>
                </c:pt>
                <c:pt idx="25">
                  <c:v>280000</c:v>
                </c:pt>
                <c:pt idx="26">
                  <c:v>290000</c:v>
                </c:pt>
                <c:pt idx="27">
                  <c:v>300000</c:v>
                </c:pt>
                <c:pt idx="28">
                  <c:v>310000</c:v>
                </c:pt>
                <c:pt idx="29">
                  <c:v>320000</c:v>
                </c:pt>
                <c:pt idx="30">
                  <c:v>330000</c:v>
                </c:pt>
                <c:pt idx="31">
                  <c:v>340000</c:v>
                </c:pt>
                <c:pt idx="32">
                  <c:v>350000</c:v>
                </c:pt>
                <c:pt idx="33">
                  <c:v>360000</c:v>
                </c:pt>
                <c:pt idx="34">
                  <c:v>370000</c:v>
                </c:pt>
                <c:pt idx="35">
                  <c:v>380000</c:v>
                </c:pt>
                <c:pt idx="36">
                  <c:v>390000</c:v>
                </c:pt>
                <c:pt idx="37">
                  <c:v>400000</c:v>
                </c:pt>
                <c:pt idx="38">
                  <c:v>410000</c:v>
                </c:pt>
                <c:pt idx="39">
                  <c:v>420000</c:v>
                </c:pt>
                <c:pt idx="40">
                  <c:v>430000</c:v>
                </c:pt>
                <c:pt idx="41">
                  <c:v>440000</c:v>
                </c:pt>
                <c:pt idx="42">
                  <c:v>450000</c:v>
                </c:pt>
                <c:pt idx="43">
                  <c:v>460000</c:v>
                </c:pt>
                <c:pt idx="44">
                  <c:v>470000</c:v>
                </c:pt>
                <c:pt idx="45">
                  <c:v>480000</c:v>
                </c:pt>
                <c:pt idx="46">
                  <c:v>490000</c:v>
                </c:pt>
                <c:pt idx="47">
                  <c:v>500000</c:v>
                </c:pt>
                <c:pt idx="48">
                  <c:v>510000</c:v>
                </c:pt>
                <c:pt idx="49">
                  <c:v>520000</c:v>
                </c:pt>
                <c:pt idx="50">
                  <c:v>530000</c:v>
                </c:pt>
                <c:pt idx="51">
                  <c:v>540000</c:v>
                </c:pt>
                <c:pt idx="52">
                  <c:v>550000</c:v>
                </c:pt>
                <c:pt idx="53">
                  <c:v>560000</c:v>
                </c:pt>
                <c:pt idx="54">
                  <c:v>570000</c:v>
                </c:pt>
                <c:pt idx="55">
                  <c:v>580000</c:v>
                </c:pt>
                <c:pt idx="56">
                  <c:v>590000</c:v>
                </c:pt>
                <c:pt idx="57">
                  <c:v>600000</c:v>
                </c:pt>
                <c:pt idx="58">
                  <c:v>610000</c:v>
                </c:pt>
                <c:pt idx="59">
                  <c:v>620000</c:v>
                </c:pt>
                <c:pt idx="60">
                  <c:v>630000</c:v>
                </c:pt>
                <c:pt idx="61">
                  <c:v>640000</c:v>
                </c:pt>
                <c:pt idx="62">
                  <c:v>650000</c:v>
                </c:pt>
                <c:pt idx="63">
                  <c:v>660000</c:v>
                </c:pt>
                <c:pt idx="64">
                  <c:v>670000</c:v>
                </c:pt>
                <c:pt idx="65">
                  <c:v>680000</c:v>
                </c:pt>
                <c:pt idx="66">
                  <c:v>690000</c:v>
                </c:pt>
                <c:pt idx="67">
                  <c:v>700000</c:v>
                </c:pt>
                <c:pt idx="68">
                  <c:v>710000</c:v>
                </c:pt>
                <c:pt idx="69">
                  <c:v>720000</c:v>
                </c:pt>
                <c:pt idx="70">
                  <c:v>730000</c:v>
                </c:pt>
                <c:pt idx="71">
                  <c:v>740000</c:v>
                </c:pt>
                <c:pt idx="72">
                  <c:v>750000</c:v>
                </c:pt>
                <c:pt idx="73">
                  <c:v>760000</c:v>
                </c:pt>
                <c:pt idx="74">
                  <c:v>770000</c:v>
                </c:pt>
                <c:pt idx="75">
                  <c:v>780000</c:v>
                </c:pt>
                <c:pt idx="76">
                  <c:v>790000</c:v>
                </c:pt>
                <c:pt idx="77">
                  <c:v>800000</c:v>
                </c:pt>
                <c:pt idx="78">
                  <c:v>810000</c:v>
                </c:pt>
                <c:pt idx="79">
                  <c:v>820000</c:v>
                </c:pt>
                <c:pt idx="80">
                  <c:v>830000</c:v>
                </c:pt>
                <c:pt idx="81">
                  <c:v>840000</c:v>
                </c:pt>
                <c:pt idx="82">
                  <c:v>850000</c:v>
                </c:pt>
                <c:pt idx="83">
                  <c:v>860000</c:v>
                </c:pt>
                <c:pt idx="84">
                  <c:v>870000</c:v>
                </c:pt>
                <c:pt idx="85">
                  <c:v>880000</c:v>
                </c:pt>
                <c:pt idx="86">
                  <c:v>890000</c:v>
                </c:pt>
                <c:pt idx="87">
                  <c:v>900000</c:v>
                </c:pt>
                <c:pt idx="88">
                  <c:v>910000</c:v>
                </c:pt>
                <c:pt idx="89">
                  <c:v>920000</c:v>
                </c:pt>
                <c:pt idx="90">
                  <c:v>930000</c:v>
                </c:pt>
                <c:pt idx="91">
                  <c:v>940000</c:v>
                </c:pt>
                <c:pt idx="92">
                  <c:v>950000</c:v>
                </c:pt>
                <c:pt idx="93">
                  <c:v>960000</c:v>
                </c:pt>
                <c:pt idx="94">
                  <c:v>970000</c:v>
                </c:pt>
                <c:pt idx="95">
                  <c:v>980000</c:v>
                </c:pt>
                <c:pt idx="96">
                  <c:v>990000</c:v>
                </c:pt>
                <c:pt idx="97">
                  <c:v>1000000</c:v>
                </c:pt>
                <c:pt idx="98">
                  <c:v>1010000</c:v>
                </c:pt>
                <c:pt idx="99">
                  <c:v>1020000</c:v>
                </c:pt>
                <c:pt idx="100">
                  <c:v>1030000</c:v>
                </c:pt>
                <c:pt idx="101">
                  <c:v>1040000</c:v>
                </c:pt>
                <c:pt idx="102">
                  <c:v>1050000</c:v>
                </c:pt>
                <c:pt idx="103">
                  <c:v>1060000</c:v>
                </c:pt>
                <c:pt idx="104">
                  <c:v>1070000</c:v>
                </c:pt>
                <c:pt idx="105">
                  <c:v>1080000</c:v>
                </c:pt>
                <c:pt idx="106">
                  <c:v>1090000</c:v>
                </c:pt>
                <c:pt idx="107">
                  <c:v>1100000</c:v>
                </c:pt>
                <c:pt idx="108">
                  <c:v>1110000</c:v>
                </c:pt>
                <c:pt idx="109">
                  <c:v>1120000</c:v>
                </c:pt>
                <c:pt idx="110">
                  <c:v>1130000</c:v>
                </c:pt>
                <c:pt idx="111">
                  <c:v>1140000</c:v>
                </c:pt>
                <c:pt idx="112">
                  <c:v>1150000</c:v>
                </c:pt>
                <c:pt idx="113">
                  <c:v>1160000</c:v>
                </c:pt>
                <c:pt idx="114">
                  <c:v>1170000</c:v>
                </c:pt>
                <c:pt idx="115">
                  <c:v>1180000</c:v>
                </c:pt>
                <c:pt idx="116">
                  <c:v>1190000</c:v>
                </c:pt>
                <c:pt idx="117">
                  <c:v>1200000</c:v>
                </c:pt>
                <c:pt idx="118">
                  <c:v>1210000</c:v>
                </c:pt>
                <c:pt idx="119">
                  <c:v>1220000</c:v>
                </c:pt>
                <c:pt idx="120">
                  <c:v>1230000</c:v>
                </c:pt>
                <c:pt idx="121">
                  <c:v>1240000</c:v>
                </c:pt>
                <c:pt idx="122">
                  <c:v>1250000</c:v>
                </c:pt>
                <c:pt idx="123">
                  <c:v>1260000</c:v>
                </c:pt>
                <c:pt idx="124">
                  <c:v>1270000</c:v>
                </c:pt>
                <c:pt idx="125">
                  <c:v>1280000</c:v>
                </c:pt>
                <c:pt idx="126">
                  <c:v>1290000</c:v>
                </c:pt>
                <c:pt idx="127">
                  <c:v>1300000</c:v>
                </c:pt>
                <c:pt idx="128">
                  <c:v>1310000</c:v>
                </c:pt>
                <c:pt idx="129">
                  <c:v>1320000</c:v>
                </c:pt>
                <c:pt idx="130">
                  <c:v>1330000</c:v>
                </c:pt>
                <c:pt idx="131">
                  <c:v>1340000</c:v>
                </c:pt>
                <c:pt idx="132">
                  <c:v>1350000</c:v>
                </c:pt>
                <c:pt idx="133">
                  <c:v>1360000</c:v>
                </c:pt>
                <c:pt idx="134">
                  <c:v>1370000</c:v>
                </c:pt>
                <c:pt idx="135">
                  <c:v>1380000</c:v>
                </c:pt>
                <c:pt idx="136">
                  <c:v>1390000</c:v>
                </c:pt>
                <c:pt idx="137">
                  <c:v>1400000</c:v>
                </c:pt>
                <c:pt idx="138">
                  <c:v>1410000</c:v>
                </c:pt>
                <c:pt idx="139">
                  <c:v>1420000</c:v>
                </c:pt>
                <c:pt idx="140">
                  <c:v>1430000</c:v>
                </c:pt>
                <c:pt idx="141">
                  <c:v>1440000</c:v>
                </c:pt>
                <c:pt idx="142">
                  <c:v>1450000</c:v>
                </c:pt>
                <c:pt idx="143">
                  <c:v>1460000</c:v>
                </c:pt>
                <c:pt idx="144">
                  <c:v>1470000</c:v>
                </c:pt>
                <c:pt idx="145">
                  <c:v>1480000</c:v>
                </c:pt>
                <c:pt idx="146">
                  <c:v>1490000</c:v>
                </c:pt>
                <c:pt idx="147">
                  <c:v>1500000</c:v>
                </c:pt>
                <c:pt idx="148">
                  <c:v>1510000</c:v>
                </c:pt>
                <c:pt idx="149">
                  <c:v>1520000</c:v>
                </c:pt>
                <c:pt idx="150">
                  <c:v>1530000</c:v>
                </c:pt>
                <c:pt idx="151">
                  <c:v>1540000</c:v>
                </c:pt>
                <c:pt idx="152">
                  <c:v>1550000</c:v>
                </c:pt>
                <c:pt idx="153">
                  <c:v>1560000</c:v>
                </c:pt>
                <c:pt idx="154">
                  <c:v>1570000</c:v>
                </c:pt>
                <c:pt idx="155">
                  <c:v>1580000</c:v>
                </c:pt>
                <c:pt idx="156">
                  <c:v>1590000</c:v>
                </c:pt>
                <c:pt idx="157">
                  <c:v>1600000</c:v>
                </c:pt>
              </c:numCache>
            </c:numRef>
          </c:xVal>
          <c:yVal>
            <c:numRef>
              <c:f>Sheet2!$L$5:$L$165</c:f>
              <c:numCache>
                <c:formatCode>General</c:formatCode>
                <c:ptCount val="161"/>
                <c:pt idx="0">
                  <c:v>1.1238961247618215</c:v>
                </c:pt>
                <c:pt idx="1">
                  <c:v>-4.0252415867000622</c:v>
                </c:pt>
                <c:pt idx="2">
                  <c:v>0.23057378919539936</c:v>
                </c:pt>
                <c:pt idx="3">
                  <c:v>-1.6077086897724473</c:v>
                </c:pt>
                <c:pt idx="4">
                  <c:v>-6.5902494434715297E-3</c:v>
                </c:pt>
                <c:pt idx="5">
                  <c:v>4.129429670632466</c:v>
                </c:pt>
                <c:pt idx="6">
                  <c:v>3.2112335195360928</c:v>
                </c:pt>
                <c:pt idx="7">
                  <c:v>2.9897255580495146</c:v>
                </c:pt>
                <c:pt idx="8">
                  <c:v>0.29669229469936687</c:v>
                </c:pt>
                <c:pt idx="9">
                  <c:v>5.3699603011514681</c:v>
                </c:pt>
                <c:pt idx="10">
                  <c:v>4.9743110756675133</c:v>
                </c:pt>
                <c:pt idx="11">
                  <c:v>9.3978145380707598</c:v>
                </c:pt>
                <c:pt idx="12">
                  <c:v>11.750474260073084</c:v>
                </c:pt>
                <c:pt idx="13">
                  <c:v>14.083933569777653</c:v>
                </c:pt>
                <c:pt idx="14">
                  <c:v>18.797291743086888</c:v>
                </c:pt>
                <c:pt idx="15">
                  <c:v>18.840396364491241</c:v>
                </c:pt>
                <c:pt idx="16">
                  <c:v>24.670822810361358</c:v>
                </c:pt>
                <c:pt idx="17">
                  <c:v>26.054005061792743</c:v>
                </c:pt>
                <c:pt idx="18">
                  <c:v>35.297900854101883</c:v>
                </c:pt>
                <c:pt idx="19">
                  <c:v>44.794617580022113</c:v>
                </c:pt>
                <c:pt idx="20">
                  <c:v>49.905306580961444</c:v>
                </c:pt>
                <c:pt idx="21">
                  <c:v>60.353324388758807</c:v>
                </c:pt>
                <c:pt idx="22">
                  <c:v>69.194150493609939</c:v>
                </c:pt>
                <c:pt idx="23">
                  <c:v>81.083338070667992</c:v>
                </c:pt>
                <c:pt idx="24">
                  <c:v>94.660777036985664</c:v>
                </c:pt>
                <c:pt idx="25">
                  <c:v>103.8320659138387</c:v>
                </c:pt>
                <c:pt idx="26">
                  <c:v>118.8292518907476</c:v>
                </c:pt>
                <c:pt idx="27">
                  <c:v>135.15451628476148</c:v>
                </c:pt>
                <c:pt idx="28">
                  <c:v>153.57306959607072</c:v>
                </c:pt>
                <c:pt idx="29">
                  <c:v>170.39598656417857</c:v>
                </c:pt>
                <c:pt idx="30">
                  <c:v>188.6163280812255</c:v>
                </c:pt>
                <c:pt idx="31">
                  <c:v>206.65526793214042</c:v>
                </c:pt>
                <c:pt idx="32">
                  <c:v>225.9246060067133</c:v>
                </c:pt>
                <c:pt idx="33">
                  <c:v>247.4941363917917</c:v>
                </c:pt>
                <c:pt idx="34">
                  <c:v>275.39385474234268</c:v>
                </c:pt>
                <c:pt idx="35">
                  <c:v>294.54303728518391</c:v>
                </c:pt>
                <c:pt idx="36">
                  <c:v>315.24492545784847</c:v>
                </c:pt>
                <c:pt idx="37">
                  <c:v>342.32783115819285</c:v>
                </c:pt>
                <c:pt idx="38">
                  <c:v>367.71338710192424</c:v>
                </c:pt>
                <c:pt idx="39">
                  <c:v>392.16407282491792</c:v>
                </c:pt>
                <c:pt idx="40">
                  <c:v>416.10978055861233</c:v>
                </c:pt>
                <c:pt idx="41">
                  <c:v>442.1981425913242</c:v>
                </c:pt>
                <c:pt idx="42">
                  <c:v>469.66116584770441</c:v>
                </c:pt>
                <c:pt idx="43">
                  <c:v>491.58400530068093</c:v>
                </c:pt>
                <c:pt idx="44">
                  <c:v>517.32079002723253</c:v>
                </c:pt>
                <c:pt idx="45">
                  <c:v>539.14811670171218</c:v>
                </c:pt>
                <c:pt idx="46">
                  <c:v>564.78767721324789</c:v>
                </c:pt>
                <c:pt idx="47">
                  <c:v>592.73692633257838</c:v>
                </c:pt>
                <c:pt idx="48">
                  <c:v>609.33527676572805</c:v>
                </c:pt>
                <c:pt idx="49">
                  <c:v>633.76166609193774</c:v>
                </c:pt>
                <c:pt idx="50">
                  <c:v>657.84423204957488</c:v>
                </c:pt>
                <c:pt idx="51">
                  <c:v>675.58048575066414</c:v>
                </c:pt>
                <c:pt idx="52">
                  <c:v>697.28006620397309</c:v>
                </c:pt>
                <c:pt idx="53">
                  <c:v>718.2690244044403</c:v>
                </c:pt>
                <c:pt idx="54">
                  <c:v>735.65703816492828</c:v>
                </c:pt>
                <c:pt idx="55">
                  <c:v>763.5713442947598</c:v>
                </c:pt>
                <c:pt idx="56">
                  <c:v>776.69062584279118</c:v>
                </c:pt>
                <c:pt idx="57">
                  <c:v>792.56077400207914</c:v>
                </c:pt>
                <c:pt idx="58">
                  <c:v>812.36057589661789</c:v>
                </c:pt>
                <c:pt idx="59">
                  <c:v>825.77113143904148</c:v>
                </c:pt>
                <c:pt idx="60">
                  <c:v>838.85321984038274</c:v>
                </c:pt>
                <c:pt idx="61">
                  <c:v>860.2502087129302</c:v>
                </c:pt>
                <c:pt idx="62">
                  <c:v>871.56005391725296</c:v>
                </c:pt>
                <c:pt idx="63">
                  <c:v>885.78475378887674</c:v>
                </c:pt>
                <c:pt idx="64">
                  <c:v>894.50632997180514</c:v>
                </c:pt>
                <c:pt idx="65">
                  <c:v>909.42033458345236</c:v>
                </c:pt>
                <c:pt idx="66">
                  <c:v>922.38097674495054</c:v>
                </c:pt>
                <c:pt idx="67">
                  <c:v>930.85561407755915</c:v>
                </c:pt>
                <c:pt idx="68">
                  <c:v>943.73069932227634</c:v>
                </c:pt>
                <c:pt idx="69">
                  <c:v>957.20870467040265</c:v>
                </c:pt>
                <c:pt idx="70">
                  <c:v>963.84499673738117</c:v>
                </c:pt>
                <c:pt idx="71">
                  <c:v>972.29711051742186</c:v>
                </c:pt>
                <c:pt idx="72">
                  <c:v>982.98258132245041</c:v>
                </c:pt>
                <c:pt idx="73">
                  <c:v>991.37455623969811</c:v>
                </c:pt>
                <c:pt idx="74">
                  <c:v>997.38449992012113</c:v>
                </c:pt>
                <c:pt idx="75">
                  <c:v>1005.8846313520556</c:v>
                </c:pt>
                <c:pt idx="76">
                  <c:v>1013.2727919956552</c:v>
                </c:pt>
                <c:pt idx="77">
                  <c:v>1021.9090766625613</c:v>
                </c:pt>
                <c:pt idx="78">
                  <c:v>1029.8317209932311</c:v>
                </c:pt>
                <c:pt idx="79">
                  <c:v>1036.2639787749572</c:v>
                </c:pt>
                <c:pt idx="80">
                  <c:v>1039.6992785926373</c:v>
                </c:pt>
                <c:pt idx="81">
                  <c:v>1040.6764685331975</c:v>
                </c:pt>
                <c:pt idx="82">
                  <c:v>1052.3445150720995</c:v>
                </c:pt>
                <c:pt idx="83">
                  <c:v>1055.8117505615357</c:v>
                </c:pt>
                <c:pt idx="84">
                  <c:v>1058.4906938066499</c:v>
                </c:pt>
                <c:pt idx="85">
                  <c:v>1065.1523208450938</c:v>
                </c:pt>
                <c:pt idx="86">
                  <c:v>1071.8056841182849</c:v>
                </c:pt>
                <c:pt idx="87">
                  <c:v>1073.5013850908306</c:v>
                </c:pt>
                <c:pt idx="88">
                  <c:v>1075.8709523871635</c:v>
                </c:pt>
                <c:pt idx="89">
                  <c:v>1079.6603027661363</c:v>
                </c:pt>
                <c:pt idx="90">
                  <c:v>1085.2269282434963</c:v>
                </c:pt>
                <c:pt idx="91">
                  <c:v>1087.7856975030611</c:v>
                </c:pt>
                <c:pt idx="92">
                  <c:v>1091.6933891985916</c:v>
                </c:pt>
                <c:pt idx="93">
                  <c:v>1093.1699826981892</c:v>
                </c:pt>
                <c:pt idx="94">
                  <c:v>1099.5342014495986</c:v>
                </c:pt>
                <c:pt idx="95">
                  <c:v>1098.1490253728582</c:v>
                </c:pt>
                <c:pt idx="96">
                  <c:v>1103.9278494521325</c:v>
                </c:pt>
                <c:pt idx="97">
                  <c:v>1106.7996342605193</c:v>
                </c:pt>
                <c:pt idx="98">
                  <c:v>1109.8552306928343</c:v>
                </c:pt>
                <c:pt idx="99">
                  <c:v>1108.427514087088</c:v>
                </c:pt>
                <c:pt idx="100">
                  <c:v>1116.9415696132387</c:v>
                </c:pt>
                <c:pt idx="101">
                  <c:v>1117.0828333678658</c:v>
                </c:pt>
                <c:pt idx="102">
                  <c:v>1117.9608182903933</c:v>
                </c:pt>
                <c:pt idx="103">
                  <c:v>1123.50725814727</c:v>
                </c:pt>
                <c:pt idx="104">
                  <c:v>1118.5566300693306</c:v>
                </c:pt>
                <c:pt idx="105">
                  <c:v>1122.3420106953488</c:v>
                </c:pt>
                <c:pt idx="106">
                  <c:v>1126.4631536846462</c:v>
                </c:pt>
                <c:pt idx="107">
                  <c:v>1127.1860047345135</c:v>
                </c:pt>
                <c:pt idx="108">
                  <c:v>1129.8808495666065</c:v>
                </c:pt>
                <c:pt idx="109">
                  <c:v>1130.9580513646706</c:v>
                </c:pt>
                <c:pt idx="110">
                  <c:v>1134.4539418539791</c:v>
                </c:pt>
                <c:pt idx="111">
                  <c:v>1135.086719942323</c:v>
                </c:pt>
                <c:pt idx="112">
                  <c:v>1131.5669811112227</c:v>
                </c:pt>
                <c:pt idx="113">
                  <c:v>1135.7572273763192</c:v>
                </c:pt>
                <c:pt idx="114">
                  <c:v>1138.2993984419791</c:v>
                </c:pt>
                <c:pt idx="115">
                  <c:v>1140.6121615151369</c:v>
                </c:pt>
                <c:pt idx="116">
                  <c:v>1143.4562647465884</c:v>
                </c:pt>
                <c:pt idx="117">
                  <c:v>1139.6498264283266</c:v>
                </c:pt>
                <c:pt idx="118">
                  <c:v>1140.9016650355388</c:v>
                </c:pt>
                <c:pt idx="119">
                  <c:v>1144.3783294957655</c:v>
                </c:pt>
                <c:pt idx="120">
                  <c:v>1141.5508379455771</c:v>
                </c:pt>
                <c:pt idx="121">
                  <c:v>1147.7638536338827</c:v>
                </c:pt>
                <c:pt idx="122">
                  <c:v>1146.4555278999592</c:v>
                </c:pt>
                <c:pt idx="123">
                  <c:v>1149.3488734071241</c:v>
                </c:pt>
                <c:pt idx="124">
                  <c:v>1150.0568042107054</c:v>
                </c:pt>
                <c:pt idx="125">
                  <c:v>1146.5642000849316</c:v>
                </c:pt>
                <c:pt idx="126">
                  <c:v>1147.250062205045</c:v>
                </c:pt>
                <c:pt idx="127">
                  <c:v>1151.2729003509894</c:v>
                </c:pt>
                <c:pt idx="128">
                  <c:v>1153.4033375576116</c:v>
                </c:pt>
                <c:pt idx="129">
                  <c:v>1153.8842642552954</c:v>
                </c:pt>
                <c:pt idx="130">
                  <c:v>1153.0487629473341</c:v>
                </c:pt>
                <c:pt idx="131">
                  <c:v>1152.0708263834383</c:v>
                </c:pt>
                <c:pt idx="132">
                  <c:v>1156.3026293185644</c:v>
                </c:pt>
                <c:pt idx="133">
                  <c:v>1158.253318343604</c:v>
                </c:pt>
                <c:pt idx="134">
                  <c:v>1155.2354759321795</c:v>
                </c:pt>
                <c:pt idx="135">
                  <c:v>1155.1156642916897</c:v>
                </c:pt>
                <c:pt idx="136">
                  <c:v>1160.6386032637195</c:v>
                </c:pt>
                <c:pt idx="137">
                  <c:v>1157.818240468275</c:v>
                </c:pt>
                <c:pt idx="138">
                  <c:v>1155.3797575983278</c:v>
                </c:pt>
                <c:pt idx="139">
                  <c:v>1157.7262818188628</c:v>
                </c:pt>
                <c:pt idx="140">
                  <c:v>1159.1013333708879</c:v>
                </c:pt>
                <c:pt idx="141">
                  <c:v>1158.7467802603469</c:v>
                </c:pt>
                <c:pt idx="142">
                  <c:v>1159.4399463839859</c:v>
                </c:pt>
                <c:pt idx="143">
                  <c:v>1160.2307308721797</c:v>
                </c:pt>
                <c:pt idx="144">
                  <c:v>1159.3812894578825</c:v>
                </c:pt>
                <c:pt idx="145">
                  <c:v>1160.2597834980054</c:v>
                </c:pt>
                <c:pt idx="146">
                  <c:v>1160.8911392804848</c:v>
                </c:pt>
                <c:pt idx="147">
                  <c:v>1163.4384048092863</c:v>
                </c:pt>
                <c:pt idx="148">
                  <c:v>1159.866498072086</c:v>
                </c:pt>
                <c:pt idx="149">
                  <c:v>1161.066304515155</c:v>
                </c:pt>
                <c:pt idx="150">
                  <c:v>1163.274789609879</c:v>
                </c:pt>
                <c:pt idx="151">
                  <c:v>1165.4454466067496</c:v>
                </c:pt>
                <c:pt idx="152">
                  <c:v>1163.0899763072991</c:v>
                </c:pt>
                <c:pt idx="153">
                  <c:v>1159.1911092540809</c:v>
                </c:pt>
                <c:pt idx="154">
                  <c:v>1164.9992607926913</c:v>
                </c:pt>
                <c:pt idx="155">
                  <c:v>1161.9253738451544</c:v>
                </c:pt>
                <c:pt idx="156">
                  <c:v>1163.801323101439</c:v>
                </c:pt>
                <c:pt idx="157">
                  <c:v>1163.205951874294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D88-8240-95A8-F8CFE779EA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582096"/>
        <c:axId val="44583824"/>
      </c:scatterChart>
      <c:valAx>
        <c:axId val="44582096"/>
        <c:scaling>
          <c:orientation val="minMax"/>
          <c:max val="16000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4583824"/>
        <c:crosses val="autoZero"/>
        <c:crossBetween val="midCat"/>
      </c:valAx>
      <c:valAx>
        <c:axId val="4458382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5820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85783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685783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AAC7D5A-5852-7B44-B6BB-275DC4399E67}" type="datetimeFigureOut">
              <a:rPr lang="en-US"/>
              <a:pPr>
                <a:defRPr/>
              </a:pPr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85783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685783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87803193-FCA0-6748-8BD4-F29C990F53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84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3677211" rtl="0" fontAlgn="base">
      <a:spcBef>
        <a:spcPct val="30000"/>
      </a:spcBef>
      <a:spcAft>
        <a:spcPct val="0"/>
      </a:spcAft>
      <a:defRPr sz="4837" kern="1200">
        <a:solidFill>
          <a:schemeClr val="tx1"/>
        </a:solidFill>
        <a:latin typeface="+mn-lt"/>
        <a:ea typeface="+mn-ea"/>
        <a:cs typeface="+mn-cs"/>
      </a:defRPr>
    </a:lvl1pPr>
    <a:lvl2pPr marL="1834340" algn="l" defTabSz="3677211" rtl="0" fontAlgn="base">
      <a:spcBef>
        <a:spcPct val="30000"/>
      </a:spcBef>
      <a:spcAft>
        <a:spcPct val="0"/>
      </a:spcAft>
      <a:defRPr sz="4837" kern="1200">
        <a:solidFill>
          <a:schemeClr val="tx1"/>
        </a:solidFill>
        <a:latin typeface="+mn-lt"/>
        <a:ea typeface="+mn-ea"/>
        <a:cs typeface="+mn-cs"/>
      </a:defRPr>
    </a:lvl2pPr>
    <a:lvl3pPr marL="3677211" algn="l" defTabSz="3677211" rtl="0" fontAlgn="base">
      <a:spcBef>
        <a:spcPct val="30000"/>
      </a:spcBef>
      <a:spcAft>
        <a:spcPct val="0"/>
      </a:spcAft>
      <a:defRPr sz="4837" kern="1200">
        <a:solidFill>
          <a:schemeClr val="tx1"/>
        </a:solidFill>
        <a:latin typeface="+mn-lt"/>
        <a:ea typeface="+mn-ea"/>
        <a:cs typeface="+mn-cs"/>
      </a:defRPr>
    </a:lvl3pPr>
    <a:lvl4pPr marL="5520080" algn="l" defTabSz="3677211" rtl="0" fontAlgn="base">
      <a:spcBef>
        <a:spcPct val="30000"/>
      </a:spcBef>
      <a:spcAft>
        <a:spcPct val="0"/>
      </a:spcAft>
      <a:defRPr sz="4837" kern="1200">
        <a:solidFill>
          <a:schemeClr val="tx1"/>
        </a:solidFill>
        <a:latin typeface="+mn-lt"/>
        <a:ea typeface="+mn-ea"/>
        <a:cs typeface="+mn-cs"/>
      </a:defRPr>
    </a:lvl4pPr>
    <a:lvl5pPr marL="7362950" algn="l" defTabSz="3677211" rtl="0" fontAlgn="base">
      <a:spcBef>
        <a:spcPct val="30000"/>
      </a:spcBef>
      <a:spcAft>
        <a:spcPct val="0"/>
      </a:spcAft>
      <a:defRPr sz="4837" kern="1200">
        <a:solidFill>
          <a:schemeClr val="tx1"/>
        </a:solidFill>
        <a:latin typeface="+mn-lt"/>
        <a:ea typeface="+mn-ea"/>
        <a:cs typeface="+mn-cs"/>
      </a:defRPr>
    </a:lvl5pPr>
    <a:lvl6pPr marL="9214117" algn="l" defTabSz="3685648" rtl="0" eaLnBrk="1" latinLnBrk="0" hangingPunct="1">
      <a:defRPr sz="4837" kern="1200">
        <a:solidFill>
          <a:schemeClr val="tx1"/>
        </a:solidFill>
        <a:latin typeface="+mn-lt"/>
        <a:ea typeface="+mn-ea"/>
        <a:cs typeface="+mn-cs"/>
      </a:defRPr>
    </a:lvl6pPr>
    <a:lvl7pPr marL="11056938" algn="l" defTabSz="3685648" rtl="0" eaLnBrk="1" latinLnBrk="0" hangingPunct="1">
      <a:defRPr sz="4837" kern="1200">
        <a:solidFill>
          <a:schemeClr val="tx1"/>
        </a:solidFill>
        <a:latin typeface="+mn-lt"/>
        <a:ea typeface="+mn-ea"/>
        <a:cs typeface="+mn-cs"/>
      </a:defRPr>
    </a:lvl7pPr>
    <a:lvl8pPr marL="12899765" algn="l" defTabSz="3685648" rtl="0" eaLnBrk="1" latinLnBrk="0" hangingPunct="1">
      <a:defRPr sz="4837" kern="1200">
        <a:solidFill>
          <a:schemeClr val="tx1"/>
        </a:solidFill>
        <a:latin typeface="+mn-lt"/>
        <a:ea typeface="+mn-ea"/>
        <a:cs typeface="+mn-cs"/>
      </a:defRPr>
    </a:lvl8pPr>
    <a:lvl9pPr marL="14742592" algn="l" defTabSz="3685648" rtl="0" eaLnBrk="1" latinLnBrk="0" hangingPunct="1">
      <a:defRPr sz="48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(defau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771C7EE-89C8-FFCA-A8BD-E2AF43C4566E}"/>
              </a:ext>
            </a:extLst>
          </p:cNvPr>
          <p:cNvSpPr txBox="1"/>
          <p:nvPr userDrawn="1"/>
        </p:nvSpPr>
        <p:spPr>
          <a:xfrm>
            <a:off x="487680" y="6035041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CAB5A0-43FD-D3C7-06C3-E1B7876CF023}"/>
              </a:ext>
            </a:extLst>
          </p:cNvPr>
          <p:cNvSpPr txBox="1"/>
          <p:nvPr userDrawn="1"/>
        </p:nvSpPr>
        <p:spPr>
          <a:xfrm>
            <a:off x="11338560" y="6035041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2334F-E48B-6226-CCA3-8D618C99AD5A}"/>
              </a:ext>
            </a:extLst>
          </p:cNvPr>
          <p:cNvSpPr txBox="1"/>
          <p:nvPr userDrawn="1"/>
        </p:nvSpPr>
        <p:spPr>
          <a:xfrm>
            <a:off x="22189440" y="6035041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1E0E8F-BA8A-B63E-A07A-42CFE6F26184}"/>
              </a:ext>
            </a:extLst>
          </p:cNvPr>
          <p:cNvSpPr txBox="1"/>
          <p:nvPr userDrawn="1"/>
        </p:nvSpPr>
        <p:spPr>
          <a:xfrm>
            <a:off x="33040320" y="1707642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7634F3-4731-1C22-50DE-2F7147F10FDF}"/>
              </a:ext>
            </a:extLst>
          </p:cNvPr>
          <p:cNvSpPr txBox="1"/>
          <p:nvPr userDrawn="1"/>
        </p:nvSpPr>
        <p:spPr>
          <a:xfrm>
            <a:off x="33040320" y="2420874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C333D-0AE1-9655-732C-D3CCD913A5A1}"/>
              </a:ext>
            </a:extLst>
          </p:cNvPr>
          <p:cNvSpPr txBox="1"/>
          <p:nvPr userDrawn="1"/>
        </p:nvSpPr>
        <p:spPr>
          <a:xfrm>
            <a:off x="33040320" y="6035040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Discussion and Future Work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F52EDF4-FF53-7020-0328-11368EB8059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0"/>
            <a:ext cx="43891200" cy="548640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87680" tIns="731520" rIns="487680" bIns="731520" numCol="1" anchor="ctr" anchorCtr="0" compatLnSpc="1">
            <a:prstTxWarp prst="textNoShape">
              <a:avLst/>
            </a:prstTxWarp>
          </a:bodyPr>
          <a:lstStyle>
            <a:lvl1pPr algn="ctr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2pPr>
            <a:lvl3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3pPr>
            <a:lvl4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4pPr>
            <a:lvl5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5pPr>
            <a:lvl6pPr marL="164592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6pPr>
            <a:lvl7pPr marL="329184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7pPr>
            <a:lvl8pPr marL="493776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8pPr>
            <a:lvl9pPr marL="658368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9pPr>
          </a:lstStyle>
          <a:p>
            <a:r>
              <a:rPr lang="en-US" sz="1280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3F6C-91FE-BF4B-5FDB-43DD89DD8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7132320"/>
            <a:ext cx="10363200" cy="1789938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B2AD913-5E30-3ECA-51F0-A6C794C4466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338560" y="7132320"/>
            <a:ext cx="10363200" cy="222885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9F647B9-DCAF-610C-C244-FB5F7CB2F37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2189440" y="7132320"/>
            <a:ext cx="10363200" cy="222885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130F5DC-40DF-584A-21EF-3788396A74F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040320" y="25306020"/>
            <a:ext cx="10363200" cy="41148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7A5F2D-786D-06F4-8D69-61AF82634B5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040320" y="18173700"/>
            <a:ext cx="10363200" cy="54864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>
            <a:lvl1pPr marL="457178" indent="-448711">
              <a:buNone/>
              <a:tabLst>
                <a:tab pos="457178" algn="l"/>
              </a:tabLst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25BC5F1-38DA-939F-54E8-AAC5E2499F7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3040320" y="7132320"/>
            <a:ext cx="10363200" cy="939546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E9233-EA25-5F01-58EC-2044923A55F9}"/>
              </a:ext>
            </a:extLst>
          </p:cNvPr>
          <p:cNvSpPr txBox="1"/>
          <p:nvPr userDrawn="1"/>
        </p:nvSpPr>
        <p:spPr>
          <a:xfrm>
            <a:off x="487680" y="2558034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880B6E4-EA15-0CF0-7B0F-F6BFE9CE55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7680" y="26677620"/>
            <a:ext cx="10363200" cy="274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>
            <a:lvl1pPr marL="8466" indent="0">
              <a:buNone/>
              <a:defRPr sz="3733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CCDA77-7B1D-BC00-C3B6-74D0135954AF}"/>
              </a:ext>
            </a:extLst>
          </p:cNvPr>
          <p:cNvSpPr txBox="1"/>
          <p:nvPr userDrawn="1"/>
        </p:nvSpPr>
        <p:spPr>
          <a:xfrm>
            <a:off x="39711087" y="31840715"/>
            <a:ext cx="8336" cy="246221"/>
          </a:xfrm>
          <a:prstGeom prst="rect">
            <a:avLst/>
          </a:prstGeom>
          <a:solidFill>
            <a:schemeClr val="bg1"/>
          </a:solidFill>
          <a:ln w="76200">
            <a:noFill/>
          </a:ln>
          <a:effectLst/>
        </p:spPr>
        <p:txBody>
          <a:bodyPr wrap="none" lIns="0" tIns="0" rIns="0" bIns="0" rtlCol="0">
            <a:spAutoFit/>
          </a:bodyPr>
          <a:lstStyle/>
          <a:p>
            <a:pPr marL="8466" marR="0" algn="l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06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5B01-44B1-BCA6-3401-CC099063E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2334F-E48B-6226-CCA3-8D618C99AD5A}"/>
              </a:ext>
            </a:extLst>
          </p:cNvPr>
          <p:cNvSpPr txBox="1"/>
          <p:nvPr userDrawn="1"/>
        </p:nvSpPr>
        <p:spPr>
          <a:xfrm>
            <a:off x="11338563" y="6035041"/>
            <a:ext cx="21214079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1E0E8F-BA8A-B63E-A07A-42CFE6F26184}"/>
              </a:ext>
            </a:extLst>
          </p:cNvPr>
          <p:cNvSpPr txBox="1"/>
          <p:nvPr userDrawn="1"/>
        </p:nvSpPr>
        <p:spPr>
          <a:xfrm>
            <a:off x="33040320" y="1707642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7634F3-4731-1C22-50DE-2F7147F10FDF}"/>
              </a:ext>
            </a:extLst>
          </p:cNvPr>
          <p:cNvSpPr txBox="1"/>
          <p:nvPr userDrawn="1"/>
        </p:nvSpPr>
        <p:spPr>
          <a:xfrm>
            <a:off x="33040320" y="2420874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C333D-0AE1-9655-732C-D3CCD913A5A1}"/>
              </a:ext>
            </a:extLst>
          </p:cNvPr>
          <p:cNvSpPr txBox="1"/>
          <p:nvPr userDrawn="1"/>
        </p:nvSpPr>
        <p:spPr>
          <a:xfrm>
            <a:off x="33040320" y="6035040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Discussion and Future 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D3D24-3E63-FADE-36E5-724B19970A64}"/>
              </a:ext>
            </a:extLst>
          </p:cNvPr>
          <p:cNvSpPr txBox="1"/>
          <p:nvPr userDrawn="1"/>
        </p:nvSpPr>
        <p:spPr>
          <a:xfrm>
            <a:off x="487680" y="6035041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C9A220-BC37-F0CF-3D10-FCB9BEBD47CA}"/>
              </a:ext>
            </a:extLst>
          </p:cNvPr>
          <p:cNvSpPr txBox="1"/>
          <p:nvPr userDrawn="1"/>
        </p:nvSpPr>
        <p:spPr>
          <a:xfrm>
            <a:off x="487680" y="1892808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A9BF9E-A341-7180-116E-51DB55BEA176}"/>
              </a:ext>
            </a:extLst>
          </p:cNvPr>
          <p:cNvSpPr txBox="1"/>
          <p:nvPr userDrawn="1"/>
        </p:nvSpPr>
        <p:spPr>
          <a:xfrm>
            <a:off x="487680" y="1453896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B2AD913-5E30-3ECA-51F0-A6C794C4466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338563" y="7132320"/>
            <a:ext cx="21214079" cy="222885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numCol="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130F5DC-40DF-584A-21EF-3788396A74F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040320" y="25306020"/>
            <a:ext cx="10363200" cy="41148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7A5F2D-786D-06F4-8D69-61AF82634B5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040320" y="18173700"/>
            <a:ext cx="10363200" cy="54864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>
            <a:lvl1pPr marL="457178" indent="-457178">
              <a:buNone/>
              <a:tabLst>
                <a:tab pos="457178" algn="l"/>
              </a:tabLst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25BC5F1-38DA-939F-54E8-AAC5E2499F7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3040320" y="7132320"/>
            <a:ext cx="10363200" cy="939546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D4D2A98-66A1-B88A-6115-3690A7441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7132320"/>
            <a:ext cx="10363200" cy="68580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>
            <a:lvl1pPr marL="8466" indent="0">
              <a:buNone/>
              <a:defRPr/>
            </a:lvl1pPr>
            <a:lvl2pPr marL="463527" indent="0">
              <a:buNone/>
              <a:defRPr/>
            </a:lvl2pPr>
            <a:lvl3pPr marL="918588" indent="0">
              <a:buNone/>
              <a:defRPr/>
            </a:lvl3pPr>
            <a:lvl4pPr marL="1371532" indent="0">
              <a:buNone/>
              <a:defRPr/>
            </a:lvl4pPr>
            <a:lvl5pPr marL="1837175" indent="0">
              <a:buNone/>
              <a:defRPr/>
            </a:lvl5pPr>
          </a:lstStyle>
          <a:p>
            <a:pPr marL="463527" marR="0" lvl="0" indent="-455062" algn="l" defTabSz="3291676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918588" marR="0" lvl="1" indent="-455062" algn="l" defTabSz="3291676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42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71532" marR="0" lvl="2" indent="-452943" algn="l" defTabSz="3291676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♦"/>
              <a:tabLst/>
              <a:defRPr/>
            </a:pPr>
            <a:r>
              <a:rPr kumimoji="0" lang="en-US" sz="37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837175" marR="0" lvl="3" indent="-465643" algn="l" defTabSz="3291676" rtl="0" eaLnBrk="1" fontAlgn="base" latinLnBrk="0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»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290119" marR="0" lvl="4" indent="-452943" algn="l" defTabSz="3291676" rtl="0" eaLnBrk="1" fontAlgn="base" latinLnBrk="0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○"/>
              <a:tabLst/>
              <a:defRPr/>
            </a:pP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C9C9811-76AA-EB62-FE34-AC2BB419053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7680" y="20025360"/>
            <a:ext cx="10363200" cy="939546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0A26848-05CC-D8C0-6577-714151B4CD6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7680" y="15636240"/>
            <a:ext cx="10363200" cy="274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>
            <a:lvl1pPr marL="8466" indent="0">
              <a:buNone/>
              <a:defRPr sz="3733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B59B0-83A9-F687-E7F7-DF9D99A6B3D6}"/>
              </a:ext>
            </a:extLst>
          </p:cNvPr>
          <p:cNvSpPr txBox="1"/>
          <p:nvPr userDrawn="1"/>
        </p:nvSpPr>
        <p:spPr>
          <a:xfrm>
            <a:off x="34398859" y="31693757"/>
            <a:ext cx="8336" cy="246221"/>
          </a:xfrm>
          <a:prstGeom prst="rect">
            <a:avLst/>
          </a:prstGeom>
          <a:solidFill>
            <a:schemeClr val="bg1"/>
          </a:solidFill>
          <a:ln w="76200">
            <a:noFill/>
          </a:ln>
          <a:effectLst/>
        </p:spPr>
        <p:txBody>
          <a:bodyPr wrap="none" lIns="0" tIns="0" rIns="0" bIns="0" rtlCol="0">
            <a:spAutoFit/>
          </a:bodyPr>
          <a:lstStyle/>
          <a:p>
            <a:pPr marL="8466" marR="0" algn="l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48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and abs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771C7EE-89C8-FFCA-A8BD-E2AF43C4566E}"/>
              </a:ext>
            </a:extLst>
          </p:cNvPr>
          <p:cNvSpPr txBox="1"/>
          <p:nvPr userDrawn="1"/>
        </p:nvSpPr>
        <p:spPr>
          <a:xfrm>
            <a:off x="487680" y="6035041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Abstract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CAB5A0-43FD-D3C7-06C3-E1B7876CF023}"/>
              </a:ext>
            </a:extLst>
          </p:cNvPr>
          <p:cNvSpPr txBox="1"/>
          <p:nvPr userDrawn="1"/>
        </p:nvSpPr>
        <p:spPr>
          <a:xfrm>
            <a:off x="11338560" y="6035041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2334F-E48B-6226-CCA3-8D618C99AD5A}"/>
              </a:ext>
            </a:extLst>
          </p:cNvPr>
          <p:cNvSpPr txBox="1"/>
          <p:nvPr userDrawn="1"/>
        </p:nvSpPr>
        <p:spPr>
          <a:xfrm>
            <a:off x="22189440" y="6035041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1E0E8F-BA8A-B63E-A07A-42CFE6F26184}"/>
              </a:ext>
            </a:extLst>
          </p:cNvPr>
          <p:cNvSpPr txBox="1"/>
          <p:nvPr userDrawn="1"/>
        </p:nvSpPr>
        <p:spPr>
          <a:xfrm>
            <a:off x="33040320" y="1707642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7634F3-4731-1C22-50DE-2F7147F10FDF}"/>
              </a:ext>
            </a:extLst>
          </p:cNvPr>
          <p:cNvSpPr txBox="1"/>
          <p:nvPr userDrawn="1"/>
        </p:nvSpPr>
        <p:spPr>
          <a:xfrm>
            <a:off x="33040320" y="2420874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C333D-0AE1-9655-732C-D3CCD913A5A1}"/>
              </a:ext>
            </a:extLst>
          </p:cNvPr>
          <p:cNvSpPr txBox="1"/>
          <p:nvPr userDrawn="1"/>
        </p:nvSpPr>
        <p:spPr>
          <a:xfrm>
            <a:off x="33040320" y="6035040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Discussion and Future 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2D82D8-B744-52CF-9352-B3740CBC484C}"/>
              </a:ext>
            </a:extLst>
          </p:cNvPr>
          <p:cNvSpPr txBox="1"/>
          <p:nvPr userDrawn="1"/>
        </p:nvSpPr>
        <p:spPr>
          <a:xfrm>
            <a:off x="487680" y="2558034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EFBA1-C744-27D9-28C6-F61D67FD161D}"/>
              </a:ext>
            </a:extLst>
          </p:cNvPr>
          <p:cNvSpPr txBox="1"/>
          <p:nvPr userDrawn="1"/>
        </p:nvSpPr>
        <p:spPr>
          <a:xfrm>
            <a:off x="487680" y="13167362"/>
            <a:ext cx="10363200" cy="943785"/>
          </a:xfrm>
          <a:prstGeom prst="rect">
            <a:avLst/>
          </a:prstGeom>
          <a:solidFill>
            <a:srgbClr val="990000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60960" rIns="243840" bIns="60960" rtlCol="0">
            <a:spAutoFit/>
          </a:bodyPr>
          <a:lstStyle/>
          <a:p>
            <a:pPr marL="8466" marR="0" indent="0" algn="ctr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5333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8B0AC01-3C1F-CEF7-5F33-35C856D947E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0"/>
            <a:ext cx="43891200" cy="548640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87680" tIns="731520" rIns="487680" bIns="731520" numCol="1" anchor="ctr" anchorCtr="0" compatLnSpc="1">
            <a:prstTxWarp prst="textNoShape">
              <a:avLst/>
            </a:prstTxWarp>
          </a:bodyPr>
          <a:lstStyle>
            <a:lvl1pPr algn="ctr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2pPr>
            <a:lvl3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3pPr>
            <a:lvl4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4pPr>
            <a:lvl5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5pPr>
            <a:lvl6pPr marL="164592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6pPr>
            <a:lvl7pPr marL="329184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7pPr>
            <a:lvl8pPr marL="493776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8pPr>
            <a:lvl9pPr marL="658368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9pPr>
          </a:lstStyle>
          <a:p>
            <a:r>
              <a:rPr lang="en-US" sz="12800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B2AD913-5E30-3ECA-51F0-A6C794C4466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338560" y="7132320"/>
            <a:ext cx="10363200" cy="222885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9F647B9-DCAF-610C-C244-FB5F7CB2F37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2189440" y="7132320"/>
            <a:ext cx="10363200" cy="222885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130F5DC-40DF-584A-21EF-3788396A74F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040320" y="25306020"/>
            <a:ext cx="10363200" cy="41148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7A5F2D-786D-06F4-8D69-61AF82634B5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040320" y="18173700"/>
            <a:ext cx="10363200" cy="54864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>
            <a:lvl1pPr marL="457178" indent="-448711">
              <a:buNone/>
              <a:tabLst>
                <a:tab pos="457178" algn="l"/>
              </a:tabLst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25BC5F1-38DA-939F-54E8-AAC5E2499F7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3040320" y="7132320"/>
            <a:ext cx="10363200" cy="939546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5A5B5F1-B94B-E7DF-CDBD-D79E90999F53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7680" y="26677620"/>
            <a:ext cx="10363200" cy="27432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>
            <a:lvl1pPr marL="8466" indent="0">
              <a:buNone/>
              <a:defRPr sz="3733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C6B9B58-EE55-23AD-4C83-615BB2B0E67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7680" y="14264637"/>
            <a:ext cx="10363200" cy="1076706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3F6C-91FE-BF4B-5FDB-43DD89DD8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7132320"/>
            <a:ext cx="10363200" cy="54864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>
            <a:lvl1pPr marL="8466" indent="0">
              <a:buNone/>
              <a:defRPr sz="3733"/>
            </a:lvl1pPr>
            <a:lvl2pPr marL="463527" indent="0">
              <a:buNone/>
              <a:defRPr/>
            </a:lvl2pPr>
            <a:lvl3pPr marL="918588" indent="0">
              <a:buNone/>
              <a:defRPr/>
            </a:lvl3pPr>
            <a:lvl4pPr marL="1371532" indent="0">
              <a:buNone/>
              <a:defRPr/>
            </a:lvl4pPr>
            <a:lvl5pPr marL="183717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2868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pn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43891200" cy="548640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65760" tIns="548640" rIns="365760" bIns="5486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7680" y="6035040"/>
            <a:ext cx="10363200" cy="2338578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vert="horz" lIns="182880" tIns="182880" rIns="182880" bIns="182880" rtlCol="0">
            <a:normAutofit/>
          </a:bodyPr>
          <a:lstStyle/>
          <a:p>
            <a:pPr marL="463527" marR="0" lvl="0" indent="-455062" algn="l" defTabSz="3291676" rtl="0" eaLnBrk="1" fontAlgn="base" latinLnBrk="0" hangingPunct="1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5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</a:t>
            </a:r>
            <a:r>
              <a:rPr kumimoji="0" lang="en-US" sz="5333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dddit</a:t>
            </a:r>
            <a:r>
              <a:rPr kumimoji="0" lang="en-US" sz="5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Master text styles</a:t>
            </a:r>
          </a:p>
          <a:p>
            <a:pPr marL="918588" marR="0" lvl="1" indent="-455062" algn="l" defTabSz="3291676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71532" marR="0" lvl="2" indent="-452943" algn="l" defTabSz="3291676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♦"/>
              <a:tabLst/>
              <a:defRPr/>
            </a:pPr>
            <a:r>
              <a:rPr kumimoji="0" lang="en-US" sz="42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837175" marR="0" lvl="3" indent="-465643" algn="l" defTabSz="3291676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»"/>
              <a:tabLst/>
              <a:defRPr/>
            </a:pPr>
            <a:r>
              <a:rPr kumimoji="0" lang="en-US" sz="37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290119" marR="0" lvl="4" indent="-452943" algn="l" defTabSz="3291676" rtl="0" eaLnBrk="1" fontAlgn="base" latinLnBrk="0" hangingPunct="1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○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403A1-71C0-4091-8DED-80700CD7031C}"/>
              </a:ext>
            </a:extLst>
          </p:cNvPr>
          <p:cNvPicPr>
            <a:picLocks/>
          </p:cNvPicPr>
          <p:nvPr userDrawn="1"/>
        </p:nvPicPr>
        <p:blipFill rotWithShape="1">
          <a:blip r:embed="rId5"/>
          <a:srcRect l="2" r="39596"/>
          <a:stretch/>
        </p:blipFill>
        <p:spPr>
          <a:xfrm>
            <a:off x="0" y="29969460"/>
            <a:ext cx="24688521" cy="29489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803246-8EDF-1190-908F-A7D02BC2F887}"/>
              </a:ext>
            </a:extLst>
          </p:cNvPr>
          <p:cNvSpPr/>
          <p:nvPr userDrawn="1"/>
        </p:nvSpPr>
        <p:spPr>
          <a:xfrm>
            <a:off x="33324800" y="29969460"/>
            <a:ext cx="10566403" cy="29489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43840" rIns="731520" bIns="243840" rtlCol="0" anchor="b"/>
          <a:lstStyle/>
          <a:p>
            <a:pPr algn="r"/>
            <a:endParaRPr lang="en-US" sz="6400" b="0" spc="96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B261E-7851-45AC-1A37-F7B101DB5576}"/>
              </a:ext>
            </a:extLst>
          </p:cNvPr>
          <p:cNvSpPr/>
          <p:nvPr userDrawn="1"/>
        </p:nvSpPr>
        <p:spPr>
          <a:xfrm>
            <a:off x="23236518" y="29967422"/>
            <a:ext cx="10088282" cy="295097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43840" rIns="731520" bIns="243840" rtlCol="0" anchor="b"/>
          <a:lstStyle/>
          <a:p>
            <a:pPr algn="r"/>
            <a:endParaRPr lang="en-US" sz="6400" b="0" spc="96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7ED8D0-1B2D-813A-FE31-978875E415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3324800" y="30020260"/>
            <a:ext cx="10566404" cy="295097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A202C315-9EAC-990E-55C5-850F6855F72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8189" y="1764270"/>
            <a:ext cx="9032581" cy="19578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803E14C-66A1-E7A9-5467-41456C483DA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4632550" y="30457999"/>
            <a:ext cx="7090625" cy="19408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7" r:id="rId2"/>
    <p:sldLayoutId id="2147483686" r:id="rId3"/>
  </p:sldLayoutIdLst>
  <p:txStyles>
    <p:titleStyle>
      <a:lvl1pPr algn="ctr" defTabSz="329167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28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329167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5840" b="1">
          <a:solidFill>
            <a:srgbClr val="990000"/>
          </a:solidFill>
          <a:latin typeface="Arial" charset="0"/>
        </a:defRPr>
      </a:lvl2pPr>
      <a:lvl3pPr algn="l" defTabSz="329167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5840" b="1">
          <a:solidFill>
            <a:srgbClr val="990000"/>
          </a:solidFill>
          <a:latin typeface="Arial" charset="0"/>
        </a:defRPr>
      </a:lvl3pPr>
      <a:lvl4pPr algn="l" defTabSz="329167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5840" b="1">
          <a:solidFill>
            <a:srgbClr val="990000"/>
          </a:solidFill>
          <a:latin typeface="Arial" charset="0"/>
        </a:defRPr>
      </a:lvl4pPr>
      <a:lvl5pPr algn="l" defTabSz="329167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5840" b="1">
          <a:solidFill>
            <a:srgbClr val="990000"/>
          </a:solidFill>
          <a:latin typeface="Arial" charset="0"/>
        </a:defRPr>
      </a:lvl5pPr>
      <a:lvl6pPr marL="2194450" algn="l" defTabSz="329167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5840" b="1">
          <a:solidFill>
            <a:srgbClr val="990000"/>
          </a:solidFill>
          <a:latin typeface="Arial" charset="0"/>
        </a:defRPr>
      </a:lvl6pPr>
      <a:lvl7pPr marL="4388901" algn="l" defTabSz="329167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5840" b="1">
          <a:solidFill>
            <a:srgbClr val="990000"/>
          </a:solidFill>
          <a:latin typeface="Arial" charset="0"/>
        </a:defRPr>
      </a:lvl7pPr>
      <a:lvl8pPr marL="6583350" algn="l" defTabSz="329167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5840" b="1">
          <a:solidFill>
            <a:srgbClr val="990000"/>
          </a:solidFill>
          <a:latin typeface="Arial" charset="0"/>
        </a:defRPr>
      </a:lvl8pPr>
      <a:lvl9pPr marL="8777802" algn="l" defTabSz="3291676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5840" b="1">
          <a:solidFill>
            <a:srgbClr val="990000"/>
          </a:solidFill>
          <a:latin typeface="Arial" charset="0"/>
        </a:defRPr>
      </a:lvl9pPr>
    </p:titleStyle>
    <p:bodyStyle>
      <a:lvl1pPr marL="463527" indent="-455062" algn="l" defTabSz="3291676" rtl="0" eaLnBrk="1" fontAlgn="base" hangingPunct="1">
        <a:lnSpc>
          <a:spcPct val="100000"/>
        </a:lnSpc>
        <a:spcBef>
          <a:spcPts val="1600"/>
        </a:spcBef>
        <a:spcAft>
          <a:spcPct val="0"/>
        </a:spcAft>
        <a:buFont typeface="Arial" panose="020B0604020202020204" pitchFamily="34" charset="0"/>
        <a:buChar char="•"/>
        <a:tabLst/>
        <a:defRPr sz="4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8588" indent="-455062" algn="l" defTabSz="3291676" rtl="0" eaLnBrk="1" fontAlgn="base" hangingPunct="1">
        <a:lnSpc>
          <a:spcPct val="100000"/>
        </a:lnSpc>
        <a:spcBef>
          <a:spcPts val="800"/>
        </a:spcBef>
        <a:spcAft>
          <a:spcPct val="0"/>
        </a:spcAft>
        <a:buFont typeface="Wingdings" panose="05000000000000000000" pitchFamily="2" charset="2"/>
        <a:buChar char="§"/>
        <a:tabLst/>
        <a:defRPr sz="426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71532" indent="-452943" algn="l" defTabSz="3291676" rtl="0" eaLnBrk="1" fontAlgn="base" hangingPunct="1">
        <a:lnSpc>
          <a:spcPct val="100000"/>
        </a:lnSpc>
        <a:spcBef>
          <a:spcPts val="800"/>
        </a:spcBef>
        <a:spcAft>
          <a:spcPct val="0"/>
        </a:spcAft>
        <a:buFont typeface="Arial" panose="020B0604020202020204" pitchFamily="34" charset="0"/>
        <a:buChar char="♦"/>
        <a:tabLst/>
        <a:defRPr sz="37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37175" indent="-465643" algn="l" defTabSz="3291676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Font typeface="Arial" panose="020B0604020202020204" pitchFamily="34" charset="0"/>
        <a:buChar char="»"/>
        <a:tabLst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90119" indent="-452943" algn="l" defTabSz="3291676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Font typeface="Arial" panose="020B0604020202020204" pitchFamily="34" charset="0"/>
        <a:buChar char="○"/>
        <a:tabLst/>
        <a:defRPr sz="266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9052108" indent="-822918" algn="l" defTabSz="3291676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7946" indent="-822918" algn="l" defTabSz="3291676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3782" indent="-822918" algn="l" defTabSz="3291676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89621" indent="-822918" algn="l" defTabSz="3291676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676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838" algn="l" defTabSz="3291676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676" algn="l" defTabSz="3291676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514" algn="l" defTabSz="3291676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350" algn="l" defTabSz="3291676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189" algn="l" defTabSz="3291676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026" algn="l" defTabSz="3291676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0864" algn="l" defTabSz="3291676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6701" algn="l" defTabSz="3291676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F26B43"/>
          </p15:clr>
        </p15:guide>
        <p15:guide id="2" pos="138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hyperlink" Target="https://github.com/acoder/NeatoSimPacManLib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99DC2-6685-AD0E-1269-C99950ECD7F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B9098A-B0F9-BB71-355F-BBE07B7D34CB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5A89B-C452-E790-AE6D-0DE8B44EFF8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9EEFFE-3C8B-73ED-9646-01112DC4328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7110AF-E6AE-0C7A-A9B8-E702C5A9D69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8AA0D7-6985-18AE-B2A0-D0E3E5F6182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EC15B48-0F02-6A95-CB21-DB76F2E0A39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90500"/>
            <a:ext cx="43891200" cy="487680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5333" dirty="0"/>
              <a:t>Poster title here (60-115 font)</a:t>
            </a:r>
            <a:br>
              <a:rPr lang="en-US" sz="15333" dirty="0"/>
            </a:br>
            <a:r>
              <a:rPr lang="en-US" sz="6400" dirty="0"/>
              <a:t>Author list here (* on corresponding author, superscripts for affiliations) (40-48 point font)</a:t>
            </a:r>
            <a:br>
              <a:rPr lang="en-US" sz="6400" dirty="0"/>
            </a:br>
            <a:r>
              <a:rPr lang="en-US" sz="3200" dirty="0"/>
              <a:t>Affiliations (20-24 point font)</a:t>
            </a:r>
            <a:br>
              <a:rPr lang="en-US" sz="3200" dirty="0"/>
            </a:br>
            <a:r>
              <a:rPr lang="en-US" sz="3200" dirty="0"/>
              <a:t>Contact info for corresponding author (20-24 point font)</a:t>
            </a:r>
            <a:endParaRPr lang="en-US" sz="64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8F1D1C2-E86C-D29E-D2E9-8EC6B613B51F}"/>
              </a:ext>
            </a:extLst>
          </p:cNvPr>
          <p:cNvSpPr txBox="1">
            <a:spLocks/>
          </p:cNvSpPr>
          <p:nvPr/>
        </p:nvSpPr>
        <p:spPr bwMode="auto">
          <a:xfrm>
            <a:off x="21945600" y="28468320"/>
            <a:ext cx="21945600" cy="121920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87680" rIns="731520" bIns="0" numCol="1" anchor="b" anchorCtr="0" compatLnSpc="1">
            <a:prstTxWarp prst="textNoShape">
              <a:avLst/>
            </a:prstTxWarp>
          </a:bodyPr>
          <a:lstStyle>
            <a:lvl1pPr algn="ctr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2pPr>
            <a:lvl3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3pPr>
            <a:lvl4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4pPr>
            <a:lvl5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5pPr>
            <a:lvl6pPr marL="164592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6pPr>
            <a:lvl7pPr marL="329184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7pPr>
            <a:lvl8pPr marL="493776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8pPr>
            <a:lvl9pPr marL="658368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algn="r"/>
            <a:r>
              <a:rPr lang="en-US" sz="6400" b="0"/>
              <a:t>Your lab name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CCAA65-924B-011E-3CF1-9045A701FEAB}"/>
              </a:ext>
            </a:extLst>
          </p:cNvPr>
          <p:cNvSpPr txBox="1"/>
          <p:nvPr/>
        </p:nvSpPr>
        <p:spPr>
          <a:xfrm>
            <a:off x="12801600" y="-8743950"/>
            <a:ext cx="6412" cy="184666"/>
          </a:xfrm>
          <a:prstGeom prst="rect">
            <a:avLst/>
          </a:prstGeom>
          <a:solidFill>
            <a:schemeClr val="bg1"/>
          </a:solidFill>
          <a:ln w="76200">
            <a:noFill/>
          </a:ln>
          <a:effectLst/>
        </p:spPr>
        <p:txBody>
          <a:bodyPr wrap="none" lIns="0" tIns="0" rIns="0" bIns="0" rtlCol="0">
            <a:spAutoFit/>
          </a:bodyPr>
          <a:lstStyle/>
          <a:p>
            <a:pPr marL="6350" marR="0" algn="l" defTabSz="2468880" rtl="0" eaLnBrk="1" fontAlgn="base" latinLnBrk="0" hangingPunct="1">
              <a:lnSpc>
                <a:spcPct val="100000"/>
              </a:lnSpc>
              <a:spcBef>
                <a:spcPts val="2700"/>
              </a:spcBef>
              <a:spcAft>
                <a:spcPct val="0"/>
              </a:spcAft>
              <a:buClrTx/>
              <a:buSzTx/>
              <a:tabLst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00A8A-0B51-673D-5453-1D28F46D0B93}"/>
              </a:ext>
            </a:extLst>
          </p:cNvPr>
          <p:cNvSpPr/>
          <p:nvPr/>
        </p:nvSpPr>
        <p:spPr>
          <a:xfrm>
            <a:off x="40016862" y="1317461"/>
            <a:ext cx="2774779" cy="31497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YOUR PHOTO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ABE826CF-B2A4-85E3-32DB-BD500AB6F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C8518D6A-009E-1F1A-5693-D07493E83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1080"/>
          <a:stretch/>
        </p:blipFill>
        <p:spPr>
          <a:xfrm>
            <a:off x="1099559" y="685800"/>
            <a:ext cx="3629622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782D830-FE56-C260-230D-C104BFB0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5333" dirty="0">
                <a:solidFill>
                  <a:prstClr val="white"/>
                </a:solidFill>
              </a:rPr>
              <a:t>Poster title here (60-115 point font)</a:t>
            </a:r>
            <a:br>
              <a:rPr lang="en-US" sz="15333" dirty="0">
                <a:solidFill>
                  <a:prstClr val="white"/>
                </a:solidFill>
              </a:rPr>
            </a:br>
            <a:r>
              <a:rPr lang="en-US" sz="6400" dirty="0">
                <a:solidFill>
                  <a:prstClr val="white"/>
                </a:solidFill>
              </a:rPr>
              <a:t>Author list here (* on corresponding author) (40-48 point font)</a:t>
            </a:r>
            <a:br>
              <a:rPr lang="en-US" sz="6400" dirty="0">
                <a:solidFill>
                  <a:prstClr val="white"/>
                </a:solidFill>
              </a:rPr>
            </a:br>
            <a:r>
              <a:rPr lang="en-US" sz="3200" dirty="0"/>
              <a:t>Affiliations (20-24 point font)</a:t>
            </a:r>
            <a:br>
              <a:rPr lang="en-US" sz="3200" dirty="0"/>
            </a:br>
            <a:r>
              <a:rPr lang="en-US" sz="3200" dirty="0"/>
              <a:t>Contact info for corresponding author (20-24 point font)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4793414-78CF-7492-4ABA-C937831B526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AAE61E0-DDF2-4750-D0F9-97B61363D63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F5C9F9D-C11A-77D7-E249-470CBA2C0CF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C659F07-BC33-6923-F1EC-55DAE1467E2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08C4E44-79F7-0D21-5B1D-D00D02852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82880" tIns="243840" rIns="182880" bIns="243840" rtlCol="0">
            <a:normAutofit/>
          </a:bodyPr>
          <a:lstStyle/>
          <a:p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39ABF22-3CA8-F222-3DCC-EADA32827D6E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2F26978-02D0-4CC8-DB2B-9F57BD567F30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E9D44-E6B7-5E3D-96F6-2224444109D8}"/>
              </a:ext>
            </a:extLst>
          </p:cNvPr>
          <p:cNvSpPr/>
          <p:nvPr/>
        </p:nvSpPr>
        <p:spPr>
          <a:xfrm>
            <a:off x="40016862" y="1317461"/>
            <a:ext cx="2774779" cy="31497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YOUR PHOTO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1C66AF7-E9C3-80FE-A088-902B13820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1080"/>
          <a:stretch/>
        </p:blipFill>
        <p:spPr>
          <a:xfrm>
            <a:off x="1099559" y="685800"/>
            <a:ext cx="3629622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96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78DFDB6-ECED-3EC0-16CD-7390CAC81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sz="3200" dirty="0">
                <a:solidFill>
                  <a:prstClr val="black"/>
                </a:solidFill>
              </a:rPr>
              <a:t>2-D video games are ideal for reinforcement learning:</a:t>
            </a:r>
          </a:p>
          <a:p>
            <a:pPr lvl="1">
              <a:spcBef>
                <a:spcPts val="400"/>
              </a:spcBef>
              <a:defRPr/>
            </a:pPr>
            <a:r>
              <a:rPr lang="en-US" sz="2667" dirty="0">
                <a:solidFill>
                  <a:prstClr val="black"/>
                </a:solidFill>
              </a:rPr>
              <a:t>Entire screen is the current game state</a:t>
            </a:r>
          </a:p>
          <a:p>
            <a:pPr lvl="1">
              <a:spcBef>
                <a:spcPts val="400"/>
              </a:spcBef>
              <a:defRPr/>
            </a:pPr>
            <a:r>
              <a:rPr lang="en-US" sz="2667" dirty="0">
                <a:solidFill>
                  <a:prstClr val="black"/>
                </a:solidFill>
              </a:rPr>
              <a:t>Small set of actions (simple gameplay)</a:t>
            </a:r>
          </a:p>
          <a:p>
            <a:pPr lvl="1">
              <a:spcBef>
                <a:spcPts val="400"/>
              </a:spcBef>
              <a:defRPr/>
            </a:pPr>
            <a:r>
              <a:rPr lang="en-US" sz="2667" dirty="0">
                <a:solidFill>
                  <a:prstClr val="black"/>
                </a:solidFill>
              </a:rPr>
              <a:t>Clear objectives</a:t>
            </a:r>
          </a:p>
          <a:p>
            <a:pPr lvl="1">
              <a:spcBef>
                <a:spcPts val="400"/>
              </a:spcBef>
              <a:defRPr/>
            </a:pPr>
            <a:r>
              <a:rPr lang="en-US" sz="2667" dirty="0">
                <a:solidFill>
                  <a:prstClr val="black"/>
                </a:solidFill>
              </a:rPr>
              <a:t>Intuitive and familiar to researchers and students. </a:t>
            </a:r>
          </a:p>
          <a:p>
            <a:pPr>
              <a:defRPr/>
            </a:pPr>
            <a:r>
              <a:rPr lang="en-US" sz="3200" dirty="0">
                <a:solidFill>
                  <a:prstClr val="black"/>
                </a:solidFill>
              </a:rPr>
              <a:t>We use Pac-Man [1] to demonstrate reinforcement learning techniques that navigate complex worlds. </a:t>
            </a:r>
          </a:p>
          <a:p>
            <a:pPr>
              <a:defRPr/>
            </a:pPr>
            <a:r>
              <a:rPr lang="en-US" sz="3200" dirty="0">
                <a:solidFill>
                  <a:prstClr val="black"/>
                </a:solidFill>
              </a:rPr>
              <a:t>Pac-Man lives in a virtual 2-D maze:</a:t>
            </a:r>
          </a:p>
          <a:p>
            <a:pPr lvl="1">
              <a:spcBef>
                <a:spcPts val="400"/>
              </a:spcBef>
              <a:defRPr/>
            </a:pPr>
            <a:r>
              <a:rPr lang="en-US" sz="2667" b="1" dirty="0">
                <a:solidFill>
                  <a:prstClr val="black"/>
                </a:solidFill>
              </a:rPr>
              <a:t>Ghosts: </a:t>
            </a:r>
            <a:r>
              <a:rPr lang="en-US" sz="2667" dirty="0">
                <a:solidFill>
                  <a:prstClr val="black"/>
                </a:solidFill>
              </a:rPr>
              <a:t>	Seek to eat Pac-Man</a:t>
            </a:r>
          </a:p>
          <a:p>
            <a:pPr lvl="1">
              <a:spcBef>
                <a:spcPts val="400"/>
              </a:spcBef>
              <a:defRPr/>
            </a:pPr>
            <a:r>
              <a:rPr lang="en-US" sz="2667" b="1" dirty="0">
                <a:solidFill>
                  <a:prstClr val="black"/>
                </a:solidFill>
              </a:rPr>
              <a:t>Pac-Dots: </a:t>
            </a:r>
            <a:r>
              <a:rPr lang="en-US" sz="2667" dirty="0">
                <a:solidFill>
                  <a:prstClr val="black"/>
                </a:solidFill>
              </a:rPr>
              <a:t>	small dots consumed </a:t>
            </a:r>
            <a:br>
              <a:rPr lang="en-US" sz="2667" dirty="0">
                <a:solidFill>
                  <a:prstClr val="black"/>
                </a:solidFill>
              </a:rPr>
            </a:br>
            <a:r>
              <a:rPr lang="en-US" sz="2667" dirty="0">
                <a:solidFill>
                  <a:prstClr val="black"/>
                </a:solidFill>
              </a:rPr>
              <a:t>	by Pac-Man</a:t>
            </a:r>
          </a:p>
          <a:p>
            <a:pPr lvl="1">
              <a:spcBef>
                <a:spcPts val="400"/>
              </a:spcBef>
              <a:defRPr/>
            </a:pPr>
            <a:r>
              <a:rPr lang="en-US" sz="2667" b="1" dirty="0">
                <a:solidFill>
                  <a:prstClr val="black"/>
                </a:solidFill>
              </a:rPr>
              <a:t>Power Pellets: </a:t>
            </a:r>
            <a:r>
              <a:rPr lang="en-US" sz="2667" dirty="0">
                <a:solidFill>
                  <a:prstClr val="black"/>
                </a:solidFill>
              </a:rPr>
              <a:t>Temporarily allow </a:t>
            </a:r>
            <a:br>
              <a:rPr lang="en-US" sz="2667" dirty="0">
                <a:solidFill>
                  <a:prstClr val="black"/>
                </a:solidFill>
              </a:rPr>
            </a:br>
            <a:r>
              <a:rPr lang="en-US" sz="2667" dirty="0">
                <a:solidFill>
                  <a:prstClr val="black"/>
                </a:solidFill>
              </a:rPr>
              <a:t>	Pac-Man to eat ghosts</a:t>
            </a:r>
          </a:p>
          <a:p>
            <a:pPr lvl="1">
              <a:spcBef>
                <a:spcPts val="400"/>
              </a:spcBef>
              <a:defRPr/>
            </a:pPr>
            <a:r>
              <a:rPr lang="en-US" sz="2667" b="1" dirty="0">
                <a:solidFill>
                  <a:prstClr val="black"/>
                </a:solidFill>
              </a:rPr>
              <a:t>Portals: </a:t>
            </a:r>
            <a:r>
              <a:rPr lang="en-US" sz="2667" dirty="0">
                <a:solidFill>
                  <a:prstClr val="black"/>
                </a:solidFill>
              </a:rPr>
              <a:t>	Teleport Pac-Man </a:t>
            </a:r>
            <a:br>
              <a:rPr lang="en-US" sz="2667" dirty="0">
                <a:solidFill>
                  <a:prstClr val="black"/>
                </a:solidFill>
              </a:rPr>
            </a:br>
            <a:r>
              <a:rPr lang="en-US" sz="2667" dirty="0">
                <a:solidFill>
                  <a:prstClr val="black"/>
                </a:solidFill>
              </a:rPr>
              <a:t>	across the maze</a:t>
            </a:r>
          </a:p>
          <a:p>
            <a:pPr>
              <a:defRPr/>
            </a:pPr>
            <a:r>
              <a:rPr lang="en-US" sz="3200" dirty="0">
                <a:solidFill>
                  <a:prstClr val="black"/>
                </a:solidFill>
              </a:rPr>
              <a:t>Pac-Man must clear all Pac-Dots </a:t>
            </a:r>
            <a:br>
              <a:rPr lang="en-US" sz="3200" dirty="0">
                <a:solidFill>
                  <a:prstClr val="black"/>
                </a:solidFill>
              </a:rPr>
            </a:br>
            <a:r>
              <a:rPr lang="en-US" sz="3200" dirty="0">
                <a:solidFill>
                  <a:prstClr val="black"/>
                </a:solidFill>
              </a:rPr>
              <a:t>and Power Pellets without being eaten to clear the maze</a:t>
            </a:r>
          </a:p>
          <a:p>
            <a:pPr>
              <a:defRPr/>
            </a:pPr>
            <a:r>
              <a:rPr lang="en-US" sz="3200" dirty="0">
                <a:solidFill>
                  <a:prstClr val="black"/>
                </a:solidFill>
              </a:rPr>
              <a:t>Strategy drastically affects Pac-Man's survival time [2]</a:t>
            </a:r>
          </a:p>
          <a:p>
            <a:pPr>
              <a:defRPr/>
            </a:pPr>
            <a:r>
              <a:rPr lang="en-US" sz="3200" dirty="0">
                <a:solidFill>
                  <a:prstClr val="black"/>
                </a:solidFill>
              </a:rPr>
              <a:t>Reinforcement learning [3] can find optimal strategies in video games and other scenarios</a:t>
            </a:r>
          </a:p>
          <a:p>
            <a:pPr lvl="1">
              <a:defRPr/>
            </a:pPr>
            <a:r>
              <a:rPr lang="en-US" sz="2667" dirty="0">
                <a:solidFill>
                  <a:prstClr val="black"/>
                </a:solidFill>
              </a:rPr>
              <a:t>Represent current </a:t>
            </a:r>
            <a:r>
              <a:rPr lang="en-US" sz="2667" b="1" i="1" dirty="0">
                <a:solidFill>
                  <a:prstClr val="black"/>
                </a:solidFill>
              </a:rPr>
              <a:t>state </a:t>
            </a:r>
            <a:r>
              <a:rPr lang="en-US" sz="2667" dirty="0">
                <a:solidFill>
                  <a:prstClr val="black"/>
                </a:solidFill>
              </a:rPr>
              <a:t>as a vector with discrete values in a finite state-space</a:t>
            </a:r>
          </a:p>
          <a:p>
            <a:pPr lvl="2">
              <a:defRPr/>
            </a:pPr>
            <a:r>
              <a:rPr lang="en-US" sz="2267" dirty="0">
                <a:solidFill>
                  <a:prstClr val="black"/>
                </a:solidFill>
              </a:rPr>
              <a:t>Each possible state is a row in a Q matrix for Q-learning [3]</a:t>
            </a:r>
          </a:p>
          <a:p>
            <a:pPr lvl="1">
              <a:defRPr/>
            </a:pPr>
            <a:r>
              <a:rPr lang="en-US" sz="2800" dirty="0">
                <a:solidFill>
                  <a:prstClr val="black"/>
                </a:solidFill>
              </a:rPr>
              <a:t>Finitely many possible </a:t>
            </a:r>
            <a:r>
              <a:rPr lang="en-US" sz="2800" b="1" dirty="0">
                <a:solidFill>
                  <a:prstClr val="black"/>
                </a:solidFill>
              </a:rPr>
              <a:t>actions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endParaRPr lang="en-US" sz="2800" b="1" dirty="0">
              <a:solidFill>
                <a:prstClr val="black"/>
              </a:solidFill>
            </a:endParaRPr>
          </a:p>
          <a:p>
            <a:pPr lvl="2">
              <a:defRPr/>
            </a:pPr>
            <a:r>
              <a:rPr lang="en-US" sz="2267" dirty="0">
                <a:solidFill>
                  <a:prstClr val="black"/>
                </a:solidFill>
              </a:rPr>
              <a:t>Each possible action is a column in the Q-matrix [3]</a:t>
            </a:r>
          </a:p>
          <a:p>
            <a:pPr lvl="1">
              <a:defRPr/>
            </a:pPr>
            <a:r>
              <a:rPr lang="en-US" sz="2800" dirty="0">
                <a:solidFill>
                  <a:prstClr val="black"/>
                </a:solidFill>
              </a:rPr>
              <a:t>For a given state, choose action that maximizes reward:</a:t>
            </a:r>
          </a:p>
          <a:p>
            <a:pPr lvl="2">
              <a:defRPr/>
            </a:pPr>
            <a:r>
              <a:rPr lang="en-US" sz="2267" dirty="0">
                <a:solidFill>
                  <a:prstClr val="black"/>
                </a:solidFill>
              </a:rPr>
              <a:t>Current state is a row in the Q matrix</a:t>
            </a:r>
          </a:p>
          <a:p>
            <a:pPr lvl="2">
              <a:defRPr/>
            </a:pPr>
            <a:r>
              <a:rPr lang="en-US" sz="2267" dirty="0">
                <a:solidFill>
                  <a:prstClr val="black"/>
                </a:solidFill>
              </a:rPr>
              <a:t>Column with max matrix value = choice of next state</a:t>
            </a:r>
          </a:p>
          <a:p>
            <a:pPr lvl="1">
              <a:defRPr/>
            </a:pPr>
            <a:r>
              <a:rPr lang="en-US" sz="2800" dirty="0"/>
              <a:t>𝛆-greedy training: at each step choose next state:</a:t>
            </a:r>
          </a:p>
          <a:p>
            <a:pPr lvl="2">
              <a:defRPr/>
            </a:pPr>
            <a:r>
              <a:rPr lang="en-US" sz="2267" dirty="0">
                <a:solidFill>
                  <a:prstClr val="black"/>
                </a:solidFill>
              </a:rPr>
              <a:t>With </a:t>
            </a:r>
            <a:r>
              <a:rPr lang="en-US" sz="2400" dirty="0"/>
              <a:t>𝛆 probability: </a:t>
            </a:r>
          </a:p>
          <a:p>
            <a:pPr lvl="3">
              <a:defRPr/>
            </a:pPr>
            <a:r>
              <a:rPr lang="en-US" sz="1867" dirty="0"/>
              <a:t>randomly choose new action, compute reward and update Q matrix.</a:t>
            </a:r>
          </a:p>
          <a:p>
            <a:pPr lvl="3">
              <a:defRPr/>
            </a:pPr>
            <a:r>
              <a:rPr lang="en-US" sz="1867" dirty="0"/>
              <a:t>Otherwise, use max Q to choose next action, compute reward, update Q</a:t>
            </a:r>
          </a:p>
          <a:p>
            <a:pPr lvl="2">
              <a:defRPr/>
            </a:pPr>
            <a:r>
              <a:rPr lang="en-US" sz="2400" dirty="0"/>
              <a:t>Repeat until Q matrix has little change. Reset game as needed.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07385BE-79FC-8AA8-5DA5-0AE5F2EB5C9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5067" b="1" dirty="0"/>
              <a:t>Levels used</a:t>
            </a:r>
          </a:p>
          <a:p>
            <a:pPr lvl="1"/>
            <a:r>
              <a:rPr lang="en-US" dirty="0"/>
              <a:t>5 identical ghosts ("Blinky")</a:t>
            </a:r>
          </a:p>
          <a:p>
            <a:pPr lvl="1"/>
            <a:r>
              <a:rPr lang="en-US" dirty="0"/>
              <a:t>Maze geometry held constant (with discrete positions)</a:t>
            </a:r>
          </a:p>
          <a:p>
            <a:pPr lvl="2"/>
            <a:r>
              <a:rPr lang="en-US" dirty="0"/>
              <a:t>Standard Pac-Man maze geometry</a:t>
            </a:r>
          </a:p>
          <a:p>
            <a:pPr lvl="1"/>
            <a:r>
              <a:rPr lang="en-US" dirty="0"/>
              <a:t>No portals</a:t>
            </a:r>
          </a:p>
          <a:p>
            <a:pPr lvl="1"/>
            <a:r>
              <a:rPr lang="en-US" dirty="0"/>
              <a:t>Constant level speed: </a:t>
            </a:r>
          </a:p>
          <a:p>
            <a:pPr lvl="2"/>
            <a:r>
              <a:rPr lang="en-US" dirty="0"/>
              <a:t>8 movements per second</a:t>
            </a:r>
          </a:p>
          <a:p>
            <a:pPr lvl="2"/>
            <a:r>
              <a:rPr lang="en-US" dirty="0"/>
              <a:t>Fastest possible maze clearance is ~30 seconds </a:t>
            </a:r>
          </a:p>
          <a:p>
            <a:pPr lvl="2"/>
            <a:r>
              <a:rPr lang="en-US" dirty="0"/>
              <a:t>(RL played game 1000x faster during training) </a:t>
            </a:r>
          </a:p>
          <a:p>
            <a:pPr lvl="1"/>
            <a:r>
              <a:rPr lang="en-US" dirty="0"/>
              <a:t>End game if computer hits maze or ghost</a:t>
            </a:r>
          </a:p>
          <a:p>
            <a:pPr lvl="2"/>
            <a:endParaRPr lang="en-US" dirty="0"/>
          </a:p>
          <a:p>
            <a:r>
              <a:rPr lang="en-US" sz="5067" b="1" dirty="0"/>
              <a:t>Survival time metric</a:t>
            </a:r>
          </a:p>
          <a:p>
            <a:pPr lvl="1"/>
            <a:r>
              <a:rPr lang="en-US" dirty="0"/>
              <a:t>Number of seconds from start of game until Pac-Man is eaten by a ghost</a:t>
            </a:r>
          </a:p>
          <a:p>
            <a:pPr lvl="1"/>
            <a:r>
              <a:rPr lang="en-US" dirty="0"/>
              <a:t>If maze is cleared, level is reset, timer continues</a:t>
            </a:r>
          </a:p>
          <a:p>
            <a:pPr lvl="1"/>
            <a:endParaRPr lang="en-US" dirty="0"/>
          </a:p>
          <a:p>
            <a:r>
              <a:rPr lang="en-US" sz="5067" b="1" dirty="0"/>
              <a:t>Human players (control group)</a:t>
            </a:r>
          </a:p>
          <a:p>
            <a:pPr lvl="1"/>
            <a:r>
              <a:rPr lang="en-US" dirty="0"/>
              <a:t>Recruited 10 skilled video gamers</a:t>
            </a:r>
          </a:p>
          <a:p>
            <a:pPr lvl="1"/>
            <a:r>
              <a:rPr lang="en-US" dirty="0"/>
              <a:t>Each player trained 1 hour daily (Monday-Friday) for 10 weeks </a:t>
            </a:r>
          </a:p>
          <a:p>
            <a:pPr lvl="1"/>
            <a:r>
              <a:rPr lang="en-US" dirty="0"/>
              <a:t>Average survival time (3 replicates/player) measured every Friday</a:t>
            </a:r>
          </a:p>
          <a:p>
            <a:pPr lvl="1"/>
            <a:endParaRPr lang="en-US" dirty="0"/>
          </a:p>
          <a:p>
            <a:r>
              <a:rPr lang="en-US" sz="5067" b="1" dirty="0"/>
              <a:t>Reinforcement Learning (RL)</a:t>
            </a:r>
          </a:p>
          <a:p>
            <a:pPr lvl="1"/>
            <a:r>
              <a:rPr lang="en-US" dirty="0"/>
              <a:t>Used 𝛆-greedy Q learning [3]</a:t>
            </a:r>
          </a:p>
          <a:p>
            <a:pPr lvl="1"/>
            <a:r>
              <a:rPr lang="en-US" dirty="0"/>
              <a:t>State vector:</a:t>
            </a:r>
          </a:p>
          <a:p>
            <a:pPr lvl="2"/>
            <a:r>
              <a:rPr lang="en-US" dirty="0"/>
              <a:t>ASCII sequences for current and prior time: </a:t>
            </a:r>
          </a:p>
          <a:p>
            <a:pPr lvl="3"/>
            <a:r>
              <a:rPr lang="en-US" dirty="0"/>
              <a:t>P: Pac-Man</a:t>
            </a:r>
          </a:p>
          <a:p>
            <a:pPr lvl="3"/>
            <a:r>
              <a:rPr lang="en-US" dirty="0"/>
              <a:t>s: empty space</a:t>
            </a:r>
          </a:p>
          <a:p>
            <a:pPr lvl="3"/>
            <a:r>
              <a:rPr lang="en-US" dirty="0"/>
              <a:t>m: maze (obstacle)</a:t>
            </a:r>
          </a:p>
          <a:p>
            <a:pPr lvl="3"/>
            <a:r>
              <a:rPr lang="en-US" dirty="0"/>
              <a:t>d: Pac-Dot</a:t>
            </a:r>
          </a:p>
          <a:p>
            <a:pPr lvl="3"/>
            <a:r>
              <a:rPr lang="en-US" dirty="0"/>
              <a:t>e: Power Pellet</a:t>
            </a:r>
          </a:p>
          <a:p>
            <a:pPr lvl="3"/>
            <a:r>
              <a:rPr lang="en-US" dirty="0"/>
              <a:t>G: ghost</a:t>
            </a:r>
          </a:p>
          <a:p>
            <a:pPr lvl="2"/>
            <a:r>
              <a:rPr lang="en-US" dirty="0"/>
              <a:t>Simplification: just record state in 5x5 grid: </a:t>
            </a:r>
          </a:p>
          <a:p>
            <a:pPr lvl="3"/>
            <a:r>
              <a:rPr lang="en-US" dirty="0"/>
              <a:t>Pac-Man's location and immediately adjacent screen locations</a:t>
            </a:r>
          </a:p>
          <a:p>
            <a:pPr lvl="1"/>
            <a:r>
              <a:rPr lang="en-US" dirty="0"/>
              <a:t>Actions: </a:t>
            </a:r>
          </a:p>
          <a:p>
            <a:pPr lvl="2"/>
            <a:r>
              <a:rPr lang="en-US" dirty="0"/>
              <a:t>Move left, right, up, down. </a:t>
            </a:r>
          </a:p>
          <a:p>
            <a:pPr lvl="2"/>
            <a:r>
              <a:rPr lang="en-US" dirty="0"/>
              <a:t>Motion into portals or maze disallowed</a:t>
            </a:r>
          </a:p>
          <a:p>
            <a:pPr lvl="1"/>
            <a:r>
              <a:rPr lang="en-US" dirty="0"/>
              <a:t>Rewards and Penalties based on Pac-Man's location:  </a:t>
            </a:r>
          </a:p>
          <a:p>
            <a:pPr lvl="2"/>
            <a:r>
              <a:rPr lang="en-US" dirty="0"/>
              <a:t>-g for touching Ghost (w/o Power Pellet)</a:t>
            </a:r>
          </a:p>
          <a:p>
            <a:pPr lvl="2"/>
            <a:r>
              <a:rPr lang="en-US" dirty="0"/>
              <a:t>+e for touching Ghost (with Power Pellet)</a:t>
            </a:r>
          </a:p>
          <a:p>
            <a:pPr lvl="2"/>
            <a:r>
              <a:rPr lang="en-US" dirty="0"/>
              <a:t>+s for empty space</a:t>
            </a:r>
          </a:p>
          <a:p>
            <a:pPr lvl="2"/>
            <a:r>
              <a:rPr lang="en-US" dirty="0"/>
              <a:t>+d for Pac-Dot</a:t>
            </a:r>
          </a:p>
          <a:p>
            <a:pPr lvl="2"/>
            <a:r>
              <a:rPr lang="en-US" dirty="0"/>
              <a:t>+p for Power Pellet</a:t>
            </a:r>
          </a:p>
          <a:p>
            <a:pPr lvl="2"/>
            <a:r>
              <a:rPr lang="en-US" dirty="0"/>
              <a:t>Capital letters: </a:t>
            </a:r>
          </a:p>
          <a:p>
            <a:pPr lvl="3"/>
            <a:r>
              <a:rPr lang="en-US" dirty="0"/>
              <a:t>accumulated points for each category before death. </a:t>
            </a:r>
          </a:p>
          <a:p>
            <a:pPr lvl="1"/>
            <a:r>
              <a:rPr lang="en-US" dirty="0"/>
              <a:t>Virtual game implemented in </a:t>
            </a:r>
            <a:r>
              <a:rPr lang="en-US" dirty="0" err="1"/>
              <a:t>NeatoSimPacManLib</a:t>
            </a:r>
            <a:r>
              <a:rPr lang="en-US" dirty="0"/>
              <a:t> Version 3.7 [4]</a:t>
            </a:r>
          </a:p>
          <a:p>
            <a:pPr lvl="2"/>
            <a:endParaRPr lang="en-US" dirty="0"/>
          </a:p>
          <a:p>
            <a:r>
              <a:rPr lang="en-US" sz="5067" b="1" dirty="0"/>
              <a:t>Evaluation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At 10 weeks, human players (n = 10, 3 runs per player) and RL strategy (30 runs) were tested for survival time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Used Student T-test (2-tail, unequal variances) to evaluate if means were significantly different, with p=0.05 used accept the the survival times as significantly different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A8AE823-B957-9951-4380-E5DA51212A4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Human Training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RL Training</a:t>
            </a:r>
          </a:p>
          <a:p>
            <a:pPr lvl="1"/>
            <a:r>
              <a:rPr lang="en-US" dirty="0"/>
              <a:t>Total reward: R = -G+E+S+D+P</a:t>
            </a:r>
          </a:p>
          <a:p>
            <a:pPr lvl="1"/>
            <a:r>
              <a:rPr lang="en-US" dirty="0"/>
              <a:t>Reward function:</a:t>
            </a:r>
          </a:p>
          <a:p>
            <a:pPr lvl="2"/>
            <a:r>
              <a:rPr lang="en-US" dirty="0"/>
              <a:t>Maximize survival time</a:t>
            </a:r>
          </a:p>
          <a:p>
            <a:pPr lvl="2"/>
            <a:r>
              <a:rPr lang="en-US" dirty="0"/>
              <a:t>1 unit of survival for each "clock tick" that isn't a ghost</a:t>
            </a:r>
          </a:p>
          <a:p>
            <a:pPr lvl="3"/>
            <a:r>
              <a:rPr lang="en-US" dirty="0"/>
              <a:t>s = d = p = e = 1</a:t>
            </a:r>
          </a:p>
          <a:p>
            <a:pPr lvl="2"/>
            <a:r>
              <a:rPr lang="en-US" dirty="0"/>
              <a:t>Extreme penalty for ghost</a:t>
            </a:r>
          </a:p>
          <a:p>
            <a:pPr lvl="3"/>
            <a:r>
              <a:rPr lang="en-US" dirty="0"/>
              <a:t>g = 100,000,000</a:t>
            </a:r>
          </a:p>
          <a:p>
            <a:pPr lvl="1"/>
            <a:r>
              <a:rPr lang="en-US" dirty="0"/>
              <a:t>Training:</a:t>
            </a:r>
          </a:p>
          <a:p>
            <a:pPr lvl="2"/>
            <a:r>
              <a:rPr lang="en-US" dirty="0"/>
              <a:t>Random initial Q matrix</a:t>
            </a:r>
          </a:p>
          <a:p>
            <a:pPr lvl="2"/>
            <a:r>
              <a:rPr lang="en-US" dirty="0"/>
              <a:t>Poor performance for first 50,000 games </a:t>
            </a:r>
          </a:p>
          <a:p>
            <a:pPr lvl="2"/>
            <a:r>
              <a:rPr lang="en-US" dirty="0"/>
              <a:t>Consistently cleared 1 level by 360,000 games</a:t>
            </a:r>
          </a:p>
          <a:p>
            <a:pPr lvl="2"/>
            <a:r>
              <a:rPr lang="en-US" dirty="0"/>
              <a:t>Consistently cleared 3 levels by 600,000 games</a:t>
            </a:r>
          </a:p>
          <a:p>
            <a:pPr lvl="2"/>
            <a:r>
              <a:rPr lang="en-US" dirty="0"/>
              <a:t>Converged by 1,500,000 games</a:t>
            </a:r>
          </a:p>
          <a:p>
            <a:pPr lvl="3"/>
            <a:r>
              <a:rPr lang="en-US" dirty="0"/>
              <a:t>No entries in Q matrix changed more than 1%</a:t>
            </a:r>
          </a:p>
          <a:p>
            <a:pPr lvl="2"/>
            <a:r>
              <a:rPr lang="en-US" dirty="0"/>
              <a:t>Score presented below (prior to death penalty):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r>
              <a:rPr lang="en-US" b="1" dirty="0"/>
              <a:t>Comparison of Human and RL</a:t>
            </a:r>
          </a:p>
          <a:p>
            <a:pPr lvl="1"/>
            <a:r>
              <a:rPr lang="en-US" dirty="0"/>
              <a:t>Human players (30 trials):</a:t>
            </a:r>
          </a:p>
          <a:p>
            <a:pPr lvl="2"/>
            <a:r>
              <a:rPr lang="en-US" dirty="0"/>
              <a:t>Mean survival time: 	142.4 sec</a:t>
            </a:r>
          </a:p>
          <a:p>
            <a:pPr lvl="2"/>
            <a:r>
              <a:rPr lang="en-US" dirty="0"/>
              <a:t>Standard deviation: 	59.3 sec</a:t>
            </a:r>
          </a:p>
          <a:p>
            <a:pPr lvl="1"/>
            <a:r>
              <a:rPr lang="en-US" dirty="0"/>
              <a:t>Reinforcement learning (30 games):</a:t>
            </a:r>
          </a:p>
          <a:p>
            <a:pPr lvl="2"/>
            <a:r>
              <a:rPr lang="en-US" dirty="0"/>
              <a:t>Mean survival time: 	166.5 sec</a:t>
            </a:r>
          </a:p>
          <a:p>
            <a:pPr lvl="2"/>
            <a:r>
              <a:rPr lang="en-US" dirty="0"/>
              <a:t>Standard deviation: 	16.6 sec</a:t>
            </a:r>
          </a:p>
          <a:p>
            <a:pPr lvl="1"/>
            <a:r>
              <a:rPr lang="en-US" dirty="0"/>
              <a:t>Student T-test</a:t>
            </a:r>
          </a:p>
          <a:p>
            <a:pPr lvl="2"/>
            <a:r>
              <a:rPr lang="en-US" i="1" dirty="0"/>
              <a:t>p </a:t>
            </a:r>
            <a:r>
              <a:rPr lang="en-US" dirty="0"/>
              <a:t>= 0.034 that human and RL players have same mean survival time. 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0E68F26-4E72-0EB3-2AD5-0B7E55112C6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This work was funded by the American Society for Pac-Man Domination and the NSF (929493984)</a:t>
            </a:r>
          </a:p>
          <a:p>
            <a:r>
              <a:rPr lang="en-US" dirty="0"/>
              <a:t>IU Bloomington contributed 1,000 CPU-hours on </a:t>
            </a:r>
            <a:r>
              <a:rPr lang="en-US" dirty="0" err="1"/>
              <a:t>BigRed</a:t>
            </a:r>
            <a:r>
              <a:rPr lang="en-US" dirty="0"/>
              <a:t> 200 for this work. </a:t>
            </a:r>
          </a:p>
          <a:p>
            <a:r>
              <a:rPr lang="en-US" dirty="0"/>
              <a:t>We thank the Indiana Pac-Man Association for useful discussions and espresso.  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B43BE39-AF39-C1ED-A0E9-81855D4A528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62500" lnSpcReduction="20000"/>
          </a:bodyPr>
          <a:lstStyle/>
          <a:p>
            <a:pPr indent="-457178"/>
            <a:r>
              <a:rPr lang="en-US" dirty="0"/>
              <a:t>[1] T. Iwatani. "Pac-Man", Namco 1980. </a:t>
            </a:r>
          </a:p>
          <a:p>
            <a:pPr indent="-457178"/>
            <a:r>
              <a:rPr lang="en-US" dirty="0"/>
              <a:t>[2] A.M. Gamer et al. Review of Pac-Man. </a:t>
            </a:r>
            <a:r>
              <a:rPr lang="en-US" i="1" dirty="0"/>
              <a:t>J. Gaming and Neat Stuff </a:t>
            </a:r>
            <a:r>
              <a:rPr lang="en-US" dirty="0"/>
              <a:t>42(1):1-10, 1984. </a:t>
            </a:r>
          </a:p>
          <a:p>
            <a:pPr indent="-457178"/>
            <a:r>
              <a:rPr lang="en-US" dirty="0"/>
              <a:t>[3] A. Scientist. Reinforcement Learning Techniques: Review and Best Practices. </a:t>
            </a:r>
            <a:r>
              <a:rPr lang="en-US" i="1" dirty="0"/>
              <a:t>J. Perfect Machine Learning Methods </a:t>
            </a:r>
            <a:r>
              <a:rPr lang="en-US" dirty="0"/>
              <a:t>42(1):1-38, 2050. </a:t>
            </a:r>
          </a:p>
          <a:p>
            <a:pPr indent="-457178"/>
            <a:r>
              <a:rPr lang="en-US" dirty="0"/>
              <a:t>[4] A. Coder. </a:t>
            </a:r>
            <a:r>
              <a:rPr lang="en-US" dirty="0" err="1"/>
              <a:t>NeatoSimPacManLib</a:t>
            </a:r>
            <a:r>
              <a:rPr lang="en-US" dirty="0"/>
              <a:t> for Virtual Game Environments focused specifically around </a:t>
            </a:r>
            <a:r>
              <a:rPr lang="en-US" dirty="0" err="1"/>
              <a:t>PacMan</a:t>
            </a:r>
            <a:r>
              <a:rPr lang="en-US" dirty="0"/>
              <a:t>, by some amazing coincidence. Version 3.7.  </a:t>
            </a:r>
            <a:r>
              <a:rPr lang="en-US" dirty="0">
                <a:hlinkClick r:id="rId2"/>
              </a:rPr>
              <a:t>https://github.com/acoder/NeatoSimPacManLib</a:t>
            </a:r>
            <a:r>
              <a:rPr lang="en-US" dirty="0"/>
              <a:t>. 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3C0D0CE-2DF8-61C1-0B14-7E589A1B8D3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Human players improved throughout training, but with decreasing returns. </a:t>
            </a:r>
          </a:p>
          <a:p>
            <a:r>
              <a:rPr lang="en-US" dirty="0"/>
              <a:t>RL steadily improved through each virtual game </a:t>
            </a:r>
          </a:p>
          <a:p>
            <a:r>
              <a:rPr lang="en-US" dirty="0"/>
              <a:t>RL strategy beat skilled human players </a:t>
            </a:r>
          </a:p>
          <a:p>
            <a:r>
              <a:rPr lang="en-US" dirty="0"/>
              <a:t>Work neglected: </a:t>
            </a:r>
          </a:p>
          <a:p>
            <a:pPr lvl="1"/>
            <a:r>
              <a:rPr lang="en-US" dirty="0"/>
              <a:t>Real Pac-Man has 4 ghosts with different strategies </a:t>
            </a:r>
          </a:p>
          <a:p>
            <a:pPr lvl="1"/>
            <a:r>
              <a:rPr lang="en-US" dirty="0"/>
              <a:t>Mazes can change in complexity</a:t>
            </a:r>
          </a:p>
          <a:p>
            <a:pPr lvl="1"/>
            <a:r>
              <a:rPr lang="en-US" dirty="0"/>
              <a:t>Game speed increases after each level</a:t>
            </a:r>
          </a:p>
          <a:p>
            <a:r>
              <a:rPr lang="en-US" dirty="0"/>
              <a:t>Gained experience in reinforcement learning</a:t>
            </a:r>
          </a:p>
          <a:p>
            <a:r>
              <a:rPr lang="en-US" dirty="0"/>
              <a:t>Future work: </a:t>
            </a:r>
          </a:p>
          <a:p>
            <a:pPr lvl="1"/>
            <a:r>
              <a:rPr lang="en-US" dirty="0"/>
              <a:t>Mixed objectives: complete level faster, maximize score </a:t>
            </a:r>
          </a:p>
          <a:p>
            <a:pPr lvl="1"/>
            <a:r>
              <a:rPr lang="en-US" dirty="0"/>
              <a:t>Add different ghost types</a:t>
            </a:r>
          </a:p>
          <a:p>
            <a:pPr lvl="1"/>
            <a:r>
              <a:rPr lang="en-US" dirty="0"/>
              <a:t>Increase "vision" to 7x7 "grid" of points </a:t>
            </a:r>
          </a:p>
          <a:p>
            <a:pPr lvl="1"/>
            <a:r>
              <a:rPr lang="en-US" dirty="0"/>
              <a:t>Try deep reinforcement learning: </a:t>
            </a:r>
          </a:p>
          <a:p>
            <a:pPr lvl="2"/>
            <a:r>
              <a:rPr lang="en-US" dirty="0"/>
              <a:t>Nonlinear Q(</a:t>
            </a:r>
            <a:r>
              <a:rPr lang="en-US" dirty="0" err="1"/>
              <a:t>state,action</a:t>
            </a:r>
            <a:r>
              <a:rPr lang="en-US" dirty="0"/>
              <a:t>) with deep neural network</a:t>
            </a:r>
          </a:p>
          <a:p>
            <a:pPr lvl="2"/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D96789-01D3-F1D3-0D12-7BCC0BB79F3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7680" y="25542240"/>
            <a:ext cx="10363200" cy="2438400"/>
          </a:xfrm>
        </p:spPr>
        <p:txBody>
          <a:bodyPr>
            <a:normAutofit/>
          </a:bodyPr>
          <a:lstStyle/>
          <a:p>
            <a:r>
              <a:rPr lang="en-US" dirty="0"/>
              <a:t>We aim to find better game play strategies that increase Pac-Man's survival time compared to typical skilled players. 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EC15B48-0F02-6A95-CB21-DB76F2E0A39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73061"/>
            <a:ext cx="43891200" cy="4876800"/>
          </a:xfrm>
        </p:spPr>
        <p:txBody>
          <a:bodyPr vert="horz" wrap="square" lIns="487680" tIns="731520" rIns="365760" bIns="731520" numCol="1" anchor="ctr" anchorCtr="0" compatLnSpc="1">
            <a:prstTxWarp prst="textNoShape">
              <a:avLst/>
            </a:prstTxWarp>
          </a:bodyPr>
          <a:lstStyle/>
          <a:p>
            <a:pPr indent="46566">
              <a:lnSpc>
                <a:spcPct val="100000"/>
              </a:lnSpc>
            </a:pPr>
            <a:r>
              <a:rPr lang="en-US" sz="8000" dirty="0"/>
              <a:t>        Reinforcement learning improves survival time and game performance in Pac-Man</a:t>
            </a:r>
            <a:br>
              <a:rPr lang="en-US" sz="15333" dirty="0"/>
            </a:br>
            <a:r>
              <a:rPr lang="en-US" sz="6400" dirty="0"/>
              <a:t>John Smith</a:t>
            </a:r>
            <a:r>
              <a:rPr lang="en-US" sz="6400" baseline="30000" dirty="0"/>
              <a:t>1</a:t>
            </a:r>
            <a:r>
              <a:rPr lang="en-US" sz="6400" dirty="0"/>
              <a:t>, Jane Doe</a:t>
            </a:r>
            <a:r>
              <a:rPr lang="en-US" sz="6400" baseline="30000" dirty="0"/>
              <a:t>2</a:t>
            </a:r>
            <a:r>
              <a:rPr lang="en-US" sz="6400" dirty="0"/>
              <a:t>, Percy Gamer</a:t>
            </a:r>
            <a:r>
              <a:rPr lang="en-US" sz="6400" baseline="30000" dirty="0"/>
              <a:t>3</a:t>
            </a:r>
            <a:r>
              <a:rPr lang="en-US" sz="6400" dirty="0"/>
              <a:t>, and Dr. Game Master</a:t>
            </a:r>
            <a:r>
              <a:rPr lang="en-US" sz="6400" baseline="30000" dirty="0"/>
              <a:t>*,1</a:t>
            </a:r>
            <a:br>
              <a:rPr lang="en-US" sz="6400" dirty="0"/>
            </a:br>
            <a:r>
              <a:rPr lang="en-US" sz="3200" baseline="30000" dirty="0"/>
              <a:t>1</a:t>
            </a:r>
            <a:r>
              <a:rPr lang="en-US" sz="3200" dirty="0"/>
              <a:t>Dept. of Computer Science, Indiana University, Bloomington, IN USA       </a:t>
            </a:r>
            <a:r>
              <a:rPr lang="en-US" sz="3200" baseline="30000" dirty="0"/>
              <a:t>2</a:t>
            </a:r>
            <a:r>
              <a:rPr lang="en-US" sz="3200" dirty="0"/>
              <a:t>Dept. of Game History, Nifty University, Metropolis, NY USA      </a:t>
            </a:r>
            <a:r>
              <a:rPr lang="en-US" sz="3200" baseline="30000" dirty="0"/>
              <a:t>3</a:t>
            </a:r>
            <a:r>
              <a:rPr lang="en-US" sz="3200" dirty="0"/>
              <a:t>Dept. Non-Evil Machine Learning, Bruce Wayne City College, Gotham City, NY USA</a:t>
            </a:r>
            <a:br>
              <a:rPr lang="en-US" sz="3200" dirty="0"/>
            </a:br>
            <a:r>
              <a:rPr lang="en-US" sz="3200" dirty="0"/>
              <a:t>*corresponding author: </a:t>
            </a:r>
            <a:r>
              <a:rPr lang="en-US" sz="3200" dirty="0" err="1"/>
              <a:t>game.master@historical-gaming.indiana.edu</a:t>
            </a:r>
            <a:endParaRPr lang="en-US" sz="3733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EDF822-0F8B-97BC-8216-2CF912AF9334}"/>
              </a:ext>
            </a:extLst>
          </p:cNvPr>
          <p:cNvSpPr txBox="1">
            <a:spLocks/>
          </p:cNvSpPr>
          <p:nvPr/>
        </p:nvSpPr>
        <p:spPr bwMode="auto">
          <a:xfrm>
            <a:off x="21945600" y="28468320"/>
            <a:ext cx="21945600" cy="121920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87680" rIns="731520" bIns="0" numCol="1" anchor="b" anchorCtr="0" compatLnSpc="1">
            <a:prstTxWarp prst="textNoShape">
              <a:avLst/>
            </a:prstTxWarp>
          </a:bodyPr>
          <a:lstStyle>
            <a:lvl1pPr algn="ctr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2pPr>
            <a:lvl3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3pPr>
            <a:lvl4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4pPr>
            <a:lvl5pPr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5pPr>
            <a:lvl6pPr marL="164592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6pPr>
            <a:lvl7pPr marL="329184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7pPr>
            <a:lvl8pPr marL="493776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8pPr>
            <a:lvl9pPr marL="6583680" algn="l" defTabSz="246888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88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algn="r"/>
            <a:r>
              <a:rPr lang="en-US" sz="6400" b="0" dirty="0" err="1"/>
              <a:t>GameMaster</a:t>
            </a:r>
            <a:r>
              <a:rPr lang="en-US" sz="6400" b="0" dirty="0"/>
              <a:t> Lab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74351EE-607E-B0C4-EAF7-2D94CBEE0F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8093115"/>
              </p:ext>
            </p:extLst>
          </p:nvPr>
        </p:nvGraphicFramePr>
        <p:xfrm>
          <a:off x="23713440" y="8836793"/>
          <a:ext cx="73152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49045D-EF58-8D03-609E-51773F360915}"/>
              </a:ext>
            </a:extLst>
          </p:cNvPr>
          <p:cNvSpPr txBox="1">
            <a:spLocks noChangeAspect="1"/>
          </p:cNvSpPr>
          <p:nvPr/>
        </p:nvSpPr>
        <p:spPr>
          <a:xfrm>
            <a:off x="175260" y="173061"/>
            <a:ext cx="2438400" cy="243840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50800" dist="1778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43840" tIns="243840" rIns="243840" bIns="243840" rtlCol="0" anchor="ctr">
            <a:noAutofit/>
          </a:bodyPr>
          <a:lstStyle/>
          <a:p>
            <a:pPr marL="8466" algn="ctr" defTabSz="3291676" eaLnBrk="1" hangingPunct="1">
              <a:spcBef>
                <a:spcPts val="0"/>
              </a:spcBef>
            </a:pPr>
            <a:r>
              <a:rPr lang="en-US" sz="8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123</a:t>
            </a:r>
            <a:endParaRPr lang="en-US" sz="6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CCFA93D-AA40-2CCC-4D39-BEC7CE70A454}"/>
              </a:ext>
            </a:extLst>
          </p:cNvPr>
          <p:cNvGrpSpPr/>
          <p:nvPr/>
        </p:nvGrpSpPr>
        <p:grpSpPr>
          <a:xfrm>
            <a:off x="7459627" y="12108262"/>
            <a:ext cx="3048000" cy="3345023"/>
            <a:chOff x="5534660" y="7768074"/>
            <a:chExt cx="2286000" cy="250876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1B6201D-578E-DEE9-26AF-AC72480BAC9F}"/>
                </a:ext>
              </a:extLst>
            </p:cNvPr>
            <p:cNvGrpSpPr/>
            <p:nvPr/>
          </p:nvGrpSpPr>
          <p:grpSpPr>
            <a:xfrm>
              <a:off x="5534660" y="7768074"/>
              <a:ext cx="2286000" cy="2508766"/>
              <a:chOff x="5574652" y="8597900"/>
              <a:chExt cx="2286000" cy="2508766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B9A531-C98A-91D0-BC4D-76C1FD0740CD}"/>
                  </a:ext>
                </a:extLst>
              </p:cNvPr>
              <p:cNvSpPr txBox="1"/>
              <p:nvPr/>
            </p:nvSpPr>
            <p:spPr>
              <a:xfrm>
                <a:off x="5574652" y="10922000"/>
                <a:ext cx="2286000" cy="184666"/>
              </a:xfrm>
              <a:prstGeom prst="rect">
                <a:avLst/>
              </a:prstGeom>
              <a:solidFill>
                <a:schemeClr val="bg1"/>
              </a:solidFill>
              <a:ln w="76200">
                <a:noFill/>
              </a:ln>
              <a:effectLst/>
            </p:spPr>
            <p:txBody>
              <a:bodyPr wrap="square" lIns="0" tIns="0" rIns="0" bIns="0" rtlCol="0">
                <a:spAutoFit/>
              </a:bodyPr>
              <a:lstStyle/>
              <a:p>
                <a:pPr marL="8466" defTabSz="3291676" eaLnBrk="1" hangingPunct="1">
                  <a:spcBef>
                    <a:spcPts val="3600"/>
                  </a:spcBef>
                </a:pPr>
                <a:r>
                  <a:rPr 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Classic Pac-Man level  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82F21EB-A1CD-7D84-465E-7A8AC6BCA095}"/>
                  </a:ext>
                </a:extLst>
              </p:cNvPr>
              <p:cNvGrpSpPr/>
              <p:nvPr/>
            </p:nvGrpSpPr>
            <p:grpSpPr>
              <a:xfrm>
                <a:off x="5574652" y="8597900"/>
                <a:ext cx="2286000" cy="2286000"/>
                <a:chOff x="5574652" y="8597900"/>
                <a:chExt cx="2286000" cy="2286000"/>
              </a:xfrm>
            </p:grpSpPr>
            <p:pic>
              <p:nvPicPr>
                <p:cNvPr id="1026" name="Picture 2" descr="HOW TO CREATE A PACMAN GAME IN SCRATCH">
                  <a:extLst>
                    <a:ext uri="{FF2B5EF4-FFF2-40B4-BE49-F238E27FC236}">
                      <a16:creationId xmlns:a16="http://schemas.microsoft.com/office/drawing/2014/main" id="{DACBB9D3-4DA2-F3F5-0BF7-8C17602270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574652" y="8597900"/>
                  <a:ext cx="2286000" cy="2286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CA314DEC-7FAC-A9AF-6BF2-F9DC25895EC7}"/>
                    </a:ext>
                  </a:extLst>
                </p:cNvPr>
                <p:cNvGrpSpPr/>
                <p:nvPr/>
              </p:nvGrpSpPr>
              <p:grpSpPr>
                <a:xfrm>
                  <a:off x="5775001" y="9184633"/>
                  <a:ext cx="498151" cy="448823"/>
                  <a:chOff x="6643707" y="10140062"/>
                  <a:chExt cx="498151" cy="448823"/>
                </a:xfrm>
              </p:grpSpPr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6C3EA406-F8EC-B57F-60AF-E20C858EAD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6643707" y="10140062"/>
                    <a:ext cx="234302" cy="256034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692445DC-CBC0-A9CA-28EA-A3F1B054B1CD}"/>
                      </a:ext>
                    </a:extLst>
                  </p:cNvPr>
                  <p:cNvSpPr txBox="1"/>
                  <p:nvPr/>
                </p:nvSpPr>
                <p:spPr>
                  <a:xfrm>
                    <a:off x="6684658" y="10404219"/>
                    <a:ext cx="457200" cy="184666"/>
                  </a:xfrm>
                  <a:prstGeom prst="rect">
                    <a:avLst/>
                  </a:prstGeom>
                  <a:solidFill>
                    <a:schemeClr val="bg1">
                      <a:alpha val="85000"/>
                    </a:schemeClr>
                  </a:solidFill>
                  <a:ln w="76200">
                    <a:noFill/>
                  </a:ln>
                  <a:effectLst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marL="8466" algn="ctr" defTabSz="3291676" eaLnBrk="1" hangingPunct="1">
                      <a:spcBef>
                        <a:spcPts val="3600"/>
                      </a:spcBef>
                    </a:pPr>
                    <a:r>
                      <a:rPr lang="en-US" sz="160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Ghost</a:t>
                    </a:r>
                  </a:p>
                </p:txBody>
              </p: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BE33BDFC-BC57-8F0F-C34E-E50561B2A860}"/>
                    </a:ext>
                  </a:extLst>
                </p:cNvPr>
                <p:cNvGrpSpPr/>
                <p:nvPr/>
              </p:nvGrpSpPr>
              <p:grpSpPr>
                <a:xfrm>
                  <a:off x="6509035" y="9685516"/>
                  <a:ext cx="731520" cy="429778"/>
                  <a:chOff x="6690360" y="10264140"/>
                  <a:chExt cx="731520" cy="429778"/>
                </a:xfrm>
              </p:grpSpPr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7F7D8C80-B72B-41CA-8DC0-5A11279191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010400" y="10264140"/>
                    <a:ext cx="267322" cy="24511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38686A7-39FA-8685-F73F-0C1FD14CE2A6}"/>
                      </a:ext>
                    </a:extLst>
                  </p:cNvPr>
                  <p:cNvSpPr txBox="1"/>
                  <p:nvPr/>
                </p:nvSpPr>
                <p:spPr>
                  <a:xfrm>
                    <a:off x="6690360" y="10509252"/>
                    <a:ext cx="731520" cy="184666"/>
                  </a:xfrm>
                  <a:prstGeom prst="rect">
                    <a:avLst/>
                  </a:prstGeom>
                  <a:solidFill>
                    <a:schemeClr val="bg1">
                      <a:alpha val="85000"/>
                    </a:schemeClr>
                  </a:solidFill>
                  <a:ln w="76200">
                    <a:noFill/>
                  </a:ln>
                  <a:effectLst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marL="8466" algn="ctr" defTabSz="3291676" eaLnBrk="1" hangingPunct="1">
                      <a:spcBef>
                        <a:spcPts val="3600"/>
                      </a:spcBef>
                    </a:pPr>
                    <a:r>
                      <a:rPr lang="en-US" sz="160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Pac-Dots</a:t>
                    </a:r>
                  </a:p>
                </p:txBody>
              </p:sp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FDE869D1-130D-F8B7-8E49-3A25234B3DF8}"/>
                    </a:ext>
                  </a:extLst>
                </p:cNvPr>
                <p:cNvGrpSpPr/>
                <p:nvPr/>
              </p:nvGrpSpPr>
              <p:grpSpPr>
                <a:xfrm>
                  <a:off x="6783355" y="8893172"/>
                  <a:ext cx="914400" cy="428885"/>
                  <a:chOff x="6572224" y="10271244"/>
                  <a:chExt cx="914400" cy="428885"/>
                </a:xfrm>
              </p:grpSpPr>
              <p:cxnSp>
                <p:nvCxnSpPr>
                  <p:cNvPr id="34" name="Straight Arrow Connector 33">
                    <a:extLst>
                      <a:ext uri="{FF2B5EF4-FFF2-40B4-BE49-F238E27FC236}">
                        <a16:creationId xmlns:a16="http://schemas.microsoft.com/office/drawing/2014/main" id="{E3B88D88-A24A-64BE-5BB4-38CE104170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219302" y="10271244"/>
                    <a:ext cx="267322" cy="24511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4BDB39F5-EB01-7317-1F36-D05A78C3B1CE}"/>
                      </a:ext>
                    </a:extLst>
                  </p:cNvPr>
                  <p:cNvSpPr txBox="1"/>
                  <p:nvPr/>
                </p:nvSpPr>
                <p:spPr>
                  <a:xfrm>
                    <a:off x="6572224" y="10515463"/>
                    <a:ext cx="914400" cy="184666"/>
                  </a:xfrm>
                  <a:prstGeom prst="rect">
                    <a:avLst/>
                  </a:prstGeom>
                  <a:solidFill>
                    <a:schemeClr val="bg1">
                      <a:alpha val="85000"/>
                    </a:schemeClr>
                  </a:solidFill>
                  <a:ln w="76200">
                    <a:noFill/>
                  </a:ln>
                  <a:effectLst/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marL="8466" algn="ctr" defTabSz="3291676" eaLnBrk="1" hangingPunct="1">
                      <a:spcBef>
                        <a:spcPts val="3600"/>
                      </a:spcBef>
                    </a:pPr>
                    <a:r>
                      <a:rPr lang="en-US" sz="160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Power Pellet</a:t>
                    </a:r>
                  </a:p>
                </p:txBody>
              </p:sp>
            </p:grpSp>
          </p:grp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4A30489-F45F-8691-C977-CCE3561615EC}"/>
                </a:ext>
              </a:extLst>
            </p:cNvPr>
            <p:cNvGrpSpPr/>
            <p:nvPr/>
          </p:nvGrpSpPr>
          <p:grpSpPr>
            <a:xfrm>
              <a:off x="6610946" y="9428460"/>
              <a:ext cx="640080" cy="429778"/>
              <a:chOff x="6690360" y="10264140"/>
              <a:chExt cx="640080" cy="429778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40D82871-52E5-C9D6-77DC-60D3BF95DA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10400" y="10264140"/>
                <a:ext cx="267322" cy="24511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CF3346-75AD-3882-9D92-71574BFEA6A9}"/>
                  </a:ext>
                </a:extLst>
              </p:cNvPr>
              <p:cNvSpPr txBox="1"/>
              <p:nvPr/>
            </p:nvSpPr>
            <p:spPr>
              <a:xfrm>
                <a:off x="6690360" y="10509252"/>
                <a:ext cx="640080" cy="184666"/>
              </a:xfrm>
              <a:prstGeom prst="rect">
                <a:avLst/>
              </a:prstGeom>
              <a:solidFill>
                <a:schemeClr val="bg1">
                  <a:alpha val="85000"/>
                </a:schemeClr>
              </a:solidFill>
              <a:ln w="76200">
                <a:noFill/>
              </a:ln>
              <a:effectLst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8466" algn="ctr" defTabSz="3291676" eaLnBrk="1" hangingPunct="1">
                  <a:spcBef>
                    <a:spcPts val="3600"/>
                  </a:spcBef>
                </a:pPr>
                <a:r>
                  <a:rPr 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Pac-Man</a:t>
                </a:r>
              </a:p>
            </p:txBody>
          </p:sp>
        </p:grpSp>
      </p:grp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4F55C8EE-D32E-8DEB-8793-54A079783D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1530961"/>
              </p:ext>
            </p:extLst>
          </p:nvPr>
        </p:nvGraphicFramePr>
        <p:xfrm>
          <a:off x="23713440" y="19435313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91104177"/>
      </p:ext>
    </p:extLst>
  </p:cSld>
  <p:clrMapOvr>
    <a:masterClrMapping/>
  </p:clrMapOvr>
</p:sld>
</file>

<file path=ppt/theme/theme1.xml><?xml version="1.0" encoding="utf-8"?>
<a:theme xmlns:a="http://schemas.openxmlformats.org/drawingml/2006/main" name="ADUE (v2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  <a:ln w="76200">
          <a:noFill/>
        </a:ln>
        <a:effectLst/>
      </a:spPr>
      <a:bodyPr wrap="square" lIns="0" tIns="0" rIns="0" bIns="0" rtlCol="0">
        <a:spAutoFit/>
      </a:bodyPr>
      <a:lstStyle>
        <a:defPPr marL="6350" marR="0" algn="l" defTabSz="2468880" rtl="0" eaLnBrk="1" fontAlgn="base" latinLnBrk="0" hangingPunct="1">
          <a:lnSpc>
            <a:spcPct val="100000"/>
          </a:lnSpc>
          <a:spcBef>
            <a:spcPts val="2700"/>
          </a:spcBef>
          <a:spcAft>
            <a:spcPct val="0"/>
          </a:spcAft>
          <a:buClrTx/>
          <a:buSzTx/>
          <a:tabLst/>
          <a:defRPr kumimoji="0" sz="12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 panose="020B0604020202020204" pitchFamily="34" charset="0"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ICE-Template-16x9 [Read-Only]" id="{8DFE7534-76C6-4D8A-886B-D0A47B43722E}" vid="{F4743165-4698-42C4-B81C-F898B50F3D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607ce8-8f05-4860-8bb7-9b1d8c4d0492" xsi:nil="true"/>
    <lcf76f155ced4ddcb4097134ff3c332f xmlns="646ec821-4e6c-48b0-a1e0-0c7226b1eeba">
      <Terms xmlns="http://schemas.microsoft.com/office/infopath/2007/PartnerControls"/>
    </lcf76f155ced4ddcb4097134ff3c332f>
    <kwizcomcontrollerfield xmlns="646ec821-4e6c-48b0-a1e0-0c7226b1eeba" xsi:nil="true"/>
    <kwizcomcontrollerfield0 xmlns="646ec821-4e6c-48b0-a1e0-0c7226b1eeb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D24327C6856449D6DE9ACFD340771" ma:contentTypeVersion="18" ma:contentTypeDescription="Create a new document." ma:contentTypeScope="" ma:versionID="6b960fc5bda7acaa60645e4f37739ae7">
  <xsd:schema xmlns:xsd="http://www.w3.org/2001/XMLSchema" xmlns:xs="http://www.w3.org/2001/XMLSchema" xmlns:p="http://schemas.microsoft.com/office/2006/metadata/properties" xmlns:ns2="646ec821-4e6c-48b0-a1e0-0c7226b1eeba" xmlns:ns3="af607ce8-8f05-4860-8bb7-9b1d8c4d0492" targetNamespace="http://schemas.microsoft.com/office/2006/metadata/properties" ma:root="true" ma:fieldsID="be3fe29d2fff6d53df6adbbebc76112e" ns2:_="" ns3:_="">
    <xsd:import namespace="646ec821-4e6c-48b0-a1e0-0c7226b1eeba"/>
    <xsd:import namespace="af607ce8-8f05-4860-8bb7-9b1d8c4d04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kwizcomcontrollerfield" minOccurs="0"/>
                <xsd:element ref="ns2:kwizcomcontrollerfield0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6ec821-4e6c-48b0-a1e0-0c7226b1ee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eec0a79-46cb-4568-9b1b-2d720bd320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kwizcomcontrollerfield" ma:index="23" nillable="true" ma:displayName="kwizcomcontrollerfield" ma:internalName="kwizcomcontrollerfield">
      <xsd:simpleType>
        <xsd:restriction base="dms:Text"/>
      </xsd:simpleType>
    </xsd:element>
    <xsd:element name="kwizcomcontrollerfield0" ma:index="24" nillable="true" ma:displayName="kwizcomcontrollerfield" ma:internalName="kwizcomcontrollerfield0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07ce8-8f05-4860-8bb7-9b1d8c4d049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84eff09-6461-4f65-922a-45b6139b2ed2}" ma:internalName="TaxCatchAll" ma:showField="CatchAllData" ma:web="af607ce8-8f05-4860-8bb7-9b1d8c4d04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983AC6-04F9-4927-9CD9-53A4AECE13F8}">
  <ds:schemaRefs>
    <ds:schemaRef ds:uri="http://purl.org/dc/terms/"/>
    <ds:schemaRef ds:uri="af607ce8-8f05-4860-8bb7-9b1d8c4d0492"/>
    <ds:schemaRef ds:uri="http://purl.org/dc/elements/1.1/"/>
    <ds:schemaRef ds:uri="http://purl.org/dc/dcmitype/"/>
    <ds:schemaRef ds:uri="646ec821-4e6c-48b0-a1e0-0c7226b1eeba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64230E9-D98B-4527-BF2D-C2D9C1760D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6ec821-4e6c-48b0-a1e0-0c7226b1eeba"/>
    <ds:schemaRef ds:uri="af607ce8-8f05-4860-8bb7-9b1d8c4d04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9A96F2-5BF6-47B4-84A7-62EBC174EF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1213</Words>
  <Application>Microsoft Macintosh PowerPoint</Application>
  <PresentationFormat>Custom</PresentationFormat>
  <Paragraphs>156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ADUE (v2)</vt:lpstr>
      <vt:lpstr>Poster title here (60-115 font) Author list here (* on corresponding author, superscripts for affiliations) (40-48 point font) Affiliations (20-24 point font) Contact info for corresponding author (20-24 point font)</vt:lpstr>
      <vt:lpstr>Poster title here (60-115 point font) Author list here (* on corresponding author) (40-48 point font) Affiliations (20-24 point font) Contact info for corresponding author (20-24 point font)</vt:lpstr>
      <vt:lpstr>        Reinforcement learning improves survival time and game performance in Pac-Man John Smith1, Jane Doe2, Percy Gamer3, and Dr. Game Master*,1 1Dept. of Computer Science, Indiana University, Bloomington, IN USA       2Dept. of Game History, Nifty University, Metropolis, NY USA      3Dept. Non-Evil Machine Learning, Bruce Wayne City College, Gotham City, NY USA *corresponding author: game.master@historical-gaming.indiana.edu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Loveless, Daniel</cp:lastModifiedBy>
  <cp:revision>4</cp:revision>
  <cp:lastPrinted>2016-10-13T20:36:44Z</cp:lastPrinted>
  <dcterms:created xsi:type="dcterms:W3CDTF">2017-08-25T15:45:43Z</dcterms:created>
  <dcterms:modified xsi:type="dcterms:W3CDTF">2025-12-11T14:35:02Z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0x010100784D24327C6856449D6DE9ACFD340771</vt:lpwstr>
  </property>
  <property fmtid="{D5CDD505-2E9C-101B-9397-08002B2CF9AE}" pid="3" name="MediaServiceImageTags">
    <vt:lpwstr/>
  </property>
</Properties>
</file>