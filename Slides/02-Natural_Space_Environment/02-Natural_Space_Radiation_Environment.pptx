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4231" r:id="rId1"/>
    <p:sldMasterId id="2147484249" r:id="rId2"/>
  </p:sldMasterIdLst>
  <p:notesMasterIdLst>
    <p:notesMasterId r:id="rId54"/>
  </p:notesMasterIdLst>
  <p:handoutMasterIdLst>
    <p:handoutMasterId r:id="rId55"/>
  </p:handoutMasterIdLst>
  <p:sldIdLst>
    <p:sldId id="382" r:id="rId3"/>
    <p:sldId id="258" r:id="rId4"/>
    <p:sldId id="259" r:id="rId5"/>
    <p:sldId id="260" r:id="rId6"/>
    <p:sldId id="383" r:id="rId7"/>
    <p:sldId id="262" r:id="rId8"/>
    <p:sldId id="263" r:id="rId9"/>
    <p:sldId id="264" r:id="rId10"/>
    <p:sldId id="385" r:id="rId11"/>
    <p:sldId id="261" r:id="rId12"/>
    <p:sldId id="384" r:id="rId13"/>
    <p:sldId id="266" r:id="rId14"/>
    <p:sldId id="267" r:id="rId15"/>
    <p:sldId id="268" r:id="rId16"/>
    <p:sldId id="386" r:id="rId17"/>
    <p:sldId id="270" r:id="rId18"/>
    <p:sldId id="271" r:id="rId19"/>
    <p:sldId id="272" r:id="rId20"/>
    <p:sldId id="273" r:id="rId21"/>
    <p:sldId id="387" r:id="rId22"/>
    <p:sldId id="275" r:id="rId23"/>
    <p:sldId id="276" r:id="rId24"/>
    <p:sldId id="277" r:id="rId25"/>
    <p:sldId id="38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389" r:id="rId34"/>
    <p:sldId id="287" r:id="rId35"/>
    <p:sldId id="288" r:id="rId36"/>
    <p:sldId id="289" r:id="rId37"/>
    <p:sldId id="290" r:id="rId38"/>
    <p:sldId id="291" r:id="rId39"/>
    <p:sldId id="390" r:id="rId40"/>
    <p:sldId id="293" r:id="rId41"/>
    <p:sldId id="294" r:id="rId42"/>
    <p:sldId id="295" r:id="rId43"/>
    <p:sldId id="296" r:id="rId44"/>
    <p:sldId id="391" r:id="rId45"/>
    <p:sldId id="298" r:id="rId46"/>
    <p:sldId id="299" r:id="rId47"/>
    <p:sldId id="300" r:id="rId48"/>
    <p:sldId id="301" r:id="rId49"/>
    <p:sldId id="302" r:id="rId50"/>
    <p:sldId id="392" r:id="rId51"/>
    <p:sldId id="304" r:id="rId52"/>
    <p:sldId id="305" r:id="rId53"/>
  </p:sldIdLst>
  <p:sldSz cx="9144000" cy="5715000" type="screen16x10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clrMru>
    <a:srgbClr val="8B8D8E"/>
    <a:srgbClr val="9A8037"/>
    <a:srgbClr val="333399"/>
    <a:srgbClr val="000066"/>
    <a:srgbClr val="FF8000"/>
    <a:srgbClr val="000099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833070-DEC5-0543-A631-3DC618D57C4E}" v="97" dt="2025-09-09T18:35:04.6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536"/>
    <p:restoredTop sz="93626"/>
  </p:normalViewPr>
  <p:slideViewPr>
    <p:cSldViewPr snapToGrid="0">
      <p:cViewPr varScale="1">
        <p:scale>
          <a:sx n="193" d="100"/>
          <a:sy n="193" d="100"/>
        </p:scale>
        <p:origin x="216" y="1304"/>
      </p:cViewPr>
      <p:guideLst>
        <p:guide orient="horz" pos="180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816" y="1254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microsoft.com/office/2015/10/relationships/revisionInfo" Target="revisionInfo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viewProps" Target="view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veless, Daniel" userId="6c8649f3-f880-411c-bced-fbb331f61b80" providerId="ADAL" clId="{64277004-7BEB-5D7A-8EAD-86FA75D7BFD6}"/>
    <pc:docChg chg="delMainMaster">
      <pc:chgData name="Loveless, Daniel" userId="6c8649f3-f880-411c-bced-fbb331f61b80" providerId="ADAL" clId="{64277004-7BEB-5D7A-8EAD-86FA75D7BFD6}" dt="2025-09-09T18:35:03.283" v="0" actId="2696"/>
      <pc:docMkLst>
        <pc:docMk/>
      </pc:docMkLst>
      <pc:sldMasterChg chg="del">
        <pc:chgData name="Loveless, Daniel" userId="6c8649f3-f880-411c-bced-fbb331f61b80" providerId="ADAL" clId="{64277004-7BEB-5D7A-8EAD-86FA75D7BFD6}" dt="2025-09-09T18:35:03.283" v="0" actId="2696"/>
        <pc:sldMasterMkLst>
          <pc:docMk/>
          <pc:sldMasterMk cId="1974540969" sldId="2147484264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548866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6634" tIns="48315" rIns="96634" bIns="48315" numCol="1" anchor="t" anchorCtr="0" compatLnSpc="1">
            <a:prstTxWarp prst="textNoShape">
              <a:avLst/>
            </a:prstTxWarp>
          </a:bodyPr>
          <a:lstStyle>
            <a:lvl1pPr defTabSz="966788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6634" tIns="48315" rIns="96634" bIns="48315" numCol="1" anchor="t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77875" y="720725"/>
            <a:ext cx="575945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6634" tIns="48315" rIns="96634" bIns="483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6634" tIns="48315" rIns="96634" bIns="48315" numCol="1" anchor="b" anchorCtr="0" compatLnSpc="1">
            <a:prstTxWarp prst="textNoShape">
              <a:avLst/>
            </a:prstTxWarp>
          </a:bodyPr>
          <a:lstStyle>
            <a:lvl1pPr defTabSz="966788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6634" tIns="48315" rIns="96634" bIns="48315" numCol="1" anchor="b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pPr>
              <a:defRPr/>
            </a:pPr>
            <a:fld id="{6D87E73C-DAC5-BA4D-92AC-4EC59E1B141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9179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720725"/>
            <a:ext cx="575945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7046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050">
              <a:spcBef>
                <a:spcPts val="300"/>
              </a:spcBef>
            </a:pPr>
            <a:r>
              <a:rPr lang="en-US" sz="800" b="1" i="1" dirty="0">
                <a:latin typeface="Helvetica"/>
                <a:cs typeface="Helvetica"/>
              </a:rPr>
              <a:t>Presenter</a:t>
            </a:r>
            <a:r>
              <a:rPr lang="en-US" sz="800" b="1" i="1" spc="-30" dirty="0">
                <a:latin typeface="Helvetica"/>
                <a:cs typeface="Helvetica"/>
              </a:rPr>
              <a:t> </a:t>
            </a:r>
            <a:r>
              <a:rPr lang="en-US" sz="800" b="1" i="1" spc="-8" dirty="0">
                <a:latin typeface="Helvetica"/>
                <a:cs typeface="Helvetica"/>
              </a:rPr>
              <a:t>Notes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i="1" spc="-8" dirty="0">
                <a:latin typeface="Helvetica"/>
                <a:cs typeface="Helvetica"/>
              </a:rPr>
              <a:t>2025-06-</a:t>
            </a:r>
            <a:r>
              <a:rPr lang="en-US" sz="800" i="1" dirty="0">
                <a:latin typeface="Helvetica"/>
                <a:cs typeface="Helvetica"/>
              </a:rPr>
              <a:t>03</a:t>
            </a:r>
            <a:r>
              <a:rPr lang="en-US" sz="800" i="1" spc="26" dirty="0">
                <a:latin typeface="Helvetica"/>
                <a:cs typeface="Helvetica"/>
              </a:rPr>
              <a:t> </a:t>
            </a:r>
            <a:r>
              <a:rPr lang="en-US" sz="800" i="1" spc="-8" dirty="0">
                <a:latin typeface="Helvetica"/>
                <a:cs typeface="Helvetica"/>
              </a:rPr>
              <a:t>15:00:03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spc="-8" dirty="0">
                <a:latin typeface="Helvetica"/>
                <a:cs typeface="Helvetica"/>
              </a:rPr>
              <a:t>-------------------------------------------</a:t>
            </a:r>
            <a:r>
              <a:rPr lang="en-US" sz="800" spc="-38" dirty="0">
                <a:latin typeface="Helvetica"/>
                <a:cs typeface="Helvetica"/>
              </a:rPr>
              <a:t>-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Spacecraft must endure </a:t>
            </a:r>
            <a:r>
              <a:rPr lang="en-US" sz="800" spc="-38" dirty="0">
                <a:latin typeface="Helvetica"/>
                <a:cs typeface="Helvetica"/>
              </a:rPr>
              <a:t>a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number of </a:t>
            </a:r>
            <a:r>
              <a:rPr lang="en-US" sz="800" spc="-8" dirty="0">
                <a:latin typeface="Helvetica"/>
                <a:cs typeface="Helvetica"/>
              </a:rPr>
              <a:t>environmental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hazards, including high-</a:t>
            </a:r>
            <a:r>
              <a:rPr lang="en-US" sz="800" spc="-8" dirty="0">
                <a:latin typeface="Helvetica"/>
                <a:cs typeface="Helvetica"/>
              </a:rPr>
              <a:t>energy </a:t>
            </a:r>
            <a:r>
              <a:rPr lang="en-US" sz="800" dirty="0">
                <a:latin typeface="Helvetica"/>
                <a:cs typeface="Helvetica"/>
              </a:rPr>
              <a:t>particle radiation, x-ray </a:t>
            </a:r>
            <a:r>
              <a:rPr lang="en-US" sz="800" spc="-19" dirty="0">
                <a:latin typeface="Helvetica"/>
                <a:cs typeface="Helvetica"/>
              </a:rPr>
              <a:t>and </a:t>
            </a:r>
            <a:r>
              <a:rPr lang="en-US" sz="800" dirty="0">
                <a:latin typeface="Helvetica"/>
                <a:cs typeface="Helvetica"/>
              </a:rPr>
              <a:t>ultraviolet</a:t>
            </a:r>
            <a:r>
              <a:rPr lang="en-US" sz="800" spc="-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radiation,</a:t>
            </a:r>
            <a:r>
              <a:rPr lang="en-US" sz="800" spc="-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and</a:t>
            </a:r>
            <a:r>
              <a:rPr lang="en-US" sz="800" spc="-4" dirty="0">
                <a:latin typeface="Helvetica"/>
                <a:cs typeface="Helvetica"/>
              </a:rPr>
              <a:t> </a:t>
            </a:r>
            <a:r>
              <a:rPr lang="en-US" sz="800" spc="-15" dirty="0">
                <a:latin typeface="Helvetica"/>
                <a:cs typeface="Helvetica"/>
              </a:rPr>
              <a:t>low-</a:t>
            </a:r>
            <a:r>
              <a:rPr lang="en-US" sz="800" dirty="0">
                <a:latin typeface="Helvetica"/>
                <a:cs typeface="Helvetica"/>
              </a:rPr>
              <a:t>energy </a:t>
            </a:r>
            <a:r>
              <a:rPr lang="en-US" sz="800" spc="-8" dirty="0">
                <a:latin typeface="Helvetica"/>
                <a:cs typeface="Helvetica"/>
              </a:rPr>
              <a:t>plasma</a:t>
            </a:r>
            <a:endParaRPr lang="en-US" sz="80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4158799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6021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0999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4528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050">
              <a:spcBef>
                <a:spcPts val="300"/>
              </a:spcBef>
            </a:pPr>
            <a:r>
              <a:rPr lang="en-US" sz="800" b="1" i="1" dirty="0">
                <a:latin typeface="Helvetica"/>
                <a:cs typeface="Helvetica"/>
              </a:rPr>
              <a:t>Presenter</a:t>
            </a:r>
            <a:r>
              <a:rPr lang="en-US" sz="800" b="1" i="1" spc="-30" dirty="0">
                <a:latin typeface="Helvetica"/>
                <a:cs typeface="Helvetica"/>
              </a:rPr>
              <a:t> </a:t>
            </a:r>
            <a:r>
              <a:rPr lang="en-US" sz="800" b="1" i="1" spc="-8" dirty="0">
                <a:latin typeface="Helvetica"/>
                <a:cs typeface="Helvetica"/>
              </a:rPr>
              <a:t>Notes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i="1" spc="-8" dirty="0">
                <a:latin typeface="Helvetica"/>
                <a:cs typeface="Helvetica"/>
              </a:rPr>
              <a:t>2025-06-</a:t>
            </a:r>
            <a:r>
              <a:rPr lang="en-US" sz="800" i="1" dirty="0">
                <a:latin typeface="Helvetica"/>
                <a:cs typeface="Helvetica"/>
              </a:rPr>
              <a:t>03</a:t>
            </a:r>
            <a:r>
              <a:rPr lang="en-US" sz="800" i="1" spc="26" dirty="0">
                <a:latin typeface="Helvetica"/>
                <a:cs typeface="Helvetica"/>
              </a:rPr>
              <a:t> </a:t>
            </a:r>
            <a:r>
              <a:rPr lang="en-US" sz="800" i="1" spc="-8" dirty="0">
                <a:latin typeface="Helvetica"/>
                <a:cs typeface="Helvetica"/>
              </a:rPr>
              <a:t>15:00:05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spc="-8" dirty="0">
                <a:latin typeface="Helvetica"/>
                <a:cs typeface="Helvetica"/>
              </a:rPr>
              <a:t>-------------------------------------------</a:t>
            </a:r>
            <a:r>
              <a:rPr lang="en-US" sz="800" spc="-38" dirty="0">
                <a:latin typeface="Helvetica"/>
                <a:cs typeface="Helvetica"/>
              </a:rPr>
              <a:t>-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natural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space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radiation </a:t>
            </a:r>
            <a:r>
              <a:rPr lang="en-US" sz="800" dirty="0">
                <a:latin typeface="Helvetica"/>
                <a:cs typeface="Helvetica"/>
              </a:rPr>
              <a:t>environment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is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composed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of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solar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particles,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particles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trapped </a:t>
            </a:r>
            <a:r>
              <a:rPr lang="en-US" sz="800" dirty="0">
                <a:latin typeface="Helvetica"/>
                <a:cs typeface="Helvetica"/>
              </a:rPr>
              <a:t>in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Earth’s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magnetic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field,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and </a:t>
            </a:r>
            <a:r>
              <a:rPr lang="en-US" sz="800" dirty="0">
                <a:latin typeface="Helvetica"/>
                <a:cs typeface="Helvetica"/>
              </a:rPr>
              <a:t>galactic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cosmic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rays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(GCR). </a:t>
            </a:r>
            <a:r>
              <a:rPr lang="en-US" sz="800" dirty="0">
                <a:latin typeface="Helvetica"/>
                <a:cs typeface="Helvetica"/>
              </a:rPr>
              <a:t>These particles </a:t>
            </a:r>
            <a:r>
              <a:rPr lang="en-US" sz="800" spc="-8" dirty="0">
                <a:latin typeface="Helvetica"/>
                <a:cs typeface="Helvetica"/>
              </a:rPr>
              <a:t>include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electrons, protons, and </a:t>
            </a:r>
            <a:r>
              <a:rPr lang="en-US" sz="800" spc="-8" dirty="0">
                <a:latin typeface="Helvetica"/>
                <a:cs typeface="Helvetica"/>
              </a:rPr>
              <a:t>every </a:t>
            </a:r>
            <a:r>
              <a:rPr lang="en-US" sz="800" dirty="0">
                <a:latin typeface="Helvetica"/>
                <a:cs typeface="Helvetica"/>
              </a:rPr>
              <a:t>naturally-occurring element in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dirty="0">
                <a:latin typeface="Helvetica"/>
                <a:cs typeface="Helvetica"/>
              </a:rPr>
              <a:t>periodic table (also called </a:t>
            </a:r>
            <a:r>
              <a:rPr lang="en-US" sz="800" spc="-8" dirty="0">
                <a:latin typeface="Helvetica"/>
                <a:cs typeface="Helvetica"/>
              </a:rPr>
              <a:t>Heavy Ions).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There are three </a:t>
            </a:r>
            <a:r>
              <a:rPr lang="en-US" sz="800" spc="-8" dirty="0">
                <a:latin typeface="Helvetica"/>
                <a:cs typeface="Helvetica"/>
              </a:rPr>
              <a:t>general </a:t>
            </a:r>
            <a:r>
              <a:rPr lang="en-US" sz="800" dirty="0">
                <a:latin typeface="Helvetica"/>
                <a:cs typeface="Helvetica"/>
              </a:rPr>
              <a:t>categories of high-</a:t>
            </a:r>
            <a:r>
              <a:rPr lang="en-US" sz="800" spc="-8" dirty="0">
                <a:latin typeface="Helvetica"/>
                <a:cs typeface="Helvetica"/>
              </a:rPr>
              <a:t>energy </a:t>
            </a:r>
            <a:r>
              <a:rPr lang="en-US" sz="800" dirty="0">
                <a:latin typeface="Helvetica"/>
                <a:cs typeface="Helvetica"/>
              </a:rPr>
              <a:t>particles found in the </a:t>
            </a:r>
            <a:r>
              <a:rPr lang="en-US" sz="800" spc="-8" dirty="0">
                <a:latin typeface="Helvetica"/>
                <a:cs typeface="Helvetica"/>
              </a:rPr>
              <a:t>natural </a:t>
            </a:r>
            <a:r>
              <a:rPr lang="en-US" sz="800" dirty="0">
                <a:latin typeface="Helvetica"/>
                <a:cs typeface="Helvetica"/>
              </a:rPr>
              <a:t>space radiation </a:t>
            </a:r>
            <a:r>
              <a:rPr lang="en-US" sz="800" spc="-8" dirty="0">
                <a:latin typeface="Helvetica"/>
                <a:cs typeface="Helvetica"/>
              </a:rPr>
              <a:t>environment: </a:t>
            </a:r>
            <a:r>
              <a:rPr lang="en-US" sz="800" dirty="0">
                <a:latin typeface="Helvetica"/>
                <a:cs typeface="Helvetica"/>
              </a:rPr>
              <a:t>Particles that are emitted </a:t>
            </a:r>
            <a:r>
              <a:rPr lang="en-US" sz="800" spc="-15" dirty="0">
                <a:latin typeface="Helvetica"/>
                <a:cs typeface="Helvetica"/>
              </a:rPr>
              <a:t>from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 Sun during solar </a:t>
            </a:r>
            <a:r>
              <a:rPr lang="en-US" sz="800" spc="-8" dirty="0">
                <a:latin typeface="Helvetica"/>
                <a:cs typeface="Helvetica"/>
              </a:rPr>
              <a:t>particle </a:t>
            </a:r>
            <a:r>
              <a:rPr lang="en-US" sz="800" dirty="0">
                <a:latin typeface="Helvetica"/>
                <a:cs typeface="Helvetica"/>
              </a:rPr>
              <a:t>events like solar flares </a:t>
            </a:r>
            <a:r>
              <a:rPr lang="en-US" sz="800" spc="-19" dirty="0">
                <a:latin typeface="Helvetica"/>
                <a:cs typeface="Helvetica"/>
              </a:rPr>
              <a:t>and </a:t>
            </a:r>
            <a:r>
              <a:rPr lang="en-US" sz="800" dirty="0">
                <a:latin typeface="Helvetica"/>
                <a:cs typeface="Helvetica"/>
              </a:rPr>
              <a:t>coronal mass ejections </a:t>
            </a:r>
            <a:r>
              <a:rPr lang="en-US" sz="800" spc="-8" dirty="0">
                <a:latin typeface="Helvetica"/>
                <a:cs typeface="Helvetica"/>
              </a:rPr>
              <a:t>(CMEs) </a:t>
            </a:r>
            <a:r>
              <a:rPr lang="en-US" sz="800" dirty="0">
                <a:latin typeface="Helvetica"/>
                <a:cs typeface="Helvetica"/>
              </a:rPr>
              <a:t>Background ions that </a:t>
            </a:r>
            <a:r>
              <a:rPr lang="en-US" sz="800" spc="-8" dirty="0">
                <a:latin typeface="Helvetica"/>
                <a:cs typeface="Helvetica"/>
              </a:rPr>
              <a:t>originates </a:t>
            </a:r>
            <a:r>
              <a:rPr lang="en-US" sz="800" dirty="0">
                <a:latin typeface="Helvetica"/>
                <a:cs typeface="Helvetica"/>
              </a:rPr>
              <a:t>outside our solar system, </a:t>
            </a:r>
            <a:r>
              <a:rPr lang="en-US" sz="800" spc="-8" dirty="0">
                <a:latin typeface="Helvetica"/>
                <a:cs typeface="Helvetica"/>
              </a:rPr>
              <a:t>called </a:t>
            </a:r>
            <a:r>
              <a:rPr lang="en-US" sz="800" dirty="0">
                <a:latin typeface="Helvetica"/>
                <a:cs typeface="Helvetica"/>
              </a:rPr>
              <a:t>galactic cosmic rays </a:t>
            </a:r>
            <a:r>
              <a:rPr lang="en-US" sz="800" spc="-8" dirty="0">
                <a:latin typeface="Helvetica"/>
                <a:cs typeface="Helvetica"/>
              </a:rPr>
              <a:t>(GCR)</a:t>
            </a:r>
            <a:endParaRPr lang="en-US" sz="800" dirty="0">
              <a:latin typeface="Helvetica"/>
              <a:cs typeface="Helvetic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7826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050">
              <a:spcBef>
                <a:spcPts val="300"/>
              </a:spcBef>
            </a:pPr>
            <a:r>
              <a:rPr lang="en-US" sz="800" b="1" i="1" dirty="0">
                <a:latin typeface="Helvetica"/>
                <a:cs typeface="Helvetica"/>
              </a:rPr>
              <a:t>Presenter</a:t>
            </a:r>
            <a:r>
              <a:rPr lang="en-US" sz="800" b="1" i="1" spc="-30" dirty="0">
                <a:latin typeface="Helvetica"/>
                <a:cs typeface="Helvetica"/>
              </a:rPr>
              <a:t> </a:t>
            </a:r>
            <a:r>
              <a:rPr lang="en-US" sz="800" b="1" i="1" spc="-8" dirty="0">
                <a:latin typeface="Helvetica"/>
                <a:cs typeface="Helvetica"/>
              </a:rPr>
              <a:t>Notes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i="1" spc="-8" dirty="0">
                <a:latin typeface="Helvetica"/>
                <a:cs typeface="Helvetica"/>
              </a:rPr>
              <a:t>2025-06-</a:t>
            </a:r>
            <a:r>
              <a:rPr lang="en-US" sz="800" i="1" dirty="0">
                <a:latin typeface="Helvetica"/>
                <a:cs typeface="Helvetica"/>
              </a:rPr>
              <a:t>03</a:t>
            </a:r>
            <a:r>
              <a:rPr lang="en-US" sz="800" i="1" spc="26" dirty="0">
                <a:latin typeface="Helvetica"/>
                <a:cs typeface="Helvetica"/>
              </a:rPr>
              <a:t> </a:t>
            </a:r>
            <a:r>
              <a:rPr lang="en-US" sz="800" i="1" spc="-8" dirty="0">
                <a:latin typeface="Helvetica"/>
                <a:cs typeface="Helvetica"/>
              </a:rPr>
              <a:t>15:00:06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spc="-8" dirty="0">
                <a:latin typeface="Helvetica"/>
                <a:cs typeface="Helvetica"/>
              </a:rPr>
              <a:t>-------------------------------------------</a:t>
            </a:r>
            <a:r>
              <a:rPr lang="en-US" sz="800" spc="-38" dirty="0">
                <a:latin typeface="Helvetica"/>
                <a:cs typeface="Helvetica"/>
              </a:rPr>
              <a:t>-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natural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space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radiation </a:t>
            </a:r>
            <a:r>
              <a:rPr lang="en-US" sz="800" dirty="0">
                <a:latin typeface="Helvetica"/>
                <a:cs typeface="Helvetica"/>
              </a:rPr>
              <a:t>environment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is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composed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of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solar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particles,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particles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trapped </a:t>
            </a:r>
            <a:r>
              <a:rPr lang="en-US" sz="800" dirty="0">
                <a:latin typeface="Helvetica"/>
                <a:cs typeface="Helvetica"/>
              </a:rPr>
              <a:t>in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Earth’s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magnetic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field,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and </a:t>
            </a:r>
            <a:r>
              <a:rPr lang="en-US" sz="800" dirty="0">
                <a:latin typeface="Helvetica"/>
                <a:cs typeface="Helvetica"/>
              </a:rPr>
              <a:t>galactic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cosmic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rays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(GCR). </a:t>
            </a:r>
            <a:r>
              <a:rPr lang="en-US" sz="800" dirty="0">
                <a:latin typeface="Helvetica"/>
                <a:cs typeface="Helvetica"/>
              </a:rPr>
              <a:t>These particles </a:t>
            </a:r>
            <a:r>
              <a:rPr lang="en-US" sz="800" spc="-8" dirty="0">
                <a:latin typeface="Helvetica"/>
                <a:cs typeface="Helvetica"/>
              </a:rPr>
              <a:t>include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electrons, protons, and </a:t>
            </a:r>
            <a:r>
              <a:rPr lang="en-US" sz="800" spc="-8" dirty="0">
                <a:latin typeface="Helvetica"/>
                <a:cs typeface="Helvetica"/>
              </a:rPr>
              <a:t>every </a:t>
            </a:r>
            <a:r>
              <a:rPr lang="en-US" sz="800" dirty="0">
                <a:latin typeface="Helvetica"/>
                <a:cs typeface="Helvetica"/>
              </a:rPr>
              <a:t>naturally-occurring element in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dirty="0">
                <a:latin typeface="Helvetica"/>
                <a:cs typeface="Helvetica"/>
              </a:rPr>
              <a:t>periodic table (also called </a:t>
            </a:r>
            <a:r>
              <a:rPr lang="en-US" sz="800" spc="-8" dirty="0">
                <a:latin typeface="Helvetica"/>
                <a:cs typeface="Helvetica"/>
              </a:rPr>
              <a:t>Heavy Ions).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There are three </a:t>
            </a:r>
            <a:r>
              <a:rPr lang="en-US" sz="800" spc="-8" dirty="0">
                <a:latin typeface="Helvetica"/>
                <a:cs typeface="Helvetica"/>
              </a:rPr>
              <a:t>general </a:t>
            </a:r>
            <a:r>
              <a:rPr lang="en-US" sz="800" dirty="0">
                <a:latin typeface="Helvetica"/>
                <a:cs typeface="Helvetica"/>
              </a:rPr>
              <a:t>categories of high-</a:t>
            </a:r>
            <a:r>
              <a:rPr lang="en-US" sz="800" spc="-8" dirty="0">
                <a:latin typeface="Helvetica"/>
                <a:cs typeface="Helvetica"/>
              </a:rPr>
              <a:t>energy </a:t>
            </a:r>
            <a:r>
              <a:rPr lang="en-US" sz="800" dirty="0">
                <a:latin typeface="Helvetica"/>
                <a:cs typeface="Helvetica"/>
              </a:rPr>
              <a:t>particles found in the </a:t>
            </a:r>
            <a:r>
              <a:rPr lang="en-US" sz="800" spc="-8" dirty="0">
                <a:latin typeface="Helvetica"/>
                <a:cs typeface="Helvetica"/>
              </a:rPr>
              <a:t>natural </a:t>
            </a:r>
            <a:r>
              <a:rPr lang="en-US" sz="800" dirty="0">
                <a:latin typeface="Helvetica"/>
                <a:cs typeface="Helvetica"/>
              </a:rPr>
              <a:t>space radiation </a:t>
            </a:r>
            <a:r>
              <a:rPr lang="en-US" sz="800" spc="-8" dirty="0">
                <a:latin typeface="Helvetica"/>
                <a:cs typeface="Helvetica"/>
              </a:rPr>
              <a:t>environment: </a:t>
            </a:r>
            <a:r>
              <a:rPr lang="en-US" sz="800" dirty="0">
                <a:latin typeface="Helvetica"/>
                <a:cs typeface="Helvetica"/>
              </a:rPr>
              <a:t>Particles that are emitted </a:t>
            </a:r>
            <a:r>
              <a:rPr lang="en-US" sz="800" spc="-15" dirty="0">
                <a:latin typeface="Helvetica"/>
                <a:cs typeface="Helvetica"/>
              </a:rPr>
              <a:t>from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 Sun during solar </a:t>
            </a:r>
            <a:r>
              <a:rPr lang="en-US" sz="800" spc="-8" dirty="0">
                <a:latin typeface="Helvetica"/>
                <a:cs typeface="Helvetica"/>
              </a:rPr>
              <a:t>particle </a:t>
            </a:r>
            <a:r>
              <a:rPr lang="en-US" sz="800" dirty="0">
                <a:latin typeface="Helvetica"/>
                <a:cs typeface="Helvetica"/>
              </a:rPr>
              <a:t>events like solar flares </a:t>
            </a:r>
            <a:r>
              <a:rPr lang="en-US" sz="800" spc="-19" dirty="0">
                <a:latin typeface="Helvetica"/>
                <a:cs typeface="Helvetica"/>
              </a:rPr>
              <a:t>and </a:t>
            </a:r>
            <a:r>
              <a:rPr lang="en-US" sz="800" dirty="0">
                <a:latin typeface="Helvetica"/>
                <a:cs typeface="Helvetica"/>
              </a:rPr>
              <a:t>coronal mass ejections </a:t>
            </a:r>
            <a:r>
              <a:rPr lang="en-US" sz="800" spc="-8" dirty="0">
                <a:latin typeface="Helvetica"/>
                <a:cs typeface="Helvetica"/>
              </a:rPr>
              <a:t>(CMEs) </a:t>
            </a:r>
            <a:r>
              <a:rPr lang="en-US" sz="800" dirty="0">
                <a:latin typeface="Helvetica"/>
                <a:cs typeface="Helvetica"/>
              </a:rPr>
              <a:t>Background ions that </a:t>
            </a:r>
            <a:r>
              <a:rPr lang="en-US" sz="800" spc="-8" dirty="0">
                <a:latin typeface="Helvetica"/>
                <a:cs typeface="Helvetica"/>
              </a:rPr>
              <a:t>originates </a:t>
            </a:r>
            <a:r>
              <a:rPr lang="en-US" sz="800" dirty="0">
                <a:latin typeface="Helvetica"/>
                <a:cs typeface="Helvetica"/>
              </a:rPr>
              <a:t>outside our solar system, </a:t>
            </a:r>
            <a:r>
              <a:rPr lang="en-US" sz="800" spc="-8" dirty="0">
                <a:latin typeface="Helvetica"/>
                <a:cs typeface="Helvetica"/>
              </a:rPr>
              <a:t>called </a:t>
            </a:r>
            <a:r>
              <a:rPr lang="en-US" sz="800" dirty="0">
                <a:latin typeface="Helvetica"/>
                <a:cs typeface="Helvetica"/>
              </a:rPr>
              <a:t>galactic cosmic rays </a:t>
            </a:r>
            <a:r>
              <a:rPr lang="en-US" sz="800" spc="-8" dirty="0">
                <a:latin typeface="Helvetica"/>
                <a:cs typeface="Helvetica"/>
              </a:rPr>
              <a:t>(GCR)</a:t>
            </a:r>
            <a:endParaRPr lang="en-US" sz="800" dirty="0">
              <a:latin typeface="Helvetica"/>
              <a:cs typeface="Helvetic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8041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050">
              <a:spcBef>
                <a:spcPts val="300"/>
              </a:spcBef>
            </a:pPr>
            <a:r>
              <a:rPr lang="en-US" sz="800" b="1" i="1" dirty="0">
                <a:latin typeface="Helvetica"/>
                <a:cs typeface="Helvetica"/>
              </a:rPr>
              <a:t>Presenter</a:t>
            </a:r>
            <a:r>
              <a:rPr lang="en-US" sz="800" b="1" i="1" spc="-30" dirty="0">
                <a:latin typeface="Helvetica"/>
                <a:cs typeface="Helvetica"/>
              </a:rPr>
              <a:t> </a:t>
            </a:r>
            <a:r>
              <a:rPr lang="en-US" sz="800" b="1" i="1" spc="-8" dirty="0">
                <a:latin typeface="Helvetica"/>
                <a:cs typeface="Helvetica"/>
              </a:rPr>
              <a:t>Notes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i="1" spc="-8" dirty="0">
                <a:latin typeface="Helvetica"/>
                <a:cs typeface="Helvetica"/>
              </a:rPr>
              <a:t>2025-06-</a:t>
            </a:r>
            <a:r>
              <a:rPr lang="en-US" sz="800" i="1" dirty="0">
                <a:latin typeface="Helvetica"/>
                <a:cs typeface="Helvetica"/>
              </a:rPr>
              <a:t>03</a:t>
            </a:r>
            <a:r>
              <a:rPr lang="en-US" sz="800" i="1" spc="26" dirty="0">
                <a:latin typeface="Helvetica"/>
                <a:cs typeface="Helvetica"/>
              </a:rPr>
              <a:t> </a:t>
            </a:r>
            <a:r>
              <a:rPr lang="en-US" sz="800" i="1" spc="-8" dirty="0">
                <a:latin typeface="Helvetica"/>
                <a:cs typeface="Helvetica"/>
              </a:rPr>
              <a:t>15:00:07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spc="-8" dirty="0">
                <a:latin typeface="Helvetica"/>
                <a:cs typeface="Helvetica"/>
              </a:rPr>
              <a:t>-------------------------------------------</a:t>
            </a:r>
            <a:r>
              <a:rPr lang="en-US" sz="800" spc="-38" dirty="0">
                <a:latin typeface="Helvetica"/>
                <a:cs typeface="Helvetica"/>
              </a:rPr>
              <a:t>-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natural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space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radiation </a:t>
            </a:r>
            <a:r>
              <a:rPr lang="en-US" sz="800" dirty="0">
                <a:latin typeface="Helvetica"/>
                <a:cs typeface="Helvetica"/>
              </a:rPr>
              <a:t>environment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is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composed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of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solar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particles,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particles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trapped </a:t>
            </a:r>
            <a:r>
              <a:rPr lang="en-US" sz="800" dirty="0">
                <a:latin typeface="Helvetica"/>
                <a:cs typeface="Helvetica"/>
              </a:rPr>
              <a:t>in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Earth’s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magnetic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field,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and </a:t>
            </a:r>
            <a:r>
              <a:rPr lang="en-US" sz="800" dirty="0">
                <a:latin typeface="Helvetica"/>
                <a:cs typeface="Helvetica"/>
              </a:rPr>
              <a:t>galactic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cosmic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rays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(GCR). </a:t>
            </a:r>
            <a:r>
              <a:rPr lang="en-US" sz="800" dirty="0">
                <a:latin typeface="Helvetica"/>
                <a:cs typeface="Helvetica"/>
              </a:rPr>
              <a:t>These particles </a:t>
            </a:r>
            <a:r>
              <a:rPr lang="en-US" sz="800" spc="-8" dirty="0">
                <a:latin typeface="Helvetica"/>
                <a:cs typeface="Helvetica"/>
              </a:rPr>
              <a:t>include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electrons, protons, and </a:t>
            </a:r>
            <a:r>
              <a:rPr lang="en-US" sz="800" spc="-8" dirty="0">
                <a:latin typeface="Helvetica"/>
                <a:cs typeface="Helvetica"/>
              </a:rPr>
              <a:t>every </a:t>
            </a:r>
            <a:r>
              <a:rPr lang="en-US" sz="800" dirty="0">
                <a:latin typeface="Helvetica"/>
                <a:cs typeface="Helvetica"/>
              </a:rPr>
              <a:t>naturally-occurring element in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dirty="0">
                <a:latin typeface="Helvetica"/>
                <a:cs typeface="Helvetica"/>
              </a:rPr>
              <a:t>periodic table (also called </a:t>
            </a:r>
            <a:r>
              <a:rPr lang="en-US" sz="800" spc="-8" dirty="0">
                <a:latin typeface="Helvetica"/>
                <a:cs typeface="Helvetica"/>
              </a:rPr>
              <a:t>Heavy Ions).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There are three </a:t>
            </a:r>
            <a:r>
              <a:rPr lang="en-US" sz="800" spc="-8" dirty="0">
                <a:latin typeface="Helvetica"/>
                <a:cs typeface="Helvetica"/>
              </a:rPr>
              <a:t>general </a:t>
            </a:r>
            <a:r>
              <a:rPr lang="en-US" sz="800" dirty="0">
                <a:latin typeface="Helvetica"/>
                <a:cs typeface="Helvetica"/>
              </a:rPr>
              <a:t>categories of high-</a:t>
            </a:r>
            <a:r>
              <a:rPr lang="en-US" sz="800" spc="-8" dirty="0">
                <a:latin typeface="Helvetica"/>
                <a:cs typeface="Helvetica"/>
              </a:rPr>
              <a:t>energy </a:t>
            </a:r>
            <a:r>
              <a:rPr lang="en-US" sz="800" dirty="0">
                <a:latin typeface="Helvetica"/>
                <a:cs typeface="Helvetica"/>
              </a:rPr>
              <a:t>particles found in the </a:t>
            </a:r>
            <a:r>
              <a:rPr lang="en-US" sz="800" spc="-8" dirty="0">
                <a:latin typeface="Helvetica"/>
                <a:cs typeface="Helvetica"/>
              </a:rPr>
              <a:t>natural </a:t>
            </a:r>
            <a:r>
              <a:rPr lang="en-US" sz="800" dirty="0">
                <a:latin typeface="Helvetica"/>
                <a:cs typeface="Helvetica"/>
              </a:rPr>
              <a:t>space radiation </a:t>
            </a:r>
            <a:r>
              <a:rPr lang="en-US" sz="800" spc="-8" dirty="0">
                <a:latin typeface="Helvetica"/>
                <a:cs typeface="Helvetica"/>
              </a:rPr>
              <a:t>environment: </a:t>
            </a:r>
            <a:r>
              <a:rPr lang="en-US" sz="800" dirty="0">
                <a:latin typeface="Helvetica"/>
                <a:cs typeface="Helvetica"/>
              </a:rPr>
              <a:t>Particles that are emitted </a:t>
            </a:r>
            <a:r>
              <a:rPr lang="en-US" sz="800" spc="-15" dirty="0">
                <a:latin typeface="Helvetica"/>
                <a:cs typeface="Helvetica"/>
              </a:rPr>
              <a:t>from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 Sun during solar </a:t>
            </a:r>
            <a:r>
              <a:rPr lang="en-US" sz="800" spc="-8" dirty="0">
                <a:latin typeface="Helvetica"/>
                <a:cs typeface="Helvetica"/>
              </a:rPr>
              <a:t>particle </a:t>
            </a:r>
            <a:r>
              <a:rPr lang="en-US" sz="800" dirty="0">
                <a:latin typeface="Helvetica"/>
                <a:cs typeface="Helvetica"/>
              </a:rPr>
              <a:t>events like solar flares </a:t>
            </a:r>
            <a:r>
              <a:rPr lang="en-US" sz="800" spc="-19" dirty="0">
                <a:latin typeface="Helvetica"/>
                <a:cs typeface="Helvetica"/>
              </a:rPr>
              <a:t>and </a:t>
            </a:r>
            <a:r>
              <a:rPr lang="en-US" sz="800" dirty="0">
                <a:latin typeface="Helvetica"/>
                <a:cs typeface="Helvetica"/>
              </a:rPr>
              <a:t>coronal mass ejections </a:t>
            </a:r>
            <a:r>
              <a:rPr lang="en-US" sz="800" spc="-8" dirty="0">
                <a:latin typeface="Helvetica"/>
                <a:cs typeface="Helvetica"/>
              </a:rPr>
              <a:t>(CMEs) </a:t>
            </a:r>
            <a:r>
              <a:rPr lang="en-US" sz="800" dirty="0">
                <a:latin typeface="Helvetica"/>
                <a:cs typeface="Helvetica"/>
              </a:rPr>
              <a:t>Background ions that </a:t>
            </a:r>
            <a:r>
              <a:rPr lang="en-US" sz="800" spc="-8" dirty="0">
                <a:latin typeface="Helvetica"/>
                <a:cs typeface="Helvetica"/>
              </a:rPr>
              <a:t>originates </a:t>
            </a:r>
            <a:r>
              <a:rPr lang="en-US" sz="800" dirty="0">
                <a:latin typeface="Helvetica"/>
                <a:cs typeface="Helvetica"/>
              </a:rPr>
              <a:t>outside our solar system, </a:t>
            </a:r>
            <a:r>
              <a:rPr lang="en-US" sz="800" spc="-8" dirty="0">
                <a:latin typeface="Helvetica"/>
                <a:cs typeface="Helvetica"/>
              </a:rPr>
              <a:t>called </a:t>
            </a:r>
            <a:r>
              <a:rPr lang="en-US" sz="800" dirty="0">
                <a:latin typeface="Helvetica"/>
                <a:cs typeface="Helvetica"/>
              </a:rPr>
              <a:t>galactic cosmic rays </a:t>
            </a:r>
            <a:r>
              <a:rPr lang="en-US" sz="800" spc="-8" dirty="0">
                <a:latin typeface="Helvetica"/>
                <a:cs typeface="Helvetica"/>
              </a:rPr>
              <a:t>(GCR)</a:t>
            </a:r>
            <a:endParaRPr lang="en-US" sz="800" dirty="0">
              <a:latin typeface="Helvetica"/>
              <a:cs typeface="Helvetic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5541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7244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2739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9356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050">
              <a:spcBef>
                <a:spcPts val="300"/>
              </a:spcBef>
            </a:pPr>
            <a:r>
              <a:rPr lang="en-US" sz="800" b="1" i="1" dirty="0">
                <a:latin typeface="Helvetica"/>
                <a:cs typeface="Helvetica"/>
              </a:rPr>
              <a:t>Presenter</a:t>
            </a:r>
            <a:r>
              <a:rPr lang="en-US" sz="800" b="1" i="1" spc="-30" dirty="0">
                <a:latin typeface="Helvetica"/>
                <a:cs typeface="Helvetica"/>
              </a:rPr>
              <a:t> </a:t>
            </a:r>
            <a:r>
              <a:rPr lang="en-US" sz="800" b="1" i="1" spc="-8" dirty="0">
                <a:latin typeface="Helvetica"/>
                <a:cs typeface="Helvetica"/>
              </a:rPr>
              <a:t>Notes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i="1" spc="-8" dirty="0">
                <a:latin typeface="Helvetica"/>
                <a:cs typeface="Helvetica"/>
              </a:rPr>
              <a:t>2025-06-</a:t>
            </a:r>
            <a:r>
              <a:rPr lang="en-US" sz="800" i="1" dirty="0">
                <a:latin typeface="Helvetica"/>
                <a:cs typeface="Helvetica"/>
              </a:rPr>
              <a:t>03</a:t>
            </a:r>
            <a:r>
              <a:rPr lang="en-US" sz="800" i="1" spc="26" dirty="0">
                <a:latin typeface="Helvetica"/>
                <a:cs typeface="Helvetica"/>
              </a:rPr>
              <a:t> </a:t>
            </a:r>
            <a:r>
              <a:rPr lang="en-US" sz="800" i="1" spc="-8" dirty="0">
                <a:latin typeface="Helvetica"/>
                <a:cs typeface="Helvetica"/>
              </a:rPr>
              <a:t>15:00:08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spc="-8" dirty="0">
                <a:latin typeface="Helvetica"/>
                <a:cs typeface="Helvetica"/>
              </a:rPr>
              <a:t>-------------------------------------------</a:t>
            </a:r>
            <a:r>
              <a:rPr lang="en-US" sz="800" spc="-38" dirty="0">
                <a:latin typeface="Helvetica"/>
                <a:cs typeface="Helvetica"/>
              </a:rPr>
              <a:t>-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As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previously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discussed,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sun </a:t>
            </a:r>
            <a:r>
              <a:rPr lang="en-US" sz="800" dirty="0">
                <a:latin typeface="Helvetica"/>
                <a:cs typeface="Helvetica"/>
              </a:rPr>
              <a:t>acts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as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both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direct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and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indirect </a:t>
            </a:r>
            <a:r>
              <a:rPr lang="en-US" sz="800" dirty="0">
                <a:latin typeface="Helvetica"/>
                <a:cs typeface="Helvetica"/>
              </a:rPr>
              <a:t>source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of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particle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radiation. </a:t>
            </a:r>
            <a:r>
              <a:rPr lang="en-US" sz="800" dirty="0">
                <a:latin typeface="Helvetica"/>
                <a:cs typeface="Helvetica"/>
              </a:rPr>
              <a:t>However,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sun’s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magnetic </a:t>
            </a:r>
            <a:r>
              <a:rPr lang="en-US" sz="800" dirty="0">
                <a:latin typeface="Helvetica"/>
                <a:cs typeface="Helvetica"/>
              </a:rPr>
              <a:t>activity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also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plays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significant </a:t>
            </a:r>
            <a:r>
              <a:rPr lang="en-US" sz="800" dirty="0">
                <a:latin typeface="Helvetica"/>
                <a:cs typeface="Helvetica"/>
              </a:rPr>
              <a:t>effect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on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radiation </a:t>
            </a:r>
            <a:r>
              <a:rPr lang="en-US" sz="800" dirty="0">
                <a:latin typeface="Helvetica"/>
                <a:cs typeface="Helvetica"/>
              </a:rPr>
              <a:t>environment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that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earth </a:t>
            </a:r>
            <a:r>
              <a:rPr lang="en-US" sz="800" dirty="0">
                <a:latin typeface="Helvetica"/>
                <a:cs typeface="Helvetica"/>
              </a:rPr>
              <a:t>experiences.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sun’s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activity </a:t>
            </a:r>
            <a:r>
              <a:rPr lang="en-US" sz="800" dirty="0">
                <a:latin typeface="Helvetica"/>
                <a:cs typeface="Helvetica"/>
              </a:rPr>
              <a:t>acts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as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modulator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of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all </a:t>
            </a:r>
            <a:r>
              <a:rPr lang="en-US" sz="800" dirty="0">
                <a:latin typeface="Helvetica"/>
                <a:cs typeface="Helvetica"/>
              </a:rPr>
              <a:t>energetic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particles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in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15" dirty="0">
                <a:latin typeface="Helvetica"/>
                <a:cs typeface="Helvetica"/>
              </a:rPr>
              <a:t>near </a:t>
            </a:r>
            <a:r>
              <a:rPr lang="en-US" sz="800" dirty="0">
                <a:latin typeface="Helvetica"/>
                <a:cs typeface="Helvetica"/>
              </a:rPr>
              <a:t>earth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region.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What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this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means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is </a:t>
            </a:r>
            <a:r>
              <a:rPr lang="en-US" sz="800" dirty="0">
                <a:latin typeface="Helvetica"/>
                <a:cs typeface="Helvetica"/>
              </a:rPr>
              <a:t>that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sun’s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solar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activity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not </a:t>
            </a:r>
            <a:r>
              <a:rPr lang="en-US" sz="800" dirty="0">
                <a:latin typeface="Helvetica"/>
                <a:cs typeface="Helvetica"/>
              </a:rPr>
              <a:t>only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determines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frequency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of </a:t>
            </a:r>
            <a:r>
              <a:rPr lang="en-US" sz="800" dirty="0">
                <a:latin typeface="Helvetica"/>
                <a:cs typeface="Helvetica"/>
              </a:rPr>
              <a:t>solar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events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such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as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solar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flares </a:t>
            </a:r>
            <a:r>
              <a:rPr lang="en-US" sz="800" dirty="0">
                <a:latin typeface="Helvetica"/>
                <a:cs typeface="Helvetica"/>
              </a:rPr>
              <a:t>but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as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also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almost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“regulates” </a:t>
            </a:r>
            <a:r>
              <a:rPr lang="en-US" sz="800" dirty="0">
                <a:latin typeface="Helvetica"/>
                <a:cs typeface="Helvetica"/>
              </a:rPr>
              <a:t>which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environment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(GCRs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or </a:t>
            </a:r>
            <a:r>
              <a:rPr lang="en-US" sz="800" dirty="0">
                <a:latin typeface="Helvetica"/>
                <a:cs typeface="Helvetica"/>
              </a:rPr>
              <a:t>Solar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Events)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are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15" dirty="0">
                <a:latin typeface="Helvetica"/>
                <a:cs typeface="Helvetica"/>
              </a:rPr>
              <a:t>most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dominant.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This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makes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15" dirty="0">
                <a:latin typeface="Helvetica"/>
                <a:cs typeface="Helvetica"/>
              </a:rPr>
              <a:t>near </a:t>
            </a:r>
            <a:r>
              <a:rPr lang="en-US" sz="800" dirty="0">
                <a:latin typeface="Helvetica"/>
                <a:cs typeface="Helvetica"/>
              </a:rPr>
              <a:t>earth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portion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of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space </a:t>
            </a:r>
            <a:r>
              <a:rPr lang="en-US" sz="800" dirty="0">
                <a:latin typeface="Helvetica"/>
                <a:cs typeface="Helvetica"/>
              </a:rPr>
              <a:t>environment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very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dynamic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at </a:t>
            </a:r>
            <a:r>
              <a:rPr lang="en-US" sz="800" spc="-8" dirty="0">
                <a:latin typeface="Helvetica"/>
                <a:cs typeface="Helvetica"/>
              </a:rPr>
              <a:t>times.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space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environment’s</a:t>
            </a:r>
            <a:r>
              <a:rPr lang="en-US" sz="800" dirty="0">
                <a:latin typeface="Helvetica"/>
                <a:cs typeface="Helvetica"/>
              </a:rPr>
              <a:t> dynamic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behavior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complicates </a:t>
            </a:r>
            <a:r>
              <a:rPr lang="en-US" sz="800" dirty="0">
                <a:latin typeface="Helvetica"/>
                <a:cs typeface="Helvetica"/>
              </a:rPr>
              <a:t>environmental</a:t>
            </a:r>
            <a:r>
              <a:rPr lang="en-US" sz="800" spc="4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predictions</a:t>
            </a:r>
            <a:r>
              <a:rPr lang="en-US" sz="800" spc="45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for </a:t>
            </a:r>
            <a:r>
              <a:rPr lang="en-US" sz="800" dirty="0">
                <a:latin typeface="Helvetica"/>
                <a:cs typeface="Helvetica"/>
              </a:rPr>
              <a:t>space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missions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and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is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one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of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dirty="0">
                <a:latin typeface="Helvetica"/>
                <a:cs typeface="Helvetica"/>
              </a:rPr>
              <a:t>primary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reasons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that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design </a:t>
            </a:r>
            <a:r>
              <a:rPr lang="en-US" sz="800" dirty="0">
                <a:latin typeface="Helvetica"/>
                <a:cs typeface="Helvetica"/>
              </a:rPr>
              <a:t>margin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is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necessity.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15" dirty="0">
                <a:latin typeface="Helvetica"/>
                <a:cs typeface="Helvetica"/>
              </a:rPr>
              <a:t>Next</a:t>
            </a:r>
            <a:endParaRPr lang="en-US" sz="800" dirty="0">
              <a:latin typeface="Helvetica"/>
              <a:cs typeface="Helvetic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0355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050">
              <a:spcBef>
                <a:spcPts val="300"/>
              </a:spcBef>
            </a:pPr>
            <a:r>
              <a:rPr lang="en-US" sz="800" b="1" i="1" dirty="0">
                <a:latin typeface="Helvetica"/>
                <a:cs typeface="Helvetica"/>
              </a:rPr>
              <a:t>Presenter</a:t>
            </a:r>
            <a:r>
              <a:rPr lang="en-US" sz="800" b="1" i="1" spc="-30" dirty="0">
                <a:latin typeface="Helvetica"/>
                <a:cs typeface="Helvetica"/>
              </a:rPr>
              <a:t> </a:t>
            </a:r>
            <a:r>
              <a:rPr lang="en-US" sz="800" b="1" i="1" spc="-8" dirty="0">
                <a:latin typeface="Helvetica"/>
                <a:cs typeface="Helvetica"/>
              </a:rPr>
              <a:t>Notes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i="1" spc="-8" dirty="0">
                <a:latin typeface="Helvetica"/>
                <a:cs typeface="Helvetica"/>
              </a:rPr>
              <a:t>2025-06-</a:t>
            </a:r>
            <a:r>
              <a:rPr lang="en-US" sz="800" i="1" dirty="0">
                <a:latin typeface="Helvetica"/>
                <a:cs typeface="Helvetica"/>
              </a:rPr>
              <a:t>03</a:t>
            </a:r>
            <a:r>
              <a:rPr lang="en-US" sz="800" i="1" spc="26" dirty="0">
                <a:latin typeface="Helvetica"/>
                <a:cs typeface="Helvetica"/>
              </a:rPr>
              <a:t> </a:t>
            </a:r>
            <a:r>
              <a:rPr lang="en-US" sz="800" i="1" spc="-8" dirty="0">
                <a:latin typeface="Helvetica"/>
                <a:cs typeface="Helvetica"/>
              </a:rPr>
              <a:t>15:00:08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spc="-8" dirty="0">
                <a:latin typeface="Helvetica"/>
                <a:cs typeface="Helvetica"/>
              </a:rPr>
              <a:t>-------------------------------------------</a:t>
            </a:r>
            <a:r>
              <a:rPr lang="en-US" sz="800" spc="-38" dirty="0">
                <a:latin typeface="Helvetica"/>
                <a:cs typeface="Helvetica"/>
              </a:rPr>
              <a:t>-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Sunspots are viewed as </a:t>
            </a:r>
            <a:r>
              <a:rPr lang="en-US" sz="800" spc="-19" dirty="0">
                <a:latin typeface="Helvetica"/>
                <a:cs typeface="Helvetica"/>
              </a:rPr>
              <a:t>an </a:t>
            </a:r>
            <a:r>
              <a:rPr lang="en-US" sz="800" dirty="0">
                <a:latin typeface="Helvetica"/>
                <a:cs typeface="Helvetica"/>
              </a:rPr>
              <a:t>indicator or proxy of </a:t>
            </a:r>
            <a:r>
              <a:rPr lang="en-US" sz="800" spc="-8" dirty="0">
                <a:latin typeface="Helvetica"/>
                <a:cs typeface="Helvetica"/>
              </a:rPr>
              <a:t>solar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activity. So, the more </a:t>
            </a:r>
            <a:r>
              <a:rPr lang="en-US" sz="800" spc="-8" dirty="0">
                <a:latin typeface="Helvetica"/>
                <a:cs typeface="Helvetica"/>
              </a:rPr>
              <a:t>sunspots, </a:t>
            </a:r>
            <a:r>
              <a:rPr lang="en-US" sz="800" dirty="0">
                <a:latin typeface="Helvetica"/>
                <a:cs typeface="Helvetica"/>
              </a:rPr>
              <a:t>the more active the sun is </a:t>
            </a:r>
            <a:r>
              <a:rPr lang="en-US" sz="800" spc="-19" dirty="0">
                <a:latin typeface="Helvetica"/>
                <a:cs typeface="Helvetica"/>
              </a:rPr>
              <a:t>and </a:t>
            </a:r>
            <a:r>
              <a:rPr lang="en-US" sz="800" dirty="0">
                <a:latin typeface="Helvetica"/>
                <a:cs typeface="Helvetica"/>
              </a:rPr>
              <a:t>vice </a:t>
            </a:r>
            <a:r>
              <a:rPr lang="en-US" sz="800" spc="-8" dirty="0">
                <a:latin typeface="Helvetica"/>
                <a:cs typeface="Helvetica"/>
              </a:rPr>
              <a:t>versa. 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The magnified image on the </a:t>
            </a:r>
            <a:r>
              <a:rPr lang="en-US" sz="800" spc="-15" dirty="0">
                <a:latin typeface="Helvetica"/>
                <a:cs typeface="Helvetica"/>
              </a:rPr>
              <a:t>left </a:t>
            </a:r>
            <a:r>
              <a:rPr lang="en-US" sz="800" dirty="0">
                <a:latin typeface="Helvetica"/>
                <a:cs typeface="Helvetica"/>
              </a:rPr>
              <a:t>was taken in visible light and </a:t>
            </a:r>
            <a:r>
              <a:rPr lang="en-US" sz="800" spc="-19" dirty="0">
                <a:latin typeface="Helvetica"/>
                <a:cs typeface="Helvetica"/>
              </a:rPr>
              <a:t>you </a:t>
            </a:r>
            <a:r>
              <a:rPr lang="en-US" sz="800" dirty="0">
                <a:latin typeface="Helvetica"/>
                <a:cs typeface="Helvetica"/>
              </a:rPr>
              <a:t>can see the sunspots as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dirty="0">
                <a:latin typeface="Helvetica"/>
                <a:cs typeface="Helvetica"/>
              </a:rPr>
              <a:t>darker spots. The image on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dirty="0">
                <a:latin typeface="Helvetica"/>
                <a:cs typeface="Helvetica"/>
              </a:rPr>
              <a:t>right was taken in ultraviolet </a:t>
            </a:r>
            <a:r>
              <a:rPr lang="en-US" sz="800" spc="-8" dirty="0">
                <a:latin typeface="Helvetica"/>
                <a:cs typeface="Helvetica"/>
              </a:rPr>
              <a:t>light </a:t>
            </a:r>
            <a:r>
              <a:rPr lang="en-US" sz="800" dirty="0">
                <a:latin typeface="Helvetica"/>
                <a:cs typeface="Helvetica"/>
              </a:rPr>
              <a:t>and this shows the </a:t>
            </a:r>
            <a:r>
              <a:rPr lang="en-US" sz="800" spc="-8" dirty="0">
                <a:latin typeface="Helvetica"/>
                <a:cs typeface="Helvetica"/>
              </a:rPr>
              <a:t>active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regions. When you compare </a:t>
            </a:r>
            <a:r>
              <a:rPr lang="en-US" sz="800" spc="-19" dirty="0">
                <a:latin typeface="Helvetica"/>
                <a:cs typeface="Helvetica"/>
              </a:rPr>
              <a:t>two </a:t>
            </a:r>
            <a:r>
              <a:rPr lang="en-US" sz="800" dirty="0">
                <a:latin typeface="Helvetica"/>
                <a:cs typeface="Helvetica"/>
              </a:rPr>
              <a:t>images, you see that the </a:t>
            </a:r>
            <a:r>
              <a:rPr lang="en-US" sz="800" spc="-8" dirty="0">
                <a:latin typeface="Helvetica"/>
                <a:cs typeface="Helvetica"/>
              </a:rPr>
              <a:t>active </a:t>
            </a:r>
            <a:r>
              <a:rPr lang="en-US" sz="800" dirty="0">
                <a:latin typeface="Helvetica"/>
                <a:cs typeface="Helvetica"/>
              </a:rPr>
              <a:t>regions correspond </a:t>
            </a:r>
            <a:r>
              <a:rPr lang="en-US" sz="800" spc="-8" dirty="0">
                <a:latin typeface="Helvetica"/>
                <a:cs typeface="Helvetica"/>
              </a:rPr>
              <a:t>almost </a:t>
            </a:r>
            <a:r>
              <a:rPr lang="en-US" sz="800" dirty="0">
                <a:latin typeface="Helvetica"/>
                <a:cs typeface="Helvetica"/>
              </a:rPr>
              <a:t>exactly to the regions of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dirty="0">
                <a:latin typeface="Helvetica"/>
                <a:cs typeface="Helvetica"/>
              </a:rPr>
              <a:t>sunspots. </a:t>
            </a:r>
            <a:r>
              <a:rPr lang="en-US" sz="800" spc="-15" dirty="0">
                <a:latin typeface="Helvetica"/>
                <a:cs typeface="Helvetica"/>
              </a:rPr>
              <a:t>Next</a:t>
            </a:r>
            <a:endParaRPr lang="en-US" sz="800" dirty="0">
              <a:latin typeface="Helvetica"/>
              <a:cs typeface="Helvetic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142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050">
              <a:spcBef>
                <a:spcPts val="300"/>
              </a:spcBef>
            </a:pPr>
            <a:r>
              <a:rPr lang="en-US" sz="800" b="1" i="1" dirty="0">
                <a:latin typeface="Helvetica"/>
                <a:cs typeface="Helvetica"/>
              </a:rPr>
              <a:t>Presenter</a:t>
            </a:r>
            <a:r>
              <a:rPr lang="en-US" sz="800" b="1" i="1" spc="-30" dirty="0">
                <a:latin typeface="Helvetica"/>
                <a:cs typeface="Helvetica"/>
              </a:rPr>
              <a:t> </a:t>
            </a:r>
            <a:r>
              <a:rPr lang="en-US" sz="800" b="1" i="1" spc="-8" dirty="0">
                <a:latin typeface="Helvetica"/>
                <a:cs typeface="Helvetica"/>
              </a:rPr>
              <a:t>Notes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i="1" spc="-8" dirty="0">
                <a:latin typeface="Helvetica"/>
                <a:cs typeface="Helvetica"/>
              </a:rPr>
              <a:t>2025-06-</a:t>
            </a:r>
            <a:r>
              <a:rPr lang="en-US" sz="800" i="1" dirty="0">
                <a:latin typeface="Helvetica"/>
                <a:cs typeface="Helvetica"/>
              </a:rPr>
              <a:t>03</a:t>
            </a:r>
            <a:r>
              <a:rPr lang="en-US" sz="800" i="1" spc="26" dirty="0">
                <a:latin typeface="Helvetica"/>
                <a:cs typeface="Helvetica"/>
              </a:rPr>
              <a:t> </a:t>
            </a:r>
            <a:r>
              <a:rPr lang="en-US" sz="800" i="1" spc="-8" dirty="0">
                <a:latin typeface="Helvetica"/>
                <a:cs typeface="Helvetica"/>
              </a:rPr>
              <a:t>15:00:09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spc="-8" dirty="0">
                <a:latin typeface="Helvetica"/>
                <a:cs typeface="Helvetica"/>
              </a:rPr>
              <a:t>-------------------------------------------</a:t>
            </a:r>
            <a:r>
              <a:rPr lang="en-US" sz="800" spc="-38" dirty="0">
                <a:latin typeface="Helvetica"/>
                <a:cs typeface="Helvetica"/>
              </a:rPr>
              <a:t>-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Solar activity has a </a:t>
            </a:r>
            <a:r>
              <a:rPr lang="en-US" sz="800" spc="-8" dirty="0">
                <a:latin typeface="Helvetica"/>
                <a:cs typeface="Helvetica"/>
              </a:rPr>
              <a:t>fairly </a:t>
            </a:r>
            <a:r>
              <a:rPr lang="en-US" sz="800" dirty="0">
                <a:latin typeface="Helvetica"/>
                <a:cs typeface="Helvetica"/>
              </a:rPr>
              <a:t>consistent periodic behavior.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dirty="0">
                <a:latin typeface="Helvetica"/>
                <a:cs typeface="Helvetica"/>
              </a:rPr>
              <a:t>solar cycle is approximately </a:t>
            </a:r>
            <a:r>
              <a:rPr lang="en-US" sz="800" spc="-19" dirty="0">
                <a:latin typeface="Helvetica"/>
                <a:cs typeface="Helvetica"/>
              </a:rPr>
              <a:t>11 </a:t>
            </a:r>
            <a:r>
              <a:rPr lang="en-US" sz="800" dirty="0">
                <a:latin typeface="Helvetica"/>
                <a:cs typeface="Helvetica"/>
              </a:rPr>
              <a:t>years in duration. When the </a:t>
            </a:r>
            <a:r>
              <a:rPr lang="en-US" sz="800" spc="-19" dirty="0">
                <a:latin typeface="Helvetica"/>
                <a:cs typeface="Helvetica"/>
              </a:rPr>
              <a:t>sun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is most active this is called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dirty="0">
                <a:latin typeface="Helvetica"/>
                <a:cs typeface="Helvetica"/>
              </a:rPr>
              <a:t>solar maximum and </a:t>
            </a:r>
            <a:r>
              <a:rPr lang="en-US" sz="800" spc="-8" dirty="0">
                <a:latin typeface="Helvetica"/>
                <a:cs typeface="Helvetica"/>
              </a:rPr>
              <a:t>lasts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typically for 7 years. When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dirty="0">
                <a:latin typeface="Helvetica"/>
                <a:cs typeface="Helvetica"/>
              </a:rPr>
              <a:t>sun is less active this is </a:t>
            </a:r>
            <a:r>
              <a:rPr lang="en-US" sz="800" spc="-8" dirty="0">
                <a:latin typeface="Helvetica"/>
                <a:cs typeface="Helvetica"/>
              </a:rPr>
              <a:t>called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 solar minimum which lasts </a:t>
            </a:r>
            <a:r>
              <a:rPr lang="en-US" sz="800" spc="-19" dirty="0">
                <a:latin typeface="Helvetica"/>
                <a:cs typeface="Helvetica"/>
              </a:rPr>
              <a:t>for </a:t>
            </a:r>
            <a:r>
              <a:rPr lang="en-US" sz="800" dirty="0">
                <a:latin typeface="Helvetica"/>
                <a:cs typeface="Helvetica"/>
              </a:rPr>
              <a:t>about 4 </a:t>
            </a:r>
            <a:r>
              <a:rPr lang="en-US" sz="800" spc="-8" dirty="0">
                <a:latin typeface="Helvetica"/>
                <a:cs typeface="Helvetica"/>
              </a:rPr>
              <a:t>years. 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Fun fact, as you can see on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dirty="0">
                <a:latin typeface="Helvetica"/>
                <a:cs typeface="Helvetica"/>
              </a:rPr>
              <a:t>graph, we are at the peak of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dirty="0">
                <a:latin typeface="Helvetica"/>
                <a:cs typeface="Helvetica"/>
              </a:rPr>
              <a:t>solar maximum currently. And </a:t>
            </a:r>
            <a:r>
              <a:rPr lang="en-US" sz="800" spc="-19" dirty="0">
                <a:latin typeface="Helvetica"/>
                <a:cs typeface="Helvetica"/>
              </a:rPr>
              <a:t>an </a:t>
            </a:r>
            <a:r>
              <a:rPr lang="en-US" sz="800" dirty="0">
                <a:latin typeface="Helvetica"/>
                <a:cs typeface="Helvetica"/>
              </a:rPr>
              <a:t>even </a:t>
            </a:r>
            <a:r>
              <a:rPr lang="en-US" sz="800" dirty="0" err="1">
                <a:latin typeface="Helvetica"/>
                <a:cs typeface="Helvetica"/>
              </a:rPr>
              <a:t>funner</a:t>
            </a:r>
            <a:r>
              <a:rPr lang="en-US" sz="800" dirty="0">
                <a:latin typeface="Helvetica"/>
                <a:cs typeface="Helvetica"/>
              </a:rPr>
              <a:t> fact, is that Codie </a:t>
            </a:r>
            <a:r>
              <a:rPr lang="en-US" sz="800" spc="-19" dirty="0">
                <a:latin typeface="Helvetica"/>
                <a:cs typeface="Helvetica"/>
              </a:rPr>
              <a:t>let </a:t>
            </a:r>
            <a:r>
              <a:rPr lang="en-US" sz="800" dirty="0">
                <a:latin typeface="Helvetica"/>
                <a:cs typeface="Helvetica"/>
              </a:rPr>
              <a:t>me know that apparently there </a:t>
            </a:r>
            <a:r>
              <a:rPr lang="en-US" sz="800" spc="-19" dirty="0">
                <a:latin typeface="Helvetica"/>
                <a:cs typeface="Helvetica"/>
              </a:rPr>
              <a:t>is </a:t>
            </a:r>
            <a:r>
              <a:rPr lang="en-US" sz="800" dirty="0">
                <a:latin typeface="Helvetica"/>
                <a:cs typeface="Helvetica"/>
              </a:rPr>
              <a:t>supposed to be a large </a:t>
            </a:r>
            <a:r>
              <a:rPr lang="en-US" sz="800" spc="-8" dirty="0">
                <a:latin typeface="Helvetica"/>
                <a:cs typeface="Helvetica"/>
              </a:rPr>
              <a:t>solar </a:t>
            </a:r>
            <a:r>
              <a:rPr lang="en-US" sz="800" dirty="0">
                <a:latin typeface="Helvetica"/>
                <a:cs typeface="Helvetica"/>
              </a:rPr>
              <a:t>storm impacting earth </a:t>
            </a:r>
            <a:r>
              <a:rPr lang="en-US" sz="800" spc="-8" dirty="0">
                <a:latin typeface="Helvetica"/>
                <a:cs typeface="Helvetica"/>
              </a:rPr>
              <a:t>tonight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that should be visible in </a:t>
            </a:r>
            <a:r>
              <a:rPr lang="en-US" sz="800" spc="-8" dirty="0">
                <a:latin typeface="Helvetica"/>
                <a:cs typeface="Helvetica"/>
              </a:rPr>
              <a:t>Indiana. </a:t>
            </a:r>
            <a:r>
              <a:rPr lang="en-US" sz="800" dirty="0">
                <a:latin typeface="Helvetica"/>
                <a:cs typeface="Helvetica"/>
              </a:rPr>
              <a:t>So if you can find an area </a:t>
            </a:r>
            <a:r>
              <a:rPr lang="en-US" sz="800" spc="-8" dirty="0">
                <a:latin typeface="Helvetica"/>
                <a:cs typeface="Helvetica"/>
              </a:rPr>
              <a:t>without </a:t>
            </a:r>
            <a:r>
              <a:rPr lang="en-US" sz="800" dirty="0">
                <a:latin typeface="Helvetica"/>
                <a:cs typeface="Helvetica"/>
              </a:rPr>
              <a:t>light pollution you might be </a:t>
            </a:r>
            <a:r>
              <a:rPr lang="en-US" sz="800" spc="-15" dirty="0">
                <a:latin typeface="Helvetica"/>
                <a:cs typeface="Helvetica"/>
              </a:rPr>
              <a:t>able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to see the Auroa Borealis. </a:t>
            </a:r>
            <a:r>
              <a:rPr lang="en-US" sz="800" spc="-38" dirty="0">
                <a:latin typeface="Helvetica"/>
                <a:cs typeface="Helvetica"/>
              </a:rPr>
              <a:t>I </a:t>
            </a:r>
            <a:r>
              <a:rPr lang="en-US" sz="800" dirty="0">
                <a:latin typeface="Helvetica"/>
                <a:cs typeface="Helvetica"/>
              </a:rPr>
              <a:t>haven’t mentioned this yet </a:t>
            </a:r>
            <a:r>
              <a:rPr lang="en-US" sz="800" spc="-19" dirty="0">
                <a:latin typeface="Helvetica"/>
                <a:cs typeface="Helvetica"/>
              </a:rPr>
              <a:t>but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 Auroa Borealis or </a:t>
            </a:r>
            <a:r>
              <a:rPr lang="en-US" sz="800" spc="-8" dirty="0">
                <a:latin typeface="Helvetica"/>
                <a:cs typeface="Helvetica"/>
              </a:rPr>
              <a:t>Northern </a:t>
            </a:r>
            <a:r>
              <a:rPr lang="en-US" sz="800" dirty="0">
                <a:latin typeface="Helvetica"/>
                <a:cs typeface="Helvetica"/>
              </a:rPr>
              <a:t>Lights are the lights we can </a:t>
            </a:r>
            <a:r>
              <a:rPr lang="en-US" sz="800" spc="-19" dirty="0">
                <a:latin typeface="Helvetica"/>
                <a:cs typeface="Helvetica"/>
              </a:rPr>
              <a:t>see </a:t>
            </a:r>
            <a:r>
              <a:rPr lang="en-US" sz="800" dirty="0">
                <a:latin typeface="Helvetica"/>
                <a:cs typeface="Helvetica"/>
              </a:rPr>
              <a:t>when radiation particles </a:t>
            </a:r>
            <a:r>
              <a:rPr lang="en-US" sz="800" spc="-8" dirty="0">
                <a:latin typeface="Helvetica"/>
                <a:cs typeface="Helvetica"/>
              </a:rPr>
              <a:t>(mainly </a:t>
            </a:r>
            <a:r>
              <a:rPr lang="en-US" sz="800" dirty="0">
                <a:latin typeface="Helvetica"/>
                <a:cs typeface="Helvetica"/>
              </a:rPr>
              <a:t>electrons and protons) </a:t>
            </a:r>
            <a:r>
              <a:rPr lang="en-US" sz="800" spc="-8" dirty="0">
                <a:latin typeface="Helvetica"/>
                <a:cs typeface="Helvetica"/>
              </a:rPr>
              <a:t>interact </a:t>
            </a:r>
            <a:r>
              <a:rPr lang="en-US" sz="800" dirty="0">
                <a:latin typeface="Helvetica"/>
                <a:cs typeface="Helvetica"/>
              </a:rPr>
              <a:t>with the upper atmosphere. </a:t>
            </a:r>
            <a:r>
              <a:rPr lang="en-US" sz="800" spc="-19" dirty="0">
                <a:latin typeface="Helvetica"/>
                <a:cs typeface="Helvetica"/>
              </a:rPr>
              <a:t>You </a:t>
            </a:r>
            <a:r>
              <a:rPr lang="en-US" sz="800" dirty="0">
                <a:latin typeface="Helvetica"/>
                <a:cs typeface="Helvetica"/>
              </a:rPr>
              <a:t>can visit the space </a:t>
            </a:r>
            <a:r>
              <a:rPr lang="en-US" sz="800" spc="-8" dirty="0">
                <a:latin typeface="Helvetica"/>
                <a:cs typeface="Helvetica"/>
              </a:rPr>
              <a:t>weather </a:t>
            </a:r>
            <a:r>
              <a:rPr lang="en-US" sz="800" dirty="0">
                <a:latin typeface="Helvetica"/>
                <a:cs typeface="Helvetica"/>
              </a:rPr>
              <a:t>website for more details. </a:t>
            </a:r>
            <a:r>
              <a:rPr lang="en-US" sz="800" spc="-15" dirty="0">
                <a:latin typeface="Helvetica"/>
                <a:cs typeface="Helvetica"/>
              </a:rPr>
              <a:t>Next</a:t>
            </a:r>
            <a:endParaRPr lang="en-US" sz="800" dirty="0">
              <a:latin typeface="Helvetica"/>
              <a:cs typeface="Helvetic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8667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8213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050">
              <a:spcBef>
                <a:spcPts val="300"/>
              </a:spcBef>
            </a:pPr>
            <a:r>
              <a:rPr lang="en-US" sz="800" b="1" i="1" dirty="0">
                <a:latin typeface="Helvetica"/>
                <a:cs typeface="Helvetica"/>
              </a:rPr>
              <a:t>Presenter</a:t>
            </a:r>
            <a:r>
              <a:rPr lang="en-US" sz="800" b="1" i="1" spc="-30" dirty="0">
                <a:latin typeface="Helvetica"/>
                <a:cs typeface="Helvetica"/>
              </a:rPr>
              <a:t> </a:t>
            </a:r>
            <a:r>
              <a:rPr lang="en-US" sz="800" b="1" i="1" spc="-8" dirty="0">
                <a:latin typeface="Helvetica"/>
                <a:cs typeface="Helvetica"/>
              </a:rPr>
              <a:t>Notes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i="1" spc="-8" dirty="0">
                <a:latin typeface="Helvetica"/>
                <a:cs typeface="Helvetica"/>
              </a:rPr>
              <a:t>2025-06-</a:t>
            </a:r>
            <a:r>
              <a:rPr lang="en-US" sz="800" i="1" dirty="0">
                <a:latin typeface="Helvetica"/>
                <a:cs typeface="Helvetica"/>
              </a:rPr>
              <a:t>03</a:t>
            </a:r>
            <a:r>
              <a:rPr lang="en-US" sz="800" i="1" spc="26" dirty="0">
                <a:latin typeface="Helvetica"/>
                <a:cs typeface="Helvetica"/>
              </a:rPr>
              <a:t> </a:t>
            </a:r>
            <a:r>
              <a:rPr lang="en-US" sz="800" i="1" spc="-8" dirty="0">
                <a:latin typeface="Helvetica"/>
                <a:cs typeface="Helvetica"/>
              </a:rPr>
              <a:t>15:00:10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spc="-8" dirty="0">
                <a:latin typeface="Helvetica"/>
                <a:cs typeface="Helvetica"/>
              </a:rPr>
              <a:t>-------------------------------------------</a:t>
            </a:r>
            <a:r>
              <a:rPr lang="en-US" sz="800" spc="-38" dirty="0">
                <a:latin typeface="Helvetica"/>
                <a:cs typeface="Helvetica"/>
              </a:rPr>
              <a:t>-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The sun produces </a:t>
            </a:r>
            <a:r>
              <a:rPr lang="en-US" sz="800" spc="-15" dirty="0">
                <a:latin typeface="Helvetica"/>
                <a:cs typeface="Helvetica"/>
              </a:rPr>
              <a:t>mass </a:t>
            </a:r>
            <a:r>
              <a:rPr lang="en-US" sz="800" dirty="0">
                <a:latin typeface="Helvetica"/>
                <a:cs typeface="Helvetica"/>
              </a:rPr>
              <a:t>emissions, namely Solar </a:t>
            </a:r>
            <a:r>
              <a:rPr lang="en-US" sz="800" spc="-15" dirty="0">
                <a:latin typeface="Helvetica"/>
                <a:cs typeface="Helvetica"/>
              </a:rPr>
              <a:t>wind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and Coronal Mass Ejections, </a:t>
            </a:r>
            <a:r>
              <a:rPr lang="en-US" sz="800" spc="-19" dirty="0">
                <a:latin typeface="Helvetica"/>
                <a:cs typeface="Helvetica"/>
              </a:rPr>
              <a:t>and </a:t>
            </a:r>
            <a:r>
              <a:rPr lang="en-US" sz="800" dirty="0">
                <a:latin typeface="Helvetica"/>
                <a:cs typeface="Helvetica"/>
              </a:rPr>
              <a:t>electromagnetic </a:t>
            </a:r>
            <a:r>
              <a:rPr lang="en-US" sz="800" spc="-8" dirty="0">
                <a:latin typeface="Helvetica"/>
                <a:cs typeface="Helvetica"/>
              </a:rPr>
              <a:t>emissions, </a:t>
            </a:r>
            <a:r>
              <a:rPr lang="en-US" sz="800" dirty="0">
                <a:latin typeface="Helvetica"/>
                <a:cs typeface="Helvetica"/>
              </a:rPr>
              <a:t>namely Solar Flares </a:t>
            </a:r>
            <a:r>
              <a:rPr lang="en-US" sz="800" spc="-19" dirty="0">
                <a:latin typeface="Helvetica"/>
                <a:cs typeface="Helvetica"/>
              </a:rPr>
              <a:t>and </a:t>
            </a:r>
            <a:r>
              <a:rPr lang="en-US" sz="800" spc="-8" dirty="0">
                <a:latin typeface="Helvetica"/>
                <a:cs typeface="Helvetica"/>
              </a:rPr>
              <a:t>Irradiance.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Coronal Mass Ejections </a:t>
            </a:r>
            <a:r>
              <a:rPr lang="en-US" sz="800" spc="-19" dirty="0">
                <a:latin typeface="Helvetica"/>
                <a:cs typeface="Helvetica"/>
              </a:rPr>
              <a:t>and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Solar Flares are the two types </a:t>
            </a:r>
            <a:r>
              <a:rPr lang="en-US" sz="800" spc="-19" dirty="0">
                <a:latin typeface="Helvetica"/>
                <a:cs typeface="Helvetica"/>
              </a:rPr>
              <a:t>of </a:t>
            </a:r>
            <a:r>
              <a:rPr lang="en-US" sz="800" dirty="0">
                <a:latin typeface="Helvetica"/>
                <a:cs typeface="Helvetica"/>
              </a:rPr>
              <a:t>solar events that are </a:t>
            </a:r>
            <a:r>
              <a:rPr lang="en-US" sz="800" spc="-8" dirty="0">
                <a:latin typeface="Helvetica"/>
                <a:cs typeface="Helvetica"/>
              </a:rPr>
              <a:t>responsible </a:t>
            </a:r>
            <a:r>
              <a:rPr lang="en-US" sz="800" dirty="0">
                <a:latin typeface="Helvetica"/>
                <a:cs typeface="Helvetica"/>
              </a:rPr>
              <a:t>for producing solar </a:t>
            </a:r>
            <a:r>
              <a:rPr lang="en-US" sz="800" spc="-8" dirty="0">
                <a:latin typeface="Helvetica"/>
                <a:cs typeface="Helvetica"/>
              </a:rPr>
              <a:t>energetic </a:t>
            </a:r>
            <a:r>
              <a:rPr lang="en-US" sz="800" dirty="0">
                <a:latin typeface="Helvetica"/>
                <a:cs typeface="Helvetica"/>
              </a:rPr>
              <a:t>particles which are </a:t>
            </a:r>
            <a:r>
              <a:rPr lang="en-US" sz="800" spc="-8" dirty="0">
                <a:latin typeface="Helvetica"/>
                <a:cs typeface="Helvetica"/>
              </a:rPr>
              <a:t>primarily </a:t>
            </a:r>
            <a:r>
              <a:rPr lang="en-US" sz="800" dirty="0">
                <a:latin typeface="Helvetica"/>
                <a:cs typeface="Helvetica"/>
              </a:rPr>
              <a:t>responsible for </a:t>
            </a:r>
            <a:r>
              <a:rPr lang="en-US" sz="800" spc="-8" dirty="0">
                <a:latin typeface="Helvetica"/>
                <a:cs typeface="Helvetica"/>
              </a:rPr>
              <a:t>impacting </a:t>
            </a:r>
            <a:r>
              <a:rPr lang="en-US" sz="800" dirty="0">
                <a:latin typeface="Helvetica"/>
                <a:cs typeface="Helvetica"/>
              </a:rPr>
              <a:t>electronics. Coronal </a:t>
            </a:r>
            <a:r>
              <a:rPr lang="en-US" sz="800" spc="-15" dirty="0">
                <a:latin typeface="Helvetica"/>
                <a:cs typeface="Helvetica"/>
              </a:rPr>
              <a:t>Mass </a:t>
            </a:r>
            <a:r>
              <a:rPr lang="en-US" sz="800" dirty="0">
                <a:latin typeface="Helvetica"/>
                <a:cs typeface="Helvetica"/>
              </a:rPr>
              <a:t>Ejections are proton rich -&gt; </a:t>
            </a:r>
            <a:r>
              <a:rPr lang="en-US" sz="800" spc="-19" dirty="0">
                <a:latin typeface="Helvetica"/>
                <a:cs typeface="Helvetica"/>
              </a:rPr>
              <a:t>are </a:t>
            </a:r>
            <a:r>
              <a:rPr lang="en-US" sz="800" dirty="0">
                <a:latin typeface="Helvetica"/>
                <a:cs typeface="Helvetica"/>
              </a:rPr>
              <a:t>more gradual emissions -&gt; </a:t>
            </a:r>
            <a:r>
              <a:rPr lang="en-US" sz="800" spc="-19" dirty="0">
                <a:latin typeface="Helvetica"/>
                <a:cs typeface="Helvetica"/>
              </a:rPr>
              <a:t>and </a:t>
            </a:r>
            <a:r>
              <a:rPr lang="en-US" sz="800" dirty="0">
                <a:latin typeface="Helvetica"/>
                <a:cs typeface="Helvetica"/>
              </a:rPr>
              <a:t>typically take hours to a few </a:t>
            </a:r>
            <a:r>
              <a:rPr lang="en-US" sz="800" spc="-15" dirty="0">
                <a:latin typeface="Helvetica"/>
                <a:cs typeface="Helvetica"/>
              </a:rPr>
              <a:t>days </a:t>
            </a:r>
            <a:r>
              <a:rPr lang="en-US" sz="800" dirty="0">
                <a:latin typeface="Helvetica"/>
                <a:cs typeface="Helvetica"/>
              </a:rPr>
              <a:t>to reach </a:t>
            </a:r>
            <a:r>
              <a:rPr lang="en-US" sz="800" spc="-8" dirty="0">
                <a:latin typeface="Helvetica"/>
                <a:cs typeface="Helvetica"/>
              </a:rPr>
              <a:t>Earth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Solar flares are heavy ion </a:t>
            </a:r>
            <a:r>
              <a:rPr lang="en-US" sz="800" spc="-15" dirty="0">
                <a:latin typeface="Helvetica"/>
                <a:cs typeface="Helvetica"/>
              </a:rPr>
              <a:t>rich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and typically impulsive </a:t>
            </a:r>
            <a:r>
              <a:rPr lang="en-US" sz="800" spc="-15" dirty="0">
                <a:latin typeface="Helvetica"/>
                <a:cs typeface="Helvetica"/>
              </a:rPr>
              <a:t>Next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Solar wind is always in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dirty="0">
                <a:latin typeface="Helvetica"/>
                <a:cs typeface="Helvetica"/>
              </a:rPr>
              <a:t>background, and then you </a:t>
            </a:r>
            <a:r>
              <a:rPr lang="en-US" sz="800" spc="-15" dirty="0">
                <a:latin typeface="Helvetica"/>
                <a:cs typeface="Helvetica"/>
              </a:rPr>
              <a:t>have </a:t>
            </a:r>
            <a:r>
              <a:rPr lang="en-US" sz="800" dirty="0">
                <a:latin typeface="Helvetica"/>
                <a:cs typeface="Helvetica"/>
              </a:rPr>
              <a:t>storms which can result </a:t>
            </a:r>
            <a:r>
              <a:rPr lang="en-US" sz="800" spc="-19" dirty="0">
                <a:latin typeface="Helvetica"/>
                <a:cs typeface="Helvetica"/>
              </a:rPr>
              <a:t>in </a:t>
            </a:r>
            <a:r>
              <a:rPr lang="en-US" sz="800" dirty="0">
                <a:latin typeface="Helvetica"/>
                <a:cs typeface="Helvetica"/>
              </a:rPr>
              <a:t>increased proton flux </a:t>
            </a:r>
            <a:r>
              <a:rPr lang="en-US" sz="800" spc="-8" dirty="0">
                <a:latin typeface="Helvetica"/>
                <a:cs typeface="Helvetica"/>
              </a:rPr>
              <a:t>Irradiance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is photons, all others </a:t>
            </a:r>
            <a:r>
              <a:rPr lang="en-US" sz="800" spc="-8" dirty="0">
                <a:latin typeface="Helvetica"/>
                <a:cs typeface="Helvetica"/>
              </a:rPr>
              <a:t>particles</a:t>
            </a:r>
            <a:endParaRPr lang="en-US" sz="800" dirty="0">
              <a:latin typeface="Helvetica"/>
              <a:cs typeface="Helvetic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6707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050">
              <a:spcBef>
                <a:spcPts val="300"/>
              </a:spcBef>
            </a:pPr>
            <a:r>
              <a:rPr lang="en-US" sz="800" b="1" i="1" dirty="0">
                <a:latin typeface="Helvetica"/>
                <a:cs typeface="Helvetica"/>
              </a:rPr>
              <a:t>Presenter</a:t>
            </a:r>
            <a:r>
              <a:rPr lang="en-US" sz="800" b="1" i="1" spc="-30" dirty="0">
                <a:latin typeface="Helvetica"/>
                <a:cs typeface="Helvetica"/>
              </a:rPr>
              <a:t> </a:t>
            </a:r>
            <a:r>
              <a:rPr lang="en-US" sz="800" b="1" i="1" spc="-8" dirty="0">
                <a:latin typeface="Helvetica"/>
                <a:cs typeface="Helvetica"/>
              </a:rPr>
              <a:t>Notes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i="1" spc="-8" dirty="0">
                <a:latin typeface="Helvetica"/>
                <a:cs typeface="Helvetica"/>
              </a:rPr>
              <a:t>2025-06-</a:t>
            </a:r>
            <a:r>
              <a:rPr lang="en-US" sz="800" i="1" dirty="0">
                <a:latin typeface="Helvetica"/>
                <a:cs typeface="Helvetica"/>
              </a:rPr>
              <a:t>03</a:t>
            </a:r>
            <a:r>
              <a:rPr lang="en-US" sz="800" i="1" spc="26" dirty="0">
                <a:latin typeface="Helvetica"/>
                <a:cs typeface="Helvetica"/>
              </a:rPr>
              <a:t> </a:t>
            </a:r>
            <a:r>
              <a:rPr lang="en-US" sz="800" i="1" spc="-8" dirty="0">
                <a:latin typeface="Helvetica"/>
                <a:cs typeface="Helvetica"/>
              </a:rPr>
              <a:t>15:00:11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spc="-8" dirty="0">
                <a:latin typeface="Helvetica"/>
                <a:cs typeface="Helvetica"/>
              </a:rPr>
              <a:t>-------------------------------------------</a:t>
            </a:r>
            <a:r>
              <a:rPr lang="en-US" sz="800" spc="-38" dirty="0">
                <a:latin typeface="Helvetica"/>
                <a:cs typeface="Helvetica"/>
              </a:rPr>
              <a:t>-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As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discussed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previously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the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sun’s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activity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or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solar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cycle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plays </a:t>
            </a:r>
            <a:r>
              <a:rPr lang="en-US" sz="800" dirty="0">
                <a:latin typeface="Helvetica"/>
                <a:cs typeface="Helvetica"/>
              </a:rPr>
              <a:t>a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role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in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determining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dirty="0">
                <a:latin typeface="Helvetica"/>
                <a:cs typeface="Helvetica"/>
              </a:rPr>
              <a:t>frequency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of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solar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energetic </a:t>
            </a:r>
            <a:r>
              <a:rPr lang="en-US" sz="800" dirty="0">
                <a:latin typeface="Helvetica"/>
                <a:cs typeface="Helvetica"/>
              </a:rPr>
              <a:t>particles.</a:t>
            </a:r>
            <a:r>
              <a:rPr lang="en-US" sz="800" spc="8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8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graph</a:t>
            </a:r>
            <a:r>
              <a:rPr lang="en-US" sz="800" spc="8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shows</a:t>
            </a:r>
            <a:r>
              <a:rPr lang="en-US" sz="800" spc="8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dirty="0">
                <a:latin typeface="Helvetica"/>
                <a:cs typeface="Helvetica"/>
              </a:rPr>
              <a:t>solar cycle, in blue, overlayed </a:t>
            </a:r>
            <a:r>
              <a:rPr lang="en-US" sz="800" spc="-19" dirty="0">
                <a:latin typeface="Helvetica"/>
                <a:cs typeface="Helvetica"/>
              </a:rPr>
              <a:t>on </a:t>
            </a:r>
            <a:r>
              <a:rPr lang="en-US" sz="800" dirty="0">
                <a:latin typeface="Helvetica"/>
                <a:cs typeface="Helvetica"/>
              </a:rPr>
              <a:t>top of particle events, in </a:t>
            </a:r>
            <a:r>
              <a:rPr lang="en-US" sz="800" spc="-8" dirty="0">
                <a:latin typeface="Helvetica"/>
                <a:cs typeface="Helvetica"/>
              </a:rPr>
              <a:t>pink.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I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hope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you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can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see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that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during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Solar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Maximum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there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is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an </a:t>
            </a:r>
            <a:r>
              <a:rPr lang="en-US" sz="800" dirty="0">
                <a:latin typeface="Helvetica"/>
                <a:cs typeface="Helvetica"/>
              </a:rPr>
              <a:t>increase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in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solar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events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and </a:t>
            </a:r>
            <a:r>
              <a:rPr lang="en-US" sz="800" dirty="0">
                <a:latin typeface="Helvetica"/>
                <a:cs typeface="Helvetica"/>
              </a:rPr>
              <a:t>during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Solar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Minimum,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there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are </a:t>
            </a:r>
            <a:r>
              <a:rPr lang="en-US" sz="800" dirty="0">
                <a:latin typeface="Helvetica"/>
                <a:cs typeface="Helvetica"/>
              </a:rPr>
              <a:t>fewer.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However,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I’d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like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to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point </a:t>
            </a:r>
            <a:r>
              <a:rPr lang="en-US" sz="800" dirty="0">
                <a:latin typeface="Helvetica"/>
                <a:cs typeface="Helvetica"/>
              </a:rPr>
              <a:t>out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that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just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because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sun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is </a:t>
            </a:r>
            <a:r>
              <a:rPr lang="en-US" sz="800" dirty="0">
                <a:latin typeface="Helvetica"/>
                <a:cs typeface="Helvetica"/>
              </a:rPr>
              <a:t>less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active,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does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not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15" dirty="0">
                <a:latin typeface="Helvetica"/>
                <a:cs typeface="Helvetica"/>
              </a:rPr>
              <a:t>mean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events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aren’t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happening.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It’s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15" dirty="0">
                <a:latin typeface="Helvetica"/>
                <a:cs typeface="Helvetica"/>
              </a:rPr>
              <a:t>also </a:t>
            </a:r>
            <a:r>
              <a:rPr lang="en-US" sz="800" dirty="0">
                <a:latin typeface="Helvetica"/>
                <a:cs typeface="Helvetica"/>
              </a:rPr>
              <a:t>worth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mentioning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now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that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not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all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“big”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events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are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earth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facing. 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We previously also talked </a:t>
            </a:r>
            <a:r>
              <a:rPr lang="en-US" sz="800" spc="-8" dirty="0">
                <a:latin typeface="Helvetica"/>
                <a:cs typeface="Helvetica"/>
              </a:rPr>
              <a:t>about </a:t>
            </a:r>
            <a:r>
              <a:rPr lang="en-US" sz="800" dirty="0">
                <a:latin typeface="Helvetica"/>
                <a:cs typeface="Helvetica"/>
              </a:rPr>
              <a:t>the Sun being a modulator. </a:t>
            </a:r>
            <a:r>
              <a:rPr lang="en-US" sz="800" spc="-15" dirty="0">
                <a:latin typeface="Helvetica"/>
                <a:cs typeface="Helvetica"/>
              </a:rPr>
              <a:t>This </a:t>
            </a:r>
            <a:r>
              <a:rPr lang="en-US" sz="800" dirty="0">
                <a:latin typeface="Helvetica"/>
                <a:cs typeface="Helvetica"/>
              </a:rPr>
              <a:t>graph shows what I meant.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dirty="0">
                <a:latin typeface="Helvetica"/>
                <a:cs typeface="Helvetica"/>
              </a:rPr>
              <a:t>more consistent </a:t>
            </a:r>
            <a:r>
              <a:rPr lang="en-US" sz="800" spc="-15" dirty="0">
                <a:latin typeface="Helvetica"/>
                <a:cs typeface="Helvetica"/>
              </a:rPr>
              <a:t>pink </a:t>
            </a:r>
            <a:r>
              <a:rPr lang="en-US" sz="800" dirty="0">
                <a:latin typeface="Helvetica"/>
                <a:cs typeface="Helvetica"/>
              </a:rPr>
              <a:t>concentration along the bottom </a:t>
            </a:r>
            <a:r>
              <a:rPr lang="en-US" sz="800" spc="-19" dirty="0">
                <a:latin typeface="Helvetica"/>
                <a:cs typeface="Helvetica"/>
              </a:rPr>
              <a:t>is </a:t>
            </a:r>
            <a:r>
              <a:rPr lang="en-US" sz="800" dirty="0">
                <a:latin typeface="Helvetica"/>
                <a:cs typeface="Helvetica"/>
              </a:rPr>
              <a:t>the background or </a:t>
            </a:r>
            <a:r>
              <a:rPr lang="en-US" sz="800" spc="-8" dirty="0">
                <a:latin typeface="Helvetica"/>
                <a:cs typeface="Helvetica"/>
              </a:rPr>
              <a:t>Quiet </a:t>
            </a:r>
            <a:r>
              <a:rPr lang="en-US" sz="800" dirty="0">
                <a:latin typeface="Helvetica"/>
                <a:cs typeface="Helvetica"/>
              </a:rPr>
              <a:t>environment, which is </a:t>
            </a:r>
            <a:r>
              <a:rPr lang="en-US" sz="800" spc="-8" dirty="0">
                <a:latin typeface="Helvetica"/>
                <a:cs typeface="Helvetica"/>
              </a:rPr>
              <a:t>composed </a:t>
            </a:r>
            <a:r>
              <a:rPr lang="en-US" sz="800" dirty="0">
                <a:latin typeface="Helvetica"/>
                <a:cs typeface="Helvetica"/>
              </a:rPr>
              <a:t>of Galactic Cosmic Rays </a:t>
            </a:r>
            <a:r>
              <a:rPr lang="en-US" sz="800" spc="-19" dirty="0">
                <a:latin typeface="Helvetica"/>
                <a:cs typeface="Helvetica"/>
              </a:rPr>
              <a:t>and </a:t>
            </a:r>
            <a:r>
              <a:rPr lang="en-US" sz="800" dirty="0">
                <a:latin typeface="Helvetica"/>
                <a:cs typeface="Helvetica"/>
              </a:rPr>
              <a:t>solar wind. You can see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dirty="0">
                <a:latin typeface="Helvetica"/>
                <a:cs typeface="Helvetica"/>
              </a:rPr>
              <a:t>increase in GCR influence in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dirty="0">
                <a:latin typeface="Helvetica"/>
                <a:cs typeface="Helvetica"/>
              </a:rPr>
              <a:t>environment during </a:t>
            </a:r>
            <a:r>
              <a:rPr lang="en-US" sz="800" spc="-8" dirty="0">
                <a:latin typeface="Helvetica"/>
                <a:cs typeface="Helvetica"/>
              </a:rPr>
              <a:t>Solar </a:t>
            </a:r>
            <a:r>
              <a:rPr lang="en-US" sz="800" dirty="0">
                <a:latin typeface="Helvetica"/>
                <a:cs typeface="Helvetica"/>
              </a:rPr>
              <a:t>Minimum and decrease </a:t>
            </a:r>
            <a:r>
              <a:rPr lang="en-US" sz="800" spc="-8" dirty="0">
                <a:latin typeface="Helvetica"/>
                <a:cs typeface="Helvetica"/>
              </a:rPr>
              <a:t>during </a:t>
            </a:r>
            <a:r>
              <a:rPr lang="en-US" sz="800" dirty="0">
                <a:latin typeface="Helvetica"/>
                <a:cs typeface="Helvetica"/>
              </a:rPr>
              <a:t>Solar Maximum. </a:t>
            </a:r>
            <a:r>
              <a:rPr lang="en-US" sz="800" spc="-15" dirty="0">
                <a:latin typeface="Helvetica"/>
                <a:cs typeface="Helvetica"/>
              </a:rPr>
              <a:t>Next</a:t>
            </a:r>
            <a:endParaRPr lang="en-US" sz="800" dirty="0">
              <a:latin typeface="Helvetica"/>
              <a:cs typeface="Helvetic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4722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050">
              <a:spcBef>
                <a:spcPts val="300"/>
              </a:spcBef>
            </a:pPr>
            <a:r>
              <a:rPr lang="en-US" sz="800" b="1" i="1" dirty="0">
                <a:latin typeface="Helvetica"/>
                <a:cs typeface="Helvetica"/>
              </a:rPr>
              <a:t>Presenter</a:t>
            </a:r>
            <a:r>
              <a:rPr lang="en-US" sz="800" b="1" i="1" spc="-30" dirty="0">
                <a:latin typeface="Helvetica"/>
                <a:cs typeface="Helvetica"/>
              </a:rPr>
              <a:t> </a:t>
            </a:r>
            <a:r>
              <a:rPr lang="en-US" sz="800" b="1" i="1" spc="-8" dirty="0">
                <a:latin typeface="Helvetica"/>
                <a:cs typeface="Helvetica"/>
              </a:rPr>
              <a:t>Notes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i="1" spc="-8" dirty="0">
                <a:latin typeface="Helvetica"/>
                <a:cs typeface="Helvetica"/>
              </a:rPr>
              <a:t>2025-06-</a:t>
            </a:r>
            <a:r>
              <a:rPr lang="en-US" sz="800" i="1" dirty="0">
                <a:latin typeface="Helvetica"/>
                <a:cs typeface="Helvetica"/>
              </a:rPr>
              <a:t>03</a:t>
            </a:r>
            <a:r>
              <a:rPr lang="en-US" sz="800" i="1" spc="26" dirty="0">
                <a:latin typeface="Helvetica"/>
                <a:cs typeface="Helvetica"/>
              </a:rPr>
              <a:t> </a:t>
            </a:r>
            <a:r>
              <a:rPr lang="en-US" sz="800" i="1" spc="-8" dirty="0">
                <a:latin typeface="Helvetica"/>
                <a:cs typeface="Helvetica"/>
              </a:rPr>
              <a:t>15:00:12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spc="-8" dirty="0">
                <a:latin typeface="Helvetica"/>
                <a:cs typeface="Helvetica"/>
              </a:rPr>
              <a:t>-------------------------------------------</a:t>
            </a:r>
            <a:r>
              <a:rPr lang="en-US" sz="800" spc="-38" dirty="0">
                <a:latin typeface="Helvetica"/>
                <a:cs typeface="Helvetica"/>
              </a:rPr>
              <a:t>-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I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previously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stated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that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space </a:t>
            </a:r>
            <a:r>
              <a:rPr lang="en-US" sz="800" dirty="0">
                <a:latin typeface="Helvetica"/>
                <a:cs typeface="Helvetica"/>
              </a:rPr>
              <a:t>environment’s</a:t>
            </a:r>
            <a:r>
              <a:rPr lang="en-US" sz="800" spc="38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dynamic</a:t>
            </a:r>
            <a:r>
              <a:rPr lang="en-US" sz="800" spc="38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behavior </a:t>
            </a:r>
            <a:r>
              <a:rPr lang="en-US" sz="800" dirty="0">
                <a:latin typeface="Helvetica"/>
                <a:cs typeface="Helvetica"/>
              </a:rPr>
              <a:t>is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one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of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primary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reasons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that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design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margin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is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38" dirty="0">
                <a:latin typeface="Helvetica"/>
                <a:cs typeface="Helvetica"/>
              </a:rPr>
              <a:t>a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necessity.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most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common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approach </a:t>
            </a:r>
            <a:r>
              <a:rPr lang="en-US" sz="800" dirty="0">
                <a:latin typeface="Helvetica"/>
                <a:cs typeface="Helvetica"/>
              </a:rPr>
              <a:t>when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thinking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about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margin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is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to </a:t>
            </a:r>
            <a:r>
              <a:rPr lang="en-US" sz="800" dirty="0">
                <a:latin typeface="Helvetica"/>
                <a:cs typeface="Helvetica"/>
              </a:rPr>
              <a:t>design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to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well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known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large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or </a:t>
            </a:r>
            <a:r>
              <a:rPr lang="en-US" sz="800" dirty="0">
                <a:latin typeface="Helvetica"/>
                <a:cs typeface="Helvetica"/>
              </a:rPr>
              <a:t>Worst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Case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event.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graph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on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right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shows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several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events </a:t>
            </a:r>
            <a:r>
              <a:rPr lang="en-US" sz="800" dirty="0">
                <a:latin typeface="Helvetica"/>
                <a:cs typeface="Helvetica"/>
              </a:rPr>
              <a:t>that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are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most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often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considered. </a:t>
            </a:r>
            <a:r>
              <a:rPr lang="en-US" sz="800" dirty="0">
                <a:latin typeface="Helvetica"/>
                <a:cs typeface="Helvetica"/>
              </a:rPr>
              <a:t>Out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of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this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list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October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15" dirty="0">
                <a:latin typeface="Helvetica"/>
                <a:cs typeface="Helvetica"/>
              </a:rPr>
              <a:t>2003 </a:t>
            </a:r>
            <a:r>
              <a:rPr lang="en-US" sz="800" dirty="0">
                <a:latin typeface="Helvetica"/>
                <a:cs typeface="Helvetica"/>
              </a:rPr>
              <a:t>event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is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particularly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interesting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as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it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is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“most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modern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space </a:t>
            </a:r>
            <a:r>
              <a:rPr lang="en-US" sz="800" dirty="0">
                <a:latin typeface="Helvetica"/>
                <a:cs typeface="Helvetica"/>
              </a:rPr>
              <a:t>age”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event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on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this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list,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meaning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most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satellites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in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orbit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15" dirty="0">
                <a:latin typeface="Helvetica"/>
                <a:cs typeface="Helvetica"/>
              </a:rPr>
              <a:t>with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most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advanced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technology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to </a:t>
            </a:r>
            <a:r>
              <a:rPr lang="en-US" sz="800" dirty="0">
                <a:latin typeface="Helvetica"/>
                <a:cs typeface="Helvetica"/>
              </a:rPr>
              <a:t>date,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hence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comparatively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lots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of </a:t>
            </a:r>
            <a:r>
              <a:rPr lang="en-US" sz="800" dirty="0">
                <a:latin typeface="Helvetica"/>
                <a:cs typeface="Helvetica"/>
              </a:rPr>
              <a:t>anomalies.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You’ll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note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I’ve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15" dirty="0">
                <a:latin typeface="Helvetica"/>
                <a:cs typeface="Helvetica"/>
              </a:rPr>
              <a:t>also </a:t>
            </a:r>
            <a:r>
              <a:rPr lang="en-US" sz="800" dirty="0">
                <a:latin typeface="Helvetica"/>
                <a:cs typeface="Helvetica"/>
              </a:rPr>
              <a:t>listed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Carrington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Event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of </a:t>
            </a:r>
            <a:r>
              <a:rPr lang="en-US" sz="800" dirty="0">
                <a:latin typeface="Helvetica"/>
                <a:cs typeface="Helvetica"/>
              </a:rPr>
              <a:t>1859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on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this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list.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Click.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However, </a:t>
            </a:r>
            <a:r>
              <a:rPr lang="en-US" sz="800" dirty="0">
                <a:latin typeface="Helvetica"/>
                <a:cs typeface="Helvetica"/>
              </a:rPr>
              <a:t>it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is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not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used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when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determining </a:t>
            </a:r>
            <a:r>
              <a:rPr lang="en-US" sz="800" dirty="0">
                <a:latin typeface="Helvetica"/>
                <a:cs typeface="Helvetica"/>
              </a:rPr>
              <a:t>design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margin.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I’ve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listed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it </a:t>
            </a:r>
            <a:r>
              <a:rPr lang="en-US" sz="800" dirty="0">
                <a:latin typeface="Helvetica"/>
                <a:cs typeface="Helvetica"/>
              </a:rPr>
              <a:t>because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it’s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fascinating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to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as </a:t>
            </a:r>
            <a:r>
              <a:rPr lang="en-US" sz="800" dirty="0">
                <a:latin typeface="Helvetica"/>
                <a:cs typeface="Helvetica"/>
              </a:rPr>
              <a:t>one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of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first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recorded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examples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of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solar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storm </a:t>
            </a:r>
            <a:r>
              <a:rPr lang="en-US" sz="800" dirty="0">
                <a:latin typeface="Helvetica"/>
                <a:cs typeface="Helvetica"/>
              </a:rPr>
              <a:t>impacting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earth.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You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should </a:t>
            </a:r>
            <a:r>
              <a:rPr lang="en-US" sz="800" dirty="0">
                <a:latin typeface="Helvetica"/>
                <a:cs typeface="Helvetica"/>
              </a:rPr>
              <a:t>google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it.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Finally,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for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far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more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detail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on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best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practices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for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generating </a:t>
            </a:r>
            <a:r>
              <a:rPr lang="en-US" sz="800" dirty="0">
                <a:latin typeface="Helvetica"/>
                <a:cs typeface="Helvetica"/>
              </a:rPr>
              <a:t>space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environment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specifications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I’d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recommend </a:t>
            </a:r>
            <a:r>
              <a:rPr lang="en-US" sz="800" dirty="0">
                <a:latin typeface="Helvetica"/>
                <a:cs typeface="Helvetica"/>
              </a:rPr>
              <a:t>referring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to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Aerospace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TOR </a:t>
            </a:r>
            <a:r>
              <a:rPr lang="en-US" sz="800" dirty="0">
                <a:latin typeface="Helvetica"/>
                <a:cs typeface="Helvetica"/>
              </a:rPr>
              <a:t>“Best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Practices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for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Generating </a:t>
            </a:r>
            <a:r>
              <a:rPr lang="en-US" sz="800" dirty="0">
                <a:latin typeface="Helvetica"/>
                <a:cs typeface="Helvetica"/>
              </a:rPr>
              <a:t>Space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Environment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Specifications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with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Modern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Tools”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15" dirty="0">
                <a:latin typeface="Helvetica"/>
                <a:cs typeface="Helvetica"/>
              </a:rPr>
              <a:t>Next</a:t>
            </a:r>
            <a:endParaRPr lang="en-US" sz="800" dirty="0">
              <a:latin typeface="Helvetica"/>
              <a:cs typeface="Helvetica"/>
            </a:endParaRPr>
          </a:p>
          <a:p>
            <a:pPr marL="19050"/>
            <a:r>
              <a:rPr lang="en-US" sz="800" spc="-38" dirty="0">
                <a:latin typeface="Helvetica"/>
                <a:cs typeface="Helvetica"/>
              </a:rPr>
              <a:t> 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Design margins are tied less </a:t>
            </a:r>
            <a:r>
              <a:rPr lang="en-US" sz="800" spc="-19" dirty="0">
                <a:latin typeface="Helvetica"/>
                <a:cs typeface="Helvetica"/>
              </a:rPr>
              <a:t>to </a:t>
            </a:r>
            <a:r>
              <a:rPr lang="en-US" sz="800" dirty="0">
                <a:latin typeface="Helvetica"/>
                <a:cs typeface="Helvetica"/>
              </a:rPr>
              <a:t>environment than </a:t>
            </a:r>
            <a:r>
              <a:rPr lang="en-US" sz="800" spc="-8" dirty="0">
                <a:latin typeface="Helvetica"/>
                <a:cs typeface="Helvetica"/>
              </a:rPr>
              <a:t>mission </a:t>
            </a:r>
            <a:r>
              <a:rPr lang="en-US" sz="800" dirty="0">
                <a:latin typeface="Helvetica"/>
                <a:cs typeface="Helvetica"/>
              </a:rPr>
              <a:t>classification (more to </a:t>
            </a:r>
            <a:r>
              <a:rPr lang="en-US" sz="800" spc="-8" dirty="0">
                <a:latin typeface="Helvetica"/>
                <a:cs typeface="Helvetica"/>
              </a:rPr>
              <a:t>come)</a:t>
            </a:r>
            <a:endParaRPr lang="en-US" sz="800" dirty="0">
              <a:latin typeface="Helvetica"/>
              <a:cs typeface="Helvetica"/>
            </a:endParaRPr>
          </a:p>
          <a:p>
            <a:pPr marL="19050" marR="13335">
              <a:lnSpc>
                <a:spcPts val="1500"/>
              </a:lnSpc>
            </a:pPr>
            <a:r>
              <a:rPr lang="en-US" sz="800" dirty="0">
                <a:latin typeface="Helvetica"/>
                <a:cs typeface="Helvetica"/>
              </a:rPr>
              <a:t>Design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margin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=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Confidence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level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around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environment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(I’m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95%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confident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won’t </a:t>
            </a:r>
            <a:r>
              <a:rPr lang="en-US" sz="800" dirty="0">
                <a:latin typeface="Helvetica"/>
                <a:cs typeface="Helvetica"/>
              </a:rPr>
              <a:t>exceed)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+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margin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on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dirty="0">
                <a:latin typeface="Helvetica"/>
                <a:cs typeface="Helvetica"/>
              </a:rPr>
              <a:t>technology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using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-</a:t>
            </a:r>
            <a:r>
              <a:rPr lang="en-US" sz="800" spc="-38" dirty="0">
                <a:latin typeface="Helvetica"/>
                <a:cs typeface="Helvetica"/>
              </a:rPr>
              <a:t>&gt; </a:t>
            </a:r>
            <a:endParaRPr lang="en-US" sz="800" dirty="0">
              <a:latin typeface="Helvetica"/>
              <a:cs typeface="Helvetic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177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050">
              <a:spcBef>
                <a:spcPts val="300"/>
              </a:spcBef>
            </a:pPr>
            <a:r>
              <a:rPr lang="en-US" sz="800" b="1" i="1" dirty="0">
                <a:latin typeface="Helvetica"/>
                <a:cs typeface="Helvetica"/>
              </a:rPr>
              <a:t>Presenter</a:t>
            </a:r>
            <a:r>
              <a:rPr lang="en-US" sz="800" b="1" i="1" spc="-30" dirty="0">
                <a:latin typeface="Helvetica"/>
                <a:cs typeface="Helvetica"/>
              </a:rPr>
              <a:t> </a:t>
            </a:r>
            <a:r>
              <a:rPr lang="en-US" sz="800" b="1" i="1" spc="-8" dirty="0">
                <a:latin typeface="Helvetica"/>
                <a:cs typeface="Helvetica"/>
              </a:rPr>
              <a:t>Notes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i="1" spc="-8" dirty="0">
                <a:latin typeface="Helvetica"/>
                <a:cs typeface="Helvetica"/>
              </a:rPr>
              <a:t>2025-06-</a:t>
            </a:r>
            <a:r>
              <a:rPr lang="en-US" sz="800" i="1" dirty="0">
                <a:latin typeface="Helvetica"/>
                <a:cs typeface="Helvetica"/>
              </a:rPr>
              <a:t>03</a:t>
            </a:r>
            <a:r>
              <a:rPr lang="en-US" sz="800" i="1" spc="26" dirty="0">
                <a:latin typeface="Helvetica"/>
                <a:cs typeface="Helvetica"/>
              </a:rPr>
              <a:t> </a:t>
            </a:r>
            <a:r>
              <a:rPr lang="en-US" sz="800" i="1" spc="-8" dirty="0">
                <a:latin typeface="Helvetica"/>
                <a:cs typeface="Helvetica"/>
              </a:rPr>
              <a:t>15:00:12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spc="-8" dirty="0">
                <a:latin typeface="Helvetica"/>
                <a:cs typeface="Helvetica"/>
              </a:rPr>
              <a:t>-------------------------------------------</a:t>
            </a:r>
            <a:r>
              <a:rPr lang="en-US" sz="800" spc="-38" dirty="0">
                <a:latin typeface="Helvetica"/>
                <a:cs typeface="Helvetica"/>
              </a:rPr>
              <a:t>-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The most common model </a:t>
            </a:r>
            <a:r>
              <a:rPr lang="en-US" sz="800" spc="-15" dirty="0">
                <a:latin typeface="Helvetica"/>
                <a:cs typeface="Helvetica"/>
              </a:rPr>
              <a:t>used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to model solar particle events </a:t>
            </a:r>
            <a:r>
              <a:rPr lang="en-US" sz="800" spc="-19" dirty="0">
                <a:latin typeface="Helvetica"/>
                <a:cs typeface="Helvetica"/>
              </a:rPr>
              <a:t>is </a:t>
            </a:r>
            <a:r>
              <a:rPr lang="en-US" sz="800" dirty="0">
                <a:latin typeface="Helvetica"/>
                <a:cs typeface="Helvetica"/>
              </a:rPr>
              <a:t>called </a:t>
            </a:r>
            <a:r>
              <a:rPr lang="en-US" sz="800" spc="-8" dirty="0">
                <a:latin typeface="Helvetica"/>
                <a:cs typeface="Helvetica"/>
              </a:rPr>
              <a:t>CREME96.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This model is based on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dirty="0">
                <a:latin typeface="Helvetica"/>
                <a:cs typeface="Helvetica"/>
              </a:rPr>
              <a:t>October 1989 event and </a:t>
            </a:r>
            <a:r>
              <a:rPr lang="en-US" sz="800" spc="-8" dirty="0">
                <a:latin typeface="Helvetica"/>
                <a:cs typeface="Helvetica"/>
              </a:rPr>
              <a:t>helps </a:t>
            </a:r>
            <a:r>
              <a:rPr lang="en-US" sz="800" dirty="0">
                <a:latin typeface="Helvetica"/>
                <a:cs typeface="Helvetica"/>
              </a:rPr>
              <a:t>determine various worst </a:t>
            </a:r>
            <a:r>
              <a:rPr lang="en-US" sz="800" spc="-8" dirty="0">
                <a:latin typeface="Helvetica"/>
                <a:cs typeface="Helvetica"/>
              </a:rPr>
              <a:t>cases </a:t>
            </a:r>
            <a:r>
              <a:rPr lang="en-US" sz="800" dirty="0">
                <a:latin typeface="Helvetica"/>
                <a:cs typeface="Helvetica"/>
              </a:rPr>
              <a:t>(peak 5 minutes, worst </a:t>
            </a:r>
            <a:r>
              <a:rPr lang="en-US" sz="800" spc="-15" dirty="0">
                <a:latin typeface="Helvetica"/>
                <a:cs typeface="Helvetica"/>
              </a:rPr>
              <a:t>day,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worst week, </a:t>
            </a:r>
            <a:r>
              <a:rPr lang="en-US" sz="800" spc="-8" dirty="0" err="1">
                <a:latin typeface="Helvetica"/>
                <a:cs typeface="Helvetica"/>
              </a:rPr>
              <a:t>etc</a:t>
            </a:r>
            <a:r>
              <a:rPr lang="en-US" sz="800" spc="-8" dirty="0">
                <a:latin typeface="Helvetica"/>
                <a:cs typeface="Helvetica"/>
              </a:rPr>
              <a:t>).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I’m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not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going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to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go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very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deep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on </a:t>
            </a:r>
            <a:r>
              <a:rPr lang="en-US" sz="800" dirty="0">
                <a:latin typeface="Helvetica"/>
                <a:cs typeface="Helvetica"/>
              </a:rPr>
              <a:t>this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subject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but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did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want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to</a:t>
            </a:r>
            <a:r>
              <a:rPr lang="en-US" sz="800" dirty="0">
                <a:latin typeface="Helvetica"/>
                <a:cs typeface="Helvetica"/>
              </a:rPr>
              <a:t> make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mention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of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this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as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dirty="0">
                <a:latin typeface="Helvetica"/>
                <a:cs typeface="Helvetica"/>
              </a:rPr>
              <a:t>CREME96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model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is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what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you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15" dirty="0">
                <a:latin typeface="Helvetica"/>
                <a:cs typeface="Helvetica"/>
              </a:rPr>
              <a:t>will </a:t>
            </a:r>
            <a:r>
              <a:rPr lang="en-US" sz="800" dirty="0">
                <a:latin typeface="Helvetica"/>
                <a:cs typeface="Helvetica"/>
              </a:rPr>
              <a:t>be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using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in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SPENVIS </a:t>
            </a:r>
            <a:r>
              <a:rPr lang="en-US" sz="800" dirty="0">
                <a:latin typeface="Helvetica"/>
                <a:cs typeface="Helvetica"/>
              </a:rPr>
              <a:t>activities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that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follow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15" dirty="0">
                <a:latin typeface="Helvetica"/>
                <a:cs typeface="Helvetica"/>
              </a:rPr>
              <a:t>this </a:t>
            </a:r>
            <a:r>
              <a:rPr lang="en-US" sz="800" dirty="0">
                <a:latin typeface="Helvetica"/>
                <a:cs typeface="Helvetica"/>
              </a:rPr>
              <a:t>presentation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today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and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later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in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week.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15" dirty="0">
                <a:latin typeface="Helvetica"/>
                <a:cs typeface="Helvetica"/>
              </a:rPr>
              <a:t>Next</a:t>
            </a:r>
            <a:endParaRPr lang="en-US" sz="800" dirty="0">
              <a:latin typeface="Helvetica"/>
              <a:cs typeface="Helvetic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8443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2787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050">
              <a:spcBef>
                <a:spcPts val="300"/>
              </a:spcBef>
            </a:pPr>
            <a:r>
              <a:rPr lang="en-US" sz="800" b="1" i="1" dirty="0">
                <a:latin typeface="Helvetica"/>
                <a:cs typeface="Helvetica"/>
              </a:rPr>
              <a:t>Presenter</a:t>
            </a:r>
            <a:r>
              <a:rPr lang="en-US" sz="800" b="1" i="1" spc="-30" dirty="0">
                <a:latin typeface="Helvetica"/>
                <a:cs typeface="Helvetica"/>
              </a:rPr>
              <a:t> </a:t>
            </a:r>
            <a:r>
              <a:rPr lang="en-US" sz="800" b="1" i="1" spc="-8" dirty="0">
                <a:latin typeface="Helvetica"/>
                <a:cs typeface="Helvetica"/>
              </a:rPr>
              <a:t>Notes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i="1" spc="-8" dirty="0">
                <a:latin typeface="Helvetica"/>
                <a:cs typeface="Helvetica"/>
              </a:rPr>
              <a:t>2025-06-</a:t>
            </a:r>
            <a:r>
              <a:rPr lang="en-US" sz="800" i="1" dirty="0">
                <a:latin typeface="Helvetica"/>
                <a:cs typeface="Helvetica"/>
              </a:rPr>
              <a:t>03</a:t>
            </a:r>
            <a:r>
              <a:rPr lang="en-US" sz="800" i="1" spc="26" dirty="0">
                <a:latin typeface="Helvetica"/>
                <a:cs typeface="Helvetica"/>
              </a:rPr>
              <a:t> </a:t>
            </a:r>
            <a:r>
              <a:rPr lang="en-US" sz="800" i="1" spc="-8" dirty="0">
                <a:latin typeface="Helvetica"/>
                <a:cs typeface="Helvetica"/>
              </a:rPr>
              <a:t>15:00:14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spc="-8" dirty="0">
                <a:latin typeface="Helvetica"/>
                <a:cs typeface="Helvetica"/>
              </a:rPr>
              <a:t>-------------------------------------------</a:t>
            </a:r>
            <a:r>
              <a:rPr lang="en-US" sz="800" spc="-38" dirty="0">
                <a:latin typeface="Helvetica"/>
                <a:cs typeface="Helvetica"/>
              </a:rPr>
              <a:t>-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Once more, galactic cosmic </a:t>
            </a:r>
            <a:r>
              <a:rPr lang="en-US" sz="800" spc="-15" dirty="0">
                <a:latin typeface="Helvetica"/>
                <a:cs typeface="Helvetica"/>
              </a:rPr>
              <a:t>rays </a:t>
            </a:r>
            <a:r>
              <a:rPr lang="en-US" sz="800" dirty="0">
                <a:latin typeface="Helvetica"/>
                <a:cs typeface="Helvetica"/>
              </a:rPr>
              <a:t>are ions that originate outside </a:t>
            </a:r>
            <a:r>
              <a:rPr lang="en-US" sz="800" spc="-19" dirty="0">
                <a:latin typeface="Helvetica"/>
                <a:cs typeface="Helvetica"/>
              </a:rPr>
              <a:t>of </a:t>
            </a:r>
            <a:r>
              <a:rPr lang="en-US" sz="800" dirty="0">
                <a:latin typeface="Helvetica"/>
                <a:cs typeface="Helvetica"/>
              </a:rPr>
              <a:t>our solar </a:t>
            </a:r>
            <a:r>
              <a:rPr lang="en-US" sz="800" spc="-8" dirty="0">
                <a:latin typeface="Helvetica"/>
                <a:cs typeface="Helvetica"/>
              </a:rPr>
              <a:t>system.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Galactic Cosmic Rays </a:t>
            </a:r>
            <a:r>
              <a:rPr lang="en-US" sz="800" spc="-19" dirty="0">
                <a:latin typeface="Helvetica"/>
                <a:cs typeface="Helvetica"/>
              </a:rPr>
              <a:t>are </a:t>
            </a:r>
            <a:r>
              <a:rPr lang="en-US" sz="800" dirty="0">
                <a:latin typeface="Helvetica"/>
                <a:cs typeface="Helvetica"/>
              </a:rPr>
              <a:t>primarily comprised of </a:t>
            </a:r>
            <a:r>
              <a:rPr lang="en-US" sz="800" spc="-8" dirty="0">
                <a:latin typeface="Helvetica"/>
                <a:cs typeface="Helvetica"/>
              </a:rPr>
              <a:t>lighter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ions such as protons </a:t>
            </a:r>
            <a:r>
              <a:rPr lang="en-US" sz="800" spc="-8" dirty="0">
                <a:latin typeface="Helvetica"/>
                <a:cs typeface="Helvetica"/>
              </a:rPr>
              <a:t>(hydrogen) </a:t>
            </a:r>
            <a:r>
              <a:rPr lang="en-US" sz="800" dirty="0">
                <a:latin typeface="Helvetica"/>
                <a:cs typeface="Helvetica"/>
              </a:rPr>
              <a:t>with only 1% being made up </a:t>
            </a:r>
            <a:r>
              <a:rPr lang="en-US" sz="800" spc="-19" dirty="0">
                <a:latin typeface="Helvetica"/>
                <a:cs typeface="Helvetica"/>
              </a:rPr>
              <a:t>of </a:t>
            </a:r>
            <a:r>
              <a:rPr lang="en-US" sz="800" dirty="0">
                <a:latin typeface="Helvetica"/>
                <a:cs typeface="Helvetica"/>
              </a:rPr>
              <a:t>heavier </a:t>
            </a:r>
            <a:r>
              <a:rPr lang="en-US" sz="800" spc="-8" dirty="0">
                <a:latin typeface="Helvetica"/>
                <a:cs typeface="Helvetica"/>
              </a:rPr>
              <a:t>elements.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Earlier I noted that </a:t>
            </a:r>
            <a:r>
              <a:rPr lang="en-US" sz="800" spc="-15" dirty="0">
                <a:latin typeface="Helvetica"/>
                <a:cs typeface="Helvetica"/>
              </a:rPr>
              <a:t>GCRs </a:t>
            </a:r>
            <a:r>
              <a:rPr lang="en-US" sz="800" dirty="0">
                <a:latin typeface="Helvetica"/>
                <a:cs typeface="Helvetica"/>
              </a:rPr>
              <a:t>originate from exploding </a:t>
            </a:r>
            <a:r>
              <a:rPr lang="en-US" sz="800" spc="-8" dirty="0">
                <a:latin typeface="Helvetica"/>
                <a:cs typeface="Helvetica"/>
              </a:rPr>
              <a:t>stars, </a:t>
            </a:r>
            <a:r>
              <a:rPr lang="en-US" sz="800" dirty="0">
                <a:latin typeface="Helvetica"/>
                <a:cs typeface="Helvetica"/>
              </a:rPr>
              <a:t>called supernova. I called </a:t>
            </a:r>
            <a:r>
              <a:rPr lang="en-US" sz="800" spc="-8" dirty="0">
                <a:latin typeface="Helvetica"/>
                <a:cs typeface="Helvetica"/>
              </a:rPr>
              <a:t>these </a:t>
            </a:r>
            <a:r>
              <a:rPr lang="en-US" sz="800" dirty="0">
                <a:latin typeface="Helvetica"/>
                <a:cs typeface="Helvetica"/>
              </a:rPr>
              <a:t>out because they are the </a:t>
            </a:r>
            <a:r>
              <a:rPr lang="en-US" sz="800" spc="-15" dirty="0">
                <a:latin typeface="Helvetica"/>
                <a:cs typeface="Helvetica"/>
              </a:rPr>
              <a:t>most </a:t>
            </a:r>
            <a:r>
              <a:rPr lang="en-US" sz="800" dirty="0">
                <a:latin typeface="Helvetica"/>
                <a:cs typeface="Helvetica"/>
              </a:rPr>
              <a:t>significant contributor to </a:t>
            </a:r>
            <a:r>
              <a:rPr lang="en-US" sz="800" spc="-8" dirty="0">
                <a:latin typeface="Helvetica"/>
                <a:cs typeface="Helvetica"/>
              </a:rPr>
              <a:t>effects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on electronics. But as you </a:t>
            </a:r>
            <a:r>
              <a:rPr lang="en-US" sz="800" spc="-19" dirty="0">
                <a:latin typeface="Helvetica"/>
                <a:cs typeface="Helvetica"/>
              </a:rPr>
              <a:t>can </a:t>
            </a:r>
            <a:r>
              <a:rPr lang="en-US" sz="800" dirty="0">
                <a:latin typeface="Helvetica"/>
                <a:cs typeface="Helvetica"/>
              </a:rPr>
              <a:t>see on the graph, there </a:t>
            </a:r>
            <a:r>
              <a:rPr lang="en-US" sz="800" spc="-19" dirty="0">
                <a:latin typeface="Helvetica"/>
                <a:cs typeface="Helvetica"/>
              </a:rPr>
              <a:t>are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GCRs that also originate </a:t>
            </a:r>
            <a:r>
              <a:rPr lang="en-US" sz="800" spc="-15" dirty="0">
                <a:latin typeface="Helvetica"/>
                <a:cs typeface="Helvetica"/>
              </a:rPr>
              <a:t>from </a:t>
            </a:r>
            <a:r>
              <a:rPr lang="en-US" sz="800" dirty="0">
                <a:latin typeface="Helvetica"/>
                <a:cs typeface="Helvetica"/>
              </a:rPr>
              <a:t>other start types called n-star </a:t>
            </a:r>
            <a:r>
              <a:rPr lang="en-US" sz="800" spc="-19" dirty="0">
                <a:latin typeface="Helvetica"/>
                <a:cs typeface="Helvetica"/>
              </a:rPr>
              <a:t>as </a:t>
            </a:r>
            <a:r>
              <a:rPr lang="en-US" sz="800" dirty="0">
                <a:latin typeface="Helvetica"/>
                <a:cs typeface="Helvetica"/>
              </a:rPr>
              <a:t>well as some origins </a:t>
            </a:r>
            <a:r>
              <a:rPr lang="en-US" sz="800" spc="-8" dirty="0">
                <a:latin typeface="Helvetica"/>
                <a:cs typeface="Helvetica"/>
              </a:rPr>
              <a:t>being unknown.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On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graph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you’ll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notice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15" dirty="0">
                <a:latin typeface="Helvetica"/>
                <a:cs typeface="Helvetica"/>
              </a:rPr>
              <a:t>that </a:t>
            </a:r>
            <a:r>
              <a:rPr lang="en-US" sz="800" dirty="0">
                <a:latin typeface="Helvetica"/>
                <a:cs typeface="Helvetica"/>
              </a:rPr>
              <a:t>I’ve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added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to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Ground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Simulators </a:t>
            </a:r>
            <a:r>
              <a:rPr lang="en-US" sz="800" dirty="0">
                <a:latin typeface="Helvetica"/>
                <a:cs typeface="Helvetica"/>
              </a:rPr>
              <a:t>of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radiation,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NASA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Space </a:t>
            </a:r>
            <a:r>
              <a:rPr lang="en-US" sz="800" dirty="0">
                <a:latin typeface="Helvetica"/>
                <a:cs typeface="Helvetica"/>
              </a:rPr>
              <a:t>Radiation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Lab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and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CERN.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38" dirty="0">
                <a:latin typeface="Helvetica"/>
                <a:cs typeface="Helvetica"/>
              </a:rPr>
              <a:t>I </a:t>
            </a:r>
            <a:r>
              <a:rPr lang="en-US" sz="800" dirty="0">
                <a:latin typeface="Helvetica"/>
                <a:cs typeface="Helvetica"/>
              </a:rPr>
              <a:t>wanted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to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give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some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context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to </a:t>
            </a:r>
            <a:r>
              <a:rPr lang="en-US" sz="800" dirty="0">
                <a:latin typeface="Helvetica"/>
                <a:cs typeface="Helvetica"/>
              </a:rPr>
              <a:t>energy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levels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produced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by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15" dirty="0">
                <a:latin typeface="Helvetica"/>
                <a:cs typeface="Helvetica"/>
              </a:rPr>
              <a:t>GCRs </a:t>
            </a:r>
            <a:r>
              <a:rPr lang="en-US" sz="800" dirty="0">
                <a:latin typeface="Helvetica"/>
                <a:cs typeface="Helvetica"/>
              </a:rPr>
              <a:t>in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comparison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to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what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these </a:t>
            </a:r>
            <a:r>
              <a:rPr lang="en-US" sz="800" dirty="0">
                <a:latin typeface="Helvetica"/>
                <a:cs typeface="Helvetica"/>
              </a:rPr>
              <a:t>facilities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can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produce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on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Earth.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NASA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Space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Radiation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Lab </a:t>
            </a:r>
            <a:r>
              <a:rPr lang="en-US" sz="800" dirty="0">
                <a:latin typeface="Helvetica"/>
                <a:cs typeface="Helvetica"/>
              </a:rPr>
              <a:t>was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designed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and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built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to </a:t>
            </a:r>
            <a:r>
              <a:rPr lang="en-US" sz="800" dirty="0">
                <a:latin typeface="Helvetica"/>
                <a:cs typeface="Helvetica"/>
              </a:rPr>
              <a:t>simulate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GCR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spectrum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and </a:t>
            </a:r>
            <a:r>
              <a:rPr lang="en-US" sz="800" dirty="0">
                <a:latin typeface="Helvetica"/>
                <a:cs typeface="Helvetica"/>
              </a:rPr>
              <a:t>is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highest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energy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radiation </a:t>
            </a:r>
            <a:r>
              <a:rPr lang="en-US" sz="800" dirty="0">
                <a:latin typeface="Helvetica"/>
                <a:cs typeface="Helvetica"/>
              </a:rPr>
              <a:t>facility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in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country…Dr. </a:t>
            </a:r>
            <a:r>
              <a:rPr lang="en-US" sz="800" dirty="0">
                <a:latin typeface="Helvetica"/>
                <a:cs typeface="Helvetica"/>
              </a:rPr>
              <a:t>Loveless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will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talk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more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on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15" dirty="0">
                <a:latin typeface="Helvetica"/>
                <a:cs typeface="Helvetica"/>
              </a:rPr>
              <a:t>this </a:t>
            </a:r>
            <a:r>
              <a:rPr lang="en-US" sz="800" dirty="0">
                <a:latin typeface="Helvetica"/>
                <a:cs typeface="Helvetica"/>
              </a:rPr>
              <a:t>subject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on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his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facility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basics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brief.</a:t>
            </a:r>
            <a:r>
              <a:rPr lang="en-US" sz="800" spc="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Next</a:t>
            </a:r>
            <a:r>
              <a:rPr lang="en-US" sz="800" spc="8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Flux</a:t>
            </a:r>
            <a:r>
              <a:rPr lang="en-US" sz="800" spc="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is</a:t>
            </a:r>
            <a:r>
              <a:rPr lang="en-US" sz="800" spc="8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plotted</a:t>
            </a:r>
            <a:r>
              <a:rPr lang="en-US" sz="800" spc="8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on</a:t>
            </a:r>
            <a:r>
              <a:rPr lang="en-US" sz="800" spc="4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dirty="0">
                <a:latin typeface="Helvetica"/>
                <a:cs typeface="Helvetica"/>
              </a:rPr>
              <a:t>y-axis (which is the rate of </a:t>
            </a:r>
            <a:r>
              <a:rPr lang="en-US" sz="800" spc="-15" dirty="0">
                <a:latin typeface="Helvetica"/>
                <a:cs typeface="Helvetica"/>
              </a:rPr>
              <a:t>beam </a:t>
            </a:r>
            <a:r>
              <a:rPr lang="en-US" sz="800" dirty="0">
                <a:latin typeface="Helvetica"/>
                <a:cs typeface="Helvetica"/>
              </a:rPr>
              <a:t>particles passing through a </a:t>
            </a:r>
            <a:r>
              <a:rPr lang="en-US" sz="800" spc="-15" dirty="0">
                <a:latin typeface="Helvetica"/>
                <a:cs typeface="Helvetica"/>
              </a:rPr>
              <a:t>unit </a:t>
            </a:r>
            <a:r>
              <a:rPr lang="en-US" sz="800" spc="-8" dirty="0">
                <a:latin typeface="Helvetica"/>
                <a:cs typeface="Helvetica"/>
              </a:rPr>
              <a:t>area)</a:t>
            </a:r>
            <a:endParaRPr lang="en-US" sz="800" dirty="0">
              <a:latin typeface="Helvetica"/>
              <a:cs typeface="Helvetica"/>
            </a:endParaRPr>
          </a:p>
          <a:p>
            <a:pPr marL="19050" marR="13335">
              <a:lnSpc>
                <a:spcPts val="300"/>
              </a:lnSpc>
            </a:pPr>
            <a:r>
              <a:rPr lang="en-US" sz="800" dirty="0">
                <a:latin typeface="Helvetica"/>
                <a:cs typeface="Helvetica"/>
              </a:rPr>
              <a:t>Particle energy is plotted on </a:t>
            </a:r>
            <a:r>
              <a:rPr lang="en-US" sz="800" spc="-19" dirty="0">
                <a:latin typeface="Helvetica"/>
                <a:cs typeface="Helvetica"/>
              </a:rPr>
              <a:t>the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x-</a:t>
            </a:r>
            <a:r>
              <a:rPr lang="en-US" sz="800" spc="-15" dirty="0">
                <a:latin typeface="Helvetica"/>
                <a:cs typeface="Helvetica"/>
              </a:rPr>
              <a:t>axis</a:t>
            </a:r>
            <a:endParaRPr lang="en-US" sz="800" dirty="0">
              <a:latin typeface="Helvetica"/>
              <a:cs typeface="Helvetic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3509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050">
              <a:spcBef>
                <a:spcPts val="300"/>
              </a:spcBef>
            </a:pPr>
            <a:r>
              <a:rPr lang="en-US" sz="800" b="1" i="1" dirty="0">
                <a:latin typeface="Helvetica"/>
                <a:cs typeface="Helvetica"/>
              </a:rPr>
              <a:t>Presenter</a:t>
            </a:r>
            <a:r>
              <a:rPr lang="en-US" sz="800" b="1" i="1" spc="-30" dirty="0">
                <a:latin typeface="Helvetica"/>
                <a:cs typeface="Helvetica"/>
              </a:rPr>
              <a:t> </a:t>
            </a:r>
            <a:r>
              <a:rPr lang="en-US" sz="800" b="1" i="1" spc="-8" dirty="0">
                <a:latin typeface="Helvetica"/>
                <a:cs typeface="Helvetica"/>
              </a:rPr>
              <a:t>Notes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i="1" spc="-8" dirty="0">
                <a:latin typeface="Helvetica"/>
                <a:cs typeface="Helvetica"/>
              </a:rPr>
              <a:t>2025-06-</a:t>
            </a:r>
            <a:r>
              <a:rPr lang="en-US" sz="800" i="1" dirty="0">
                <a:latin typeface="Helvetica"/>
                <a:cs typeface="Helvetica"/>
              </a:rPr>
              <a:t>03</a:t>
            </a:r>
            <a:r>
              <a:rPr lang="en-US" sz="800" i="1" spc="26" dirty="0">
                <a:latin typeface="Helvetica"/>
                <a:cs typeface="Helvetica"/>
              </a:rPr>
              <a:t> </a:t>
            </a:r>
            <a:r>
              <a:rPr lang="en-US" sz="800" i="1" spc="-8" dirty="0">
                <a:latin typeface="Helvetica"/>
                <a:cs typeface="Helvetica"/>
              </a:rPr>
              <a:t>15:00:15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spc="-8" dirty="0">
                <a:latin typeface="Helvetica"/>
                <a:cs typeface="Helvetica"/>
              </a:rPr>
              <a:t>-------------------------------------------</a:t>
            </a:r>
            <a:r>
              <a:rPr lang="en-US" sz="800" spc="-38" dirty="0">
                <a:latin typeface="Helvetica"/>
                <a:cs typeface="Helvetica"/>
              </a:rPr>
              <a:t>-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Just a quick reminder that </a:t>
            </a:r>
            <a:r>
              <a:rPr lang="en-US" sz="800" spc="-19" dirty="0">
                <a:latin typeface="Helvetica"/>
                <a:cs typeface="Helvetica"/>
              </a:rPr>
              <a:t>the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Sun modulates </a:t>
            </a:r>
            <a:r>
              <a:rPr lang="en-US" sz="800" spc="-8" dirty="0">
                <a:latin typeface="Helvetica"/>
                <a:cs typeface="Helvetica"/>
              </a:rPr>
              <a:t>other </a:t>
            </a:r>
            <a:r>
              <a:rPr lang="en-US" sz="800" dirty="0">
                <a:latin typeface="Helvetica"/>
                <a:cs typeface="Helvetica"/>
              </a:rPr>
              <a:t>environments and in this </a:t>
            </a:r>
            <a:r>
              <a:rPr lang="en-US" sz="800" spc="-15" dirty="0">
                <a:latin typeface="Helvetica"/>
                <a:cs typeface="Helvetica"/>
              </a:rPr>
              <a:t>case </a:t>
            </a:r>
            <a:r>
              <a:rPr lang="en-US" sz="800" dirty="0">
                <a:latin typeface="Helvetica"/>
                <a:cs typeface="Helvetica"/>
              </a:rPr>
              <a:t>Galactic Cosmic </a:t>
            </a:r>
            <a:r>
              <a:rPr lang="en-US" sz="800" spc="-8" dirty="0">
                <a:latin typeface="Helvetica"/>
                <a:cs typeface="Helvetica"/>
              </a:rPr>
              <a:t>Rays. 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Once more the thick pink line </a:t>
            </a:r>
            <a:r>
              <a:rPr lang="en-US" sz="800" spc="-19" dirty="0">
                <a:latin typeface="Helvetica"/>
                <a:cs typeface="Helvetica"/>
              </a:rPr>
              <a:t>at </a:t>
            </a:r>
            <a:r>
              <a:rPr lang="en-US" sz="800" dirty="0">
                <a:latin typeface="Helvetica"/>
                <a:cs typeface="Helvetica"/>
              </a:rPr>
              <a:t>the bottom of the graph </a:t>
            </a:r>
            <a:r>
              <a:rPr lang="en-US" sz="800" spc="-8" dirty="0">
                <a:latin typeface="Helvetica"/>
                <a:cs typeface="Helvetica"/>
              </a:rPr>
              <a:t>shows </a:t>
            </a:r>
            <a:r>
              <a:rPr lang="en-US" sz="800" dirty="0">
                <a:latin typeface="Helvetica"/>
                <a:cs typeface="Helvetica"/>
              </a:rPr>
              <a:t>this background or </a:t>
            </a:r>
            <a:r>
              <a:rPr lang="en-US" sz="800" spc="-8" dirty="0">
                <a:latin typeface="Helvetica"/>
                <a:cs typeface="Helvetica"/>
              </a:rPr>
              <a:t>quiet </a:t>
            </a:r>
            <a:r>
              <a:rPr lang="en-US" sz="800" dirty="0">
                <a:latin typeface="Helvetica"/>
                <a:cs typeface="Helvetica"/>
              </a:rPr>
              <a:t>environment which GCRs </a:t>
            </a:r>
            <a:r>
              <a:rPr lang="en-US" sz="800" spc="-8" dirty="0">
                <a:latin typeface="Helvetica"/>
                <a:cs typeface="Helvetica"/>
              </a:rPr>
              <a:t>makes </a:t>
            </a:r>
            <a:r>
              <a:rPr lang="en-US" sz="800" dirty="0">
                <a:latin typeface="Helvetica"/>
                <a:cs typeface="Helvetica"/>
              </a:rPr>
              <a:t>up. And once more during </a:t>
            </a:r>
            <a:r>
              <a:rPr lang="en-US" sz="800" spc="-8" dirty="0">
                <a:latin typeface="Helvetica"/>
                <a:cs typeface="Helvetica"/>
              </a:rPr>
              <a:t>Solar </a:t>
            </a:r>
            <a:r>
              <a:rPr lang="en-US" sz="800" dirty="0">
                <a:latin typeface="Helvetica"/>
                <a:cs typeface="Helvetica"/>
              </a:rPr>
              <a:t>Max, GCRs go down, and </a:t>
            </a:r>
            <a:r>
              <a:rPr lang="en-US" sz="800" spc="-8" dirty="0">
                <a:latin typeface="Helvetica"/>
                <a:cs typeface="Helvetica"/>
              </a:rPr>
              <a:t>during </a:t>
            </a:r>
            <a:r>
              <a:rPr lang="en-US" sz="800" dirty="0">
                <a:latin typeface="Helvetica"/>
                <a:cs typeface="Helvetica"/>
              </a:rPr>
              <a:t>Solar Min, GCRs go </a:t>
            </a:r>
            <a:r>
              <a:rPr lang="en-US" sz="800" spc="-19" dirty="0">
                <a:latin typeface="Helvetica"/>
                <a:cs typeface="Helvetica"/>
              </a:rPr>
              <a:t>up.</a:t>
            </a:r>
            <a:endParaRPr lang="en-US" sz="800" dirty="0">
              <a:latin typeface="Helvetica"/>
              <a:cs typeface="Helvetica"/>
            </a:endParaRPr>
          </a:p>
          <a:p>
            <a:pPr marL="19050"/>
            <a:r>
              <a:rPr lang="en-US" sz="800" spc="-15" dirty="0">
                <a:latin typeface="Helvetica"/>
                <a:cs typeface="Helvetica"/>
              </a:rPr>
              <a:t>Next</a:t>
            </a:r>
            <a:endParaRPr lang="en-US" sz="800" dirty="0">
              <a:latin typeface="Helvetica"/>
              <a:cs typeface="Helvetic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2188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050">
              <a:spcBef>
                <a:spcPts val="300"/>
              </a:spcBef>
            </a:pPr>
            <a:r>
              <a:rPr lang="en-US" sz="800" b="1" i="1" dirty="0">
                <a:latin typeface="Helvetica"/>
                <a:cs typeface="Helvetica"/>
              </a:rPr>
              <a:t>Presenter</a:t>
            </a:r>
            <a:r>
              <a:rPr lang="en-US" sz="800" b="1" i="1" spc="-30" dirty="0">
                <a:latin typeface="Helvetica"/>
                <a:cs typeface="Helvetica"/>
              </a:rPr>
              <a:t> </a:t>
            </a:r>
            <a:r>
              <a:rPr lang="en-US" sz="800" b="1" i="1" spc="-8" dirty="0">
                <a:latin typeface="Helvetica"/>
                <a:cs typeface="Helvetica"/>
              </a:rPr>
              <a:t>Notes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i="1" spc="-8" dirty="0">
                <a:latin typeface="Helvetica"/>
                <a:cs typeface="Helvetica"/>
              </a:rPr>
              <a:t>2025-06-</a:t>
            </a:r>
            <a:r>
              <a:rPr lang="en-US" sz="800" i="1" dirty="0">
                <a:latin typeface="Helvetica"/>
                <a:cs typeface="Helvetica"/>
              </a:rPr>
              <a:t>03</a:t>
            </a:r>
            <a:r>
              <a:rPr lang="en-US" sz="800" i="1" spc="26" dirty="0">
                <a:latin typeface="Helvetica"/>
                <a:cs typeface="Helvetica"/>
              </a:rPr>
              <a:t> </a:t>
            </a:r>
            <a:r>
              <a:rPr lang="en-US" sz="800" i="1" spc="-8" dirty="0">
                <a:latin typeface="Helvetica"/>
                <a:cs typeface="Helvetica"/>
              </a:rPr>
              <a:t>15:00:17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spc="-8" dirty="0">
                <a:latin typeface="Helvetica"/>
                <a:cs typeface="Helvetica"/>
              </a:rPr>
              <a:t>-------------------------------------------</a:t>
            </a:r>
            <a:r>
              <a:rPr lang="en-US" sz="800" spc="-38" dirty="0">
                <a:latin typeface="Helvetica"/>
                <a:cs typeface="Helvetica"/>
              </a:rPr>
              <a:t>-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I’d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like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to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briefly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mention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15" dirty="0">
                <a:latin typeface="Helvetica"/>
                <a:cs typeface="Helvetica"/>
              </a:rPr>
              <a:t>that </a:t>
            </a:r>
            <a:r>
              <a:rPr lang="en-US" sz="800" dirty="0">
                <a:latin typeface="Helvetica"/>
                <a:cs typeface="Helvetica"/>
              </a:rPr>
              <a:t>there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are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are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two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popular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models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used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to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model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GCRs. 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Once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more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CREME96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is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one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and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other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is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Badhwar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38" dirty="0">
                <a:latin typeface="Helvetica"/>
                <a:cs typeface="Helvetica"/>
              </a:rPr>
              <a:t>– </a:t>
            </a:r>
            <a:r>
              <a:rPr lang="en-US" sz="800" dirty="0">
                <a:latin typeface="Helvetica"/>
                <a:cs typeface="Helvetica"/>
              </a:rPr>
              <a:t>O’Neill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2020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Model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which </a:t>
            </a:r>
            <a:r>
              <a:rPr lang="en-US" sz="800" dirty="0">
                <a:latin typeface="Helvetica"/>
                <a:cs typeface="Helvetica"/>
              </a:rPr>
              <a:t>incorporates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more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recent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data. </a:t>
            </a:r>
            <a:r>
              <a:rPr lang="en-US" sz="800" dirty="0">
                <a:latin typeface="Helvetica"/>
                <a:cs typeface="Helvetica"/>
              </a:rPr>
              <a:t>For future activities in </a:t>
            </a:r>
            <a:r>
              <a:rPr lang="en-US" sz="800" spc="-15" dirty="0">
                <a:latin typeface="Helvetica"/>
                <a:cs typeface="Helvetica"/>
              </a:rPr>
              <a:t>this </a:t>
            </a:r>
            <a:r>
              <a:rPr lang="en-US" sz="800" dirty="0">
                <a:latin typeface="Helvetica"/>
                <a:cs typeface="Helvetica"/>
              </a:rPr>
              <a:t>workshop we will once more </a:t>
            </a:r>
            <a:r>
              <a:rPr lang="en-US" sz="800" spc="-19" dirty="0">
                <a:latin typeface="Helvetica"/>
                <a:cs typeface="Helvetica"/>
              </a:rPr>
              <a:t>be </a:t>
            </a:r>
            <a:r>
              <a:rPr lang="en-US" sz="800" dirty="0">
                <a:latin typeface="Helvetica"/>
                <a:cs typeface="Helvetica"/>
              </a:rPr>
              <a:t>using </a:t>
            </a:r>
            <a:r>
              <a:rPr lang="en-US" sz="800" spc="-8" dirty="0">
                <a:latin typeface="Helvetica"/>
                <a:cs typeface="Helvetica"/>
              </a:rPr>
              <a:t>CREME96.</a:t>
            </a:r>
            <a:endParaRPr lang="en-US" sz="800" dirty="0">
              <a:latin typeface="Helvetica"/>
              <a:cs typeface="Helvetica"/>
            </a:endParaRPr>
          </a:p>
          <a:p>
            <a:pPr marL="19050"/>
            <a:r>
              <a:rPr lang="en-US" sz="800" spc="-15" dirty="0">
                <a:latin typeface="Helvetica"/>
                <a:cs typeface="Helvetica"/>
              </a:rPr>
              <a:t>Next</a:t>
            </a:r>
            <a:endParaRPr lang="en-US" sz="800" dirty="0">
              <a:latin typeface="Helvetica"/>
              <a:cs typeface="Helvetic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9838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0289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050">
              <a:spcBef>
                <a:spcPts val="300"/>
              </a:spcBef>
            </a:pPr>
            <a:r>
              <a:rPr lang="en-US" sz="800" b="1" i="1" dirty="0">
                <a:latin typeface="Helvetica"/>
                <a:cs typeface="Helvetica"/>
              </a:rPr>
              <a:t>Presenter</a:t>
            </a:r>
            <a:r>
              <a:rPr lang="en-US" sz="800" b="1" i="1" spc="-30" dirty="0">
                <a:latin typeface="Helvetica"/>
                <a:cs typeface="Helvetica"/>
              </a:rPr>
              <a:t> </a:t>
            </a:r>
            <a:r>
              <a:rPr lang="en-US" sz="800" b="1" i="1" spc="-8" dirty="0">
                <a:latin typeface="Helvetica"/>
                <a:cs typeface="Helvetica"/>
              </a:rPr>
              <a:t>Notes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i="1" spc="-8" dirty="0">
                <a:latin typeface="Helvetica"/>
                <a:cs typeface="Helvetica"/>
              </a:rPr>
              <a:t>2025-06-</a:t>
            </a:r>
            <a:r>
              <a:rPr lang="en-US" sz="800" i="1" dirty="0">
                <a:latin typeface="Helvetica"/>
                <a:cs typeface="Helvetica"/>
              </a:rPr>
              <a:t>03</a:t>
            </a:r>
            <a:r>
              <a:rPr lang="en-US" sz="800" i="1" spc="26" dirty="0">
                <a:latin typeface="Helvetica"/>
                <a:cs typeface="Helvetica"/>
              </a:rPr>
              <a:t> </a:t>
            </a:r>
            <a:r>
              <a:rPr lang="en-US" sz="800" i="1" spc="-8" dirty="0">
                <a:latin typeface="Helvetica"/>
                <a:cs typeface="Helvetica"/>
              </a:rPr>
              <a:t>15:00:18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spc="-8" dirty="0">
                <a:latin typeface="Helvetica"/>
                <a:cs typeface="Helvetica"/>
              </a:rPr>
              <a:t>-------------------------------------------</a:t>
            </a:r>
            <a:r>
              <a:rPr lang="en-US" sz="800" spc="-38" dirty="0">
                <a:latin typeface="Helvetica"/>
                <a:cs typeface="Helvetica"/>
              </a:rPr>
              <a:t>-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The Earth has both internal </a:t>
            </a:r>
            <a:r>
              <a:rPr lang="en-US" sz="800" spc="-19" dirty="0">
                <a:latin typeface="Helvetica"/>
                <a:cs typeface="Helvetica"/>
              </a:rPr>
              <a:t>and </a:t>
            </a:r>
            <a:r>
              <a:rPr lang="en-US" sz="800" dirty="0">
                <a:latin typeface="Helvetica"/>
                <a:cs typeface="Helvetica"/>
              </a:rPr>
              <a:t>external magnetic fields </a:t>
            </a:r>
            <a:r>
              <a:rPr lang="en-US" sz="800" spc="-15" dirty="0">
                <a:latin typeface="Helvetica"/>
                <a:cs typeface="Helvetica"/>
              </a:rPr>
              <a:t>that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make up its magnetosphere.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dirty="0">
                <a:latin typeface="Helvetica"/>
                <a:cs typeface="Helvetica"/>
              </a:rPr>
              <a:t>external field is the result of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dirty="0">
                <a:latin typeface="Helvetica"/>
                <a:cs typeface="Helvetica"/>
              </a:rPr>
              <a:t>solar wind. The internal </a:t>
            </a:r>
            <a:r>
              <a:rPr lang="en-US" sz="800" spc="-8" dirty="0">
                <a:latin typeface="Helvetica"/>
                <a:cs typeface="Helvetica"/>
              </a:rPr>
              <a:t>field </a:t>
            </a:r>
            <a:r>
              <a:rPr lang="en-US" sz="800" dirty="0">
                <a:latin typeface="Helvetica"/>
                <a:cs typeface="Helvetica"/>
              </a:rPr>
              <a:t>originates from within the </a:t>
            </a:r>
            <a:r>
              <a:rPr lang="en-US" sz="800" spc="-8" dirty="0">
                <a:latin typeface="Helvetica"/>
                <a:cs typeface="Helvetica"/>
              </a:rPr>
              <a:t>Earth </a:t>
            </a:r>
            <a:r>
              <a:rPr lang="en-US" sz="800" dirty="0">
                <a:latin typeface="Helvetica"/>
                <a:cs typeface="Helvetica"/>
              </a:rPr>
              <a:t>and is approximately dipolar </a:t>
            </a:r>
            <a:r>
              <a:rPr lang="en-US" sz="800" spc="-19" dirty="0">
                <a:latin typeface="Helvetica"/>
                <a:cs typeface="Helvetica"/>
              </a:rPr>
              <a:t>up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to altitudes of about 5 Earth </a:t>
            </a:r>
            <a:r>
              <a:rPr lang="en-US" sz="800" spc="-8" dirty="0">
                <a:latin typeface="Helvetica"/>
                <a:cs typeface="Helvetica"/>
              </a:rPr>
              <a:t>radii. </a:t>
            </a:r>
            <a:r>
              <a:rPr lang="en-US" sz="800" dirty="0">
                <a:latin typeface="Helvetica"/>
                <a:cs typeface="Helvetica"/>
              </a:rPr>
              <a:t>For the non-physics people </a:t>
            </a:r>
            <a:r>
              <a:rPr lang="en-US" sz="800" spc="-15" dirty="0">
                <a:latin typeface="Helvetica"/>
                <a:cs typeface="Helvetica"/>
              </a:rPr>
              <a:t>like </a:t>
            </a:r>
            <a:r>
              <a:rPr lang="en-US" sz="800" dirty="0">
                <a:latin typeface="Helvetica"/>
                <a:cs typeface="Helvetica"/>
              </a:rPr>
              <a:t>me, dipolar refers the </a:t>
            </a:r>
            <a:r>
              <a:rPr lang="en-US" sz="800" spc="-8" dirty="0">
                <a:latin typeface="Helvetica"/>
                <a:cs typeface="Helvetica"/>
              </a:rPr>
              <a:t>separation </a:t>
            </a:r>
            <a:r>
              <a:rPr lang="en-US" sz="800" dirty="0">
                <a:latin typeface="Helvetica"/>
                <a:cs typeface="Helvetica"/>
              </a:rPr>
              <a:t>of positive and negative </a:t>
            </a:r>
            <a:r>
              <a:rPr lang="en-US" sz="800" spc="-8" dirty="0">
                <a:latin typeface="Helvetica"/>
                <a:cs typeface="Helvetica"/>
              </a:rPr>
              <a:t>charges </a:t>
            </a:r>
            <a:r>
              <a:rPr lang="en-US" sz="800" dirty="0">
                <a:latin typeface="Helvetica"/>
                <a:cs typeface="Helvetica"/>
              </a:rPr>
              <a:t>or magnetic poles. This can </a:t>
            </a:r>
            <a:r>
              <a:rPr lang="en-US" sz="800" spc="-19" dirty="0">
                <a:latin typeface="Helvetica"/>
                <a:cs typeface="Helvetica"/>
              </a:rPr>
              <a:t>be </a:t>
            </a:r>
            <a:r>
              <a:rPr lang="en-US" sz="800" dirty="0">
                <a:latin typeface="Helvetica"/>
                <a:cs typeface="Helvetica"/>
              </a:rPr>
              <a:t>described as having one side </a:t>
            </a:r>
            <a:r>
              <a:rPr lang="en-US" sz="800" spc="-19" dirty="0">
                <a:latin typeface="Helvetica"/>
                <a:cs typeface="Helvetica"/>
              </a:rPr>
              <a:t>of </a:t>
            </a:r>
            <a:r>
              <a:rPr lang="en-US" sz="800" dirty="0">
                <a:latin typeface="Helvetica"/>
                <a:cs typeface="Helvetica"/>
              </a:rPr>
              <a:t>an object or system with </a:t>
            </a:r>
            <a:r>
              <a:rPr lang="en-US" sz="800" spc="-38" dirty="0">
                <a:latin typeface="Helvetica"/>
                <a:cs typeface="Helvetica"/>
              </a:rPr>
              <a:t>a </a:t>
            </a:r>
            <a:r>
              <a:rPr lang="en-US" sz="800" dirty="0">
                <a:latin typeface="Helvetica"/>
                <a:cs typeface="Helvetica"/>
              </a:rPr>
              <a:t>positive charge and the </a:t>
            </a:r>
            <a:r>
              <a:rPr lang="en-US" sz="800" spc="-8" dirty="0">
                <a:latin typeface="Helvetica"/>
                <a:cs typeface="Helvetica"/>
              </a:rPr>
              <a:t>other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side with a negative </a:t>
            </a:r>
            <a:r>
              <a:rPr lang="en-US" sz="800" spc="-8" dirty="0">
                <a:latin typeface="Helvetica"/>
                <a:cs typeface="Helvetica"/>
              </a:rPr>
              <a:t>charge.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This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dipole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field</a:t>
            </a:r>
            <a:r>
              <a:rPr lang="en-US" sz="800" spc="3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is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tilted</a:t>
            </a:r>
            <a:r>
              <a:rPr lang="en-US" sz="800" spc="34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about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11°</a:t>
            </a:r>
            <a:r>
              <a:rPr lang="en-US" sz="800" spc="4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from</a:t>
            </a:r>
            <a:r>
              <a:rPr lang="en-US" sz="800" spc="4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4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Earth’s</a:t>
            </a:r>
            <a:r>
              <a:rPr lang="en-US" sz="800" spc="4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north-</a:t>
            </a:r>
            <a:r>
              <a:rPr lang="en-US" sz="800" spc="-8" dirty="0">
                <a:latin typeface="Helvetica"/>
                <a:cs typeface="Helvetica"/>
              </a:rPr>
              <a:t>south </a:t>
            </a:r>
            <a:r>
              <a:rPr lang="en-US" sz="800" dirty="0">
                <a:latin typeface="Helvetica"/>
                <a:cs typeface="Helvetica"/>
              </a:rPr>
              <a:t>axis</a:t>
            </a:r>
            <a:r>
              <a:rPr lang="en-US" sz="800" spc="3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and</a:t>
            </a:r>
            <a:r>
              <a:rPr lang="en-US" sz="800" spc="38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displaced</a:t>
            </a:r>
            <a:r>
              <a:rPr lang="en-US" sz="800" spc="38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by</a:t>
            </a:r>
            <a:r>
              <a:rPr lang="en-US" sz="800" spc="38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more</a:t>
            </a:r>
            <a:r>
              <a:rPr lang="en-US" sz="800" spc="38" dirty="0">
                <a:latin typeface="Helvetica"/>
                <a:cs typeface="Helvetica"/>
              </a:rPr>
              <a:t> </a:t>
            </a:r>
            <a:r>
              <a:rPr lang="en-US" sz="800" spc="-15" dirty="0">
                <a:latin typeface="Helvetica"/>
                <a:cs typeface="Helvetica"/>
              </a:rPr>
              <a:t>than </a:t>
            </a:r>
            <a:r>
              <a:rPr lang="en-US" sz="800" dirty="0">
                <a:latin typeface="Helvetica"/>
                <a:cs typeface="Helvetica"/>
              </a:rPr>
              <a:t>500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km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from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Earth’s </a:t>
            </a:r>
            <a:r>
              <a:rPr lang="en-US" sz="800" dirty="0" err="1">
                <a:latin typeface="Helvetica"/>
                <a:cs typeface="Helvetica"/>
              </a:rPr>
              <a:t>geocenter</a:t>
            </a:r>
            <a:r>
              <a:rPr lang="en-US" sz="800" dirty="0">
                <a:latin typeface="Helvetica"/>
                <a:cs typeface="Helvetica"/>
              </a:rPr>
              <a:t>.</a:t>
            </a:r>
            <a:r>
              <a:rPr lang="en-US" sz="800" spc="3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This</a:t>
            </a:r>
            <a:r>
              <a:rPr lang="en-US" sz="800" spc="38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tilt</a:t>
            </a:r>
            <a:r>
              <a:rPr lang="en-US" sz="800" spc="3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of</a:t>
            </a:r>
            <a:r>
              <a:rPr lang="en-US" sz="800" spc="38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dipole </a:t>
            </a:r>
            <a:r>
              <a:rPr lang="en-US" sz="800" dirty="0">
                <a:latin typeface="Helvetica"/>
                <a:cs typeface="Helvetica"/>
              </a:rPr>
              <a:t>creates</a:t>
            </a:r>
            <a:r>
              <a:rPr lang="en-US" sz="800" spc="3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an</a:t>
            </a:r>
            <a:r>
              <a:rPr lang="en-US" sz="800" spc="38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anomaly</a:t>
            </a:r>
            <a:r>
              <a:rPr lang="en-US" sz="800" spc="38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that</a:t>
            </a:r>
            <a:r>
              <a:rPr lang="en-US" sz="800" spc="3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I’ll</a:t>
            </a:r>
            <a:r>
              <a:rPr lang="en-US" sz="800" spc="38" dirty="0">
                <a:latin typeface="Helvetica"/>
                <a:cs typeface="Helvetica"/>
              </a:rPr>
              <a:t> </a:t>
            </a:r>
            <a:r>
              <a:rPr lang="en-US" sz="800" spc="-15" dirty="0">
                <a:latin typeface="Helvetica"/>
                <a:cs typeface="Helvetica"/>
              </a:rPr>
              <a:t>talk </a:t>
            </a:r>
            <a:r>
              <a:rPr lang="en-US" sz="800" dirty="0">
                <a:latin typeface="Helvetica"/>
                <a:cs typeface="Helvetica"/>
              </a:rPr>
              <a:t>about</a:t>
            </a:r>
            <a:r>
              <a:rPr lang="en-US" sz="800" spc="41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soon.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Finally trapped particles </a:t>
            </a:r>
            <a:r>
              <a:rPr lang="en-US" sz="800" spc="-19" dirty="0">
                <a:latin typeface="Helvetica"/>
                <a:cs typeface="Helvetica"/>
              </a:rPr>
              <a:t>are </a:t>
            </a:r>
            <a:r>
              <a:rPr lang="en-US" sz="800" dirty="0">
                <a:latin typeface="Helvetica"/>
                <a:cs typeface="Helvetica"/>
              </a:rPr>
              <a:t>mapped according to this </a:t>
            </a:r>
            <a:r>
              <a:rPr lang="en-US" sz="800" spc="-8" dirty="0">
                <a:latin typeface="Helvetica"/>
                <a:cs typeface="Helvetica"/>
              </a:rPr>
              <a:t>dipole </a:t>
            </a:r>
            <a:r>
              <a:rPr lang="en-US" sz="800" dirty="0">
                <a:latin typeface="Helvetica"/>
                <a:cs typeface="Helvetica"/>
              </a:rPr>
              <a:t>coordinate system. </a:t>
            </a:r>
            <a:r>
              <a:rPr lang="en-US" sz="800" spc="-15" dirty="0">
                <a:latin typeface="Helvetica"/>
                <a:cs typeface="Helvetica"/>
              </a:rPr>
              <a:t>Next</a:t>
            </a:r>
            <a:endParaRPr lang="en-US" sz="800" dirty="0">
              <a:latin typeface="Helvetica"/>
              <a:cs typeface="Helvetic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0974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050">
              <a:spcBef>
                <a:spcPts val="300"/>
              </a:spcBef>
            </a:pPr>
            <a:r>
              <a:rPr lang="en-US" sz="800" b="1" i="1" dirty="0">
                <a:latin typeface="Helvetica"/>
                <a:cs typeface="Helvetica"/>
              </a:rPr>
              <a:t>Presenter</a:t>
            </a:r>
            <a:r>
              <a:rPr lang="en-US" sz="800" b="1" i="1" spc="-30" dirty="0">
                <a:latin typeface="Helvetica"/>
                <a:cs typeface="Helvetica"/>
              </a:rPr>
              <a:t> </a:t>
            </a:r>
            <a:r>
              <a:rPr lang="en-US" sz="800" b="1" i="1" spc="-8" dirty="0">
                <a:latin typeface="Helvetica"/>
                <a:cs typeface="Helvetica"/>
              </a:rPr>
              <a:t>Notes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i="1" spc="-8" dirty="0">
                <a:latin typeface="Helvetica"/>
                <a:cs typeface="Helvetica"/>
              </a:rPr>
              <a:t>2025-06-</a:t>
            </a:r>
            <a:r>
              <a:rPr lang="en-US" sz="800" i="1" dirty="0">
                <a:latin typeface="Helvetica"/>
                <a:cs typeface="Helvetica"/>
              </a:rPr>
              <a:t>03</a:t>
            </a:r>
            <a:r>
              <a:rPr lang="en-US" sz="800" i="1" spc="26" dirty="0">
                <a:latin typeface="Helvetica"/>
                <a:cs typeface="Helvetica"/>
              </a:rPr>
              <a:t> </a:t>
            </a:r>
            <a:r>
              <a:rPr lang="en-US" sz="800" i="1" spc="-8" dirty="0">
                <a:latin typeface="Helvetica"/>
                <a:cs typeface="Helvetica"/>
              </a:rPr>
              <a:t>15:00:19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spc="-8" dirty="0">
                <a:latin typeface="Helvetica"/>
                <a:cs typeface="Helvetica"/>
              </a:rPr>
              <a:t>-------------------------------------------</a:t>
            </a:r>
            <a:r>
              <a:rPr lang="en-US" sz="800" spc="-38" dirty="0">
                <a:latin typeface="Helvetica"/>
                <a:cs typeface="Helvetica"/>
              </a:rPr>
              <a:t>-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Protons</a:t>
            </a:r>
            <a:r>
              <a:rPr lang="en-US" sz="800" spc="4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and</a:t>
            </a:r>
            <a:r>
              <a:rPr lang="en-US" sz="800" spc="5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electrons</a:t>
            </a:r>
            <a:r>
              <a:rPr lang="en-US" sz="800" spc="4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trapped</a:t>
            </a:r>
            <a:r>
              <a:rPr lang="en-US" sz="800" spc="53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in </a:t>
            </a:r>
            <a:r>
              <a:rPr lang="en-US" sz="800" dirty="0">
                <a:latin typeface="Helvetica"/>
                <a:cs typeface="Helvetica"/>
              </a:rPr>
              <a:t>these</a:t>
            </a:r>
            <a:r>
              <a:rPr lang="en-US" sz="800" spc="4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magnetic</a:t>
            </a:r>
            <a:r>
              <a:rPr lang="en-US" sz="800" spc="4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field</a:t>
            </a:r>
            <a:r>
              <a:rPr lang="en-US" sz="800" spc="4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lines</a:t>
            </a:r>
            <a:r>
              <a:rPr lang="en-US" sz="800" spc="41" dirty="0">
                <a:latin typeface="Helvetica"/>
                <a:cs typeface="Helvetica"/>
              </a:rPr>
              <a:t> </a:t>
            </a:r>
            <a:r>
              <a:rPr lang="en-US" sz="800" spc="-38" dirty="0">
                <a:latin typeface="Helvetica"/>
                <a:cs typeface="Helvetica"/>
              </a:rPr>
              <a:t>–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which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are</a:t>
            </a:r>
            <a:r>
              <a:rPr lang="en-US" sz="800" spc="3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called</a:t>
            </a:r>
            <a:r>
              <a:rPr lang="en-US" sz="800" spc="3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3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Van</a:t>
            </a:r>
            <a:r>
              <a:rPr lang="en-US" sz="800" spc="34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Allen </a:t>
            </a:r>
            <a:r>
              <a:rPr lang="en-US" sz="800" dirty="0">
                <a:latin typeface="Helvetica"/>
                <a:cs typeface="Helvetica"/>
              </a:rPr>
              <a:t>Belts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–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drift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around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34" dirty="0">
                <a:latin typeface="Helvetica"/>
                <a:cs typeface="Helvetica"/>
              </a:rPr>
              <a:t> </a:t>
            </a:r>
            <a:r>
              <a:rPr lang="en-US" sz="800" spc="-15" dirty="0">
                <a:latin typeface="Helvetica"/>
                <a:cs typeface="Helvetica"/>
              </a:rPr>
              <a:t>Earth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and</a:t>
            </a:r>
            <a:r>
              <a:rPr lang="en-US" sz="800" spc="3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spiral</a:t>
            </a:r>
            <a:r>
              <a:rPr lang="en-US" sz="800" spc="38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along</a:t>
            </a:r>
            <a:r>
              <a:rPr lang="en-US" sz="800" spc="38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these</a:t>
            </a:r>
            <a:r>
              <a:rPr lang="en-US" sz="800" spc="3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field</a:t>
            </a:r>
            <a:r>
              <a:rPr lang="en-US" sz="800" spc="38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lines </a:t>
            </a:r>
            <a:r>
              <a:rPr lang="en-US" sz="800" dirty="0">
                <a:latin typeface="Helvetica"/>
                <a:cs typeface="Helvetica"/>
              </a:rPr>
              <a:t>forming</a:t>
            </a:r>
            <a:r>
              <a:rPr lang="en-US" sz="800" spc="4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so-called</a:t>
            </a:r>
            <a:r>
              <a:rPr lang="en-US" sz="800" spc="4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“drift</a:t>
            </a:r>
            <a:r>
              <a:rPr lang="en-US" sz="800" spc="4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shells”</a:t>
            </a:r>
            <a:r>
              <a:rPr lang="en-US" sz="800" spc="53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or </a:t>
            </a:r>
            <a:r>
              <a:rPr lang="en-US" sz="800" dirty="0">
                <a:latin typeface="Helvetica"/>
                <a:cs typeface="Helvetica"/>
              </a:rPr>
              <a:t>L-shells.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An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L-shell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equates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to 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Increased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field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strength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in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polar </a:t>
            </a:r>
            <a:r>
              <a:rPr lang="en-US" sz="800" dirty="0">
                <a:latin typeface="Helvetica"/>
                <a:cs typeface="Helvetica"/>
              </a:rPr>
              <a:t>region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causes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particle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spiral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to </a:t>
            </a:r>
            <a:r>
              <a:rPr lang="en-US" sz="800" dirty="0">
                <a:latin typeface="Helvetica"/>
                <a:cs typeface="Helvetica"/>
              </a:rPr>
              <a:t>tighten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and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eventually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reverse </a:t>
            </a:r>
            <a:r>
              <a:rPr lang="en-US" sz="800" dirty="0">
                <a:latin typeface="Helvetica"/>
                <a:cs typeface="Helvetica"/>
              </a:rPr>
              <a:t>direction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along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magnetic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field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line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at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“mirror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point”</a:t>
            </a:r>
            <a:endParaRPr lang="en-US" sz="800" dirty="0">
              <a:latin typeface="Helvetica"/>
              <a:cs typeface="Helvetic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6561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050">
              <a:spcBef>
                <a:spcPts val="300"/>
              </a:spcBef>
            </a:pPr>
            <a:r>
              <a:rPr lang="en-US" sz="800" b="1" i="1" dirty="0">
                <a:latin typeface="Helvetica"/>
                <a:cs typeface="Helvetica"/>
              </a:rPr>
              <a:t>Presenter</a:t>
            </a:r>
            <a:r>
              <a:rPr lang="en-US" sz="800" b="1" i="1" spc="-30" dirty="0">
                <a:latin typeface="Helvetica"/>
                <a:cs typeface="Helvetica"/>
              </a:rPr>
              <a:t> </a:t>
            </a:r>
            <a:r>
              <a:rPr lang="en-US" sz="800" b="1" i="1" spc="-8" dirty="0">
                <a:latin typeface="Helvetica"/>
                <a:cs typeface="Helvetica"/>
              </a:rPr>
              <a:t>Notes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i="1" spc="-8" dirty="0">
                <a:latin typeface="Helvetica"/>
                <a:cs typeface="Helvetica"/>
              </a:rPr>
              <a:t>2025-06-</a:t>
            </a:r>
            <a:r>
              <a:rPr lang="en-US" sz="800" i="1" dirty="0">
                <a:latin typeface="Helvetica"/>
                <a:cs typeface="Helvetica"/>
              </a:rPr>
              <a:t>03</a:t>
            </a:r>
            <a:r>
              <a:rPr lang="en-US" sz="800" i="1" spc="26" dirty="0">
                <a:latin typeface="Helvetica"/>
                <a:cs typeface="Helvetica"/>
              </a:rPr>
              <a:t> </a:t>
            </a:r>
            <a:r>
              <a:rPr lang="en-US" sz="800" i="1" spc="-8" dirty="0">
                <a:latin typeface="Helvetica"/>
                <a:cs typeface="Helvetica"/>
              </a:rPr>
              <a:t>15:00:20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spc="-8" dirty="0">
                <a:latin typeface="Helvetica"/>
                <a:cs typeface="Helvetica"/>
              </a:rPr>
              <a:t>-------------------------------------------</a:t>
            </a:r>
            <a:r>
              <a:rPr lang="en-US" sz="800" spc="-38" dirty="0">
                <a:latin typeface="Helvetica"/>
                <a:cs typeface="Helvetica"/>
              </a:rPr>
              <a:t>-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The figure on the right </a:t>
            </a:r>
            <a:r>
              <a:rPr lang="en-US" sz="800" spc="-8" dirty="0">
                <a:latin typeface="Helvetica"/>
                <a:cs typeface="Helvetica"/>
              </a:rPr>
              <a:t>shows </a:t>
            </a:r>
            <a:r>
              <a:rPr lang="en-US" sz="800" dirty="0">
                <a:latin typeface="Helvetica"/>
                <a:cs typeface="Helvetica"/>
              </a:rPr>
              <a:t>charged particle </a:t>
            </a:r>
            <a:r>
              <a:rPr lang="en-US" sz="800" spc="-8" dirty="0">
                <a:latin typeface="Helvetica"/>
                <a:cs typeface="Helvetica"/>
              </a:rPr>
              <a:t>distribution </a:t>
            </a:r>
            <a:r>
              <a:rPr lang="en-US" sz="800" dirty="0">
                <a:latin typeface="Helvetica"/>
                <a:cs typeface="Helvetica"/>
              </a:rPr>
              <a:t>throughout the L-shells. </a:t>
            </a:r>
            <a:r>
              <a:rPr lang="en-US" sz="800" spc="-19" dirty="0">
                <a:latin typeface="Helvetica"/>
                <a:cs typeface="Helvetica"/>
              </a:rPr>
              <a:t>Two </a:t>
            </a:r>
            <a:r>
              <a:rPr lang="en-US" sz="800" dirty="0">
                <a:latin typeface="Helvetica"/>
                <a:cs typeface="Helvetica"/>
              </a:rPr>
              <a:t>things to point </a:t>
            </a:r>
            <a:r>
              <a:rPr lang="en-US" sz="800" spc="-15" dirty="0">
                <a:latin typeface="Helvetica"/>
                <a:cs typeface="Helvetica"/>
              </a:rPr>
              <a:t>out: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The L-shells contain a subset </a:t>
            </a:r>
            <a:r>
              <a:rPr lang="en-US" sz="800" spc="-19" dirty="0">
                <a:latin typeface="Helvetica"/>
                <a:cs typeface="Helvetica"/>
              </a:rPr>
              <a:t>of </a:t>
            </a:r>
            <a:r>
              <a:rPr lang="en-US" sz="800" dirty="0">
                <a:latin typeface="Helvetica"/>
                <a:cs typeface="Helvetica"/>
              </a:rPr>
              <a:t>trapped particles </a:t>
            </a:r>
            <a:r>
              <a:rPr lang="en-US" sz="800" spc="-8" dirty="0">
                <a:latin typeface="Helvetica"/>
                <a:cs typeface="Helvetica"/>
              </a:rPr>
              <a:t>moving </a:t>
            </a:r>
            <a:r>
              <a:rPr lang="en-US" sz="800" dirty="0">
                <a:latin typeface="Helvetica"/>
                <a:cs typeface="Helvetica"/>
              </a:rPr>
              <a:t>throughout the shell and </a:t>
            </a:r>
            <a:r>
              <a:rPr lang="en-US" sz="800" spc="-19" dirty="0">
                <a:latin typeface="Helvetica"/>
                <a:cs typeface="Helvetica"/>
              </a:rPr>
              <a:t>are </a:t>
            </a:r>
            <a:r>
              <a:rPr lang="en-US" sz="800" dirty="0">
                <a:latin typeface="Helvetica"/>
                <a:cs typeface="Helvetica"/>
              </a:rPr>
              <a:t>generally lumped into two </a:t>
            </a:r>
            <a:r>
              <a:rPr lang="en-US" sz="800" spc="-8" dirty="0">
                <a:latin typeface="Helvetica"/>
                <a:cs typeface="Helvetica"/>
              </a:rPr>
              <a:t>distinct </a:t>
            </a:r>
            <a:r>
              <a:rPr lang="en-US" sz="800" dirty="0">
                <a:latin typeface="Helvetica"/>
                <a:cs typeface="Helvetica"/>
              </a:rPr>
              <a:t>regions, an Inner belt and </a:t>
            </a:r>
            <a:r>
              <a:rPr lang="en-US" sz="800" spc="-19" dirty="0">
                <a:latin typeface="Helvetica"/>
                <a:cs typeface="Helvetica"/>
              </a:rPr>
              <a:t>an </a:t>
            </a:r>
            <a:r>
              <a:rPr lang="en-US" sz="800" dirty="0">
                <a:latin typeface="Helvetica"/>
                <a:cs typeface="Helvetica"/>
              </a:rPr>
              <a:t>Outer belt. The inner </a:t>
            </a:r>
            <a:r>
              <a:rPr lang="en-US" sz="800" spc="-15" dirty="0">
                <a:latin typeface="Helvetica"/>
                <a:cs typeface="Helvetica"/>
              </a:rPr>
              <a:t>belt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contains both protons </a:t>
            </a:r>
            <a:r>
              <a:rPr lang="en-US" sz="800" spc="-19" dirty="0">
                <a:latin typeface="Helvetica"/>
                <a:cs typeface="Helvetica"/>
              </a:rPr>
              <a:t>and </a:t>
            </a:r>
            <a:r>
              <a:rPr lang="en-US" sz="800" spc="-8" dirty="0">
                <a:latin typeface="Helvetica"/>
                <a:cs typeface="Helvetica"/>
              </a:rPr>
              <a:t>electrons.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The outer belt consists </a:t>
            </a:r>
            <a:r>
              <a:rPr lang="en-US" sz="800" spc="-8" dirty="0">
                <a:latin typeface="Helvetica"/>
                <a:cs typeface="Helvetica"/>
              </a:rPr>
              <a:t>primarily </a:t>
            </a:r>
            <a:r>
              <a:rPr lang="en-US" sz="800" dirty="0">
                <a:latin typeface="Helvetica"/>
                <a:cs typeface="Helvetica"/>
              </a:rPr>
              <a:t>of electrons but does also </a:t>
            </a:r>
            <a:r>
              <a:rPr lang="en-US" sz="800" spc="-19" dirty="0">
                <a:latin typeface="Helvetica"/>
                <a:cs typeface="Helvetica"/>
              </a:rPr>
              <a:t>see </a:t>
            </a:r>
            <a:r>
              <a:rPr lang="en-US" sz="800" dirty="0">
                <a:latin typeface="Helvetica"/>
                <a:cs typeface="Helvetica"/>
              </a:rPr>
              <a:t>protons from solar </a:t>
            </a:r>
            <a:r>
              <a:rPr lang="en-US" sz="800" spc="-8" dirty="0">
                <a:latin typeface="Helvetica"/>
                <a:cs typeface="Helvetica"/>
              </a:rPr>
              <a:t>flares.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As you can see each L-shell </a:t>
            </a:r>
            <a:r>
              <a:rPr lang="en-US" sz="800" spc="-19" dirty="0">
                <a:latin typeface="Helvetica"/>
                <a:cs typeface="Helvetica"/>
              </a:rPr>
              <a:t>has </a:t>
            </a:r>
            <a:r>
              <a:rPr lang="en-US" sz="800" dirty="0">
                <a:latin typeface="Helvetica"/>
                <a:cs typeface="Helvetica"/>
              </a:rPr>
              <a:t>a unique environment, </a:t>
            </a:r>
            <a:r>
              <a:rPr lang="en-US" sz="800" spc="-15" dirty="0">
                <a:latin typeface="Helvetica"/>
                <a:cs typeface="Helvetica"/>
              </a:rPr>
              <a:t>with </a:t>
            </a:r>
            <a:r>
              <a:rPr lang="en-US" sz="800" dirty="0">
                <a:latin typeface="Helvetica"/>
                <a:cs typeface="Helvetica"/>
              </a:rPr>
              <a:t>unique particles that </a:t>
            </a:r>
            <a:r>
              <a:rPr lang="en-US" sz="800" spc="-15" dirty="0">
                <a:latin typeface="Helvetica"/>
                <a:cs typeface="Helvetica"/>
              </a:rPr>
              <a:t>have </a:t>
            </a:r>
            <a:r>
              <a:rPr lang="en-US" sz="800" dirty="0">
                <a:latin typeface="Helvetica"/>
                <a:cs typeface="Helvetica"/>
              </a:rPr>
              <a:t>different effects, so you have </a:t>
            </a:r>
            <a:r>
              <a:rPr lang="en-US" sz="800" spc="-19" dirty="0">
                <a:latin typeface="Helvetica"/>
                <a:cs typeface="Helvetica"/>
              </a:rPr>
              <a:t>to </a:t>
            </a:r>
            <a:r>
              <a:rPr lang="en-US" sz="800" dirty="0">
                <a:latin typeface="Helvetica"/>
                <a:cs typeface="Helvetica"/>
              </a:rPr>
              <a:t>account for this is system </a:t>
            </a:r>
            <a:r>
              <a:rPr lang="en-US" sz="800" spc="-8" dirty="0">
                <a:latin typeface="Helvetica"/>
                <a:cs typeface="Helvetica"/>
              </a:rPr>
              <a:t>design </a:t>
            </a:r>
            <a:r>
              <a:rPr lang="en-US" sz="800" dirty="0">
                <a:latin typeface="Helvetica"/>
                <a:cs typeface="Helvetica"/>
              </a:rPr>
              <a:t>accordingly. </a:t>
            </a:r>
            <a:r>
              <a:rPr lang="en-US" sz="800" spc="-15" dirty="0">
                <a:latin typeface="Helvetica"/>
                <a:cs typeface="Helvetica"/>
              </a:rPr>
              <a:t>Next</a:t>
            </a:r>
            <a:endParaRPr lang="en-US" sz="800" dirty="0">
              <a:latin typeface="Helvetica"/>
              <a:cs typeface="Helvetica"/>
            </a:endParaRPr>
          </a:p>
          <a:p>
            <a:pPr marL="19050" marR="662939"/>
            <a:r>
              <a:rPr lang="en-US" sz="800" dirty="0">
                <a:latin typeface="Helvetica"/>
                <a:cs typeface="Helvetica"/>
              </a:rPr>
              <a:t>Region = L-</a:t>
            </a:r>
            <a:r>
              <a:rPr lang="en-US" sz="800" spc="-8" dirty="0">
                <a:latin typeface="Helvetica"/>
                <a:cs typeface="Helvetica"/>
              </a:rPr>
              <a:t>Shell? </a:t>
            </a:r>
            <a:r>
              <a:rPr lang="en-US" sz="800" dirty="0">
                <a:latin typeface="Helvetica"/>
                <a:cs typeface="Helvetica"/>
              </a:rPr>
              <a:t>6.5 Sync = </a:t>
            </a:r>
            <a:r>
              <a:rPr lang="en-US" sz="800" spc="-15" dirty="0">
                <a:latin typeface="Helvetica"/>
                <a:cs typeface="Helvetica"/>
              </a:rPr>
              <a:t>GEO?</a:t>
            </a:r>
            <a:endParaRPr lang="en-US" sz="800" dirty="0">
              <a:latin typeface="Helvetica"/>
              <a:cs typeface="Helvetic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4232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050">
              <a:spcBef>
                <a:spcPts val="300"/>
              </a:spcBef>
            </a:pPr>
            <a:r>
              <a:rPr lang="en-US" sz="800" b="1" i="1" dirty="0">
                <a:latin typeface="Helvetica"/>
                <a:cs typeface="Helvetica"/>
              </a:rPr>
              <a:t>Presenter</a:t>
            </a:r>
            <a:r>
              <a:rPr lang="en-US" sz="800" b="1" i="1" spc="-30" dirty="0">
                <a:latin typeface="Helvetica"/>
                <a:cs typeface="Helvetica"/>
              </a:rPr>
              <a:t> </a:t>
            </a:r>
            <a:r>
              <a:rPr lang="en-US" sz="800" b="1" i="1" spc="-8" dirty="0">
                <a:latin typeface="Helvetica"/>
                <a:cs typeface="Helvetica"/>
              </a:rPr>
              <a:t>Notes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i="1" spc="-8" dirty="0">
                <a:latin typeface="Helvetica"/>
                <a:cs typeface="Helvetica"/>
              </a:rPr>
              <a:t>2025-06-</a:t>
            </a:r>
            <a:r>
              <a:rPr lang="en-US" sz="800" i="1" dirty="0">
                <a:latin typeface="Helvetica"/>
                <a:cs typeface="Helvetica"/>
              </a:rPr>
              <a:t>03</a:t>
            </a:r>
            <a:r>
              <a:rPr lang="en-US" sz="800" i="1" spc="26" dirty="0">
                <a:latin typeface="Helvetica"/>
                <a:cs typeface="Helvetica"/>
              </a:rPr>
              <a:t> </a:t>
            </a:r>
            <a:r>
              <a:rPr lang="en-US" sz="800" i="1" spc="-8" dirty="0">
                <a:latin typeface="Helvetica"/>
                <a:cs typeface="Helvetica"/>
              </a:rPr>
              <a:t>15:00:20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spc="-8" dirty="0">
                <a:latin typeface="Helvetica"/>
                <a:cs typeface="Helvetica"/>
              </a:rPr>
              <a:t>-------------------------------------------</a:t>
            </a:r>
            <a:r>
              <a:rPr lang="en-US" sz="800" spc="-38" dirty="0">
                <a:latin typeface="Helvetica"/>
                <a:cs typeface="Helvetica"/>
              </a:rPr>
              <a:t>-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Once more, I want to </a:t>
            </a:r>
            <a:r>
              <a:rPr lang="en-US" sz="800" spc="-8" dirty="0">
                <a:latin typeface="Helvetica"/>
                <a:cs typeface="Helvetica"/>
              </a:rPr>
              <a:t>emphasize </a:t>
            </a:r>
            <a:r>
              <a:rPr lang="en-US" sz="800" dirty="0">
                <a:latin typeface="Helvetica"/>
                <a:cs typeface="Helvetica"/>
              </a:rPr>
              <a:t>that the Sun acts as a </a:t>
            </a:r>
            <a:r>
              <a:rPr lang="en-US" sz="800" spc="-8" dirty="0">
                <a:latin typeface="Helvetica"/>
                <a:cs typeface="Helvetica"/>
              </a:rPr>
              <a:t>modulator. </a:t>
            </a:r>
            <a:r>
              <a:rPr lang="en-US" sz="800" dirty="0">
                <a:latin typeface="Helvetica"/>
                <a:cs typeface="Helvetica"/>
              </a:rPr>
              <a:t>You can see this on the graph </a:t>
            </a:r>
            <a:r>
              <a:rPr lang="en-US" sz="800" spc="-19" dirty="0">
                <a:latin typeface="Helvetica"/>
                <a:cs typeface="Helvetica"/>
              </a:rPr>
              <a:t>on </a:t>
            </a:r>
            <a:r>
              <a:rPr lang="en-US" sz="800" dirty="0">
                <a:latin typeface="Helvetica"/>
                <a:cs typeface="Helvetica"/>
              </a:rPr>
              <a:t>the right which shows </a:t>
            </a:r>
            <a:r>
              <a:rPr lang="en-US" sz="800" spc="-19" dirty="0">
                <a:latin typeface="Helvetica"/>
                <a:cs typeface="Helvetica"/>
              </a:rPr>
              <a:t>the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trapped proton environment </a:t>
            </a:r>
            <a:r>
              <a:rPr lang="en-US" sz="800" spc="-19" dirty="0">
                <a:latin typeface="Helvetica"/>
                <a:cs typeface="Helvetica"/>
              </a:rPr>
              <a:t>in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 light blue, green, pink, </a:t>
            </a:r>
            <a:r>
              <a:rPr lang="en-US" sz="800" spc="-19" dirty="0">
                <a:latin typeface="Helvetica"/>
                <a:cs typeface="Helvetica"/>
              </a:rPr>
              <a:t>and </a:t>
            </a:r>
            <a:r>
              <a:rPr lang="en-US" sz="800" dirty="0">
                <a:latin typeface="Helvetica"/>
                <a:cs typeface="Helvetica"/>
              </a:rPr>
              <a:t>dark blue colors </a:t>
            </a:r>
            <a:r>
              <a:rPr lang="en-US" sz="800" spc="-8" dirty="0">
                <a:latin typeface="Helvetica"/>
                <a:cs typeface="Helvetica"/>
              </a:rPr>
              <a:t>superimposed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on the solar cycle which is in </a:t>
            </a:r>
            <a:r>
              <a:rPr lang="en-US" sz="800" spc="-15" dirty="0">
                <a:latin typeface="Helvetica"/>
                <a:cs typeface="Helvetica"/>
              </a:rPr>
              <a:t>that </a:t>
            </a:r>
            <a:r>
              <a:rPr lang="en-US" sz="800" dirty="0">
                <a:latin typeface="Helvetica"/>
                <a:cs typeface="Helvetica"/>
              </a:rPr>
              <a:t>yellowish/orange </a:t>
            </a:r>
            <a:r>
              <a:rPr lang="en-US" sz="800" spc="-8" dirty="0">
                <a:latin typeface="Helvetica"/>
                <a:cs typeface="Helvetica"/>
              </a:rPr>
              <a:t>color. </a:t>
            </a:r>
            <a:r>
              <a:rPr lang="en-US" sz="800" dirty="0">
                <a:latin typeface="Helvetica"/>
                <a:cs typeface="Helvetica"/>
              </a:rPr>
              <a:t>Unfortunately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I’m</a:t>
            </a:r>
            <a:r>
              <a:rPr lang="en-US" sz="800" spc="3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introducing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spc="-38" dirty="0">
                <a:latin typeface="Helvetica"/>
                <a:cs typeface="Helvetica"/>
              </a:rPr>
              <a:t>a </a:t>
            </a:r>
            <a:r>
              <a:rPr lang="en-US" sz="800" dirty="0">
                <a:latin typeface="Helvetica"/>
                <a:cs typeface="Helvetica"/>
              </a:rPr>
              <a:t>term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here,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flux,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that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is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going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to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be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explained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in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greater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detail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in </a:t>
            </a:r>
            <a:r>
              <a:rPr lang="en-US" sz="800" dirty="0">
                <a:latin typeface="Helvetica"/>
                <a:cs typeface="Helvetica"/>
              </a:rPr>
              <a:t>Steve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and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Daniel’s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talk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later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on </a:t>
            </a:r>
            <a:r>
              <a:rPr lang="en-US" sz="800" dirty="0">
                <a:latin typeface="Helvetica"/>
                <a:cs typeface="Helvetica"/>
              </a:rPr>
              <a:t>today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and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tomorrow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but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in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brief, </a:t>
            </a:r>
            <a:r>
              <a:rPr lang="en-US" sz="800" dirty="0">
                <a:latin typeface="Helvetica"/>
                <a:cs typeface="Helvetica"/>
              </a:rPr>
              <a:t>Flux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=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number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of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particles </a:t>
            </a:r>
            <a:r>
              <a:rPr lang="en-US" sz="800" dirty="0">
                <a:latin typeface="Helvetica"/>
                <a:cs typeface="Helvetica"/>
              </a:rPr>
              <a:t>passing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through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surface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per </a:t>
            </a:r>
            <a:r>
              <a:rPr lang="en-US" sz="800" dirty="0">
                <a:latin typeface="Helvetica"/>
                <a:cs typeface="Helvetica"/>
              </a:rPr>
              <a:t>second…or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another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way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to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think </a:t>
            </a:r>
            <a:r>
              <a:rPr lang="en-US" sz="800" dirty="0">
                <a:latin typeface="Helvetica"/>
                <a:cs typeface="Helvetica"/>
              </a:rPr>
              <a:t>of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it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is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particle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intensity.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So as solar activity </a:t>
            </a:r>
            <a:r>
              <a:rPr lang="en-US" sz="800" spc="-8" dirty="0">
                <a:latin typeface="Helvetica"/>
                <a:cs typeface="Helvetica"/>
              </a:rPr>
              <a:t>increases,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you can see that the proton </a:t>
            </a:r>
            <a:r>
              <a:rPr lang="en-US" sz="800" spc="-15" dirty="0">
                <a:latin typeface="Helvetica"/>
                <a:cs typeface="Helvetica"/>
              </a:rPr>
              <a:t>flux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in the trapped </a:t>
            </a:r>
            <a:r>
              <a:rPr lang="en-US" sz="800" spc="-8" dirty="0">
                <a:latin typeface="Helvetica"/>
                <a:cs typeface="Helvetica"/>
              </a:rPr>
              <a:t>environment </a:t>
            </a:r>
            <a:r>
              <a:rPr lang="en-US" sz="800" dirty="0">
                <a:latin typeface="Helvetica"/>
                <a:cs typeface="Helvetica"/>
              </a:rPr>
              <a:t>decreases. Also take note of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dirty="0">
                <a:latin typeface="Helvetica"/>
                <a:cs typeface="Helvetica"/>
              </a:rPr>
              <a:t>variation in flux within the </a:t>
            </a:r>
            <a:r>
              <a:rPr lang="en-US" sz="800" spc="-8" dirty="0">
                <a:latin typeface="Helvetica"/>
                <a:cs typeface="Helvetica"/>
              </a:rPr>
              <a:t>inner </a:t>
            </a:r>
            <a:r>
              <a:rPr lang="en-US" sz="800" dirty="0">
                <a:latin typeface="Helvetica"/>
                <a:cs typeface="Helvetica"/>
              </a:rPr>
              <a:t>proton belt. Also remember </a:t>
            </a:r>
            <a:r>
              <a:rPr lang="en-US" sz="800" spc="-15" dirty="0">
                <a:latin typeface="Helvetica"/>
                <a:cs typeface="Helvetica"/>
              </a:rPr>
              <a:t>that </a:t>
            </a:r>
            <a:r>
              <a:rPr lang="en-US" sz="800" dirty="0">
                <a:latin typeface="Helvetica"/>
                <a:cs typeface="Helvetica"/>
              </a:rPr>
              <a:t>as solar activity increases, </a:t>
            </a:r>
            <a:r>
              <a:rPr lang="en-US" sz="800" spc="-8" dirty="0">
                <a:latin typeface="Helvetica"/>
                <a:cs typeface="Helvetica"/>
              </a:rPr>
              <a:t>you’re </a:t>
            </a:r>
            <a:r>
              <a:rPr lang="en-US" sz="800" dirty="0">
                <a:latin typeface="Helvetica"/>
                <a:cs typeface="Helvetica"/>
              </a:rPr>
              <a:t>going to see GCRs </a:t>
            </a:r>
            <a:r>
              <a:rPr lang="en-US" sz="800" spc="-8" dirty="0">
                <a:latin typeface="Helvetica"/>
                <a:cs typeface="Helvetica"/>
              </a:rPr>
              <a:t>influence </a:t>
            </a:r>
            <a:r>
              <a:rPr lang="en-US" sz="800" dirty="0">
                <a:latin typeface="Helvetica"/>
                <a:cs typeface="Helvetica"/>
              </a:rPr>
              <a:t>decrease. The takeaway is </a:t>
            </a:r>
            <a:r>
              <a:rPr lang="en-US" sz="800" spc="-15" dirty="0">
                <a:latin typeface="Helvetica"/>
                <a:cs typeface="Helvetica"/>
              </a:rPr>
              <a:t>that </a:t>
            </a:r>
            <a:r>
              <a:rPr lang="en-US" sz="800" dirty="0">
                <a:latin typeface="Helvetica"/>
                <a:cs typeface="Helvetica"/>
              </a:rPr>
              <a:t>the trapped environment is </a:t>
            </a:r>
            <a:r>
              <a:rPr lang="en-US" sz="800" spc="-19" dirty="0">
                <a:latin typeface="Helvetica"/>
                <a:cs typeface="Helvetica"/>
              </a:rPr>
              <a:t>not </a:t>
            </a:r>
            <a:r>
              <a:rPr lang="en-US" sz="800" dirty="0">
                <a:latin typeface="Helvetica"/>
                <a:cs typeface="Helvetica"/>
              </a:rPr>
              <a:t>static or uniform and </a:t>
            </a:r>
            <a:r>
              <a:rPr lang="en-US" sz="800" spc="-8" dirty="0">
                <a:latin typeface="Helvetica"/>
                <a:cs typeface="Helvetica"/>
              </a:rPr>
              <a:t>requires </a:t>
            </a:r>
            <a:r>
              <a:rPr lang="en-US" sz="800" dirty="0">
                <a:latin typeface="Helvetica"/>
                <a:cs typeface="Helvetica"/>
              </a:rPr>
              <a:t>modeling to determine </a:t>
            </a:r>
            <a:r>
              <a:rPr lang="en-US" sz="800" spc="-19" dirty="0">
                <a:latin typeface="Helvetica"/>
                <a:cs typeface="Helvetica"/>
              </a:rPr>
              <a:t>the</a:t>
            </a:r>
            <a:r>
              <a:rPr lang="en-US" sz="800" dirty="0">
                <a:latin typeface="Helvetica"/>
                <a:cs typeface="Helvetica"/>
              </a:rPr>
              <a:t> specific environment you </a:t>
            </a:r>
            <a:r>
              <a:rPr lang="en-US" sz="800" spc="-19" dirty="0">
                <a:latin typeface="Helvetica"/>
                <a:cs typeface="Helvetica"/>
              </a:rPr>
              <a:t>are </a:t>
            </a:r>
            <a:r>
              <a:rPr lang="en-US" sz="800" dirty="0">
                <a:latin typeface="Helvetica"/>
                <a:cs typeface="Helvetica"/>
              </a:rPr>
              <a:t>designing your mission to live </a:t>
            </a:r>
            <a:r>
              <a:rPr lang="en-US" sz="800" spc="-19" dirty="0">
                <a:latin typeface="Helvetica"/>
                <a:cs typeface="Helvetica"/>
              </a:rPr>
              <a:t>in. </a:t>
            </a:r>
            <a:r>
              <a:rPr lang="en-US" sz="800" dirty="0">
                <a:latin typeface="Helvetica"/>
                <a:cs typeface="Helvetica"/>
              </a:rPr>
              <a:t>Next. When designing </a:t>
            </a:r>
            <a:r>
              <a:rPr lang="en-US" sz="800" spc="-8" dirty="0">
                <a:latin typeface="Helvetica"/>
                <a:cs typeface="Helvetica"/>
              </a:rPr>
              <a:t>space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craft for trapped </a:t>
            </a:r>
            <a:r>
              <a:rPr lang="en-US" sz="800" spc="-8" dirty="0">
                <a:latin typeface="Helvetica"/>
                <a:cs typeface="Helvetica"/>
              </a:rPr>
              <a:t>environment,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this is why we model at </a:t>
            </a:r>
            <a:r>
              <a:rPr lang="en-US" sz="800" spc="-8" dirty="0">
                <a:latin typeface="Helvetica"/>
                <a:cs typeface="Helvetica"/>
              </a:rPr>
              <a:t>Solar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spc="-15" dirty="0">
                <a:latin typeface="Helvetica"/>
                <a:cs typeface="Helvetica"/>
              </a:rPr>
              <a:t>Min.</a:t>
            </a:r>
            <a:endParaRPr lang="en-US" sz="800" dirty="0">
              <a:latin typeface="Helvetica"/>
              <a:cs typeface="Helvetic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8841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050">
              <a:spcBef>
                <a:spcPts val="300"/>
              </a:spcBef>
            </a:pPr>
            <a:r>
              <a:rPr lang="en-US" sz="800" b="1" i="1" dirty="0">
                <a:latin typeface="Helvetica"/>
                <a:cs typeface="Helvetica"/>
              </a:rPr>
              <a:t>Presenter</a:t>
            </a:r>
            <a:r>
              <a:rPr lang="en-US" sz="800" b="1" i="1" spc="-30" dirty="0">
                <a:latin typeface="Helvetica"/>
                <a:cs typeface="Helvetica"/>
              </a:rPr>
              <a:t> </a:t>
            </a:r>
            <a:r>
              <a:rPr lang="en-US" sz="800" b="1" i="1" spc="-8" dirty="0">
                <a:latin typeface="Helvetica"/>
                <a:cs typeface="Helvetica"/>
              </a:rPr>
              <a:t>Notes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i="1" spc="-8" dirty="0">
                <a:latin typeface="Helvetica"/>
                <a:cs typeface="Helvetica"/>
              </a:rPr>
              <a:t>2025-06-</a:t>
            </a:r>
            <a:r>
              <a:rPr lang="en-US" sz="800" i="1" dirty="0">
                <a:latin typeface="Helvetica"/>
                <a:cs typeface="Helvetica"/>
              </a:rPr>
              <a:t>03</a:t>
            </a:r>
            <a:r>
              <a:rPr lang="en-US" sz="800" i="1" spc="26" dirty="0">
                <a:latin typeface="Helvetica"/>
                <a:cs typeface="Helvetica"/>
              </a:rPr>
              <a:t> </a:t>
            </a:r>
            <a:r>
              <a:rPr lang="en-US" sz="800" i="1" spc="-8" dirty="0">
                <a:latin typeface="Helvetica"/>
                <a:cs typeface="Helvetica"/>
              </a:rPr>
              <a:t>15:00:21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spc="-8" dirty="0">
                <a:latin typeface="Helvetica"/>
                <a:cs typeface="Helvetica"/>
              </a:rPr>
              <a:t>-------------------------------------------</a:t>
            </a:r>
            <a:r>
              <a:rPr lang="en-US" sz="800" spc="-38" dirty="0">
                <a:latin typeface="Helvetica"/>
                <a:cs typeface="Helvetica"/>
              </a:rPr>
              <a:t>-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Before I talk about this chart, I </a:t>
            </a:r>
            <a:r>
              <a:rPr lang="en-US" sz="800" spc="-19" dirty="0">
                <a:latin typeface="Helvetica"/>
                <a:cs typeface="Helvetica"/>
              </a:rPr>
              <a:t>do </a:t>
            </a:r>
            <a:r>
              <a:rPr lang="en-US" sz="800" dirty="0">
                <a:latin typeface="Helvetica"/>
                <a:cs typeface="Helvetica"/>
              </a:rPr>
              <a:t>want to point out </a:t>
            </a:r>
            <a:r>
              <a:rPr lang="en-US" sz="800" spc="-15" dirty="0">
                <a:latin typeface="Helvetica"/>
                <a:cs typeface="Helvetica"/>
              </a:rPr>
              <a:t>that </a:t>
            </a:r>
            <a:r>
              <a:rPr lang="en-US" sz="800" dirty="0">
                <a:latin typeface="Helvetica"/>
                <a:cs typeface="Helvetica"/>
              </a:rPr>
              <a:t>unfortunately I did not catch </a:t>
            </a:r>
            <a:r>
              <a:rPr lang="en-US" sz="800" spc="-38" dirty="0">
                <a:latin typeface="Helvetica"/>
                <a:cs typeface="Helvetica"/>
              </a:rPr>
              <a:t>a </a:t>
            </a:r>
            <a:r>
              <a:rPr lang="en-US" sz="800" dirty="0">
                <a:latin typeface="Helvetica"/>
                <a:cs typeface="Helvetica"/>
              </a:rPr>
              <a:t>pretty big copy and paste </a:t>
            </a:r>
            <a:r>
              <a:rPr lang="en-US" sz="800" spc="-8" dirty="0">
                <a:latin typeface="Helvetica"/>
                <a:cs typeface="Helvetica"/>
              </a:rPr>
              <a:t>error,</a:t>
            </a:r>
            <a:r>
              <a:rPr lang="en-US" sz="800" dirty="0">
                <a:latin typeface="Helvetica"/>
                <a:cs typeface="Helvetica"/>
              </a:rPr>
              <a:t> so the information </a:t>
            </a:r>
            <a:r>
              <a:rPr lang="en-US" sz="800" spc="-8" dirty="0">
                <a:latin typeface="Helvetica"/>
                <a:cs typeface="Helvetica"/>
              </a:rPr>
              <a:t>under </a:t>
            </a:r>
            <a:r>
              <a:rPr lang="en-US" sz="800" dirty="0">
                <a:latin typeface="Helvetica"/>
                <a:cs typeface="Helvetica"/>
              </a:rPr>
              <a:t>Electrons is not correct. I </a:t>
            </a:r>
            <a:r>
              <a:rPr lang="en-US" sz="800" spc="-8" dirty="0">
                <a:latin typeface="Helvetica"/>
                <a:cs typeface="Helvetica"/>
              </a:rPr>
              <a:t>decided </a:t>
            </a:r>
            <a:r>
              <a:rPr lang="en-US" sz="800" dirty="0">
                <a:latin typeface="Helvetica"/>
                <a:cs typeface="Helvetica"/>
              </a:rPr>
              <a:t>to leave this chart in the </a:t>
            </a:r>
            <a:r>
              <a:rPr lang="en-US" sz="800" spc="-15" dirty="0">
                <a:latin typeface="Helvetica"/>
                <a:cs typeface="Helvetica"/>
              </a:rPr>
              <a:t>deck </a:t>
            </a:r>
            <a:r>
              <a:rPr lang="en-US" sz="800" dirty="0">
                <a:latin typeface="Helvetica"/>
                <a:cs typeface="Helvetica"/>
              </a:rPr>
              <a:t>though because I wanted you </a:t>
            </a:r>
            <a:r>
              <a:rPr lang="en-US" sz="800" spc="-19" dirty="0">
                <a:latin typeface="Helvetica"/>
                <a:cs typeface="Helvetica"/>
              </a:rPr>
              <a:t>to </a:t>
            </a:r>
            <a:r>
              <a:rPr lang="en-US" sz="800" dirty="0">
                <a:latin typeface="Helvetica"/>
                <a:cs typeface="Helvetica"/>
              </a:rPr>
              <a:t>have a visual of what the </a:t>
            </a:r>
            <a:r>
              <a:rPr lang="en-US" sz="800" spc="-8" dirty="0">
                <a:latin typeface="Helvetica"/>
                <a:cs typeface="Helvetica"/>
              </a:rPr>
              <a:t>trapped </a:t>
            </a:r>
            <a:r>
              <a:rPr lang="en-US" sz="800" dirty="0">
                <a:latin typeface="Helvetica"/>
                <a:cs typeface="Helvetica"/>
              </a:rPr>
              <a:t>environment really looks </a:t>
            </a:r>
            <a:r>
              <a:rPr lang="en-US" sz="800" spc="-15" dirty="0">
                <a:latin typeface="Helvetica"/>
                <a:cs typeface="Helvetica"/>
              </a:rPr>
              <a:t>like </a:t>
            </a:r>
            <a:r>
              <a:rPr lang="en-US" sz="800" dirty="0">
                <a:latin typeface="Helvetica"/>
                <a:cs typeface="Helvetica"/>
              </a:rPr>
              <a:t>rather than a bar graph that </a:t>
            </a:r>
            <a:r>
              <a:rPr lang="en-US" sz="800" spc="-38" dirty="0">
                <a:latin typeface="Helvetica"/>
                <a:cs typeface="Helvetica"/>
              </a:rPr>
              <a:t>I </a:t>
            </a:r>
            <a:r>
              <a:rPr lang="en-US" sz="800" dirty="0">
                <a:latin typeface="Helvetica"/>
                <a:cs typeface="Helvetica"/>
              </a:rPr>
              <a:t>showed </a:t>
            </a:r>
            <a:r>
              <a:rPr lang="en-US" sz="800" spc="-8" dirty="0">
                <a:latin typeface="Helvetica"/>
                <a:cs typeface="Helvetica"/>
              </a:rPr>
              <a:t>previously. 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You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can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clearly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see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an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inner </a:t>
            </a:r>
            <a:r>
              <a:rPr lang="en-US" sz="800" dirty="0">
                <a:latin typeface="Helvetica"/>
                <a:cs typeface="Helvetica"/>
              </a:rPr>
              <a:t>trapped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proton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belt.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inner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belt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protons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have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energies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up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to </a:t>
            </a:r>
            <a:r>
              <a:rPr lang="en-US" sz="800" dirty="0">
                <a:latin typeface="Helvetica"/>
                <a:cs typeface="Helvetica"/>
              </a:rPr>
              <a:t>about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Giga-</a:t>
            </a:r>
            <a:r>
              <a:rPr lang="en-US" sz="800" dirty="0" err="1">
                <a:latin typeface="Helvetica"/>
                <a:cs typeface="Helvetica"/>
              </a:rPr>
              <a:t>electronvolt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but </a:t>
            </a:r>
            <a:r>
              <a:rPr lang="en-US" sz="800" dirty="0">
                <a:latin typeface="Helvetica"/>
                <a:cs typeface="Helvetica"/>
              </a:rPr>
              <a:t>you’ll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note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that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this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graph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is </a:t>
            </a:r>
            <a:r>
              <a:rPr lang="en-US" sz="800" dirty="0">
                <a:latin typeface="Helvetica"/>
                <a:cs typeface="Helvetica"/>
              </a:rPr>
              <a:t>plotted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for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protons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only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up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to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10 </a:t>
            </a:r>
            <a:r>
              <a:rPr lang="en-US" sz="800" dirty="0">
                <a:latin typeface="Helvetica"/>
                <a:cs typeface="Helvetica"/>
              </a:rPr>
              <a:t>Mega-</a:t>
            </a:r>
            <a:r>
              <a:rPr lang="en-US" sz="800" dirty="0" err="1">
                <a:latin typeface="Helvetica"/>
                <a:cs typeface="Helvetica"/>
              </a:rPr>
              <a:t>electronvolts</a:t>
            </a:r>
            <a:r>
              <a:rPr lang="en-US" sz="800" spc="4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(MeV).</a:t>
            </a:r>
            <a:r>
              <a:rPr lang="en-US" sz="800" spc="45" dirty="0">
                <a:latin typeface="Helvetica"/>
                <a:cs typeface="Helvetica"/>
              </a:rPr>
              <a:t> </a:t>
            </a:r>
            <a:r>
              <a:rPr lang="en-US" sz="800" spc="-15" dirty="0">
                <a:latin typeface="Helvetica"/>
                <a:cs typeface="Helvetica"/>
              </a:rPr>
              <a:t>When </a:t>
            </a:r>
            <a:r>
              <a:rPr lang="en-US" sz="800" dirty="0">
                <a:latin typeface="Helvetica"/>
                <a:cs typeface="Helvetica"/>
              </a:rPr>
              <a:t>I’ve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asked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about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this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value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in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dirty="0">
                <a:latin typeface="Helvetica"/>
                <a:cs typeface="Helvetica"/>
              </a:rPr>
              <a:t>past,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have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been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told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that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above </a:t>
            </a:r>
            <a:r>
              <a:rPr lang="en-US" sz="800" dirty="0">
                <a:latin typeface="Helvetica"/>
                <a:cs typeface="Helvetica"/>
              </a:rPr>
              <a:t>10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MeV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is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where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devices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typically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become</a:t>
            </a:r>
            <a:r>
              <a:rPr lang="en-US" sz="800" spc="3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susceptible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to </a:t>
            </a:r>
            <a:r>
              <a:rPr lang="en-US" sz="800" dirty="0">
                <a:latin typeface="Helvetica"/>
                <a:cs typeface="Helvetica"/>
              </a:rPr>
              <a:t>single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event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effects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-&gt;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below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10 </a:t>
            </a:r>
            <a:r>
              <a:rPr lang="en-US" sz="800" dirty="0">
                <a:latin typeface="Helvetica"/>
                <a:cs typeface="Helvetica"/>
              </a:rPr>
              <a:t>MeV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particles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typically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doesn’t </a:t>
            </a:r>
            <a:r>
              <a:rPr lang="en-US" sz="800" dirty="0">
                <a:latin typeface="Helvetica"/>
                <a:cs typeface="Helvetica"/>
              </a:rPr>
              <a:t>penetrate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packages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on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devices. </a:t>
            </a:r>
            <a:r>
              <a:rPr lang="en-US" sz="800" dirty="0">
                <a:latin typeface="Helvetica"/>
                <a:cs typeface="Helvetica"/>
              </a:rPr>
              <a:t>10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MeV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protons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are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found </a:t>
            </a:r>
            <a:r>
              <a:rPr lang="en-US" sz="800" dirty="0">
                <a:latin typeface="Helvetica"/>
                <a:cs typeface="Helvetica"/>
              </a:rPr>
              <a:t>between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roughly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L-shell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1.8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to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4. </a:t>
            </a:r>
            <a:r>
              <a:rPr lang="en-US" sz="800" dirty="0">
                <a:latin typeface="Helvetica"/>
                <a:cs typeface="Helvetica"/>
              </a:rPr>
              <a:t>Moving on to the electron </a:t>
            </a:r>
            <a:r>
              <a:rPr lang="en-US" sz="800" spc="-8" dirty="0">
                <a:latin typeface="Helvetica"/>
                <a:cs typeface="Helvetica"/>
              </a:rPr>
              <a:t>belts. </a:t>
            </a:r>
            <a:r>
              <a:rPr lang="en-US" sz="800" dirty="0">
                <a:latin typeface="Helvetica"/>
                <a:cs typeface="Helvetica"/>
              </a:rPr>
              <a:t>Trapped electrons have </a:t>
            </a:r>
            <a:r>
              <a:rPr lang="en-US" sz="800" spc="-8" dirty="0">
                <a:latin typeface="Helvetica"/>
                <a:cs typeface="Helvetica"/>
              </a:rPr>
              <a:t>energies </a:t>
            </a:r>
            <a:r>
              <a:rPr lang="en-US" sz="800" dirty="0">
                <a:latin typeface="Helvetica"/>
                <a:cs typeface="Helvetica"/>
              </a:rPr>
              <a:t>up</a:t>
            </a:r>
            <a:r>
              <a:rPr lang="en-US" sz="800" spc="-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to</a:t>
            </a:r>
            <a:r>
              <a:rPr lang="en-US" sz="800" spc="-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10</a:t>
            </a:r>
            <a:r>
              <a:rPr lang="en-US" sz="800" spc="-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MeV</a:t>
            </a:r>
            <a:r>
              <a:rPr lang="en-US" sz="800" spc="-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and</a:t>
            </a:r>
            <a:r>
              <a:rPr lang="en-US" sz="800" spc="-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exist</a:t>
            </a:r>
            <a:r>
              <a:rPr lang="en-US" sz="800" spc="-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in</a:t>
            </a:r>
            <a:r>
              <a:rPr lang="en-US" sz="800" spc="-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two</a:t>
            </a:r>
            <a:r>
              <a:rPr lang="en-US" sz="800" spc="-4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L-</a:t>
            </a:r>
            <a:r>
              <a:rPr lang="en-US" sz="800" dirty="0">
                <a:latin typeface="Helvetica"/>
                <a:cs typeface="Helvetica"/>
              </a:rPr>
              <a:t>shell regions, an inner and </a:t>
            </a:r>
            <a:r>
              <a:rPr lang="en-US" sz="800" spc="-8" dirty="0">
                <a:latin typeface="Helvetica"/>
                <a:cs typeface="Helvetica"/>
              </a:rPr>
              <a:t>outer </a:t>
            </a:r>
            <a:r>
              <a:rPr lang="en-US" sz="800" dirty="0">
                <a:latin typeface="Helvetica"/>
                <a:cs typeface="Helvetica"/>
              </a:rPr>
              <a:t>belt.</a:t>
            </a:r>
            <a:r>
              <a:rPr lang="en-US" sz="800" spc="-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-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inner</a:t>
            </a:r>
            <a:r>
              <a:rPr lang="en-US" sz="800" spc="-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belt</a:t>
            </a:r>
            <a:r>
              <a:rPr lang="en-US" sz="800" spc="-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is</a:t>
            </a:r>
            <a:r>
              <a:rPr lang="en-US" sz="800" spc="-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between</a:t>
            </a:r>
            <a:r>
              <a:rPr lang="en-US" sz="800" spc="-4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L-</a:t>
            </a:r>
            <a:r>
              <a:rPr lang="en-US" sz="800" dirty="0">
                <a:latin typeface="Helvetica"/>
                <a:cs typeface="Helvetica"/>
              </a:rPr>
              <a:t>shell 1 and 2.8 and the outer </a:t>
            </a:r>
            <a:r>
              <a:rPr lang="en-US" sz="800" spc="-15" dirty="0">
                <a:latin typeface="Helvetica"/>
                <a:cs typeface="Helvetica"/>
              </a:rPr>
              <a:t>belt </a:t>
            </a:r>
            <a:r>
              <a:rPr lang="en-US" sz="800" dirty="0">
                <a:latin typeface="Helvetica"/>
                <a:cs typeface="Helvetica"/>
              </a:rPr>
              <a:t>is between L-shell 2.8 and </a:t>
            </a:r>
            <a:r>
              <a:rPr lang="en-US" sz="800" spc="-8" dirty="0">
                <a:latin typeface="Helvetica"/>
                <a:cs typeface="Helvetica"/>
              </a:rPr>
              <a:t>about </a:t>
            </a:r>
            <a:r>
              <a:rPr lang="en-US" sz="800" dirty="0">
                <a:latin typeface="Helvetica"/>
                <a:cs typeface="Helvetica"/>
              </a:rPr>
              <a:t>10. Note that electron belts </a:t>
            </a:r>
            <a:r>
              <a:rPr lang="en-US" sz="800" spc="-19" dirty="0">
                <a:latin typeface="Helvetica"/>
                <a:cs typeface="Helvetica"/>
              </a:rPr>
              <a:t>are </a:t>
            </a:r>
            <a:r>
              <a:rPr lang="en-US" sz="800" dirty="0">
                <a:latin typeface="Helvetica"/>
                <a:cs typeface="Helvetica"/>
              </a:rPr>
              <a:t>being plotted for 1 </a:t>
            </a:r>
            <a:r>
              <a:rPr lang="en-US" sz="800" spc="-19" dirty="0">
                <a:latin typeface="Helvetica"/>
                <a:cs typeface="Helvetica"/>
              </a:rPr>
              <a:t>MeV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electrons. This is because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dirty="0">
                <a:latin typeface="Helvetica"/>
                <a:cs typeface="Helvetica"/>
              </a:rPr>
              <a:t>equivalent dose </a:t>
            </a:r>
            <a:r>
              <a:rPr lang="en-US" sz="800" spc="-8" dirty="0">
                <a:latin typeface="Helvetica"/>
                <a:cs typeface="Helvetica"/>
              </a:rPr>
              <a:t>damage </a:t>
            </a:r>
            <a:r>
              <a:rPr lang="en-US" sz="800" dirty="0">
                <a:latin typeface="Helvetica"/>
                <a:cs typeface="Helvetica"/>
              </a:rPr>
              <a:t>(associated with Total </a:t>
            </a:r>
            <a:r>
              <a:rPr lang="en-US" sz="800" spc="-8" dirty="0">
                <a:latin typeface="Helvetica"/>
                <a:cs typeface="Helvetica"/>
              </a:rPr>
              <a:t>Ionizing </a:t>
            </a:r>
            <a:r>
              <a:rPr lang="en-US" sz="800" dirty="0">
                <a:latin typeface="Helvetica"/>
                <a:cs typeface="Helvetica"/>
              </a:rPr>
              <a:t>Dose effects…more to come </a:t>
            </a:r>
            <a:r>
              <a:rPr lang="en-US" sz="800" spc="-15" dirty="0">
                <a:latin typeface="Helvetica"/>
                <a:cs typeface="Helvetica"/>
              </a:rPr>
              <a:t>this </a:t>
            </a:r>
            <a:r>
              <a:rPr lang="en-US" sz="800" dirty="0">
                <a:latin typeface="Helvetica"/>
                <a:cs typeface="Helvetica"/>
              </a:rPr>
              <a:t>afternoon) occurs at 1 </a:t>
            </a:r>
            <a:r>
              <a:rPr lang="en-US" sz="800" spc="-19" dirty="0">
                <a:latin typeface="Helvetica"/>
                <a:cs typeface="Helvetica"/>
              </a:rPr>
              <a:t>MeV </a:t>
            </a:r>
            <a:r>
              <a:rPr lang="en-US" sz="800" spc="-8" dirty="0">
                <a:latin typeface="Helvetica"/>
                <a:cs typeface="Helvetica"/>
              </a:rPr>
              <a:t>electrons.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Finally, I want to draw </a:t>
            </a:r>
            <a:r>
              <a:rPr lang="en-US" sz="800" spc="-15" dirty="0">
                <a:latin typeface="Helvetica"/>
                <a:cs typeface="Helvetica"/>
              </a:rPr>
              <a:t>your </a:t>
            </a:r>
            <a:r>
              <a:rPr lang="en-US" sz="800" dirty="0">
                <a:latin typeface="Helvetica"/>
                <a:cs typeface="Helvetica"/>
              </a:rPr>
              <a:t>attention to the bottom of </a:t>
            </a:r>
            <a:r>
              <a:rPr lang="en-US" sz="800" spc="-15" dirty="0">
                <a:latin typeface="Helvetica"/>
                <a:cs typeface="Helvetica"/>
              </a:rPr>
              <a:t>both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 proton and electron </a:t>
            </a:r>
            <a:r>
              <a:rPr lang="en-US" sz="800" spc="-8" dirty="0">
                <a:latin typeface="Helvetica"/>
                <a:cs typeface="Helvetica"/>
              </a:rPr>
              <a:t>inner </a:t>
            </a:r>
            <a:r>
              <a:rPr lang="en-US" sz="800" dirty="0">
                <a:latin typeface="Helvetica"/>
                <a:cs typeface="Helvetica"/>
              </a:rPr>
              <a:t>belts. Notice how the </a:t>
            </a:r>
            <a:r>
              <a:rPr lang="en-US" sz="800" spc="-8" dirty="0">
                <a:latin typeface="Helvetica"/>
                <a:cs typeface="Helvetica"/>
              </a:rPr>
              <a:t>belts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appear to get closer to </a:t>
            </a:r>
            <a:r>
              <a:rPr lang="en-US" sz="800" spc="-8" dirty="0">
                <a:latin typeface="Helvetica"/>
                <a:cs typeface="Helvetica"/>
              </a:rPr>
              <a:t>Earth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near the bottom. </a:t>
            </a:r>
            <a:r>
              <a:rPr lang="en-US" sz="800" spc="-15" dirty="0">
                <a:latin typeface="Helvetica"/>
                <a:cs typeface="Helvetica"/>
              </a:rPr>
              <a:t>Next</a:t>
            </a:r>
            <a:endParaRPr lang="en-US" sz="800" dirty="0">
              <a:latin typeface="Helvetica"/>
              <a:cs typeface="Helvetic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01110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050">
              <a:spcBef>
                <a:spcPts val="300"/>
              </a:spcBef>
            </a:pPr>
            <a:r>
              <a:rPr lang="en-US" sz="800" b="1" i="1" dirty="0">
                <a:latin typeface="Helvetica"/>
                <a:cs typeface="Helvetica"/>
              </a:rPr>
              <a:t>Presenter</a:t>
            </a:r>
            <a:r>
              <a:rPr lang="en-US" sz="800" b="1" i="1" spc="-30" dirty="0">
                <a:latin typeface="Helvetica"/>
                <a:cs typeface="Helvetica"/>
              </a:rPr>
              <a:t> </a:t>
            </a:r>
            <a:r>
              <a:rPr lang="en-US" sz="800" b="1" i="1" spc="-8" dirty="0">
                <a:latin typeface="Helvetica"/>
                <a:cs typeface="Helvetica"/>
              </a:rPr>
              <a:t>Notes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i="1" spc="-8" dirty="0">
                <a:latin typeface="Helvetica"/>
                <a:cs typeface="Helvetica"/>
              </a:rPr>
              <a:t>2025-06-</a:t>
            </a:r>
            <a:r>
              <a:rPr lang="en-US" sz="800" i="1" dirty="0">
                <a:latin typeface="Helvetica"/>
                <a:cs typeface="Helvetica"/>
              </a:rPr>
              <a:t>03</a:t>
            </a:r>
            <a:r>
              <a:rPr lang="en-US" sz="800" i="1" spc="26" dirty="0">
                <a:latin typeface="Helvetica"/>
                <a:cs typeface="Helvetica"/>
              </a:rPr>
              <a:t> </a:t>
            </a:r>
            <a:r>
              <a:rPr lang="en-US" sz="800" i="1" spc="-8" dirty="0">
                <a:latin typeface="Helvetica"/>
                <a:cs typeface="Helvetica"/>
              </a:rPr>
              <a:t>15:00:22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spc="-8" dirty="0">
                <a:latin typeface="Helvetica"/>
                <a:cs typeface="Helvetica"/>
              </a:rPr>
              <a:t>-------------------------------------------</a:t>
            </a:r>
            <a:r>
              <a:rPr lang="en-US" sz="800" spc="-38" dirty="0">
                <a:latin typeface="Helvetica"/>
                <a:cs typeface="Helvetica"/>
              </a:rPr>
              <a:t>-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This is due to a </a:t>
            </a:r>
            <a:r>
              <a:rPr lang="en-US" sz="800" spc="-8" dirty="0">
                <a:latin typeface="Helvetica"/>
                <a:cs typeface="Helvetica"/>
              </a:rPr>
              <a:t>phenomenon </a:t>
            </a:r>
            <a:r>
              <a:rPr lang="en-US" sz="800" dirty="0">
                <a:latin typeface="Helvetica"/>
                <a:cs typeface="Helvetica"/>
              </a:rPr>
              <a:t>called the South </a:t>
            </a:r>
            <a:r>
              <a:rPr lang="en-US" sz="800" spc="-8" dirty="0">
                <a:latin typeface="Helvetica"/>
                <a:cs typeface="Helvetica"/>
              </a:rPr>
              <a:t>Atlantic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Anomaly. The 11.5 degree </a:t>
            </a:r>
            <a:r>
              <a:rPr lang="en-US" sz="800" spc="-15" dirty="0">
                <a:latin typeface="Helvetica"/>
                <a:cs typeface="Helvetica"/>
              </a:rPr>
              <a:t>tilt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and offset that I talked </a:t>
            </a:r>
            <a:r>
              <a:rPr lang="en-US" sz="800" spc="-8" dirty="0">
                <a:latin typeface="Helvetica"/>
                <a:cs typeface="Helvetica"/>
              </a:rPr>
              <a:t>about </a:t>
            </a:r>
            <a:r>
              <a:rPr lang="en-US" sz="800" dirty="0">
                <a:latin typeface="Helvetica"/>
                <a:cs typeface="Helvetica"/>
              </a:rPr>
              <a:t>earlier causes this. The SAA </a:t>
            </a:r>
            <a:r>
              <a:rPr lang="en-US" sz="800" spc="-19" dirty="0">
                <a:latin typeface="Helvetica"/>
                <a:cs typeface="Helvetica"/>
              </a:rPr>
              <a:t>is </a:t>
            </a:r>
            <a:r>
              <a:rPr lang="en-US" sz="800" dirty="0">
                <a:latin typeface="Helvetica"/>
                <a:cs typeface="Helvetica"/>
              </a:rPr>
              <a:t>most pronounced in the </a:t>
            </a:r>
            <a:r>
              <a:rPr lang="en-US" sz="800" spc="-8" dirty="0">
                <a:latin typeface="Helvetica"/>
                <a:cs typeface="Helvetica"/>
              </a:rPr>
              <a:t>vicinity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of South America and </a:t>
            </a:r>
            <a:r>
              <a:rPr lang="en-US" sz="800" spc="-8" dirty="0">
                <a:latin typeface="Helvetica"/>
                <a:cs typeface="Helvetica"/>
              </a:rPr>
              <a:t>generally </a:t>
            </a:r>
            <a:r>
              <a:rPr lang="en-US" sz="800" dirty="0">
                <a:latin typeface="Helvetica"/>
                <a:cs typeface="Helvetica"/>
              </a:rPr>
              <a:t>dominates the </a:t>
            </a:r>
            <a:r>
              <a:rPr lang="en-US" sz="800" spc="-8" dirty="0">
                <a:latin typeface="Helvetica"/>
                <a:cs typeface="Helvetica"/>
              </a:rPr>
              <a:t>radiation </a:t>
            </a:r>
            <a:r>
              <a:rPr lang="en-US" sz="800" dirty="0">
                <a:latin typeface="Helvetica"/>
                <a:cs typeface="Helvetica"/>
              </a:rPr>
              <a:t>environment for altitudes </a:t>
            </a:r>
            <a:r>
              <a:rPr lang="en-US" sz="800" spc="-15" dirty="0">
                <a:latin typeface="Helvetica"/>
                <a:cs typeface="Helvetica"/>
              </a:rPr>
              <a:t>less </a:t>
            </a:r>
            <a:r>
              <a:rPr lang="en-US" sz="800" dirty="0">
                <a:latin typeface="Helvetica"/>
                <a:cs typeface="Helvetica"/>
              </a:rPr>
              <a:t>than 1000 km. Next. Switch </a:t>
            </a:r>
            <a:r>
              <a:rPr lang="en-US" sz="800" spc="-19" dirty="0">
                <a:latin typeface="Helvetica"/>
                <a:cs typeface="Helvetica"/>
              </a:rPr>
              <a:t>off </a:t>
            </a:r>
            <a:r>
              <a:rPr lang="en-US" sz="800" dirty="0">
                <a:latin typeface="Helvetica"/>
                <a:cs typeface="Helvetica"/>
              </a:rPr>
              <a:t>satellites as they cross the </a:t>
            </a:r>
            <a:r>
              <a:rPr lang="en-US" sz="800" spc="-19" dirty="0">
                <a:latin typeface="Helvetica"/>
                <a:cs typeface="Helvetica"/>
              </a:rPr>
              <a:t>SAA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Flux = High number of particles </a:t>
            </a:r>
            <a:r>
              <a:rPr lang="en-US" sz="800" spc="-38" dirty="0">
                <a:latin typeface="Helvetica"/>
                <a:cs typeface="Helvetica"/>
              </a:rPr>
              <a:t>/ </a:t>
            </a:r>
            <a:r>
              <a:rPr lang="en-US" sz="800" dirty="0">
                <a:latin typeface="Helvetica"/>
                <a:cs typeface="Helvetica"/>
              </a:rPr>
              <a:t>particle </a:t>
            </a:r>
            <a:r>
              <a:rPr lang="en-US" sz="800" spc="-8" dirty="0">
                <a:latin typeface="Helvetica"/>
                <a:cs typeface="Helvetica"/>
              </a:rPr>
              <a:t>intensity</a:t>
            </a:r>
            <a:endParaRPr lang="en-US" sz="800" dirty="0">
              <a:latin typeface="Helvetica"/>
              <a:cs typeface="Helvetic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23969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050">
              <a:spcBef>
                <a:spcPts val="300"/>
              </a:spcBef>
            </a:pPr>
            <a:r>
              <a:rPr lang="en-US" sz="800" b="1" i="1" dirty="0">
                <a:latin typeface="Helvetica"/>
                <a:cs typeface="Helvetica"/>
              </a:rPr>
              <a:t>Presenter</a:t>
            </a:r>
            <a:r>
              <a:rPr lang="en-US" sz="800" b="1" i="1" spc="-30" dirty="0">
                <a:latin typeface="Helvetica"/>
                <a:cs typeface="Helvetica"/>
              </a:rPr>
              <a:t> </a:t>
            </a:r>
            <a:r>
              <a:rPr lang="en-US" sz="800" b="1" i="1" spc="-8" dirty="0">
                <a:latin typeface="Helvetica"/>
                <a:cs typeface="Helvetica"/>
              </a:rPr>
              <a:t>Notes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i="1" spc="-8" dirty="0">
                <a:latin typeface="Helvetica"/>
                <a:cs typeface="Helvetica"/>
              </a:rPr>
              <a:t>2025-06-</a:t>
            </a:r>
            <a:r>
              <a:rPr lang="en-US" sz="800" i="1" dirty="0">
                <a:latin typeface="Helvetica"/>
                <a:cs typeface="Helvetica"/>
              </a:rPr>
              <a:t>03</a:t>
            </a:r>
            <a:r>
              <a:rPr lang="en-US" sz="800" i="1" spc="26" dirty="0">
                <a:latin typeface="Helvetica"/>
                <a:cs typeface="Helvetica"/>
              </a:rPr>
              <a:t> </a:t>
            </a:r>
            <a:r>
              <a:rPr lang="en-US" sz="800" i="1" spc="-8" dirty="0">
                <a:latin typeface="Helvetica"/>
                <a:cs typeface="Helvetica"/>
              </a:rPr>
              <a:t>15:00:23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spc="-8" dirty="0">
                <a:latin typeface="Helvetica"/>
                <a:cs typeface="Helvetica"/>
              </a:rPr>
              <a:t>-------------------------------------------</a:t>
            </a:r>
            <a:r>
              <a:rPr lang="en-US" sz="800" spc="-38" dirty="0">
                <a:latin typeface="Helvetica"/>
                <a:cs typeface="Helvetica"/>
              </a:rPr>
              <a:t>-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There are several models </a:t>
            </a:r>
            <a:r>
              <a:rPr lang="en-US" sz="800" spc="-15" dirty="0">
                <a:latin typeface="Helvetica"/>
                <a:cs typeface="Helvetica"/>
              </a:rPr>
              <a:t>that </a:t>
            </a:r>
            <a:r>
              <a:rPr lang="en-US" sz="800" dirty="0">
                <a:latin typeface="Helvetica"/>
                <a:cs typeface="Helvetica"/>
              </a:rPr>
              <a:t>have been developed to </a:t>
            </a:r>
            <a:r>
              <a:rPr lang="en-US" sz="800" spc="-8" dirty="0">
                <a:latin typeface="Helvetica"/>
                <a:cs typeface="Helvetica"/>
              </a:rPr>
              <a:t>model </a:t>
            </a:r>
            <a:r>
              <a:rPr lang="en-US" sz="800" dirty="0">
                <a:latin typeface="Helvetica"/>
                <a:cs typeface="Helvetica"/>
              </a:rPr>
              <a:t>the trapped </a:t>
            </a:r>
            <a:r>
              <a:rPr lang="en-US" sz="800" spc="-8" dirty="0">
                <a:latin typeface="Helvetica"/>
                <a:cs typeface="Helvetica"/>
              </a:rPr>
              <a:t>environment: </a:t>
            </a:r>
            <a:r>
              <a:rPr lang="en-US" sz="800" dirty="0">
                <a:latin typeface="Helvetica"/>
                <a:cs typeface="Helvetica"/>
              </a:rPr>
              <a:t>AP8/AE8, </a:t>
            </a:r>
            <a:r>
              <a:rPr lang="en-US" sz="800" spc="-8" dirty="0">
                <a:latin typeface="Helvetica"/>
                <a:cs typeface="Helvetica"/>
              </a:rPr>
              <a:t>AP9/AE9/IRENE.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There are several </a:t>
            </a:r>
            <a:r>
              <a:rPr lang="en-US" sz="800" spc="-19" dirty="0">
                <a:latin typeface="Helvetica"/>
                <a:cs typeface="Helvetica"/>
              </a:rPr>
              <a:t>key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differences but the </a:t>
            </a:r>
            <a:r>
              <a:rPr lang="en-US" sz="800" spc="-15" dirty="0">
                <a:latin typeface="Helvetica"/>
                <a:cs typeface="Helvetica"/>
              </a:rPr>
              <a:t>main </a:t>
            </a:r>
            <a:r>
              <a:rPr lang="en-US" sz="800" dirty="0">
                <a:latin typeface="Helvetica"/>
                <a:cs typeface="Helvetica"/>
              </a:rPr>
              <a:t>difference between the is </a:t>
            </a:r>
            <a:r>
              <a:rPr lang="en-US" sz="800" spc="-15" dirty="0">
                <a:latin typeface="Helvetica"/>
                <a:cs typeface="Helvetica"/>
              </a:rPr>
              <a:t>more </a:t>
            </a:r>
            <a:r>
              <a:rPr lang="en-US" sz="800" dirty="0">
                <a:latin typeface="Helvetica"/>
                <a:cs typeface="Helvetica"/>
              </a:rPr>
              <a:t>and newer data used to </a:t>
            </a:r>
            <a:r>
              <a:rPr lang="en-US" sz="800" spc="-8" dirty="0">
                <a:latin typeface="Helvetica"/>
                <a:cs typeface="Helvetica"/>
              </a:rPr>
              <a:t>anchor </a:t>
            </a:r>
            <a:r>
              <a:rPr lang="en-US" sz="800" dirty="0">
                <a:latin typeface="Helvetica"/>
                <a:cs typeface="Helvetica"/>
              </a:rPr>
              <a:t>the A9/IRENE models. Justin </a:t>
            </a:r>
            <a:r>
              <a:rPr lang="en-US" sz="800" spc="-15" dirty="0">
                <a:latin typeface="Helvetica"/>
                <a:cs typeface="Helvetica"/>
              </a:rPr>
              <a:t>will </a:t>
            </a:r>
            <a:r>
              <a:rPr lang="en-US" sz="800" dirty="0">
                <a:latin typeface="Helvetica"/>
                <a:cs typeface="Helvetica"/>
              </a:rPr>
              <a:t>be walking you through how </a:t>
            </a:r>
            <a:r>
              <a:rPr lang="en-US" sz="800" spc="-19" dirty="0">
                <a:latin typeface="Helvetica"/>
                <a:cs typeface="Helvetica"/>
              </a:rPr>
              <a:t>to </a:t>
            </a:r>
            <a:r>
              <a:rPr lang="en-US" sz="800" dirty="0">
                <a:latin typeface="Helvetica"/>
                <a:cs typeface="Helvetica"/>
              </a:rPr>
              <a:t>model the environment with </a:t>
            </a:r>
            <a:r>
              <a:rPr lang="en-US" sz="800" spc="-38" dirty="0">
                <a:latin typeface="Helvetica"/>
                <a:cs typeface="Helvetica"/>
              </a:rPr>
              <a:t>a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tool called SPENVIS after </a:t>
            </a:r>
            <a:r>
              <a:rPr lang="en-US" sz="800" spc="-15" dirty="0">
                <a:latin typeface="Helvetica"/>
                <a:cs typeface="Helvetica"/>
              </a:rPr>
              <a:t>this </a:t>
            </a:r>
            <a:r>
              <a:rPr lang="en-US" sz="800" dirty="0">
                <a:latin typeface="Helvetica"/>
                <a:cs typeface="Helvetica"/>
              </a:rPr>
              <a:t>module and will touch on why </a:t>
            </a:r>
            <a:r>
              <a:rPr lang="en-US" sz="800" spc="-19" dirty="0">
                <a:latin typeface="Helvetica"/>
                <a:cs typeface="Helvetica"/>
              </a:rPr>
              <a:t>he </a:t>
            </a:r>
            <a:r>
              <a:rPr lang="en-US" sz="800" dirty="0">
                <a:latin typeface="Helvetica"/>
                <a:cs typeface="Helvetica"/>
              </a:rPr>
              <a:t>is using one model versus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dirty="0">
                <a:latin typeface="Helvetica"/>
                <a:cs typeface="Helvetica"/>
              </a:rPr>
              <a:t>others. </a:t>
            </a:r>
            <a:r>
              <a:rPr lang="en-US" sz="800" spc="-8" dirty="0">
                <a:latin typeface="Helvetica"/>
                <a:cs typeface="Helvetica"/>
              </a:rPr>
              <a:t>Next.</a:t>
            </a:r>
            <a:endParaRPr lang="en-US" sz="800" dirty="0">
              <a:latin typeface="Helvetica"/>
              <a:cs typeface="Helvetic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96243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CB34C-D358-7005-D3CE-D57E346E3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49991D-5C71-3115-4AB7-4B4133765B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D54D94-096B-1DB2-E5B3-B159822DDE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3575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050">
              <a:spcBef>
                <a:spcPts val="300"/>
              </a:spcBef>
            </a:pPr>
            <a:r>
              <a:rPr lang="en-US" sz="800" b="1" i="1" dirty="0">
                <a:latin typeface="Helvetica"/>
                <a:cs typeface="Helvetica"/>
              </a:rPr>
              <a:t>Presenter</a:t>
            </a:r>
            <a:r>
              <a:rPr lang="en-US" sz="800" b="1" i="1" spc="-30" dirty="0">
                <a:latin typeface="Helvetica"/>
                <a:cs typeface="Helvetica"/>
              </a:rPr>
              <a:t> </a:t>
            </a:r>
            <a:r>
              <a:rPr lang="en-US" sz="800" b="1" i="1" spc="-8" dirty="0">
                <a:latin typeface="Helvetica"/>
                <a:cs typeface="Helvetica"/>
              </a:rPr>
              <a:t>Notes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i="1" spc="-8" dirty="0">
                <a:latin typeface="Helvetica"/>
                <a:cs typeface="Helvetica"/>
              </a:rPr>
              <a:t>2025-06-</a:t>
            </a:r>
            <a:r>
              <a:rPr lang="en-US" sz="800" i="1" dirty="0">
                <a:latin typeface="Helvetica"/>
                <a:cs typeface="Helvetica"/>
              </a:rPr>
              <a:t>03</a:t>
            </a:r>
            <a:r>
              <a:rPr lang="en-US" sz="800" i="1" spc="26" dirty="0">
                <a:latin typeface="Helvetica"/>
                <a:cs typeface="Helvetica"/>
              </a:rPr>
              <a:t> </a:t>
            </a:r>
            <a:r>
              <a:rPr lang="en-US" sz="800" i="1" spc="-8" dirty="0">
                <a:latin typeface="Helvetica"/>
                <a:cs typeface="Helvetica"/>
              </a:rPr>
              <a:t>15:00:24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spc="-8" dirty="0">
                <a:latin typeface="Helvetica"/>
                <a:cs typeface="Helvetica"/>
              </a:rPr>
              <a:t>-------------------------------------------</a:t>
            </a:r>
            <a:r>
              <a:rPr lang="en-US" sz="800" spc="-38" dirty="0">
                <a:latin typeface="Helvetica"/>
                <a:cs typeface="Helvetica"/>
              </a:rPr>
              <a:t>-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Engineers build products </a:t>
            </a:r>
            <a:r>
              <a:rPr lang="en-US" sz="800" spc="-19" dirty="0">
                <a:latin typeface="Helvetica"/>
                <a:cs typeface="Helvetica"/>
              </a:rPr>
              <a:t>of </a:t>
            </a:r>
            <a:r>
              <a:rPr lang="en-US" sz="800" dirty="0">
                <a:latin typeface="Helvetica"/>
                <a:cs typeface="Helvetica"/>
              </a:rPr>
              <a:t>varying levels. For instance, </a:t>
            </a:r>
            <a:r>
              <a:rPr lang="en-US" sz="800" spc="-19" dirty="0">
                <a:latin typeface="Helvetica"/>
                <a:cs typeface="Helvetica"/>
              </a:rPr>
              <a:t>one </a:t>
            </a:r>
            <a:r>
              <a:rPr lang="en-US" sz="800" dirty="0">
                <a:latin typeface="Helvetica"/>
                <a:cs typeface="Helvetica"/>
              </a:rPr>
              <a:t>engineer may build a </a:t>
            </a:r>
            <a:r>
              <a:rPr lang="en-US" sz="800" spc="-8" dirty="0">
                <a:latin typeface="Helvetica"/>
                <a:cs typeface="Helvetica"/>
              </a:rPr>
              <a:t>rocket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which would be a system </a:t>
            </a:r>
            <a:r>
              <a:rPr lang="en-US" sz="800" spc="-15" dirty="0">
                <a:latin typeface="Helvetica"/>
                <a:cs typeface="Helvetica"/>
              </a:rPr>
              <a:t>made </a:t>
            </a:r>
            <a:r>
              <a:rPr lang="en-US" sz="800" dirty="0">
                <a:latin typeface="Helvetica"/>
                <a:cs typeface="Helvetica"/>
              </a:rPr>
              <a:t>up of many subsystems such </a:t>
            </a:r>
            <a:r>
              <a:rPr lang="en-US" sz="800" spc="-19" dirty="0">
                <a:latin typeface="Helvetica"/>
                <a:cs typeface="Helvetica"/>
              </a:rPr>
              <a:t>as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 Flight Computer which is </a:t>
            </a:r>
            <a:r>
              <a:rPr lang="en-US" sz="800" spc="-15" dirty="0">
                <a:latin typeface="Helvetica"/>
                <a:cs typeface="Helvetica"/>
              </a:rPr>
              <a:t>made </a:t>
            </a:r>
            <a:r>
              <a:rPr lang="en-US" sz="800" dirty="0">
                <a:latin typeface="Helvetica"/>
                <a:cs typeface="Helvetica"/>
              </a:rPr>
              <a:t>up of many devices such as </a:t>
            </a:r>
            <a:r>
              <a:rPr lang="en-US" sz="800" spc="-38" dirty="0">
                <a:latin typeface="Helvetica"/>
                <a:cs typeface="Helvetica"/>
              </a:rPr>
              <a:t>a </a:t>
            </a:r>
            <a:r>
              <a:rPr lang="en-US" sz="800" dirty="0">
                <a:latin typeface="Helvetica"/>
                <a:cs typeface="Helvetica"/>
              </a:rPr>
              <a:t>memory which is made up </a:t>
            </a:r>
            <a:r>
              <a:rPr lang="en-US" sz="800" spc="-19" dirty="0">
                <a:latin typeface="Helvetica"/>
                <a:cs typeface="Helvetica"/>
              </a:rPr>
              <a:t>of </a:t>
            </a:r>
            <a:r>
              <a:rPr lang="en-US" sz="800" dirty="0">
                <a:latin typeface="Helvetica"/>
                <a:cs typeface="Helvetica"/>
              </a:rPr>
              <a:t>different materials. </a:t>
            </a:r>
            <a:r>
              <a:rPr lang="en-US" sz="800" spc="-15" dirty="0">
                <a:latin typeface="Helvetica"/>
                <a:cs typeface="Helvetica"/>
              </a:rPr>
              <a:t>Next</a:t>
            </a:r>
            <a:endParaRPr lang="en-US" sz="800" dirty="0">
              <a:latin typeface="Helvetica"/>
              <a:cs typeface="Helvetic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9034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050">
              <a:spcBef>
                <a:spcPts val="300"/>
              </a:spcBef>
            </a:pPr>
            <a:r>
              <a:rPr lang="en-US" sz="800" b="1" i="1" dirty="0">
                <a:latin typeface="Helvetica"/>
                <a:cs typeface="Helvetica"/>
              </a:rPr>
              <a:t>Presenter</a:t>
            </a:r>
            <a:r>
              <a:rPr lang="en-US" sz="800" b="1" i="1" spc="-30" dirty="0">
                <a:latin typeface="Helvetica"/>
                <a:cs typeface="Helvetica"/>
              </a:rPr>
              <a:t> </a:t>
            </a:r>
            <a:r>
              <a:rPr lang="en-US" sz="800" b="1" i="1" spc="-8" dirty="0">
                <a:latin typeface="Helvetica"/>
                <a:cs typeface="Helvetica"/>
              </a:rPr>
              <a:t>Notes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i="1" spc="-8" dirty="0">
                <a:latin typeface="Helvetica"/>
                <a:cs typeface="Helvetica"/>
              </a:rPr>
              <a:t>2025-06-</a:t>
            </a:r>
            <a:r>
              <a:rPr lang="en-US" sz="800" i="1" dirty="0">
                <a:latin typeface="Helvetica"/>
                <a:cs typeface="Helvetica"/>
              </a:rPr>
              <a:t>03</a:t>
            </a:r>
            <a:r>
              <a:rPr lang="en-US" sz="800" i="1" spc="26" dirty="0">
                <a:latin typeface="Helvetica"/>
                <a:cs typeface="Helvetica"/>
              </a:rPr>
              <a:t> </a:t>
            </a:r>
            <a:r>
              <a:rPr lang="en-US" sz="800" i="1" spc="-8" dirty="0">
                <a:latin typeface="Helvetica"/>
                <a:cs typeface="Helvetica"/>
              </a:rPr>
              <a:t>15:00:24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spc="-8" dirty="0">
                <a:latin typeface="Helvetica"/>
                <a:cs typeface="Helvetica"/>
              </a:rPr>
              <a:t>-------------------------------------------</a:t>
            </a:r>
            <a:r>
              <a:rPr lang="en-US" sz="800" spc="-38" dirty="0">
                <a:latin typeface="Helvetica"/>
                <a:cs typeface="Helvetica"/>
              </a:rPr>
              <a:t>-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These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products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perform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spc="-15" dirty="0">
                <a:latin typeface="Helvetica"/>
                <a:cs typeface="Helvetica"/>
              </a:rPr>
              <a:t>some </a:t>
            </a:r>
            <a:r>
              <a:rPr lang="en-US" sz="800" dirty="0">
                <a:latin typeface="Helvetica"/>
                <a:cs typeface="Helvetica"/>
              </a:rPr>
              <a:t>type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of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function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which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I’m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defining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as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performing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spc="-15" dirty="0">
                <a:latin typeface="Helvetica"/>
                <a:cs typeface="Helvetica"/>
              </a:rPr>
              <a:t>some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type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of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action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to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achieve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38" dirty="0">
                <a:latin typeface="Helvetica"/>
                <a:cs typeface="Helvetica"/>
              </a:rPr>
              <a:t>a </a:t>
            </a:r>
            <a:r>
              <a:rPr lang="en-US" sz="800" dirty="0">
                <a:latin typeface="Helvetica"/>
                <a:cs typeface="Helvetica"/>
              </a:rPr>
              <a:t>mission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with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some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type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of </a:t>
            </a:r>
            <a:r>
              <a:rPr lang="en-US" sz="800" dirty="0">
                <a:latin typeface="Helvetica"/>
                <a:cs typeface="Helvetica"/>
              </a:rPr>
              <a:t>confidence.</a:t>
            </a:r>
            <a:r>
              <a:rPr lang="en-US" sz="800" spc="38" dirty="0">
                <a:latin typeface="Helvetica"/>
                <a:cs typeface="Helvetica"/>
              </a:rPr>
              <a:t> </a:t>
            </a:r>
            <a:r>
              <a:rPr lang="en-US" sz="800" spc="-15" dirty="0">
                <a:latin typeface="Helvetica"/>
                <a:cs typeface="Helvetica"/>
              </a:rPr>
              <a:t>Next</a:t>
            </a:r>
            <a:endParaRPr lang="en-US" sz="800" dirty="0">
              <a:latin typeface="Helvetica"/>
              <a:cs typeface="Helvetic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7784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050">
              <a:spcBef>
                <a:spcPts val="300"/>
              </a:spcBef>
            </a:pPr>
            <a:r>
              <a:rPr lang="en-US" sz="800" b="1" i="1" dirty="0">
                <a:latin typeface="Helvetica"/>
                <a:cs typeface="Helvetica"/>
              </a:rPr>
              <a:t>Presenter</a:t>
            </a:r>
            <a:r>
              <a:rPr lang="en-US" sz="800" b="1" i="1" spc="-30" dirty="0">
                <a:latin typeface="Helvetica"/>
                <a:cs typeface="Helvetica"/>
              </a:rPr>
              <a:t> </a:t>
            </a:r>
            <a:r>
              <a:rPr lang="en-US" sz="800" b="1" i="1" spc="-8" dirty="0">
                <a:latin typeface="Helvetica"/>
                <a:cs typeface="Helvetica"/>
              </a:rPr>
              <a:t>Notes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i="1" spc="-8" dirty="0">
                <a:latin typeface="Helvetica"/>
                <a:cs typeface="Helvetica"/>
              </a:rPr>
              <a:t>2025-06-</a:t>
            </a:r>
            <a:r>
              <a:rPr lang="en-US" sz="800" i="1" dirty="0">
                <a:latin typeface="Helvetica"/>
                <a:cs typeface="Helvetica"/>
              </a:rPr>
              <a:t>03</a:t>
            </a:r>
            <a:r>
              <a:rPr lang="en-US" sz="800" i="1" spc="26" dirty="0">
                <a:latin typeface="Helvetica"/>
                <a:cs typeface="Helvetica"/>
              </a:rPr>
              <a:t> </a:t>
            </a:r>
            <a:r>
              <a:rPr lang="en-US" sz="800" i="1" spc="-8" dirty="0">
                <a:latin typeface="Helvetica"/>
                <a:cs typeface="Helvetica"/>
              </a:rPr>
              <a:t>15:00:25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spc="-8" dirty="0">
                <a:latin typeface="Helvetica"/>
                <a:cs typeface="Helvetica"/>
              </a:rPr>
              <a:t>-------------------------------------------</a:t>
            </a:r>
            <a:r>
              <a:rPr lang="en-US" sz="800" spc="-38" dirty="0">
                <a:latin typeface="Helvetica"/>
                <a:cs typeface="Helvetica"/>
              </a:rPr>
              <a:t>-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Products do not </a:t>
            </a:r>
            <a:r>
              <a:rPr lang="en-US" sz="800" dirty="0" err="1">
                <a:latin typeface="Helvetica"/>
                <a:cs typeface="Helvetica"/>
              </a:rPr>
              <a:t>funtion</a:t>
            </a:r>
            <a:r>
              <a:rPr lang="en-US" sz="800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in </a:t>
            </a:r>
            <a:r>
              <a:rPr lang="en-US" sz="800" dirty="0">
                <a:latin typeface="Helvetica"/>
                <a:cs typeface="Helvetica"/>
              </a:rPr>
              <a:t>vacuums, they operate </a:t>
            </a:r>
            <a:r>
              <a:rPr lang="en-US" sz="800" spc="-19" dirty="0">
                <a:latin typeface="Helvetica"/>
                <a:cs typeface="Helvetica"/>
              </a:rPr>
              <a:t>in </a:t>
            </a:r>
            <a:r>
              <a:rPr lang="en-US" sz="800" spc="-8" dirty="0">
                <a:latin typeface="Helvetica"/>
                <a:cs typeface="Helvetica"/>
              </a:rPr>
              <a:t>environments.</a:t>
            </a:r>
            <a:endParaRPr lang="en-US" sz="800" dirty="0">
              <a:latin typeface="Helvetica"/>
              <a:cs typeface="Helvetic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79159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050">
              <a:spcBef>
                <a:spcPts val="300"/>
              </a:spcBef>
            </a:pPr>
            <a:r>
              <a:rPr lang="en-US" sz="800" b="1" i="1" dirty="0">
                <a:latin typeface="Helvetica"/>
                <a:cs typeface="Helvetica"/>
              </a:rPr>
              <a:t>Presenter</a:t>
            </a:r>
            <a:r>
              <a:rPr lang="en-US" sz="800" b="1" i="1" spc="-30" dirty="0">
                <a:latin typeface="Helvetica"/>
                <a:cs typeface="Helvetica"/>
              </a:rPr>
              <a:t> </a:t>
            </a:r>
            <a:r>
              <a:rPr lang="en-US" sz="800" b="1" i="1" spc="-8" dirty="0">
                <a:latin typeface="Helvetica"/>
                <a:cs typeface="Helvetica"/>
              </a:rPr>
              <a:t>Notes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i="1" spc="-8" dirty="0">
                <a:latin typeface="Helvetica"/>
                <a:cs typeface="Helvetica"/>
              </a:rPr>
              <a:t>2025-06-</a:t>
            </a:r>
            <a:r>
              <a:rPr lang="en-US" sz="800" i="1" dirty="0">
                <a:latin typeface="Helvetica"/>
                <a:cs typeface="Helvetica"/>
              </a:rPr>
              <a:t>03</a:t>
            </a:r>
            <a:r>
              <a:rPr lang="en-US" sz="800" i="1" spc="26" dirty="0">
                <a:latin typeface="Helvetica"/>
                <a:cs typeface="Helvetica"/>
              </a:rPr>
              <a:t> </a:t>
            </a:r>
            <a:r>
              <a:rPr lang="en-US" sz="800" i="1" spc="-8" dirty="0">
                <a:latin typeface="Helvetica"/>
                <a:cs typeface="Helvetica"/>
              </a:rPr>
              <a:t>15:00:25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spc="-8" dirty="0">
                <a:latin typeface="Helvetica"/>
                <a:cs typeface="Helvetica"/>
              </a:rPr>
              <a:t>-------------------------------------------</a:t>
            </a:r>
            <a:r>
              <a:rPr lang="en-US" sz="800" spc="-38" dirty="0">
                <a:latin typeface="Helvetica"/>
                <a:cs typeface="Helvetica"/>
              </a:rPr>
              <a:t>-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Environments can span from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dirty="0">
                <a:latin typeface="Helvetica"/>
                <a:cs typeface="Helvetica"/>
              </a:rPr>
              <a:t>surface of the earth to space. </a:t>
            </a:r>
            <a:r>
              <a:rPr lang="en-US" sz="800" spc="-19" dirty="0">
                <a:latin typeface="Helvetica"/>
                <a:cs typeface="Helvetica"/>
              </a:rPr>
              <a:t>In </a:t>
            </a:r>
            <a:r>
              <a:rPr lang="en-US" sz="800" dirty="0">
                <a:latin typeface="Helvetica"/>
                <a:cs typeface="Helvetica"/>
              </a:rPr>
              <a:t>context of the space </a:t>
            </a:r>
            <a:r>
              <a:rPr lang="en-US" sz="800" spc="-8" dirty="0">
                <a:latin typeface="Helvetica"/>
                <a:cs typeface="Helvetica"/>
              </a:rPr>
              <a:t>radiation </a:t>
            </a:r>
            <a:r>
              <a:rPr lang="en-US" sz="800" dirty="0">
                <a:latin typeface="Helvetica"/>
                <a:cs typeface="Helvetica"/>
              </a:rPr>
              <a:t>environment, altitudes above </a:t>
            </a:r>
            <a:r>
              <a:rPr lang="en-US" sz="800" spc="-19" dirty="0">
                <a:latin typeface="Helvetica"/>
                <a:cs typeface="Helvetica"/>
              </a:rPr>
              <a:t>100 </a:t>
            </a:r>
            <a:r>
              <a:rPr lang="en-US" sz="800" dirty="0">
                <a:latin typeface="Helvetica"/>
                <a:cs typeface="Helvetica"/>
              </a:rPr>
              <a:t>km are </a:t>
            </a:r>
            <a:r>
              <a:rPr lang="en-US" sz="800" spc="-8" dirty="0">
                <a:latin typeface="Helvetica"/>
                <a:cs typeface="Helvetica"/>
              </a:rPr>
              <a:t>considered </a:t>
            </a:r>
            <a:r>
              <a:rPr lang="en-US" sz="800" dirty="0" err="1">
                <a:latin typeface="Helvetica"/>
                <a:cs typeface="Helvetica"/>
              </a:rPr>
              <a:t>exoatmospheric</a:t>
            </a:r>
            <a:r>
              <a:rPr lang="en-US" sz="800" dirty="0">
                <a:latin typeface="Helvetica"/>
                <a:cs typeface="Helvetica"/>
              </a:rPr>
              <a:t>, which </a:t>
            </a:r>
            <a:r>
              <a:rPr lang="en-US" sz="800" spc="-15" dirty="0">
                <a:latin typeface="Helvetica"/>
                <a:cs typeface="Helvetica"/>
              </a:rPr>
              <a:t>once</a:t>
            </a:r>
            <a:r>
              <a:rPr lang="en-US" sz="800" dirty="0">
                <a:latin typeface="Helvetica"/>
                <a:cs typeface="Helvetica"/>
              </a:rPr>
              <a:t> more is where the focus of </a:t>
            </a:r>
            <a:r>
              <a:rPr lang="en-US" sz="800" spc="-15" dirty="0">
                <a:latin typeface="Helvetica"/>
                <a:cs typeface="Helvetica"/>
              </a:rPr>
              <a:t>this </a:t>
            </a:r>
            <a:r>
              <a:rPr lang="en-US" sz="800" dirty="0">
                <a:latin typeface="Helvetica"/>
                <a:cs typeface="Helvetica"/>
              </a:rPr>
              <a:t>workshop is going to be. </a:t>
            </a:r>
            <a:r>
              <a:rPr lang="en-US" sz="800" spc="-15" dirty="0">
                <a:latin typeface="Helvetica"/>
                <a:cs typeface="Helvetica"/>
              </a:rPr>
              <a:t>Next</a:t>
            </a:r>
            <a:endParaRPr lang="en-US" sz="800" dirty="0">
              <a:latin typeface="Helvetica"/>
              <a:cs typeface="Helvetic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67463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050">
              <a:spcBef>
                <a:spcPts val="300"/>
              </a:spcBef>
            </a:pPr>
            <a:r>
              <a:rPr lang="en-US" sz="800" b="1" i="1" dirty="0">
                <a:latin typeface="Helvetica"/>
                <a:cs typeface="Helvetica"/>
              </a:rPr>
              <a:t>Presenter</a:t>
            </a:r>
            <a:r>
              <a:rPr lang="en-US" sz="800" b="1" i="1" spc="-30" dirty="0">
                <a:latin typeface="Helvetica"/>
                <a:cs typeface="Helvetica"/>
              </a:rPr>
              <a:t> </a:t>
            </a:r>
            <a:r>
              <a:rPr lang="en-US" sz="800" b="1" i="1" spc="-8" dirty="0">
                <a:latin typeface="Helvetica"/>
                <a:cs typeface="Helvetica"/>
              </a:rPr>
              <a:t>Notes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i="1" spc="-8" dirty="0">
                <a:latin typeface="Helvetica"/>
                <a:cs typeface="Helvetica"/>
              </a:rPr>
              <a:t>2025-06-</a:t>
            </a:r>
            <a:r>
              <a:rPr lang="en-US" sz="800" i="1" dirty="0">
                <a:latin typeface="Helvetica"/>
                <a:cs typeface="Helvetica"/>
              </a:rPr>
              <a:t>03</a:t>
            </a:r>
            <a:r>
              <a:rPr lang="en-US" sz="800" i="1" spc="26" dirty="0">
                <a:latin typeface="Helvetica"/>
                <a:cs typeface="Helvetica"/>
              </a:rPr>
              <a:t> </a:t>
            </a:r>
            <a:r>
              <a:rPr lang="en-US" sz="800" i="1" spc="-8" dirty="0">
                <a:latin typeface="Helvetica"/>
                <a:cs typeface="Helvetica"/>
              </a:rPr>
              <a:t>15:00:26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spc="-8" dirty="0">
                <a:latin typeface="Helvetica"/>
                <a:cs typeface="Helvetica"/>
              </a:rPr>
              <a:t>-------------------------------------------</a:t>
            </a:r>
            <a:r>
              <a:rPr lang="en-US" sz="800" spc="-38" dirty="0">
                <a:latin typeface="Helvetica"/>
                <a:cs typeface="Helvetica"/>
              </a:rPr>
              <a:t>-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The video and images </a:t>
            </a:r>
            <a:r>
              <a:rPr lang="en-US" sz="800" spc="-8" dirty="0">
                <a:latin typeface="Helvetica"/>
                <a:cs typeface="Helvetica"/>
              </a:rPr>
              <a:t>displayed </a:t>
            </a:r>
            <a:r>
              <a:rPr lang="en-US" sz="800" dirty="0">
                <a:latin typeface="Helvetica"/>
                <a:cs typeface="Helvetica"/>
              </a:rPr>
              <a:t>are of a sensor called the </a:t>
            </a:r>
            <a:r>
              <a:rPr lang="en-US" sz="800" spc="-8" dirty="0">
                <a:latin typeface="Helvetica"/>
                <a:cs typeface="Helvetica"/>
              </a:rPr>
              <a:t>Solar </a:t>
            </a:r>
            <a:r>
              <a:rPr lang="en-US" sz="800" dirty="0">
                <a:latin typeface="Helvetica"/>
                <a:cs typeface="Helvetica"/>
              </a:rPr>
              <a:t>and </a:t>
            </a:r>
            <a:r>
              <a:rPr lang="en-US" sz="800" spc="-8" dirty="0" err="1">
                <a:latin typeface="Helvetica"/>
                <a:cs typeface="Helvetica"/>
              </a:rPr>
              <a:t>Heliospheric</a:t>
            </a:r>
            <a:r>
              <a:rPr lang="en-US" sz="800" spc="-8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Observatory/Solar </a:t>
            </a:r>
            <a:r>
              <a:rPr lang="en-US" sz="800" spc="-19" dirty="0">
                <a:latin typeface="Helvetica"/>
                <a:cs typeface="Helvetica"/>
              </a:rPr>
              <a:t>and </a:t>
            </a:r>
            <a:r>
              <a:rPr lang="en-US" sz="800" dirty="0" err="1">
                <a:latin typeface="Helvetica"/>
                <a:cs typeface="Helvetica"/>
              </a:rPr>
              <a:t>Heliospheric</a:t>
            </a:r>
            <a:r>
              <a:rPr lang="en-US" sz="800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Observatory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sensor. The SOHO is focused </a:t>
            </a:r>
            <a:r>
              <a:rPr lang="en-US" sz="800" spc="-19" dirty="0">
                <a:latin typeface="Helvetica"/>
                <a:cs typeface="Helvetica"/>
              </a:rPr>
              <a:t>on </a:t>
            </a:r>
            <a:r>
              <a:rPr lang="en-US" sz="800" dirty="0">
                <a:latin typeface="Helvetica"/>
                <a:cs typeface="Helvetica"/>
              </a:rPr>
              <a:t>observing the Sun, particularly </a:t>
            </a:r>
            <a:r>
              <a:rPr lang="en-US" sz="800" spc="-19" dirty="0">
                <a:latin typeface="Helvetica"/>
                <a:cs typeface="Helvetica"/>
              </a:rPr>
              <a:t>its </a:t>
            </a:r>
            <a:r>
              <a:rPr lang="en-US" sz="800" dirty="0">
                <a:latin typeface="Helvetica"/>
                <a:cs typeface="Helvetica"/>
              </a:rPr>
              <a:t>corona and solar wind. The </a:t>
            </a:r>
            <a:r>
              <a:rPr lang="en-US" sz="800" spc="-8" dirty="0">
                <a:latin typeface="Helvetica"/>
                <a:cs typeface="Helvetica"/>
              </a:rPr>
              <a:t>video </a:t>
            </a:r>
            <a:r>
              <a:rPr lang="en-US" sz="800" dirty="0">
                <a:latin typeface="Helvetica"/>
                <a:cs typeface="Helvetica"/>
              </a:rPr>
              <a:t>on the left shows a Solar </a:t>
            </a:r>
            <a:r>
              <a:rPr lang="en-US" sz="800" spc="-8" dirty="0">
                <a:latin typeface="Helvetica"/>
                <a:cs typeface="Helvetica"/>
              </a:rPr>
              <a:t>Particle </a:t>
            </a:r>
            <a:r>
              <a:rPr lang="en-US" sz="800" dirty="0">
                <a:latin typeface="Helvetica"/>
                <a:cs typeface="Helvetica"/>
              </a:rPr>
              <a:t>Event which you can see </a:t>
            </a:r>
            <a:r>
              <a:rPr lang="en-US" sz="800" spc="-8" dirty="0">
                <a:latin typeface="Helvetica"/>
                <a:cs typeface="Helvetica"/>
              </a:rPr>
              <a:t>causes </a:t>
            </a:r>
            <a:r>
              <a:rPr lang="en-US" sz="800" dirty="0">
                <a:latin typeface="Helvetica"/>
                <a:cs typeface="Helvetica"/>
              </a:rPr>
              <a:t>great distortions in the </a:t>
            </a:r>
            <a:r>
              <a:rPr lang="en-US" sz="800" spc="-8" dirty="0">
                <a:latin typeface="Helvetica"/>
                <a:cs typeface="Helvetica"/>
              </a:rPr>
              <a:t>pixels. 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Environments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produce</a:t>
            </a:r>
            <a:r>
              <a:rPr lang="en-US" sz="800" spc="3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effects</a:t>
            </a:r>
            <a:r>
              <a:rPr lang="en-US" sz="800" spc="34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on </a:t>
            </a:r>
            <a:r>
              <a:rPr lang="en-US" sz="800" dirty="0">
                <a:latin typeface="Helvetica"/>
                <a:cs typeface="Helvetica"/>
              </a:rPr>
              <a:t>products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that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can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cause </a:t>
            </a:r>
            <a:r>
              <a:rPr lang="en-US" sz="800" dirty="0">
                <a:latin typeface="Helvetica"/>
                <a:cs typeface="Helvetica"/>
              </a:rPr>
              <a:t>malfunctions.</a:t>
            </a:r>
            <a:r>
              <a:rPr lang="en-US" sz="800" spc="4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Depending</a:t>
            </a:r>
            <a:r>
              <a:rPr lang="en-US" sz="800" spc="41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on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what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malfunctions,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this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can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be </a:t>
            </a:r>
            <a:r>
              <a:rPr lang="en-US" sz="800" dirty="0">
                <a:latin typeface="Helvetica"/>
                <a:cs typeface="Helvetica"/>
              </a:rPr>
              <a:t>catastrophic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to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your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mission. </a:t>
            </a:r>
            <a:r>
              <a:rPr lang="en-US" sz="800" dirty="0">
                <a:latin typeface="Helvetica"/>
                <a:cs typeface="Helvetica"/>
              </a:rPr>
              <a:t>Justin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will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be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talking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more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on </a:t>
            </a:r>
            <a:r>
              <a:rPr lang="en-US" sz="800" dirty="0">
                <a:latin typeface="Helvetica"/>
                <a:cs typeface="Helvetica"/>
              </a:rPr>
              <a:t>mission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success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in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his </a:t>
            </a:r>
            <a:r>
              <a:rPr lang="en-US" sz="800" dirty="0">
                <a:latin typeface="Helvetica"/>
                <a:cs typeface="Helvetica"/>
              </a:rPr>
              <a:t>presentation</a:t>
            </a:r>
            <a:r>
              <a:rPr lang="en-US" sz="800" spc="38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tomorrow.</a:t>
            </a:r>
            <a:r>
              <a:rPr lang="en-US" sz="800" spc="38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Bottom </a:t>
            </a:r>
            <a:r>
              <a:rPr lang="en-US" sz="800" dirty="0">
                <a:latin typeface="Helvetica"/>
                <a:cs typeface="Helvetica"/>
              </a:rPr>
              <a:t>line,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if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you’re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operating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in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space, </a:t>
            </a:r>
            <a:r>
              <a:rPr lang="en-US" sz="800" dirty="0">
                <a:latin typeface="Helvetica"/>
                <a:cs typeface="Helvetica"/>
              </a:rPr>
              <a:t>you’re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going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to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encounter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varying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radiation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environments </a:t>
            </a:r>
            <a:r>
              <a:rPr lang="en-US" sz="800" dirty="0">
                <a:latin typeface="Helvetica"/>
                <a:cs typeface="Helvetica"/>
              </a:rPr>
              <a:t>and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need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to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plan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accordingly. Next.</a:t>
            </a:r>
            <a:endParaRPr lang="en-US" sz="800" dirty="0">
              <a:latin typeface="Helvetica"/>
              <a:cs typeface="Helvetic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53659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4F8D7-8265-9B30-4702-4D378ABB3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389596-8A5B-0D7D-AEAC-9EC123C9A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7E2513-3CCC-49D1-1E36-D123F9A3A8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41553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050">
              <a:spcBef>
                <a:spcPts val="300"/>
              </a:spcBef>
            </a:pPr>
            <a:r>
              <a:rPr lang="en-US" sz="800" b="1" i="1" dirty="0">
                <a:latin typeface="Helvetica"/>
                <a:cs typeface="Helvetica"/>
              </a:rPr>
              <a:t>Presenter</a:t>
            </a:r>
            <a:r>
              <a:rPr lang="en-US" sz="800" b="1" i="1" spc="-30" dirty="0">
                <a:latin typeface="Helvetica"/>
                <a:cs typeface="Helvetica"/>
              </a:rPr>
              <a:t> </a:t>
            </a:r>
            <a:r>
              <a:rPr lang="en-US" sz="800" b="1" i="1" spc="-8" dirty="0">
                <a:latin typeface="Helvetica"/>
                <a:cs typeface="Helvetica"/>
              </a:rPr>
              <a:t>Notes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i="1" spc="-8" dirty="0">
                <a:latin typeface="Helvetica"/>
                <a:cs typeface="Helvetica"/>
              </a:rPr>
              <a:t>2025-06-</a:t>
            </a:r>
            <a:r>
              <a:rPr lang="en-US" sz="800" i="1" dirty="0">
                <a:latin typeface="Helvetica"/>
                <a:cs typeface="Helvetica"/>
              </a:rPr>
              <a:t>03</a:t>
            </a:r>
            <a:r>
              <a:rPr lang="en-US" sz="800" i="1" spc="26" dirty="0">
                <a:latin typeface="Helvetica"/>
                <a:cs typeface="Helvetica"/>
              </a:rPr>
              <a:t> </a:t>
            </a:r>
            <a:r>
              <a:rPr lang="en-US" sz="800" i="1" spc="-8" dirty="0">
                <a:latin typeface="Helvetica"/>
                <a:cs typeface="Helvetica"/>
              </a:rPr>
              <a:t>15:00:27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spc="-8" dirty="0">
                <a:latin typeface="Helvetica"/>
                <a:cs typeface="Helvetica"/>
              </a:rPr>
              <a:t>-------------------------------------------</a:t>
            </a:r>
            <a:r>
              <a:rPr lang="en-US" sz="800" spc="-38" dirty="0">
                <a:latin typeface="Helvetica"/>
                <a:cs typeface="Helvetica"/>
              </a:rPr>
              <a:t>-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Low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Earth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Orbits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(LEO)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are </a:t>
            </a:r>
            <a:r>
              <a:rPr lang="en-US" sz="800" dirty="0">
                <a:latin typeface="Helvetica"/>
                <a:cs typeface="Helvetica"/>
              </a:rPr>
              <a:t>generally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those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less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than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3,000 </a:t>
            </a:r>
            <a:r>
              <a:rPr lang="en-US" sz="800" dirty="0">
                <a:latin typeface="Helvetica"/>
                <a:cs typeface="Helvetica"/>
              </a:rPr>
              <a:t>km.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I’ve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listed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two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LEO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orbits,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38" dirty="0">
                <a:latin typeface="Helvetica"/>
                <a:cs typeface="Helvetica"/>
              </a:rPr>
              <a:t>a </a:t>
            </a:r>
            <a:r>
              <a:rPr lang="en-US" sz="800" dirty="0">
                <a:latin typeface="Helvetica"/>
                <a:cs typeface="Helvetica"/>
              </a:rPr>
              <a:t>low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inclination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(equatorial)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and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spc="-38" dirty="0">
                <a:latin typeface="Helvetica"/>
                <a:cs typeface="Helvetica"/>
              </a:rPr>
              <a:t>a </a:t>
            </a:r>
            <a:r>
              <a:rPr lang="en-US" sz="800" dirty="0">
                <a:latin typeface="Helvetica"/>
                <a:cs typeface="Helvetica"/>
              </a:rPr>
              <a:t>polar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inclination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(or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90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degree) orbit. 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Systems traversing a Low </a:t>
            </a:r>
            <a:r>
              <a:rPr lang="en-US" sz="800" spc="-19" dirty="0">
                <a:latin typeface="Helvetica"/>
                <a:cs typeface="Helvetica"/>
              </a:rPr>
              <a:t>Inc </a:t>
            </a:r>
            <a:r>
              <a:rPr lang="en-US" sz="800" dirty="0">
                <a:latin typeface="Helvetica"/>
                <a:cs typeface="Helvetica"/>
              </a:rPr>
              <a:t>LEO orbit are close to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dirty="0">
                <a:latin typeface="Helvetica"/>
                <a:cs typeface="Helvetica"/>
              </a:rPr>
              <a:t>equator. So lets walk through </a:t>
            </a:r>
            <a:r>
              <a:rPr lang="en-US" sz="800" spc="-19" dirty="0">
                <a:latin typeface="Helvetica"/>
                <a:cs typeface="Helvetica"/>
              </a:rPr>
              <a:t>are </a:t>
            </a:r>
            <a:r>
              <a:rPr lang="en-US" sz="800" dirty="0">
                <a:latin typeface="Helvetica"/>
                <a:cs typeface="Helvetica"/>
              </a:rPr>
              <a:t>various environments.</a:t>
            </a:r>
            <a:r>
              <a:rPr lang="en-US" sz="800" spc="20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With </a:t>
            </a:r>
            <a:r>
              <a:rPr lang="en-US" sz="800" spc="-15" dirty="0">
                <a:latin typeface="Helvetica"/>
                <a:cs typeface="Helvetica"/>
              </a:rPr>
              <a:t>this </a:t>
            </a:r>
            <a:r>
              <a:rPr lang="en-US" sz="800" dirty="0">
                <a:latin typeface="Helvetica"/>
                <a:cs typeface="Helvetica"/>
              </a:rPr>
              <a:t>orbit you’re going to be </a:t>
            </a:r>
            <a:r>
              <a:rPr lang="en-US" sz="800" spc="-15" dirty="0">
                <a:latin typeface="Helvetica"/>
                <a:cs typeface="Helvetica"/>
              </a:rPr>
              <a:t>well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within the Van Allen Belts </a:t>
            </a:r>
            <a:r>
              <a:rPr lang="en-US" sz="800" spc="-8" dirty="0">
                <a:latin typeface="Helvetica"/>
                <a:cs typeface="Helvetica"/>
              </a:rPr>
              <a:t>which </a:t>
            </a:r>
            <a:r>
              <a:rPr lang="en-US" sz="800" dirty="0">
                <a:latin typeface="Helvetica"/>
                <a:cs typeface="Helvetica"/>
              </a:rPr>
              <a:t>will be providing protection </a:t>
            </a:r>
            <a:r>
              <a:rPr lang="en-US" sz="800" spc="-15" dirty="0">
                <a:latin typeface="Helvetica"/>
                <a:cs typeface="Helvetica"/>
              </a:rPr>
              <a:t>from </a:t>
            </a:r>
            <a:r>
              <a:rPr lang="en-US" sz="800" dirty="0">
                <a:latin typeface="Helvetica"/>
                <a:cs typeface="Helvetica"/>
              </a:rPr>
              <a:t>Solar Particles as well </a:t>
            </a:r>
            <a:r>
              <a:rPr lang="en-US" sz="800" spc="-19" dirty="0">
                <a:latin typeface="Helvetica"/>
                <a:cs typeface="Helvetica"/>
              </a:rPr>
              <a:t>as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minimal exposure to GCRs.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dirty="0">
                <a:latin typeface="Helvetica"/>
                <a:cs typeface="Helvetica"/>
              </a:rPr>
              <a:t>environment that is </a:t>
            </a:r>
            <a:r>
              <a:rPr lang="en-US" sz="800" spc="-8" dirty="0">
                <a:latin typeface="Helvetica"/>
                <a:cs typeface="Helvetica"/>
              </a:rPr>
              <a:t>really </a:t>
            </a:r>
            <a:r>
              <a:rPr lang="en-US" sz="800" dirty="0">
                <a:latin typeface="Helvetica"/>
                <a:cs typeface="Helvetica"/>
              </a:rPr>
              <a:t>dominating this regime is </a:t>
            </a:r>
            <a:r>
              <a:rPr lang="en-US" sz="800" spc="-15" dirty="0">
                <a:latin typeface="Helvetica"/>
                <a:cs typeface="Helvetica"/>
              </a:rPr>
              <a:t>your </a:t>
            </a:r>
            <a:r>
              <a:rPr lang="en-US" sz="800" dirty="0">
                <a:latin typeface="Helvetica"/>
                <a:cs typeface="Helvetica"/>
              </a:rPr>
              <a:t>trapped protons, in </a:t>
            </a:r>
            <a:r>
              <a:rPr lang="en-US" sz="800" spc="-8" dirty="0">
                <a:latin typeface="Helvetica"/>
                <a:cs typeface="Helvetica"/>
              </a:rPr>
              <a:t>particular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from the South Atlantic </a:t>
            </a:r>
            <a:r>
              <a:rPr lang="en-US" sz="800" spc="-8" dirty="0">
                <a:latin typeface="Helvetica"/>
                <a:cs typeface="Helvetica"/>
              </a:rPr>
              <a:t>Anomaly. </a:t>
            </a:r>
            <a:r>
              <a:rPr lang="en-US" sz="800" dirty="0">
                <a:latin typeface="Helvetica"/>
                <a:cs typeface="Helvetica"/>
              </a:rPr>
              <a:t>Now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let’s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look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at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Polar.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We’re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still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going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to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see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roughly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dirty="0">
                <a:latin typeface="Helvetica"/>
                <a:cs typeface="Helvetica"/>
              </a:rPr>
              <a:t>same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trapped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environment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but </a:t>
            </a:r>
            <a:r>
              <a:rPr lang="en-US" sz="800" dirty="0">
                <a:latin typeface="Helvetica"/>
                <a:cs typeface="Helvetica"/>
              </a:rPr>
              <a:t>notice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how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Solar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Particles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and </a:t>
            </a:r>
            <a:r>
              <a:rPr lang="en-US" sz="800" dirty="0">
                <a:latin typeface="Helvetica"/>
                <a:cs typeface="Helvetica"/>
              </a:rPr>
              <a:t>Galactic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Cosmic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Rays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are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now </a:t>
            </a:r>
            <a:r>
              <a:rPr lang="en-US" sz="800" dirty="0">
                <a:latin typeface="Helvetica"/>
                <a:cs typeface="Helvetica"/>
              </a:rPr>
              <a:t>playing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greater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factor.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This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is </a:t>
            </a:r>
            <a:r>
              <a:rPr lang="en-US" sz="800" dirty="0">
                <a:latin typeface="Helvetica"/>
                <a:cs typeface="Helvetica"/>
              </a:rPr>
              <a:t>because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this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orbit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will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15" dirty="0">
                <a:latin typeface="Helvetica"/>
                <a:cs typeface="Helvetica"/>
              </a:rPr>
              <a:t>move </a:t>
            </a:r>
            <a:r>
              <a:rPr lang="en-US" sz="800" dirty="0">
                <a:latin typeface="Helvetica"/>
                <a:cs typeface="Helvetica"/>
              </a:rPr>
              <a:t>across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poles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where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there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Van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Allen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Belts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come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to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point. </a:t>
            </a:r>
            <a:r>
              <a:rPr lang="en-US" sz="800" dirty="0">
                <a:latin typeface="Helvetica"/>
                <a:cs typeface="Helvetica"/>
              </a:rPr>
              <a:t>So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systems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are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going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to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be </a:t>
            </a:r>
            <a:r>
              <a:rPr lang="en-US" sz="800" dirty="0">
                <a:latin typeface="Helvetica"/>
                <a:cs typeface="Helvetica"/>
              </a:rPr>
              <a:t>exposed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to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solar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protons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and </a:t>
            </a:r>
            <a:r>
              <a:rPr lang="en-US" sz="800" dirty="0">
                <a:latin typeface="Helvetica"/>
                <a:cs typeface="Helvetica"/>
              </a:rPr>
              <a:t>GCRs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over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poles. 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Finally to drive this home, </a:t>
            </a:r>
            <a:r>
              <a:rPr lang="en-US" sz="800" spc="-8" dirty="0">
                <a:latin typeface="Helvetica"/>
                <a:cs typeface="Helvetica"/>
              </a:rPr>
              <a:t>notice </a:t>
            </a:r>
            <a:r>
              <a:rPr lang="en-US" sz="800" dirty="0">
                <a:latin typeface="Helvetica"/>
                <a:cs typeface="Helvetica"/>
              </a:rPr>
              <a:t>that these environments </a:t>
            </a:r>
            <a:r>
              <a:rPr lang="en-US" sz="800" spc="-19" dirty="0">
                <a:latin typeface="Helvetica"/>
                <a:cs typeface="Helvetica"/>
              </a:rPr>
              <a:t>are </a:t>
            </a:r>
            <a:r>
              <a:rPr lang="en-US" sz="800" dirty="0">
                <a:latin typeface="Helvetica"/>
                <a:cs typeface="Helvetica"/>
              </a:rPr>
              <a:t>changing depending on the </a:t>
            </a:r>
            <a:r>
              <a:rPr lang="en-US" sz="800" spc="-8" dirty="0">
                <a:latin typeface="Helvetica"/>
                <a:cs typeface="Helvetica"/>
              </a:rPr>
              <a:t>solar </a:t>
            </a:r>
            <a:r>
              <a:rPr lang="en-US" sz="800" dirty="0">
                <a:latin typeface="Helvetica"/>
                <a:cs typeface="Helvetica"/>
              </a:rPr>
              <a:t>activity. </a:t>
            </a:r>
            <a:r>
              <a:rPr lang="en-US" sz="800" spc="-8" dirty="0">
                <a:latin typeface="Helvetica"/>
                <a:cs typeface="Helvetica"/>
              </a:rPr>
              <a:t>Next.</a:t>
            </a:r>
            <a:endParaRPr lang="en-US" sz="800" dirty="0">
              <a:latin typeface="Helvetica"/>
              <a:cs typeface="Helvetic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99821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050">
              <a:spcBef>
                <a:spcPts val="300"/>
              </a:spcBef>
            </a:pPr>
            <a:r>
              <a:rPr lang="en-US" sz="800" b="1" i="1" dirty="0">
                <a:latin typeface="Helvetica"/>
                <a:cs typeface="Helvetica"/>
              </a:rPr>
              <a:t>Presenter</a:t>
            </a:r>
            <a:r>
              <a:rPr lang="en-US" sz="800" b="1" i="1" spc="-30" dirty="0">
                <a:latin typeface="Helvetica"/>
                <a:cs typeface="Helvetica"/>
              </a:rPr>
              <a:t> </a:t>
            </a:r>
            <a:r>
              <a:rPr lang="en-US" sz="800" b="1" i="1" spc="-8" dirty="0">
                <a:latin typeface="Helvetica"/>
                <a:cs typeface="Helvetica"/>
              </a:rPr>
              <a:t>Notes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i="1" spc="-8" dirty="0">
                <a:latin typeface="Helvetica"/>
                <a:cs typeface="Helvetica"/>
              </a:rPr>
              <a:t>2025-06-</a:t>
            </a:r>
            <a:r>
              <a:rPr lang="en-US" sz="800" i="1" dirty="0">
                <a:latin typeface="Helvetica"/>
                <a:cs typeface="Helvetica"/>
              </a:rPr>
              <a:t>03</a:t>
            </a:r>
            <a:r>
              <a:rPr lang="en-US" sz="800" i="1" spc="26" dirty="0">
                <a:latin typeface="Helvetica"/>
                <a:cs typeface="Helvetica"/>
              </a:rPr>
              <a:t> </a:t>
            </a:r>
            <a:r>
              <a:rPr lang="en-US" sz="800" i="1" spc="-8" dirty="0">
                <a:latin typeface="Helvetica"/>
                <a:cs typeface="Helvetica"/>
              </a:rPr>
              <a:t>15:00:28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spc="-8" dirty="0">
                <a:latin typeface="Helvetica"/>
                <a:cs typeface="Helvetica"/>
              </a:rPr>
              <a:t>-------------------------------------------</a:t>
            </a:r>
            <a:r>
              <a:rPr lang="en-US" sz="800" spc="-38" dirty="0">
                <a:latin typeface="Helvetica"/>
                <a:cs typeface="Helvetica"/>
              </a:rPr>
              <a:t>-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Medium Earth Orbits (or </a:t>
            </a:r>
            <a:r>
              <a:rPr lang="en-US" sz="800" spc="-15" dirty="0">
                <a:latin typeface="Helvetica"/>
                <a:cs typeface="Helvetica"/>
              </a:rPr>
              <a:t>MEO) </a:t>
            </a:r>
            <a:r>
              <a:rPr lang="en-US" sz="800" dirty="0">
                <a:latin typeface="Helvetica"/>
                <a:cs typeface="Helvetica"/>
              </a:rPr>
              <a:t>range between roughly 3,000 </a:t>
            </a:r>
            <a:r>
              <a:rPr lang="en-US" sz="800" spc="-19" dirty="0">
                <a:latin typeface="Helvetica"/>
                <a:cs typeface="Helvetica"/>
              </a:rPr>
              <a:t>to </a:t>
            </a:r>
            <a:r>
              <a:rPr lang="en-US" sz="800" dirty="0">
                <a:latin typeface="Helvetica"/>
                <a:cs typeface="Helvetica"/>
              </a:rPr>
              <a:t>~35 </a:t>
            </a:r>
            <a:r>
              <a:rPr lang="en-US" sz="800" spc="-19" dirty="0">
                <a:latin typeface="Helvetica"/>
                <a:cs typeface="Helvetica"/>
              </a:rPr>
              <a:t>km.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Systems traversing a MEO </a:t>
            </a:r>
            <a:r>
              <a:rPr lang="en-US" sz="800" spc="-8" dirty="0">
                <a:latin typeface="Helvetica"/>
                <a:cs typeface="Helvetica"/>
              </a:rPr>
              <a:t>orbit </a:t>
            </a:r>
            <a:r>
              <a:rPr lang="en-US" sz="800" dirty="0">
                <a:latin typeface="Helvetica"/>
                <a:cs typeface="Helvetica"/>
              </a:rPr>
              <a:t>should expect to see a </a:t>
            </a:r>
            <a:r>
              <a:rPr lang="en-US" sz="800" spc="-8" dirty="0">
                <a:latin typeface="Helvetica"/>
                <a:cs typeface="Helvetica"/>
              </a:rPr>
              <a:t>severe </a:t>
            </a:r>
            <a:r>
              <a:rPr lang="en-US" sz="800" dirty="0">
                <a:latin typeface="Helvetica"/>
                <a:cs typeface="Helvetica"/>
              </a:rPr>
              <a:t>hazard from trapped </a:t>
            </a:r>
            <a:r>
              <a:rPr lang="en-US" sz="800" spc="-8" dirty="0">
                <a:latin typeface="Helvetica"/>
                <a:cs typeface="Helvetica"/>
              </a:rPr>
              <a:t>radiation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and are going to see </a:t>
            </a:r>
            <a:r>
              <a:rPr lang="en-US" sz="800" spc="-15" dirty="0">
                <a:latin typeface="Helvetica"/>
                <a:cs typeface="Helvetica"/>
              </a:rPr>
              <a:t>more </a:t>
            </a:r>
            <a:r>
              <a:rPr lang="en-US" sz="800" dirty="0">
                <a:latin typeface="Helvetica"/>
                <a:cs typeface="Helvetica"/>
              </a:rPr>
              <a:t>impacts as well from both </a:t>
            </a:r>
            <a:r>
              <a:rPr lang="en-US" sz="800" spc="-8" dirty="0">
                <a:latin typeface="Helvetica"/>
                <a:cs typeface="Helvetica"/>
              </a:rPr>
              <a:t>solar </a:t>
            </a:r>
            <a:r>
              <a:rPr lang="en-US" sz="800" dirty="0">
                <a:latin typeface="Helvetica"/>
                <a:cs typeface="Helvetica"/>
              </a:rPr>
              <a:t>particles and GCRs. Once </a:t>
            </a:r>
            <a:r>
              <a:rPr lang="en-US" sz="800" spc="-15" dirty="0">
                <a:latin typeface="Helvetica"/>
                <a:cs typeface="Helvetica"/>
              </a:rPr>
              <a:t>more </a:t>
            </a:r>
            <a:r>
              <a:rPr lang="en-US" sz="800" dirty="0">
                <a:latin typeface="Helvetica"/>
                <a:cs typeface="Helvetica"/>
              </a:rPr>
              <a:t>which environments are </a:t>
            </a:r>
            <a:r>
              <a:rPr lang="en-US" sz="800" spc="-15" dirty="0">
                <a:latin typeface="Helvetica"/>
                <a:cs typeface="Helvetica"/>
              </a:rPr>
              <a:t>most </a:t>
            </a:r>
            <a:r>
              <a:rPr lang="en-US" sz="800" dirty="0">
                <a:latin typeface="Helvetica"/>
                <a:cs typeface="Helvetica"/>
              </a:rPr>
              <a:t>dominate will also depend </a:t>
            </a:r>
            <a:r>
              <a:rPr lang="en-US" sz="800" spc="-19" dirty="0">
                <a:latin typeface="Helvetica"/>
                <a:cs typeface="Helvetica"/>
              </a:rPr>
              <a:t>on </a:t>
            </a:r>
            <a:r>
              <a:rPr lang="en-US" sz="800" dirty="0">
                <a:latin typeface="Helvetica"/>
                <a:cs typeface="Helvetica"/>
              </a:rPr>
              <a:t>where you are in the solar </a:t>
            </a:r>
            <a:r>
              <a:rPr lang="en-US" sz="800" spc="-8" dirty="0">
                <a:latin typeface="Helvetica"/>
                <a:cs typeface="Helvetica"/>
              </a:rPr>
              <a:t>cycle.</a:t>
            </a:r>
            <a:endParaRPr lang="en-US" sz="800" dirty="0">
              <a:latin typeface="Helvetica"/>
              <a:cs typeface="Helvetic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47187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050">
              <a:spcBef>
                <a:spcPts val="300"/>
              </a:spcBef>
            </a:pPr>
            <a:r>
              <a:rPr lang="en-US" sz="800" b="1" i="1" dirty="0">
                <a:latin typeface="Helvetica"/>
                <a:cs typeface="Helvetica"/>
              </a:rPr>
              <a:t>Presenter</a:t>
            </a:r>
            <a:r>
              <a:rPr lang="en-US" sz="800" b="1" i="1" spc="-30" dirty="0">
                <a:latin typeface="Helvetica"/>
                <a:cs typeface="Helvetica"/>
              </a:rPr>
              <a:t> </a:t>
            </a:r>
            <a:r>
              <a:rPr lang="en-US" sz="800" b="1" i="1" spc="-8" dirty="0">
                <a:latin typeface="Helvetica"/>
                <a:cs typeface="Helvetica"/>
              </a:rPr>
              <a:t>Notes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i="1" spc="-8" dirty="0">
                <a:latin typeface="Helvetica"/>
                <a:cs typeface="Helvetica"/>
              </a:rPr>
              <a:t>2025-06-</a:t>
            </a:r>
            <a:r>
              <a:rPr lang="en-US" sz="800" i="1" dirty="0">
                <a:latin typeface="Helvetica"/>
                <a:cs typeface="Helvetica"/>
              </a:rPr>
              <a:t>03</a:t>
            </a:r>
            <a:r>
              <a:rPr lang="en-US" sz="800" i="1" spc="26" dirty="0">
                <a:latin typeface="Helvetica"/>
                <a:cs typeface="Helvetica"/>
              </a:rPr>
              <a:t> </a:t>
            </a:r>
            <a:r>
              <a:rPr lang="en-US" sz="800" i="1" spc="-8" dirty="0">
                <a:latin typeface="Helvetica"/>
                <a:cs typeface="Helvetica"/>
              </a:rPr>
              <a:t>15:00:29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spc="-8" dirty="0">
                <a:latin typeface="Helvetica"/>
                <a:cs typeface="Helvetica"/>
              </a:rPr>
              <a:t>-------------------------------------------</a:t>
            </a:r>
            <a:r>
              <a:rPr lang="en-US" sz="800" spc="-38" dirty="0">
                <a:latin typeface="Helvetica"/>
                <a:cs typeface="Helvetica"/>
              </a:rPr>
              <a:t>-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As the name suggests </a:t>
            </a:r>
            <a:r>
              <a:rPr lang="en-US" sz="800" spc="-8" dirty="0">
                <a:latin typeface="Helvetica"/>
                <a:cs typeface="Helvetica"/>
              </a:rPr>
              <a:t>Highly </a:t>
            </a:r>
            <a:r>
              <a:rPr lang="en-US" sz="800" dirty="0">
                <a:latin typeface="Helvetica"/>
                <a:cs typeface="Helvetica"/>
              </a:rPr>
              <a:t>Elliptical Orbits (or HEO) </a:t>
            </a:r>
            <a:r>
              <a:rPr lang="en-US" sz="800" spc="-19" dirty="0">
                <a:latin typeface="Helvetica"/>
                <a:cs typeface="Helvetica"/>
              </a:rPr>
              <a:t>are </a:t>
            </a:r>
            <a:r>
              <a:rPr lang="en-US" sz="800" dirty="0">
                <a:latin typeface="Helvetica"/>
                <a:cs typeface="Helvetica"/>
              </a:rPr>
              <a:t>orbits that are elliptical in </a:t>
            </a:r>
            <a:r>
              <a:rPr lang="en-US" sz="800" spc="-8" dirty="0">
                <a:latin typeface="Helvetica"/>
                <a:cs typeface="Helvetica"/>
              </a:rPr>
              <a:t>shape </a:t>
            </a:r>
            <a:r>
              <a:rPr lang="en-US" sz="800" dirty="0">
                <a:latin typeface="Helvetica"/>
                <a:cs typeface="Helvetica"/>
              </a:rPr>
              <a:t>rather than circular and off </a:t>
            </a:r>
            <a:r>
              <a:rPr lang="en-US" sz="800" spc="-8" dirty="0">
                <a:latin typeface="Helvetica"/>
                <a:cs typeface="Helvetica"/>
              </a:rPr>
              <a:t>center </a:t>
            </a:r>
            <a:r>
              <a:rPr lang="en-US" sz="800" dirty="0">
                <a:latin typeface="Helvetica"/>
                <a:cs typeface="Helvetica"/>
              </a:rPr>
              <a:t>of </a:t>
            </a:r>
            <a:r>
              <a:rPr lang="en-US" sz="800" spc="-8" dirty="0">
                <a:latin typeface="Helvetica"/>
                <a:cs typeface="Helvetica"/>
              </a:rPr>
              <a:t>earth.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Systems traversing a HEO </a:t>
            </a:r>
            <a:r>
              <a:rPr lang="en-US" sz="800" spc="-8" dirty="0">
                <a:latin typeface="Helvetica"/>
                <a:cs typeface="Helvetica"/>
              </a:rPr>
              <a:t>orbit </a:t>
            </a:r>
            <a:r>
              <a:rPr lang="en-US" sz="800" dirty="0">
                <a:latin typeface="Helvetica"/>
                <a:cs typeface="Helvetica"/>
              </a:rPr>
              <a:t>should expect to see a </a:t>
            </a:r>
            <a:r>
              <a:rPr lang="en-US" sz="800" spc="-8" dirty="0">
                <a:latin typeface="Helvetica"/>
                <a:cs typeface="Helvetica"/>
              </a:rPr>
              <a:t>severe </a:t>
            </a:r>
            <a:r>
              <a:rPr lang="en-US" sz="800" dirty="0">
                <a:latin typeface="Helvetica"/>
                <a:cs typeface="Helvetica"/>
              </a:rPr>
              <a:t>hazards from all </a:t>
            </a:r>
            <a:r>
              <a:rPr lang="en-US" sz="800" spc="-8" dirty="0">
                <a:latin typeface="Helvetica"/>
                <a:cs typeface="Helvetica"/>
              </a:rPr>
              <a:t>environments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but truly this is going to </a:t>
            </a:r>
            <a:r>
              <a:rPr lang="en-US" sz="800" spc="-8" dirty="0">
                <a:latin typeface="Helvetica"/>
                <a:cs typeface="Helvetica"/>
              </a:rPr>
              <a:t>depend </a:t>
            </a:r>
            <a:r>
              <a:rPr lang="en-US" sz="800" dirty="0">
                <a:latin typeface="Helvetica"/>
                <a:cs typeface="Helvetica"/>
              </a:rPr>
              <a:t>on the furthest distance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dirty="0">
                <a:latin typeface="Helvetica"/>
                <a:cs typeface="Helvetica"/>
              </a:rPr>
              <a:t>system is from Earth (or </a:t>
            </a:r>
            <a:r>
              <a:rPr lang="en-US" sz="800" spc="-8" dirty="0">
                <a:latin typeface="Helvetica"/>
                <a:cs typeface="Helvetica"/>
              </a:rPr>
              <a:t>apogee) </a:t>
            </a:r>
            <a:r>
              <a:rPr lang="en-US" sz="800" dirty="0">
                <a:latin typeface="Helvetica"/>
                <a:cs typeface="Helvetica"/>
              </a:rPr>
              <a:t>and the closest distance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dirty="0">
                <a:latin typeface="Helvetica"/>
                <a:cs typeface="Helvetica"/>
              </a:rPr>
              <a:t>system is to earth (or also </a:t>
            </a:r>
            <a:r>
              <a:rPr lang="en-US" sz="800" spc="-8" dirty="0">
                <a:latin typeface="Helvetica"/>
                <a:cs typeface="Helvetica"/>
              </a:rPr>
              <a:t>called </a:t>
            </a:r>
            <a:r>
              <a:rPr lang="en-US" sz="800" dirty="0">
                <a:latin typeface="Helvetica"/>
                <a:cs typeface="Helvetica"/>
              </a:rPr>
              <a:t>perigee). Generally </a:t>
            </a:r>
            <a:r>
              <a:rPr lang="en-US" sz="800" spc="-8" dirty="0">
                <a:latin typeface="Helvetica"/>
                <a:cs typeface="Helvetica"/>
              </a:rPr>
              <a:t>speaking </a:t>
            </a:r>
            <a:r>
              <a:rPr lang="en-US" sz="800" dirty="0">
                <a:latin typeface="Helvetica"/>
                <a:cs typeface="Helvetica"/>
              </a:rPr>
              <a:t>though, one would expect a </a:t>
            </a:r>
            <a:r>
              <a:rPr lang="en-US" sz="800" spc="-19" dirty="0">
                <a:latin typeface="Helvetica"/>
                <a:cs typeface="Helvetica"/>
              </a:rPr>
              <a:t>HEO </a:t>
            </a:r>
            <a:r>
              <a:rPr lang="en-US" sz="800" dirty="0">
                <a:latin typeface="Helvetica"/>
                <a:cs typeface="Helvetica"/>
              </a:rPr>
              <a:t>system to pass through the </a:t>
            </a:r>
            <a:r>
              <a:rPr lang="en-US" sz="800" spc="-8" dirty="0">
                <a:latin typeface="Helvetica"/>
                <a:cs typeface="Helvetica"/>
              </a:rPr>
              <a:t>inner </a:t>
            </a:r>
            <a:r>
              <a:rPr lang="en-US" sz="800" dirty="0">
                <a:latin typeface="Helvetica"/>
                <a:cs typeface="Helvetica"/>
              </a:rPr>
              <a:t>belt near perigee, and </a:t>
            </a:r>
            <a:r>
              <a:rPr lang="en-US" sz="800" spc="-19" dirty="0">
                <a:latin typeface="Helvetica"/>
                <a:cs typeface="Helvetica"/>
              </a:rPr>
              <a:t>be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exposed to solar particle </a:t>
            </a:r>
            <a:r>
              <a:rPr lang="en-US" sz="800" spc="-8" dirty="0">
                <a:latin typeface="Helvetica"/>
                <a:cs typeface="Helvetica"/>
              </a:rPr>
              <a:t>events </a:t>
            </a:r>
            <a:r>
              <a:rPr lang="en-US" sz="800" dirty="0">
                <a:latin typeface="Helvetica"/>
                <a:cs typeface="Helvetica"/>
              </a:rPr>
              <a:t>and GCRs at </a:t>
            </a:r>
            <a:r>
              <a:rPr lang="en-US" sz="800" spc="-8" dirty="0">
                <a:latin typeface="Helvetica"/>
                <a:cs typeface="Helvetica"/>
              </a:rPr>
              <a:t>apogee.</a:t>
            </a:r>
            <a:endParaRPr lang="en-US" sz="800" dirty="0">
              <a:latin typeface="Helvetica"/>
              <a:cs typeface="Helvetica"/>
            </a:endParaRPr>
          </a:p>
          <a:p>
            <a:pPr marL="19050"/>
            <a:r>
              <a:rPr lang="en-US" sz="800" spc="-15" dirty="0">
                <a:latin typeface="Helvetica"/>
                <a:cs typeface="Helvetica"/>
              </a:rPr>
              <a:t>Next</a:t>
            </a:r>
            <a:endParaRPr lang="en-US" sz="800" dirty="0">
              <a:latin typeface="Helvetica"/>
              <a:cs typeface="Helvetic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04676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050">
              <a:spcBef>
                <a:spcPts val="300"/>
              </a:spcBef>
            </a:pPr>
            <a:r>
              <a:rPr lang="en-US" sz="800" b="1" i="1" dirty="0">
                <a:latin typeface="Helvetica"/>
                <a:cs typeface="Helvetica"/>
              </a:rPr>
              <a:t>Presenter</a:t>
            </a:r>
            <a:r>
              <a:rPr lang="en-US" sz="800" b="1" i="1" spc="-30" dirty="0">
                <a:latin typeface="Helvetica"/>
                <a:cs typeface="Helvetica"/>
              </a:rPr>
              <a:t> </a:t>
            </a:r>
            <a:r>
              <a:rPr lang="en-US" sz="800" b="1" i="1" spc="-8" dirty="0">
                <a:latin typeface="Helvetica"/>
                <a:cs typeface="Helvetica"/>
              </a:rPr>
              <a:t>Notes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i="1" spc="-8" dirty="0">
                <a:latin typeface="Helvetica"/>
                <a:cs typeface="Helvetica"/>
              </a:rPr>
              <a:t>2025-06-</a:t>
            </a:r>
            <a:r>
              <a:rPr lang="en-US" sz="800" i="1" dirty="0">
                <a:latin typeface="Helvetica"/>
                <a:cs typeface="Helvetica"/>
              </a:rPr>
              <a:t>03</a:t>
            </a:r>
            <a:r>
              <a:rPr lang="en-US" sz="800" i="1" spc="26" dirty="0">
                <a:latin typeface="Helvetica"/>
                <a:cs typeface="Helvetica"/>
              </a:rPr>
              <a:t> </a:t>
            </a:r>
            <a:r>
              <a:rPr lang="en-US" sz="800" i="1" spc="-8" dirty="0">
                <a:latin typeface="Helvetica"/>
                <a:cs typeface="Helvetica"/>
              </a:rPr>
              <a:t>15:00:30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spc="-8" dirty="0">
                <a:latin typeface="Helvetica"/>
                <a:cs typeface="Helvetica"/>
              </a:rPr>
              <a:t>-------------------------------------------</a:t>
            </a:r>
            <a:r>
              <a:rPr lang="en-US" sz="800" spc="-38" dirty="0">
                <a:latin typeface="Helvetica"/>
                <a:cs typeface="Helvetica"/>
              </a:rPr>
              <a:t>-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Geosynchronous Orbits </a:t>
            </a:r>
            <a:r>
              <a:rPr lang="en-US" sz="800" spc="-19" dirty="0">
                <a:latin typeface="Helvetica"/>
                <a:cs typeface="Helvetica"/>
              </a:rPr>
              <a:t>(or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GEO) are at an altitude of </a:t>
            </a:r>
            <a:r>
              <a:rPr lang="en-US" sz="800" spc="-8" dirty="0">
                <a:latin typeface="Helvetica"/>
                <a:cs typeface="Helvetica"/>
              </a:rPr>
              <a:t>35,856 </a:t>
            </a:r>
            <a:r>
              <a:rPr lang="en-US" sz="800" spc="-19" dirty="0">
                <a:latin typeface="Helvetica"/>
                <a:cs typeface="Helvetica"/>
              </a:rPr>
              <a:t>km.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Systems traversing a GEO </a:t>
            </a:r>
            <a:r>
              <a:rPr lang="en-US" sz="800" spc="-8" dirty="0">
                <a:latin typeface="Helvetica"/>
                <a:cs typeface="Helvetica"/>
              </a:rPr>
              <a:t>orbit </a:t>
            </a:r>
            <a:r>
              <a:rPr lang="en-US" sz="800" dirty="0">
                <a:latin typeface="Helvetica"/>
                <a:cs typeface="Helvetica"/>
              </a:rPr>
              <a:t>will not see a trapped </a:t>
            </a:r>
            <a:r>
              <a:rPr lang="en-US" sz="800" spc="-8" dirty="0">
                <a:latin typeface="Helvetica"/>
                <a:cs typeface="Helvetica"/>
              </a:rPr>
              <a:t>proton </a:t>
            </a:r>
            <a:r>
              <a:rPr lang="en-US" sz="800" dirty="0">
                <a:latin typeface="Helvetica"/>
                <a:cs typeface="Helvetica"/>
              </a:rPr>
              <a:t>environment but will see </a:t>
            </a:r>
            <a:r>
              <a:rPr lang="en-US" sz="800" spc="-38" dirty="0">
                <a:latin typeface="Helvetica"/>
                <a:cs typeface="Helvetica"/>
              </a:rPr>
              <a:t>a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severe trapped </a:t>
            </a:r>
            <a:r>
              <a:rPr lang="en-US" sz="800" spc="-8" dirty="0">
                <a:latin typeface="Helvetica"/>
                <a:cs typeface="Helvetica"/>
              </a:rPr>
              <a:t>electron </a:t>
            </a:r>
            <a:r>
              <a:rPr lang="en-US" sz="800" dirty="0">
                <a:latin typeface="Helvetica"/>
                <a:cs typeface="Helvetica"/>
              </a:rPr>
              <a:t>environment and once more </a:t>
            </a:r>
            <a:r>
              <a:rPr lang="en-US" sz="800" spc="-19" dirty="0">
                <a:latin typeface="Helvetica"/>
                <a:cs typeface="Helvetica"/>
              </a:rPr>
              <a:t>be </a:t>
            </a:r>
            <a:r>
              <a:rPr lang="en-US" sz="800" dirty="0">
                <a:latin typeface="Helvetica"/>
                <a:cs typeface="Helvetica"/>
              </a:rPr>
              <a:t>exposed to solar particle </a:t>
            </a:r>
            <a:r>
              <a:rPr lang="en-US" sz="800" spc="-8" dirty="0">
                <a:latin typeface="Helvetica"/>
                <a:cs typeface="Helvetica"/>
              </a:rPr>
              <a:t>events </a:t>
            </a:r>
            <a:r>
              <a:rPr lang="en-US" sz="800" dirty="0">
                <a:latin typeface="Helvetica"/>
                <a:cs typeface="Helvetica"/>
              </a:rPr>
              <a:t>and galactic cosmic rays. </a:t>
            </a:r>
            <a:r>
              <a:rPr lang="en-US" sz="800" spc="-15" dirty="0">
                <a:latin typeface="Helvetica"/>
                <a:cs typeface="Helvetica"/>
              </a:rPr>
              <a:t>Once </a:t>
            </a:r>
            <a:r>
              <a:rPr lang="en-US" sz="800" dirty="0">
                <a:latin typeface="Helvetica"/>
                <a:cs typeface="Helvetica"/>
              </a:rPr>
              <a:t>more which environments </a:t>
            </a:r>
            <a:r>
              <a:rPr lang="en-US" sz="800" spc="-19" dirty="0">
                <a:latin typeface="Helvetica"/>
                <a:cs typeface="Helvetica"/>
              </a:rPr>
              <a:t>are </a:t>
            </a:r>
            <a:r>
              <a:rPr lang="en-US" sz="800" dirty="0">
                <a:latin typeface="Helvetica"/>
                <a:cs typeface="Helvetica"/>
              </a:rPr>
              <a:t>most dominate will also </a:t>
            </a:r>
            <a:r>
              <a:rPr lang="en-US" sz="800" spc="-8" dirty="0">
                <a:latin typeface="Helvetica"/>
                <a:cs typeface="Helvetica"/>
              </a:rPr>
              <a:t>depend </a:t>
            </a:r>
            <a:r>
              <a:rPr lang="en-US" sz="800" dirty="0">
                <a:latin typeface="Helvetica"/>
                <a:cs typeface="Helvetica"/>
              </a:rPr>
              <a:t>on where you are in the </a:t>
            </a:r>
            <a:r>
              <a:rPr lang="en-US" sz="800" spc="-8" dirty="0">
                <a:latin typeface="Helvetica"/>
                <a:cs typeface="Helvetica"/>
              </a:rPr>
              <a:t>solar cycle.</a:t>
            </a:r>
            <a:endParaRPr lang="en-US" sz="800" dirty="0">
              <a:latin typeface="Helvetica"/>
              <a:cs typeface="Helvetic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23532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E67CE-FD5A-973F-FD5E-99D80D239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46909E-B506-B7B6-11BF-A6671BD91D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122D52-6368-91A8-7432-A30BB439B8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82520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050">
              <a:spcBef>
                <a:spcPts val="300"/>
              </a:spcBef>
            </a:pPr>
            <a:r>
              <a:rPr lang="en-US" sz="800" b="1" i="1" dirty="0">
                <a:latin typeface="Helvetica"/>
                <a:cs typeface="Helvetica"/>
              </a:rPr>
              <a:t>Presenter</a:t>
            </a:r>
            <a:r>
              <a:rPr lang="en-US" sz="800" b="1" i="1" spc="-30" dirty="0">
                <a:latin typeface="Helvetica"/>
                <a:cs typeface="Helvetica"/>
              </a:rPr>
              <a:t> </a:t>
            </a:r>
            <a:r>
              <a:rPr lang="en-US" sz="800" b="1" i="1" spc="-8" dirty="0">
                <a:latin typeface="Helvetica"/>
                <a:cs typeface="Helvetica"/>
              </a:rPr>
              <a:t>Notes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i="1" spc="-8" dirty="0">
                <a:latin typeface="Helvetica"/>
                <a:cs typeface="Helvetica"/>
              </a:rPr>
              <a:t>2025-06-</a:t>
            </a:r>
            <a:r>
              <a:rPr lang="en-US" sz="800" i="1" dirty="0">
                <a:latin typeface="Helvetica"/>
                <a:cs typeface="Helvetica"/>
              </a:rPr>
              <a:t>03</a:t>
            </a:r>
            <a:r>
              <a:rPr lang="en-US" sz="800" i="1" spc="26" dirty="0">
                <a:latin typeface="Helvetica"/>
                <a:cs typeface="Helvetica"/>
              </a:rPr>
              <a:t> </a:t>
            </a:r>
            <a:r>
              <a:rPr lang="en-US" sz="800" i="1" spc="-8" dirty="0">
                <a:latin typeface="Helvetica"/>
                <a:cs typeface="Helvetica"/>
              </a:rPr>
              <a:t>15:00:31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spc="-8" dirty="0">
                <a:latin typeface="Helvetica"/>
                <a:cs typeface="Helvetica"/>
              </a:rPr>
              <a:t>-------------------------------------------</a:t>
            </a:r>
            <a:r>
              <a:rPr lang="en-US" sz="800" spc="-38" dirty="0">
                <a:latin typeface="Helvetica"/>
                <a:cs typeface="Helvetica"/>
              </a:rPr>
              <a:t>-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Earth sits in the natural </a:t>
            </a:r>
            <a:r>
              <a:rPr lang="en-US" sz="800" spc="-8" dirty="0">
                <a:latin typeface="Helvetica"/>
                <a:cs typeface="Helvetica"/>
              </a:rPr>
              <a:t>space </a:t>
            </a:r>
            <a:r>
              <a:rPr lang="en-US" sz="800" dirty="0">
                <a:latin typeface="Helvetica"/>
                <a:cs typeface="Helvetica"/>
              </a:rPr>
              <a:t>environment. The natural </a:t>
            </a:r>
            <a:r>
              <a:rPr lang="en-US" sz="800" spc="-8" dirty="0">
                <a:latin typeface="Helvetica"/>
                <a:cs typeface="Helvetica"/>
              </a:rPr>
              <a:t>space </a:t>
            </a:r>
            <a:r>
              <a:rPr lang="en-US" sz="800" dirty="0">
                <a:latin typeface="Helvetica"/>
                <a:cs typeface="Helvetica"/>
              </a:rPr>
              <a:t>environment is comprised </a:t>
            </a:r>
            <a:r>
              <a:rPr lang="en-US" sz="800" spc="-19" dirty="0">
                <a:latin typeface="Helvetica"/>
                <a:cs typeface="Helvetica"/>
              </a:rPr>
              <a:t>of </a:t>
            </a:r>
            <a:r>
              <a:rPr lang="en-US" sz="800" dirty="0">
                <a:latin typeface="Helvetica"/>
                <a:cs typeface="Helvetica"/>
              </a:rPr>
              <a:t>radiation. </a:t>
            </a:r>
            <a:r>
              <a:rPr lang="en-US" sz="800" spc="-15" dirty="0">
                <a:latin typeface="Helvetica"/>
                <a:cs typeface="Helvetica"/>
              </a:rPr>
              <a:t>Next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The sun acts as 1 direct </a:t>
            </a:r>
            <a:r>
              <a:rPr lang="en-US" sz="800" spc="-8" dirty="0">
                <a:latin typeface="Helvetica"/>
                <a:cs typeface="Helvetica"/>
              </a:rPr>
              <a:t>source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of the radiation </a:t>
            </a:r>
            <a:r>
              <a:rPr lang="en-US" sz="800" spc="-8" dirty="0">
                <a:latin typeface="Helvetica"/>
                <a:cs typeface="Helvetica"/>
              </a:rPr>
              <a:t>environment, </a:t>
            </a:r>
            <a:r>
              <a:rPr lang="en-US" sz="800" dirty="0">
                <a:latin typeface="Helvetica"/>
                <a:cs typeface="Helvetica"/>
              </a:rPr>
              <a:t>producing solar particle </a:t>
            </a:r>
            <a:r>
              <a:rPr lang="en-US" sz="800" spc="-8" dirty="0">
                <a:latin typeface="Helvetica"/>
                <a:cs typeface="Helvetica"/>
              </a:rPr>
              <a:t>events,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to include solar flares </a:t>
            </a:r>
            <a:r>
              <a:rPr lang="en-US" sz="800" spc="-19" dirty="0">
                <a:latin typeface="Helvetica"/>
                <a:cs typeface="Helvetica"/>
              </a:rPr>
              <a:t>and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coronal mass ejections, </a:t>
            </a:r>
            <a:r>
              <a:rPr lang="en-US" sz="800" spc="-15" dirty="0">
                <a:latin typeface="Helvetica"/>
                <a:cs typeface="Helvetica"/>
              </a:rPr>
              <a:t>that </a:t>
            </a:r>
            <a:r>
              <a:rPr lang="en-US" sz="800" dirty="0">
                <a:latin typeface="Helvetica"/>
                <a:cs typeface="Helvetica"/>
              </a:rPr>
              <a:t>produce solar energetic </a:t>
            </a:r>
            <a:r>
              <a:rPr lang="en-US" sz="800" spc="-8" dirty="0">
                <a:latin typeface="Helvetica"/>
                <a:cs typeface="Helvetica"/>
              </a:rPr>
              <a:t>particles, </a:t>
            </a:r>
            <a:r>
              <a:rPr lang="en-US" sz="800" dirty="0">
                <a:latin typeface="Helvetica"/>
                <a:cs typeface="Helvetica"/>
              </a:rPr>
              <a:t>such as electrons, protons, </a:t>
            </a:r>
            <a:r>
              <a:rPr lang="en-US" sz="800" spc="-19" dirty="0">
                <a:latin typeface="Helvetica"/>
                <a:cs typeface="Helvetica"/>
              </a:rPr>
              <a:t>and </a:t>
            </a:r>
            <a:r>
              <a:rPr lang="en-US" sz="800" dirty="0">
                <a:latin typeface="Helvetica"/>
                <a:cs typeface="Helvetica"/>
              </a:rPr>
              <a:t>heavy ions. Next The other </a:t>
            </a:r>
            <a:r>
              <a:rPr lang="en-US" sz="800" spc="-8" dirty="0">
                <a:latin typeface="Helvetica"/>
                <a:cs typeface="Helvetica"/>
              </a:rPr>
              <a:t>direct </a:t>
            </a:r>
            <a:r>
              <a:rPr lang="en-US" sz="800" dirty="0">
                <a:latin typeface="Helvetica"/>
                <a:cs typeface="Helvetica"/>
              </a:rPr>
              <a:t>source of the </a:t>
            </a:r>
            <a:r>
              <a:rPr lang="en-US" sz="800" spc="-8" dirty="0">
                <a:latin typeface="Helvetica"/>
                <a:cs typeface="Helvetica"/>
              </a:rPr>
              <a:t>radiation </a:t>
            </a:r>
            <a:r>
              <a:rPr lang="en-US" sz="800" dirty="0">
                <a:latin typeface="Helvetica"/>
                <a:cs typeface="Helvetica"/>
              </a:rPr>
              <a:t>environment are </a:t>
            </a:r>
            <a:r>
              <a:rPr lang="en-US" sz="800" spc="-8" dirty="0">
                <a:latin typeface="Helvetica"/>
                <a:cs typeface="Helvetica"/>
              </a:rPr>
              <a:t>supernova/other </a:t>
            </a:r>
            <a:r>
              <a:rPr lang="en-US" sz="800" dirty="0">
                <a:latin typeface="Helvetica"/>
                <a:cs typeface="Helvetica"/>
              </a:rPr>
              <a:t>stars which are </a:t>
            </a:r>
            <a:r>
              <a:rPr lang="en-US" sz="800" spc="-8" dirty="0">
                <a:latin typeface="Helvetica"/>
                <a:cs typeface="Helvetica"/>
              </a:rPr>
              <a:t>producing </a:t>
            </a:r>
            <a:r>
              <a:rPr lang="en-US" sz="800" dirty="0">
                <a:latin typeface="Helvetica"/>
                <a:cs typeface="Helvetica"/>
              </a:rPr>
              <a:t>Galactic Cosmic rays </a:t>
            </a:r>
            <a:r>
              <a:rPr lang="en-US" sz="800" spc="-8" dirty="0">
                <a:latin typeface="Helvetica"/>
                <a:cs typeface="Helvetica"/>
              </a:rPr>
              <a:t>which </a:t>
            </a:r>
            <a:r>
              <a:rPr lang="en-US" sz="800" dirty="0">
                <a:latin typeface="Helvetica"/>
                <a:cs typeface="Helvetica"/>
              </a:rPr>
              <a:t>produce similar particles as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dirty="0">
                <a:latin typeface="Helvetica"/>
                <a:cs typeface="Helvetica"/>
              </a:rPr>
              <a:t>sun. </a:t>
            </a:r>
            <a:r>
              <a:rPr lang="en-US" sz="800" spc="-15" dirty="0">
                <a:latin typeface="Helvetica"/>
                <a:cs typeface="Helvetica"/>
              </a:rPr>
              <a:t>Next</a:t>
            </a:r>
            <a:endParaRPr lang="en-US" sz="800" dirty="0">
              <a:latin typeface="Helvetica"/>
              <a:cs typeface="Helvetic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91580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050">
              <a:spcBef>
                <a:spcPts val="300"/>
              </a:spcBef>
            </a:pPr>
            <a:r>
              <a:rPr lang="en-US" sz="800" b="1" i="1" dirty="0">
                <a:latin typeface="Helvetica"/>
                <a:cs typeface="Helvetica"/>
              </a:rPr>
              <a:t>Presenter</a:t>
            </a:r>
            <a:r>
              <a:rPr lang="en-US" sz="800" b="1" i="1" spc="-30" dirty="0">
                <a:latin typeface="Helvetica"/>
                <a:cs typeface="Helvetica"/>
              </a:rPr>
              <a:t> </a:t>
            </a:r>
            <a:r>
              <a:rPr lang="en-US" sz="800" b="1" i="1" spc="-8" dirty="0">
                <a:latin typeface="Helvetica"/>
                <a:cs typeface="Helvetica"/>
              </a:rPr>
              <a:t>Notes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i="1" spc="-8" dirty="0">
                <a:latin typeface="Helvetica"/>
                <a:cs typeface="Helvetica"/>
              </a:rPr>
              <a:t>2025-06-</a:t>
            </a:r>
            <a:r>
              <a:rPr lang="en-US" sz="800" i="1" dirty="0">
                <a:latin typeface="Helvetica"/>
                <a:cs typeface="Helvetica"/>
              </a:rPr>
              <a:t>03</a:t>
            </a:r>
            <a:r>
              <a:rPr lang="en-US" sz="800" i="1" spc="26" dirty="0">
                <a:latin typeface="Helvetica"/>
                <a:cs typeface="Helvetica"/>
              </a:rPr>
              <a:t> </a:t>
            </a:r>
            <a:r>
              <a:rPr lang="en-US" sz="800" i="1" spc="-8" dirty="0">
                <a:latin typeface="Helvetica"/>
                <a:cs typeface="Helvetica"/>
              </a:rPr>
              <a:t>15:00:33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spc="-8" dirty="0">
                <a:latin typeface="Helvetica"/>
                <a:cs typeface="Helvetica"/>
              </a:rPr>
              <a:t>-------------------------------------------</a:t>
            </a:r>
            <a:r>
              <a:rPr lang="en-US" sz="800" spc="-38" dirty="0">
                <a:latin typeface="Helvetica"/>
                <a:cs typeface="Helvetica"/>
              </a:rPr>
              <a:t>-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But the Earth is not simply </a:t>
            </a:r>
            <a:r>
              <a:rPr lang="en-US" sz="800" spc="-8" dirty="0">
                <a:latin typeface="Helvetica"/>
                <a:cs typeface="Helvetica"/>
              </a:rPr>
              <a:t>being </a:t>
            </a:r>
            <a:r>
              <a:rPr lang="en-US" sz="800" dirty="0">
                <a:latin typeface="Helvetica"/>
                <a:cs typeface="Helvetica"/>
              </a:rPr>
              <a:t>bombarded from these </a:t>
            </a:r>
            <a:r>
              <a:rPr lang="en-US" sz="800" spc="-19" dirty="0">
                <a:latin typeface="Helvetica"/>
                <a:cs typeface="Helvetica"/>
              </a:rPr>
              <a:t>two </a:t>
            </a:r>
            <a:r>
              <a:rPr lang="en-US" sz="800" spc="-8" dirty="0">
                <a:latin typeface="Helvetica"/>
                <a:cs typeface="Helvetica"/>
              </a:rPr>
              <a:t>sources.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Earth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has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magnetic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field </a:t>
            </a:r>
            <a:r>
              <a:rPr lang="en-US" sz="800" dirty="0">
                <a:latin typeface="Helvetica"/>
                <a:cs typeface="Helvetica"/>
              </a:rPr>
              <a:t>around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it,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called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Van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Allen </a:t>
            </a:r>
            <a:r>
              <a:rPr lang="en-US" sz="800" dirty="0">
                <a:latin typeface="Helvetica"/>
                <a:cs typeface="Helvetica"/>
              </a:rPr>
              <a:t>Belts.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Some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particles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will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reach </a:t>
            </a:r>
            <a:r>
              <a:rPr lang="en-US" sz="800" dirty="0">
                <a:latin typeface="Helvetica"/>
                <a:cs typeface="Helvetica"/>
              </a:rPr>
              <a:t>Earth</a:t>
            </a:r>
            <a:r>
              <a:rPr lang="en-US" sz="800" spc="3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still,</a:t>
            </a:r>
            <a:r>
              <a:rPr lang="en-US" sz="800" spc="3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but…Next</a:t>
            </a:r>
            <a:r>
              <a:rPr lang="en-US" sz="800" spc="3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Others</a:t>
            </a:r>
            <a:r>
              <a:rPr lang="en-US" sz="800" spc="41" dirty="0">
                <a:latin typeface="Helvetica"/>
                <a:cs typeface="Helvetica"/>
              </a:rPr>
              <a:t> </a:t>
            </a:r>
            <a:r>
              <a:rPr lang="en-US" sz="800" spc="-15" dirty="0">
                <a:latin typeface="Helvetica"/>
                <a:cs typeface="Helvetica"/>
              </a:rPr>
              <a:t>will </a:t>
            </a:r>
            <a:r>
              <a:rPr lang="en-US" sz="800" dirty="0">
                <a:latin typeface="Helvetica"/>
                <a:cs typeface="Helvetica"/>
              </a:rPr>
              <a:t>go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around…Next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Others will enter at the </a:t>
            </a:r>
            <a:r>
              <a:rPr lang="en-US" sz="800" spc="-8" dirty="0">
                <a:latin typeface="Helvetica"/>
                <a:cs typeface="Helvetica"/>
              </a:rPr>
              <a:t>poles, </a:t>
            </a:r>
            <a:r>
              <a:rPr lang="en-US" sz="800" dirty="0">
                <a:latin typeface="Helvetica"/>
                <a:cs typeface="Helvetica"/>
              </a:rPr>
              <a:t>which is why we the </a:t>
            </a:r>
            <a:r>
              <a:rPr lang="en-US" sz="800" spc="-8" dirty="0">
                <a:latin typeface="Helvetica"/>
                <a:cs typeface="Helvetica"/>
              </a:rPr>
              <a:t>Auroa </a:t>
            </a:r>
            <a:r>
              <a:rPr lang="en-US" sz="800" dirty="0" err="1">
                <a:latin typeface="Helvetica"/>
                <a:cs typeface="Helvetica"/>
              </a:rPr>
              <a:t>Boreallis</a:t>
            </a:r>
            <a:r>
              <a:rPr lang="en-US" sz="800" dirty="0">
                <a:latin typeface="Helvetica"/>
                <a:cs typeface="Helvetica"/>
              </a:rPr>
              <a:t> or Northern Lights </a:t>
            </a:r>
            <a:r>
              <a:rPr lang="en-US" sz="800" spc="-19" dirty="0">
                <a:latin typeface="Helvetica"/>
                <a:cs typeface="Helvetica"/>
              </a:rPr>
              <a:t>are </a:t>
            </a:r>
            <a:r>
              <a:rPr lang="en-US" sz="800" dirty="0">
                <a:latin typeface="Helvetica"/>
                <a:cs typeface="Helvetica"/>
              </a:rPr>
              <a:t>most prominent at the </a:t>
            </a:r>
            <a:r>
              <a:rPr lang="en-US" sz="800" spc="-8" dirty="0">
                <a:latin typeface="Helvetica"/>
                <a:cs typeface="Helvetica"/>
              </a:rPr>
              <a:t>poles.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Next And finally some </a:t>
            </a:r>
            <a:r>
              <a:rPr lang="en-US" sz="800" spc="-8" dirty="0">
                <a:latin typeface="Helvetica"/>
                <a:cs typeface="Helvetica"/>
              </a:rPr>
              <a:t>particles </a:t>
            </a:r>
            <a:r>
              <a:rPr lang="en-US" sz="800" dirty="0">
                <a:latin typeface="Helvetica"/>
                <a:cs typeface="Helvetica"/>
              </a:rPr>
              <a:t>will become trapped in the </a:t>
            </a:r>
            <a:r>
              <a:rPr lang="en-US" sz="800" spc="-19" dirty="0">
                <a:latin typeface="Helvetica"/>
                <a:cs typeface="Helvetica"/>
              </a:rPr>
              <a:t>Van </a:t>
            </a:r>
            <a:r>
              <a:rPr lang="en-US" sz="800" dirty="0">
                <a:latin typeface="Helvetica"/>
                <a:cs typeface="Helvetica"/>
              </a:rPr>
              <a:t>Allen Belts. </a:t>
            </a:r>
            <a:r>
              <a:rPr lang="en-US" sz="800" spc="-15" dirty="0">
                <a:latin typeface="Helvetica"/>
                <a:cs typeface="Helvetica"/>
              </a:rPr>
              <a:t>Next</a:t>
            </a:r>
            <a:endParaRPr lang="en-US" sz="800" dirty="0">
              <a:latin typeface="Helvetica"/>
              <a:cs typeface="Helvetic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45717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050">
              <a:spcBef>
                <a:spcPts val="300"/>
              </a:spcBef>
            </a:pPr>
            <a:r>
              <a:rPr lang="en-US" sz="800" b="1" i="1" dirty="0">
                <a:latin typeface="Helvetica"/>
                <a:cs typeface="Helvetica"/>
              </a:rPr>
              <a:t>Presenter</a:t>
            </a:r>
            <a:r>
              <a:rPr lang="en-US" sz="800" b="1" i="1" spc="-30" dirty="0">
                <a:latin typeface="Helvetica"/>
                <a:cs typeface="Helvetica"/>
              </a:rPr>
              <a:t> </a:t>
            </a:r>
            <a:r>
              <a:rPr lang="en-US" sz="800" b="1" i="1" spc="-8" dirty="0">
                <a:latin typeface="Helvetica"/>
                <a:cs typeface="Helvetica"/>
              </a:rPr>
              <a:t>Notes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i="1" spc="-8" dirty="0">
                <a:latin typeface="Helvetica"/>
                <a:cs typeface="Helvetica"/>
              </a:rPr>
              <a:t>2025-06-</a:t>
            </a:r>
            <a:r>
              <a:rPr lang="en-US" sz="800" i="1" dirty="0">
                <a:latin typeface="Helvetica"/>
                <a:cs typeface="Helvetica"/>
              </a:rPr>
              <a:t>03</a:t>
            </a:r>
            <a:r>
              <a:rPr lang="en-US" sz="800" i="1" spc="26" dirty="0">
                <a:latin typeface="Helvetica"/>
                <a:cs typeface="Helvetica"/>
              </a:rPr>
              <a:t> </a:t>
            </a:r>
            <a:r>
              <a:rPr lang="en-US" sz="800" i="1" spc="-8" dirty="0">
                <a:latin typeface="Helvetica"/>
                <a:cs typeface="Helvetica"/>
              </a:rPr>
              <a:t>15:00:33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spc="-8" dirty="0">
                <a:latin typeface="Helvetica"/>
                <a:cs typeface="Helvetica"/>
              </a:rPr>
              <a:t>-------------------------------------------</a:t>
            </a:r>
            <a:r>
              <a:rPr lang="en-US" sz="800" spc="-38" dirty="0">
                <a:latin typeface="Helvetica"/>
                <a:cs typeface="Helvetica"/>
              </a:rPr>
              <a:t>-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This trapped </a:t>
            </a:r>
            <a:r>
              <a:rPr lang="en-US" sz="800" spc="-8" dirty="0">
                <a:latin typeface="Helvetica"/>
                <a:cs typeface="Helvetica"/>
              </a:rPr>
              <a:t>environment </a:t>
            </a:r>
            <a:r>
              <a:rPr lang="en-US" sz="800" dirty="0">
                <a:latin typeface="Helvetica"/>
                <a:cs typeface="Helvetica"/>
              </a:rPr>
              <a:t>becomes the third source of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dirty="0">
                <a:latin typeface="Helvetica"/>
                <a:cs typeface="Helvetica"/>
              </a:rPr>
              <a:t>natural space </a:t>
            </a:r>
            <a:r>
              <a:rPr lang="en-US" sz="800" spc="-8" dirty="0">
                <a:latin typeface="Helvetica"/>
                <a:cs typeface="Helvetica"/>
              </a:rPr>
              <a:t>radiation </a:t>
            </a:r>
            <a:r>
              <a:rPr lang="en-US" sz="800" dirty="0">
                <a:latin typeface="Helvetica"/>
                <a:cs typeface="Helvetica"/>
              </a:rPr>
              <a:t>environment albeit an </a:t>
            </a:r>
            <a:r>
              <a:rPr lang="en-US" sz="800" spc="-8" dirty="0">
                <a:latin typeface="Helvetica"/>
                <a:cs typeface="Helvetica"/>
              </a:rPr>
              <a:t>indirect </a:t>
            </a:r>
            <a:r>
              <a:rPr lang="en-US" sz="800" dirty="0">
                <a:latin typeface="Helvetica"/>
                <a:cs typeface="Helvetica"/>
              </a:rPr>
              <a:t>source. The trapped </a:t>
            </a:r>
            <a:r>
              <a:rPr lang="en-US" sz="800" spc="-8" dirty="0">
                <a:latin typeface="Helvetica"/>
                <a:cs typeface="Helvetica"/>
              </a:rPr>
              <a:t>environment </a:t>
            </a:r>
            <a:r>
              <a:rPr lang="en-US" sz="800" dirty="0">
                <a:latin typeface="Helvetica"/>
                <a:cs typeface="Helvetica"/>
              </a:rPr>
              <a:t>does not produce radiation, it </a:t>
            </a:r>
            <a:r>
              <a:rPr lang="en-US" sz="800" spc="-15" dirty="0">
                <a:latin typeface="Helvetica"/>
                <a:cs typeface="Helvetica"/>
              </a:rPr>
              <a:t>just </a:t>
            </a:r>
            <a:r>
              <a:rPr lang="en-US" sz="800" dirty="0">
                <a:latin typeface="Helvetica"/>
                <a:cs typeface="Helvetica"/>
              </a:rPr>
              <a:t>collects it. Next Particles in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dirty="0">
                <a:latin typeface="Helvetica"/>
                <a:cs typeface="Helvetica"/>
              </a:rPr>
              <a:t>trapped environment mainly </a:t>
            </a:r>
            <a:r>
              <a:rPr lang="en-US" sz="800" spc="-15" dirty="0">
                <a:latin typeface="Helvetica"/>
                <a:cs typeface="Helvetica"/>
              </a:rPr>
              <a:t>fall </a:t>
            </a:r>
            <a:r>
              <a:rPr lang="en-US" sz="800" dirty="0">
                <a:latin typeface="Helvetica"/>
                <a:cs typeface="Helvetica"/>
              </a:rPr>
              <a:t>within an outer belt and an </a:t>
            </a:r>
            <a:r>
              <a:rPr lang="en-US" sz="800" spc="-8" dirty="0">
                <a:latin typeface="Helvetica"/>
                <a:cs typeface="Helvetica"/>
              </a:rPr>
              <a:t>inner </a:t>
            </a:r>
            <a:r>
              <a:rPr lang="en-US" sz="800" dirty="0">
                <a:latin typeface="Helvetica"/>
                <a:cs typeface="Helvetica"/>
              </a:rPr>
              <a:t>belt, which also includes </a:t>
            </a:r>
            <a:r>
              <a:rPr lang="en-US" sz="800" spc="-19" dirty="0">
                <a:latin typeface="Helvetica"/>
                <a:cs typeface="Helvetica"/>
              </a:rPr>
              <a:t>the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south Atlantic anomaly. </a:t>
            </a:r>
            <a:r>
              <a:rPr lang="en-US" sz="800" spc="-15" dirty="0">
                <a:latin typeface="Helvetica"/>
                <a:cs typeface="Helvetica"/>
              </a:rPr>
              <a:t>Next</a:t>
            </a:r>
            <a:endParaRPr lang="en-US" sz="800" dirty="0">
              <a:latin typeface="Helvetica"/>
              <a:cs typeface="Helvetic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57495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050">
              <a:spcBef>
                <a:spcPts val="300"/>
              </a:spcBef>
            </a:pPr>
            <a:r>
              <a:rPr lang="en-US" sz="800" b="1" i="1" dirty="0">
                <a:latin typeface="Helvetica"/>
                <a:cs typeface="Helvetica"/>
              </a:rPr>
              <a:t>Presenter</a:t>
            </a:r>
            <a:r>
              <a:rPr lang="en-US" sz="800" b="1" i="1" spc="-30" dirty="0">
                <a:latin typeface="Helvetica"/>
                <a:cs typeface="Helvetica"/>
              </a:rPr>
              <a:t> </a:t>
            </a:r>
            <a:r>
              <a:rPr lang="en-US" sz="800" b="1" i="1" spc="-8" dirty="0">
                <a:latin typeface="Helvetica"/>
                <a:cs typeface="Helvetica"/>
              </a:rPr>
              <a:t>Notes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i="1" spc="-8" dirty="0">
                <a:latin typeface="Helvetica"/>
                <a:cs typeface="Helvetica"/>
              </a:rPr>
              <a:t>2025-06-</a:t>
            </a:r>
            <a:r>
              <a:rPr lang="en-US" sz="800" i="1" dirty="0">
                <a:latin typeface="Helvetica"/>
                <a:cs typeface="Helvetica"/>
              </a:rPr>
              <a:t>03</a:t>
            </a:r>
            <a:r>
              <a:rPr lang="en-US" sz="800" i="1" spc="26" dirty="0">
                <a:latin typeface="Helvetica"/>
                <a:cs typeface="Helvetica"/>
              </a:rPr>
              <a:t> </a:t>
            </a:r>
            <a:r>
              <a:rPr lang="en-US" sz="800" i="1" spc="-8" dirty="0">
                <a:latin typeface="Helvetica"/>
                <a:cs typeface="Helvetica"/>
              </a:rPr>
              <a:t>15:00:35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spc="-8" dirty="0">
                <a:latin typeface="Helvetica"/>
                <a:cs typeface="Helvetica"/>
              </a:rPr>
              <a:t>-------------------------------------------</a:t>
            </a:r>
            <a:r>
              <a:rPr lang="en-US" sz="800" spc="-38" dirty="0">
                <a:latin typeface="Helvetica"/>
                <a:cs typeface="Helvetica"/>
              </a:rPr>
              <a:t>-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The sun not only acts as </a:t>
            </a:r>
            <a:r>
              <a:rPr lang="en-US" sz="800" spc="-38" dirty="0">
                <a:latin typeface="Helvetica"/>
                <a:cs typeface="Helvetica"/>
              </a:rPr>
              <a:t>a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source of radiation but also </a:t>
            </a:r>
            <a:r>
              <a:rPr lang="en-US" sz="800" spc="-15" dirty="0">
                <a:latin typeface="Helvetica"/>
                <a:cs typeface="Helvetica"/>
              </a:rPr>
              <a:t>acts </a:t>
            </a:r>
            <a:r>
              <a:rPr lang="en-US" sz="800" dirty="0">
                <a:latin typeface="Helvetica"/>
                <a:cs typeface="Helvetica"/>
              </a:rPr>
              <a:t>as a modulator of the </a:t>
            </a:r>
            <a:r>
              <a:rPr lang="en-US" sz="800" spc="-8" dirty="0">
                <a:latin typeface="Helvetica"/>
                <a:cs typeface="Helvetica"/>
              </a:rPr>
              <a:t>other </a:t>
            </a:r>
            <a:r>
              <a:rPr lang="en-US" sz="800" dirty="0">
                <a:latin typeface="Helvetica"/>
                <a:cs typeface="Helvetica"/>
              </a:rPr>
              <a:t>sources of </a:t>
            </a:r>
            <a:r>
              <a:rPr lang="en-US" sz="800" spc="-8" dirty="0">
                <a:latin typeface="Helvetica"/>
                <a:cs typeface="Helvetica"/>
              </a:rPr>
              <a:t>radiation </a:t>
            </a:r>
            <a:r>
              <a:rPr lang="en-US" sz="800" dirty="0">
                <a:latin typeface="Helvetica"/>
                <a:cs typeface="Helvetica"/>
              </a:rPr>
              <a:t>environments. </a:t>
            </a:r>
            <a:r>
              <a:rPr lang="en-US" sz="800" spc="-15" dirty="0">
                <a:latin typeface="Helvetica"/>
                <a:cs typeface="Helvetica"/>
              </a:rPr>
              <a:t>Next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The suns activity or solar cycle </a:t>
            </a:r>
            <a:r>
              <a:rPr lang="en-US" sz="800" spc="-19" dirty="0">
                <a:latin typeface="Helvetica"/>
                <a:cs typeface="Helvetica"/>
              </a:rPr>
              <a:t>is </a:t>
            </a:r>
            <a:r>
              <a:rPr lang="en-US" sz="800" dirty="0">
                <a:latin typeface="Helvetica"/>
                <a:cs typeface="Helvetica"/>
              </a:rPr>
              <a:t>11 years long and includes </a:t>
            </a:r>
            <a:r>
              <a:rPr lang="en-US" sz="800" spc="-8" dirty="0">
                <a:latin typeface="Helvetica"/>
                <a:cs typeface="Helvetica"/>
              </a:rPr>
              <a:t>about </a:t>
            </a:r>
            <a:r>
              <a:rPr lang="en-US" sz="800" dirty="0">
                <a:latin typeface="Helvetica"/>
                <a:cs typeface="Helvetica"/>
              </a:rPr>
              <a:t>7 years of active times where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dirty="0">
                <a:latin typeface="Helvetica"/>
                <a:cs typeface="Helvetica"/>
              </a:rPr>
              <a:t>sun is more active and 4 </a:t>
            </a:r>
            <a:r>
              <a:rPr lang="en-US" sz="800" spc="-8" dirty="0">
                <a:latin typeface="Helvetica"/>
                <a:cs typeface="Helvetica"/>
              </a:rPr>
              <a:t>years </a:t>
            </a:r>
            <a:r>
              <a:rPr lang="en-US" sz="800" dirty="0">
                <a:latin typeface="Helvetica"/>
                <a:cs typeface="Helvetica"/>
              </a:rPr>
              <a:t>where the sun is less </a:t>
            </a:r>
            <a:r>
              <a:rPr lang="en-US" sz="800" spc="-8" dirty="0">
                <a:latin typeface="Helvetica"/>
                <a:cs typeface="Helvetica"/>
              </a:rPr>
              <a:t>active. </a:t>
            </a:r>
            <a:r>
              <a:rPr lang="en-US" sz="800" dirty="0">
                <a:latin typeface="Helvetica"/>
                <a:cs typeface="Helvetica"/>
              </a:rPr>
              <a:t>When the sun is most </a:t>
            </a:r>
            <a:r>
              <a:rPr lang="en-US" sz="800" spc="-8" dirty="0">
                <a:latin typeface="Helvetica"/>
                <a:cs typeface="Helvetica"/>
              </a:rPr>
              <a:t>active, </a:t>
            </a:r>
            <a:r>
              <a:rPr lang="en-US" sz="800" dirty="0">
                <a:latin typeface="Helvetica"/>
                <a:cs typeface="Helvetica"/>
              </a:rPr>
              <a:t>Next, we call this the </a:t>
            </a:r>
            <a:r>
              <a:rPr lang="en-US" sz="800" spc="-8" dirty="0">
                <a:latin typeface="Helvetica"/>
                <a:cs typeface="Helvetica"/>
              </a:rPr>
              <a:t>Active </a:t>
            </a:r>
            <a:r>
              <a:rPr lang="en-US" sz="800" dirty="0">
                <a:latin typeface="Helvetica"/>
                <a:cs typeface="Helvetica"/>
              </a:rPr>
              <a:t>Environment which is when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dirty="0">
                <a:latin typeface="Helvetica"/>
                <a:cs typeface="Helvetica"/>
              </a:rPr>
              <a:t>sun contributes most to </a:t>
            </a:r>
            <a:r>
              <a:rPr lang="en-US" sz="800" spc="-19" dirty="0">
                <a:latin typeface="Helvetica"/>
                <a:cs typeface="Helvetica"/>
              </a:rPr>
              <a:t>the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space </a:t>
            </a:r>
            <a:r>
              <a:rPr lang="en-US" sz="800" spc="-8" dirty="0">
                <a:latin typeface="Helvetica"/>
                <a:cs typeface="Helvetica"/>
              </a:rPr>
              <a:t>environment.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When the sun is less active, </a:t>
            </a:r>
            <a:r>
              <a:rPr lang="en-US" sz="800" spc="-15" dirty="0">
                <a:latin typeface="Helvetica"/>
                <a:cs typeface="Helvetica"/>
              </a:rPr>
              <a:t>this </a:t>
            </a:r>
            <a:r>
              <a:rPr lang="en-US" sz="800" dirty="0">
                <a:latin typeface="Helvetica"/>
                <a:cs typeface="Helvetica"/>
              </a:rPr>
              <a:t>is called the Quiet environment </a:t>
            </a:r>
            <a:r>
              <a:rPr lang="en-US" sz="800" spc="-19" dirty="0">
                <a:latin typeface="Helvetica"/>
                <a:cs typeface="Helvetica"/>
              </a:rPr>
              <a:t>in </a:t>
            </a:r>
            <a:r>
              <a:rPr lang="en-US" sz="800" dirty="0">
                <a:latin typeface="Helvetica"/>
                <a:cs typeface="Helvetica"/>
              </a:rPr>
              <a:t>which GCRs and the </a:t>
            </a:r>
            <a:r>
              <a:rPr lang="en-US" sz="800" spc="-8" dirty="0">
                <a:latin typeface="Helvetica"/>
                <a:cs typeface="Helvetica"/>
              </a:rPr>
              <a:t>trapped </a:t>
            </a:r>
            <a:r>
              <a:rPr lang="en-US" sz="800" dirty="0">
                <a:latin typeface="Helvetica"/>
                <a:cs typeface="Helvetica"/>
              </a:rPr>
              <a:t>environment are </a:t>
            </a:r>
            <a:r>
              <a:rPr lang="en-US" sz="800" spc="-15" dirty="0">
                <a:latin typeface="Helvetica"/>
                <a:cs typeface="Helvetica"/>
              </a:rPr>
              <a:t>more </a:t>
            </a:r>
            <a:r>
              <a:rPr lang="en-US" sz="800" spc="-8" dirty="0">
                <a:latin typeface="Helvetica"/>
                <a:cs typeface="Helvetica"/>
              </a:rPr>
              <a:t>pronounced.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The space environment is </a:t>
            </a:r>
            <a:r>
              <a:rPr lang="en-US" sz="800" spc="-15" dirty="0">
                <a:latin typeface="Helvetica"/>
                <a:cs typeface="Helvetica"/>
              </a:rPr>
              <a:t>very </a:t>
            </a:r>
            <a:r>
              <a:rPr lang="en-US" sz="800" dirty="0">
                <a:latin typeface="Helvetica"/>
                <a:cs typeface="Helvetica"/>
              </a:rPr>
              <a:t>dynamic due to the solar </a:t>
            </a:r>
            <a:r>
              <a:rPr lang="en-US" sz="800" spc="-8" dirty="0">
                <a:latin typeface="Helvetica"/>
                <a:cs typeface="Helvetica"/>
              </a:rPr>
              <a:t>cycle </a:t>
            </a:r>
            <a:r>
              <a:rPr lang="en-US" sz="800" dirty="0">
                <a:latin typeface="Helvetica"/>
                <a:cs typeface="Helvetica"/>
              </a:rPr>
              <a:t>and determines </a:t>
            </a:r>
            <a:r>
              <a:rPr lang="en-US" sz="800" spc="-8" dirty="0">
                <a:latin typeface="Helvetica"/>
                <a:cs typeface="Helvetica"/>
              </a:rPr>
              <a:t>which </a:t>
            </a:r>
            <a:r>
              <a:rPr lang="en-US" sz="800" dirty="0">
                <a:latin typeface="Helvetica"/>
                <a:cs typeface="Helvetica"/>
              </a:rPr>
              <a:t>environments are </a:t>
            </a:r>
            <a:r>
              <a:rPr lang="en-US" sz="800" spc="-15" dirty="0">
                <a:latin typeface="Helvetica"/>
                <a:cs typeface="Helvetica"/>
              </a:rPr>
              <a:t>most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prominent around Earth. </a:t>
            </a:r>
            <a:r>
              <a:rPr lang="en-US" sz="800" spc="-15" dirty="0">
                <a:latin typeface="Helvetica"/>
                <a:cs typeface="Helvetica"/>
              </a:rPr>
              <a:t>Next</a:t>
            </a:r>
            <a:endParaRPr lang="en-US" sz="800" dirty="0">
              <a:latin typeface="Helvetica"/>
              <a:cs typeface="Helvetic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04661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050">
              <a:spcBef>
                <a:spcPts val="300"/>
              </a:spcBef>
            </a:pPr>
            <a:r>
              <a:rPr lang="en-US" sz="800" b="1" i="1" dirty="0">
                <a:latin typeface="Helvetica"/>
                <a:cs typeface="Helvetica"/>
              </a:rPr>
              <a:t>Presenter</a:t>
            </a:r>
            <a:r>
              <a:rPr lang="en-US" sz="800" b="1" i="1" spc="-30" dirty="0">
                <a:latin typeface="Helvetica"/>
                <a:cs typeface="Helvetica"/>
              </a:rPr>
              <a:t> </a:t>
            </a:r>
            <a:r>
              <a:rPr lang="en-US" sz="800" b="1" i="1" spc="-8" dirty="0">
                <a:latin typeface="Helvetica"/>
                <a:cs typeface="Helvetica"/>
              </a:rPr>
              <a:t>Notes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i="1" spc="-8" dirty="0">
                <a:latin typeface="Helvetica"/>
                <a:cs typeface="Helvetica"/>
              </a:rPr>
              <a:t>2025-06-</a:t>
            </a:r>
            <a:r>
              <a:rPr lang="en-US" sz="800" i="1" dirty="0">
                <a:latin typeface="Helvetica"/>
                <a:cs typeface="Helvetica"/>
              </a:rPr>
              <a:t>03</a:t>
            </a:r>
            <a:r>
              <a:rPr lang="en-US" sz="800" i="1" spc="26" dirty="0">
                <a:latin typeface="Helvetica"/>
                <a:cs typeface="Helvetica"/>
              </a:rPr>
              <a:t> </a:t>
            </a:r>
            <a:r>
              <a:rPr lang="en-US" sz="800" i="1" spc="-8" dirty="0">
                <a:latin typeface="Helvetica"/>
                <a:cs typeface="Helvetica"/>
              </a:rPr>
              <a:t>15:00:36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spc="-8" dirty="0">
                <a:latin typeface="Helvetica"/>
                <a:cs typeface="Helvetica"/>
              </a:rPr>
              <a:t>-------------------------------------------</a:t>
            </a:r>
            <a:r>
              <a:rPr lang="en-US" sz="800" spc="-38" dirty="0">
                <a:latin typeface="Helvetica"/>
                <a:cs typeface="Helvetica"/>
              </a:rPr>
              <a:t>-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All spacecraft trajectories </a:t>
            </a:r>
            <a:r>
              <a:rPr lang="en-US" sz="800" spc="-8" dirty="0">
                <a:latin typeface="Helvetica"/>
                <a:cs typeface="Helvetica"/>
              </a:rPr>
              <a:t>include </a:t>
            </a:r>
            <a:r>
              <a:rPr lang="en-US" sz="800" dirty="0">
                <a:latin typeface="Helvetica"/>
                <a:cs typeface="Helvetica"/>
              </a:rPr>
              <a:t>some portion of the </a:t>
            </a:r>
            <a:r>
              <a:rPr lang="en-US" sz="800" spc="-8" dirty="0">
                <a:latin typeface="Helvetica"/>
                <a:cs typeface="Helvetica"/>
              </a:rPr>
              <a:t>space </a:t>
            </a:r>
            <a:r>
              <a:rPr lang="en-US" sz="800" dirty="0">
                <a:latin typeface="Helvetica"/>
                <a:cs typeface="Helvetica"/>
              </a:rPr>
              <a:t>radiation environment and </a:t>
            </a:r>
            <a:r>
              <a:rPr lang="en-US" sz="800" spc="-8" dirty="0">
                <a:latin typeface="Helvetica"/>
                <a:cs typeface="Helvetica"/>
              </a:rPr>
              <a:t>should </a:t>
            </a:r>
            <a:r>
              <a:rPr lang="en-US" sz="800" dirty="0">
                <a:latin typeface="Helvetica"/>
                <a:cs typeface="Helvetica"/>
              </a:rPr>
              <a:t>be assessed to determine how </a:t>
            </a:r>
            <a:r>
              <a:rPr lang="en-US" sz="800" spc="-19" dirty="0">
                <a:latin typeface="Helvetica"/>
                <a:cs typeface="Helvetica"/>
              </a:rPr>
              <a:t>to </a:t>
            </a:r>
            <a:r>
              <a:rPr lang="en-US" sz="800" dirty="0">
                <a:latin typeface="Helvetica"/>
                <a:cs typeface="Helvetica"/>
              </a:rPr>
              <a:t>design your system to function </a:t>
            </a:r>
            <a:r>
              <a:rPr lang="en-US" sz="800" spc="-19" dirty="0">
                <a:latin typeface="Helvetica"/>
                <a:cs typeface="Helvetica"/>
              </a:rPr>
              <a:t>in </a:t>
            </a:r>
            <a:r>
              <a:rPr lang="en-US" sz="800" dirty="0">
                <a:latin typeface="Helvetica"/>
                <a:cs typeface="Helvetica"/>
              </a:rPr>
              <a:t>them. Justin will be digging </a:t>
            </a:r>
            <a:r>
              <a:rPr lang="en-US" sz="800" spc="-15" dirty="0">
                <a:latin typeface="Helvetica"/>
                <a:cs typeface="Helvetica"/>
              </a:rPr>
              <a:t>into </a:t>
            </a:r>
            <a:r>
              <a:rPr lang="en-US" sz="800" dirty="0">
                <a:latin typeface="Helvetica"/>
                <a:cs typeface="Helvetica"/>
              </a:rPr>
              <a:t>this subject deeper </a:t>
            </a:r>
            <a:r>
              <a:rPr lang="en-US" sz="800" spc="-8" dirty="0">
                <a:latin typeface="Helvetica"/>
                <a:cs typeface="Helvetica"/>
              </a:rPr>
              <a:t>tomorrow </a:t>
            </a:r>
            <a:r>
              <a:rPr lang="en-US" sz="800" dirty="0">
                <a:latin typeface="Helvetica"/>
                <a:cs typeface="Helvetica"/>
              </a:rPr>
              <a:t>when he introduces an </a:t>
            </a:r>
            <a:r>
              <a:rPr lang="en-US" sz="800" spc="-8" dirty="0">
                <a:latin typeface="Helvetica"/>
                <a:cs typeface="Helvetica"/>
              </a:rPr>
              <a:t>acronym </a:t>
            </a:r>
            <a:r>
              <a:rPr lang="en-US" sz="800" dirty="0">
                <a:latin typeface="Helvetica"/>
                <a:cs typeface="Helvetica"/>
              </a:rPr>
              <a:t>called MEAL. The E stands </a:t>
            </a:r>
            <a:r>
              <a:rPr lang="en-US" sz="800" spc="-19" dirty="0">
                <a:latin typeface="Helvetica"/>
                <a:cs typeface="Helvetica"/>
              </a:rPr>
              <a:t>for </a:t>
            </a:r>
            <a:r>
              <a:rPr lang="en-US" sz="800" dirty="0">
                <a:latin typeface="Helvetica"/>
                <a:cs typeface="Helvetica"/>
              </a:rPr>
              <a:t>Environment and is only </a:t>
            </a:r>
            <a:r>
              <a:rPr lang="en-US" sz="800" spc="-19" dirty="0">
                <a:latin typeface="Helvetica"/>
                <a:cs typeface="Helvetica"/>
              </a:rPr>
              <a:t>one </a:t>
            </a:r>
            <a:r>
              <a:rPr lang="en-US" sz="800" dirty="0">
                <a:latin typeface="Helvetica"/>
                <a:cs typeface="Helvetica"/>
              </a:rPr>
              <a:t>aspect of designing your </a:t>
            </a:r>
            <a:r>
              <a:rPr lang="en-US" sz="800" spc="-8" dirty="0">
                <a:latin typeface="Helvetica"/>
                <a:cs typeface="Helvetica"/>
              </a:rPr>
              <a:t>system </a:t>
            </a:r>
            <a:r>
              <a:rPr lang="en-US" sz="800" dirty="0">
                <a:latin typeface="Helvetica"/>
                <a:cs typeface="Helvetica"/>
              </a:rPr>
              <a:t>for the natural </a:t>
            </a:r>
            <a:r>
              <a:rPr lang="en-US" sz="800" spc="-8" dirty="0">
                <a:latin typeface="Helvetica"/>
                <a:cs typeface="Helvetica"/>
              </a:rPr>
              <a:t>space </a:t>
            </a:r>
            <a:r>
              <a:rPr lang="en-US" sz="800" dirty="0">
                <a:latin typeface="Helvetica"/>
                <a:cs typeface="Helvetica"/>
              </a:rPr>
              <a:t>environment.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Thank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you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for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spc="-15" dirty="0">
                <a:latin typeface="Helvetica"/>
                <a:cs typeface="Helvetica"/>
              </a:rPr>
              <a:t>your </a:t>
            </a:r>
            <a:r>
              <a:rPr lang="en-US" sz="800" dirty="0">
                <a:latin typeface="Helvetica"/>
                <a:cs typeface="Helvetica"/>
              </a:rPr>
              <a:t>attention,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I’ll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now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be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taking </a:t>
            </a:r>
            <a:r>
              <a:rPr lang="en-US" sz="800" dirty="0">
                <a:latin typeface="Helvetica"/>
                <a:cs typeface="Helvetica"/>
              </a:rPr>
              <a:t>questions.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I’d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like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to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first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start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with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virtual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participants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and </a:t>
            </a:r>
            <a:r>
              <a:rPr lang="en-US" sz="800" dirty="0">
                <a:latin typeface="Helvetica"/>
                <a:cs typeface="Helvetica"/>
              </a:rPr>
              <a:t>then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take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questions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from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Luddy.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If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you’re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on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site</a:t>
            </a:r>
            <a:r>
              <a:rPr lang="en-US" sz="800" spc="11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in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Luddy</a:t>
            </a:r>
            <a:r>
              <a:rPr lang="en-US" sz="800" spc="15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and </a:t>
            </a:r>
            <a:r>
              <a:rPr lang="en-US" sz="800" dirty="0">
                <a:latin typeface="Helvetica"/>
                <a:cs typeface="Helvetica"/>
              </a:rPr>
              <a:t>have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question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please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head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to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nearest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microphone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so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spc="-15" dirty="0">
                <a:latin typeface="Helvetica"/>
                <a:cs typeface="Helvetica"/>
              </a:rPr>
              <a:t>that </a:t>
            </a:r>
            <a:r>
              <a:rPr lang="en-US" sz="800" dirty="0">
                <a:latin typeface="Helvetica"/>
                <a:cs typeface="Helvetica"/>
              </a:rPr>
              <a:t>the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audience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can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hear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spc="-8" dirty="0">
                <a:latin typeface="Helvetica"/>
                <a:cs typeface="Helvetica"/>
              </a:rPr>
              <a:t>question.</a:t>
            </a:r>
            <a:endParaRPr lang="en-US" sz="800" dirty="0">
              <a:latin typeface="Helvetica"/>
              <a:cs typeface="Helvetic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91321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50467-01CD-8001-5C54-59E0060A2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FE999F-761B-9FD4-A5C1-3D19FA9C27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77875" y="720725"/>
            <a:ext cx="5759450" cy="36004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1D3A67-B9E5-9CA5-CF25-8FC23EA7D6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68312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050">
              <a:spcBef>
                <a:spcPts val="300"/>
              </a:spcBef>
            </a:pPr>
            <a:r>
              <a:rPr lang="en-US" sz="800" b="1" i="1" dirty="0">
                <a:latin typeface="Helvetica"/>
                <a:cs typeface="Helvetica"/>
              </a:rPr>
              <a:t>Presenter</a:t>
            </a:r>
            <a:r>
              <a:rPr lang="en-US" sz="800" b="1" i="1" spc="-30" dirty="0">
                <a:latin typeface="Helvetica"/>
                <a:cs typeface="Helvetica"/>
              </a:rPr>
              <a:t> </a:t>
            </a:r>
            <a:r>
              <a:rPr lang="en-US" sz="800" b="1" i="1" spc="-8" dirty="0">
                <a:latin typeface="Helvetica"/>
                <a:cs typeface="Helvetica"/>
              </a:rPr>
              <a:t>Notes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i="1" spc="-8" dirty="0">
                <a:latin typeface="Helvetica"/>
                <a:cs typeface="Helvetica"/>
              </a:rPr>
              <a:t>2025-06-</a:t>
            </a:r>
            <a:r>
              <a:rPr lang="en-US" sz="800" i="1" dirty="0">
                <a:latin typeface="Helvetica"/>
                <a:cs typeface="Helvetica"/>
              </a:rPr>
              <a:t>03</a:t>
            </a:r>
            <a:r>
              <a:rPr lang="en-US" sz="800" i="1" spc="26" dirty="0">
                <a:latin typeface="Helvetica"/>
                <a:cs typeface="Helvetica"/>
              </a:rPr>
              <a:t> </a:t>
            </a:r>
            <a:r>
              <a:rPr lang="en-US" sz="800" i="1" spc="-8" dirty="0">
                <a:latin typeface="Helvetica"/>
                <a:cs typeface="Helvetica"/>
              </a:rPr>
              <a:t>15:00:37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spc="-8" dirty="0">
                <a:latin typeface="Helvetica"/>
                <a:cs typeface="Helvetica"/>
              </a:rPr>
              <a:t>-------------------------------------------</a:t>
            </a:r>
            <a:r>
              <a:rPr lang="en-US" sz="800" spc="-38" dirty="0">
                <a:latin typeface="Helvetica"/>
                <a:cs typeface="Helvetica"/>
              </a:rPr>
              <a:t>-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In February 2022, </a:t>
            </a:r>
            <a:r>
              <a:rPr lang="en-US" sz="800" spc="-8" dirty="0">
                <a:latin typeface="Helvetica"/>
                <a:cs typeface="Helvetica"/>
              </a:rPr>
              <a:t>SpaceX </a:t>
            </a:r>
            <a:r>
              <a:rPr lang="en-US" sz="800" dirty="0">
                <a:latin typeface="Helvetica"/>
                <a:cs typeface="Helvetica"/>
              </a:rPr>
              <a:t>witnessed the destructive </a:t>
            </a:r>
            <a:r>
              <a:rPr lang="en-US" sz="800" spc="-8" dirty="0">
                <a:latin typeface="Helvetica"/>
                <a:cs typeface="Helvetica"/>
              </a:rPr>
              <a:t>power </a:t>
            </a:r>
            <a:r>
              <a:rPr lang="en-US" sz="800" dirty="0">
                <a:latin typeface="Helvetica"/>
                <a:cs typeface="Helvetica"/>
              </a:rPr>
              <a:t>of the sun when a </a:t>
            </a:r>
            <a:r>
              <a:rPr lang="en-US" sz="800" spc="-8" dirty="0">
                <a:latin typeface="Helvetica"/>
                <a:cs typeface="Helvetica"/>
              </a:rPr>
              <a:t>geomagnetic </a:t>
            </a:r>
            <a:r>
              <a:rPr lang="en-US" sz="800" dirty="0">
                <a:latin typeface="Helvetica"/>
                <a:cs typeface="Helvetica"/>
              </a:rPr>
              <a:t>storm destroyed up to 40 </a:t>
            </a:r>
            <a:r>
              <a:rPr lang="en-US" sz="800" spc="-8" dirty="0">
                <a:latin typeface="Helvetica"/>
                <a:cs typeface="Helvetica"/>
              </a:rPr>
              <a:t>Starlink </a:t>
            </a:r>
            <a:r>
              <a:rPr lang="en-US" sz="800" dirty="0">
                <a:latin typeface="Helvetica"/>
                <a:cs typeface="Helvetica"/>
              </a:rPr>
              <a:t>satellites worth over $50 </a:t>
            </a:r>
            <a:r>
              <a:rPr lang="en-US" sz="800" spc="-8" dirty="0">
                <a:latin typeface="Helvetica"/>
                <a:cs typeface="Helvetica"/>
              </a:rPr>
              <a:t>million </a:t>
            </a:r>
            <a:r>
              <a:rPr lang="en-US" sz="800" dirty="0">
                <a:latin typeface="Helvetica"/>
                <a:cs typeface="Helvetica"/>
              </a:rPr>
              <a:t>shortly after </a:t>
            </a:r>
            <a:r>
              <a:rPr lang="en-US" sz="800" spc="-8" dirty="0">
                <a:latin typeface="Helvetica"/>
                <a:cs typeface="Helvetica"/>
              </a:rPr>
              <a:t>deployment.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Starlink</a:t>
            </a:r>
            <a:r>
              <a:rPr lang="en-US" sz="800" spc="-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satellites</a:t>
            </a:r>
            <a:r>
              <a:rPr lang="en-US" sz="800" spc="-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(and</a:t>
            </a:r>
            <a:r>
              <a:rPr lang="en-US" sz="800" spc="-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other</a:t>
            </a:r>
            <a:r>
              <a:rPr lang="en-US" sz="800" spc="-4" dirty="0">
                <a:latin typeface="Helvetica"/>
                <a:cs typeface="Helvetica"/>
              </a:rPr>
              <a:t> </a:t>
            </a:r>
            <a:r>
              <a:rPr lang="en-US" sz="800" spc="-15" dirty="0">
                <a:latin typeface="Helvetica"/>
                <a:cs typeface="Helvetica"/>
              </a:rPr>
              <a:t>low-</a:t>
            </a:r>
            <a:r>
              <a:rPr lang="en-US" sz="800" dirty="0">
                <a:latin typeface="Helvetica"/>
                <a:cs typeface="Helvetica"/>
              </a:rPr>
              <a:t>Earth orbit satellites) </a:t>
            </a:r>
            <a:r>
              <a:rPr lang="en-US" sz="800" spc="-19" dirty="0">
                <a:latin typeface="Helvetica"/>
                <a:cs typeface="Helvetica"/>
              </a:rPr>
              <a:t>are </a:t>
            </a:r>
            <a:r>
              <a:rPr lang="en-US" sz="800" dirty="0">
                <a:latin typeface="Helvetica"/>
                <a:cs typeface="Helvetica"/>
              </a:rPr>
              <a:t>particularly vulnerable </a:t>
            </a:r>
            <a:r>
              <a:rPr lang="en-US" sz="800" spc="-19" dirty="0">
                <a:latin typeface="Helvetica"/>
                <a:cs typeface="Helvetica"/>
              </a:rPr>
              <a:t>to </a:t>
            </a:r>
            <a:r>
              <a:rPr lang="en-US" sz="800" dirty="0">
                <a:latin typeface="Helvetica"/>
                <a:cs typeface="Helvetica"/>
              </a:rPr>
              <a:t>geomagnetic storms </a:t>
            </a:r>
            <a:r>
              <a:rPr lang="en-US" sz="800" spc="-8" dirty="0">
                <a:latin typeface="Helvetica"/>
                <a:cs typeface="Helvetica"/>
              </a:rPr>
              <a:t>because </a:t>
            </a:r>
            <a:r>
              <a:rPr lang="en-US" sz="800" dirty="0">
                <a:latin typeface="Helvetica"/>
                <a:cs typeface="Helvetica"/>
              </a:rPr>
              <a:t>they</a:t>
            </a:r>
            <a:r>
              <a:rPr lang="en-US" sz="800" spc="-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are</a:t>
            </a:r>
            <a:r>
              <a:rPr lang="en-US" sz="800" spc="-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released</a:t>
            </a:r>
            <a:r>
              <a:rPr lang="en-US" sz="800" spc="-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into</a:t>
            </a:r>
            <a:r>
              <a:rPr lang="en-US" sz="800" spc="-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very</a:t>
            </a:r>
            <a:r>
              <a:rPr lang="en-US" sz="800" spc="-4" dirty="0">
                <a:latin typeface="Helvetica"/>
                <a:cs typeface="Helvetica"/>
              </a:rPr>
              <a:t> </a:t>
            </a:r>
            <a:r>
              <a:rPr lang="en-US" sz="800" spc="-15" dirty="0">
                <a:latin typeface="Helvetica"/>
                <a:cs typeface="Helvetica"/>
              </a:rPr>
              <a:t>low-</a:t>
            </a:r>
            <a:r>
              <a:rPr lang="en-US" sz="800" dirty="0">
                <a:latin typeface="Helvetica"/>
                <a:cs typeface="Helvetica"/>
              </a:rPr>
              <a:t>altitude orbits (between 60 </a:t>
            </a:r>
            <a:r>
              <a:rPr lang="en-US" sz="800" spc="-19" dirty="0">
                <a:latin typeface="Helvetica"/>
                <a:cs typeface="Helvetica"/>
              </a:rPr>
              <a:t>and </a:t>
            </a:r>
            <a:r>
              <a:rPr lang="en-US" sz="800" dirty="0">
                <a:latin typeface="Helvetica"/>
                <a:cs typeface="Helvetica"/>
              </a:rPr>
              <a:t>120 miles (100 to 200 km), </a:t>
            </a:r>
            <a:r>
              <a:rPr lang="en-US" sz="800" spc="-19" dirty="0">
                <a:latin typeface="Helvetica"/>
                <a:cs typeface="Helvetica"/>
              </a:rPr>
              <a:t>and </a:t>
            </a:r>
            <a:r>
              <a:rPr lang="en-US" sz="800" dirty="0">
                <a:latin typeface="Helvetica"/>
                <a:cs typeface="Helvetica"/>
              </a:rPr>
              <a:t>they rely on onboard engines </a:t>
            </a:r>
            <a:r>
              <a:rPr lang="en-US" sz="800" spc="-19" dirty="0">
                <a:latin typeface="Helvetica"/>
                <a:cs typeface="Helvetica"/>
              </a:rPr>
              <a:t>to </a:t>
            </a:r>
            <a:r>
              <a:rPr lang="en-US" sz="800" dirty="0">
                <a:latin typeface="Helvetica"/>
                <a:cs typeface="Helvetica"/>
              </a:rPr>
              <a:t>overcome the force of </a:t>
            </a:r>
            <a:r>
              <a:rPr lang="en-US" sz="800" spc="-8" dirty="0">
                <a:latin typeface="Helvetica"/>
                <a:cs typeface="Helvetica"/>
              </a:rPr>
              <a:t>drag, </a:t>
            </a:r>
            <a:r>
              <a:rPr lang="en-US" sz="800" dirty="0">
                <a:latin typeface="Helvetica"/>
                <a:cs typeface="Helvetica"/>
              </a:rPr>
              <a:t>raising themselves to a </a:t>
            </a:r>
            <a:r>
              <a:rPr lang="en-US" sz="800" spc="-8" dirty="0">
                <a:latin typeface="Helvetica"/>
                <a:cs typeface="Helvetica"/>
              </a:rPr>
              <a:t>final </a:t>
            </a:r>
            <a:r>
              <a:rPr lang="en-US" sz="800" dirty="0">
                <a:latin typeface="Helvetica"/>
                <a:cs typeface="Helvetica"/>
              </a:rPr>
              <a:t>altitude of about 350 miles </a:t>
            </a:r>
            <a:r>
              <a:rPr lang="en-US" sz="800" spc="-15" dirty="0">
                <a:latin typeface="Helvetica"/>
                <a:cs typeface="Helvetica"/>
              </a:rPr>
              <a:t>(550 km). 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During a geomagnetic </a:t>
            </a:r>
            <a:r>
              <a:rPr lang="en-US" sz="800" spc="-8" dirty="0">
                <a:latin typeface="Helvetica"/>
                <a:cs typeface="Helvetica"/>
              </a:rPr>
              <a:t>storm, </a:t>
            </a:r>
            <a:r>
              <a:rPr lang="en-US" sz="800" dirty="0">
                <a:latin typeface="Helvetica"/>
                <a:cs typeface="Helvetica"/>
              </a:rPr>
              <a:t>Earth's atmosphere </a:t>
            </a:r>
            <a:r>
              <a:rPr lang="en-US" sz="800" spc="-8" dirty="0">
                <a:latin typeface="Helvetica"/>
                <a:cs typeface="Helvetica"/>
              </a:rPr>
              <a:t>absorbs </a:t>
            </a:r>
            <a:r>
              <a:rPr lang="en-US" sz="800" dirty="0">
                <a:latin typeface="Helvetica"/>
                <a:cs typeface="Helvetica"/>
              </a:rPr>
              <a:t>energy from the storms, heats </a:t>
            </a:r>
            <a:r>
              <a:rPr lang="en-US" sz="800" spc="-19" dirty="0">
                <a:latin typeface="Helvetica"/>
                <a:cs typeface="Helvetica"/>
              </a:rPr>
              <a:t>up </a:t>
            </a:r>
            <a:r>
              <a:rPr lang="en-US" sz="800" dirty="0">
                <a:latin typeface="Helvetica"/>
                <a:cs typeface="Helvetica"/>
              </a:rPr>
              <a:t>and expands upwards, leading </a:t>
            </a:r>
            <a:r>
              <a:rPr lang="en-US" sz="800" spc="-19" dirty="0">
                <a:latin typeface="Helvetica"/>
                <a:cs typeface="Helvetica"/>
              </a:rPr>
              <a:t>to </a:t>
            </a:r>
            <a:r>
              <a:rPr lang="en-US" sz="800" dirty="0">
                <a:latin typeface="Helvetica"/>
                <a:cs typeface="Helvetica"/>
              </a:rPr>
              <a:t>a significantly </a:t>
            </a:r>
            <a:r>
              <a:rPr lang="en-US" sz="800" spc="-8" dirty="0">
                <a:latin typeface="Helvetica"/>
                <a:cs typeface="Helvetica"/>
              </a:rPr>
              <a:t>denser </a:t>
            </a:r>
            <a:r>
              <a:rPr lang="en-US" sz="800" dirty="0">
                <a:latin typeface="Helvetica"/>
                <a:cs typeface="Helvetica"/>
              </a:rPr>
              <a:t>thermosphere that extends </a:t>
            </a:r>
            <a:r>
              <a:rPr lang="en-US" sz="800" spc="-15" dirty="0">
                <a:latin typeface="Helvetica"/>
                <a:cs typeface="Helvetica"/>
              </a:rPr>
              <a:t>from </a:t>
            </a:r>
            <a:r>
              <a:rPr lang="en-US" sz="800" dirty="0">
                <a:latin typeface="Helvetica"/>
                <a:cs typeface="Helvetica"/>
              </a:rPr>
              <a:t>about 50 miles (80 km) </a:t>
            </a:r>
            <a:r>
              <a:rPr lang="en-US" sz="800" spc="-19" dirty="0">
                <a:latin typeface="Helvetica"/>
                <a:cs typeface="Helvetica"/>
              </a:rPr>
              <a:t>to </a:t>
            </a:r>
            <a:r>
              <a:rPr lang="en-US" sz="800" dirty="0">
                <a:latin typeface="Helvetica"/>
                <a:cs typeface="Helvetica"/>
              </a:rPr>
              <a:t>approximately 600 miles </a:t>
            </a:r>
            <a:r>
              <a:rPr lang="en-US" sz="800" spc="-8" dirty="0">
                <a:latin typeface="Helvetica"/>
                <a:cs typeface="Helvetica"/>
              </a:rPr>
              <a:t>(1,000 </a:t>
            </a:r>
            <a:r>
              <a:rPr lang="en-US" sz="800" dirty="0">
                <a:latin typeface="Helvetica"/>
                <a:cs typeface="Helvetica"/>
              </a:rPr>
              <a:t>km) above the Earth's surface. </a:t>
            </a:r>
            <a:r>
              <a:rPr lang="en-US" sz="800" spc="-38" dirty="0">
                <a:latin typeface="Helvetica"/>
                <a:cs typeface="Helvetica"/>
              </a:rPr>
              <a:t>A </a:t>
            </a:r>
            <a:r>
              <a:rPr lang="en-US" sz="800" dirty="0">
                <a:latin typeface="Helvetica"/>
                <a:cs typeface="Helvetica"/>
              </a:rPr>
              <a:t>denser thermosphere </a:t>
            </a:r>
            <a:r>
              <a:rPr lang="en-US" sz="800" spc="-8" dirty="0">
                <a:latin typeface="Helvetica"/>
                <a:cs typeface="Helvetica"/>
              </a:rPr>
              <a:t>means </a:t>
            </a:r>
            <a:r>
              <a:rPr lang="en-US" sz="800" dirty="0">
                <a:latin typeface="Helvetica"/>
                <a:cs typeface="Helvetica"/>
              </a:rPr>
              <a:t>more drag which can be an </a:t>
            </a:r>
            <a:r>
              <a:rPr lang="en-US" sz="800" spc="-8" dirty="0">
                <a:latin typeface="Helvetica"/>
                <a:cs typeface="Helvetica"/>
              </a:rPr>
              <a:t>issue </a:t>
            </a:r>
            <a:r>
              <a:rPr lang="en-US" sz="800" dirty="0">
                <a:latin typeface="Helvetica"/>
                <a:cs typeface="Helvetica"/>
              </a:rPr>
              <a:t>for satellites. This is </a:t>
            </a:r>
            <a:r>
              <a:rPr lang="en-US" sz="800" spc="-15" dirty="0">
                <a:latin typeface="Helvetica"/>
                <a:cs typeface="Helvetica"/>
              </a:rPr>
              <a:t>what </a:t>
            </a:r>
            <a:r>
              <a:rPr lang="en-US" sz="800" dirty="0">
                <a:latin typeface="Helvetica"/>
                <a:cs typeface="Helvetica"/>
              </a:rPr>
              <a:t>happened in February when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dirty="0">
                <a:latin typeface="Helvetica"/>
                <a:cs typeface="Helvetica"/>
              </a:rPr>
              <a:t>batch of recently </a:t>
            </a:r>
            <a:r>
              <a:rPr lang="en-US" sz="800" spc="-8" dirty="0">
                <a:latin typeface="Helvetica"/>
                <a:cs typeface="Helvetica"/>
              </a:rPr>
              <a:t>released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Starlink satellites failed </a:t>
            </a:r>
            <a:r>
              <a:rPr lang="en-US" sz="800" spc="-19" dirty="0">
                <a:latin typeface="Helvetica"/>
                <a:cs typeface="Helvetica"/>
              </a:rPr>
              <a:t>to </a:t>
            </a:r>
            <a:r>
              <a:rPr lang="en-US" sz="800" dirty="0">
                <a:latin typeface="Helvetica"/>
                <a:cs typeface="Helvetica"/>
              </a:rPr>
              <a:t>overcome the increased </a:t>
            </a:r>
            <a:r>
              <a:rPr lang="en-US" sz="800" spc="-15" dirty="0">
                <a:latin typeface="Helvetica"/>
                <a:cs typeface="Helvetica"/>
              </a:rPr>
              <a:t>drag </a:t>
            </a:r>
            <a:r>
              <a:rPr lang="en-US" sz="800" dirty="0">
                <a:latin typeface="Helvetica"/>
                <a:cs typeface="Helvetica"/>
              </a:rPr>
              <a:t>caused by the </a:t>
            </a:r>
            <a:r>
              <a:rPr lang="en-US" sz="800" spc="-8" dirty="0">
                <a:latin typeface="Helvetica"/>
                <a:cs typeface="Helvetica"/>
              </a:rPr>
              <a:t>geomagnetic</a:t>
            </a:r>
            <a:r>
              <a:rPr lang="en-US" sz="800" spc="37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storm and began to fall back </a:t>
            </a:r>
            <a:r>
              <a:rPr lang="en-US" sz="800" spc="-19" dirty="0">
                <a:latin typeface="Helvetica"/>
                <a:cs typeface="Helvetica"/>
              </a:rPr>
              <a:t>to </a:t>
            </a:r>
            <a:r>
              <a:rPr lang="en-US" sz="800" dirty="0">
                <a:latin typeface="Helvetica"/>
                <a:cs typeface="Helvetica"/>
              </a:rPr>
              <a:t>Earth, eventually burning up </a:t>
            </a:r>
            <a:r>
              <a:rPr lang="en-US" sz="800" spc="-19" dirty="0">
                <a:latin typeface="Helvetica"/>
                <a:cs typeface="Helvetica"/>
              </a:rPr>
              <a:t>in</a:t>
            </a:r>
            <a:r>
              <a:rPr lang="en-US" sz="800" dirty="0">
                <a:latin typeface="Helvetica"/>
                <a:cs typeface="Helvetica"/>
              </a:rPr>
              <a:t> the </a:t>
            </a:r>
            <a:r>
              <a:rPr lang="en-US" sz="800" spc="-8" dirty="0">
                <a:latin typeface="Helvetica"/>
                <a:cs typeface="Helvetica"/>
              </a:rPr>
              <a:t>atmosphere. </a:t>
            </a:r>
            <a:endParaRPr lang="en-US" sz="800" dirty="0">
              <a:latin typeface="Helvetica"/>
              <a:cs typeface="Helvetic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95910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050">
              <a:spcBef>
                <a:spcPts val="300"/>
              </a:spcBef>
            </a:pPr>
            <a:r>
              <a:rPr lang="en-US" sz="800" b="1" i="1" dirty="0">
                <a:latin typeface="Helvetica"/>
                <a:cs typeface="Helvetica"/>
              </a:rPr>
              <a:t>Presenter</a:t>
            </a:r>
            <a:r>
              <a:rPr lang="en-US" sz="800" b="1" i="1" spc="-30" dirty="0">
                <a:latin typeface="Helvetica"/>
                <a:cs typeface="Helvetica"/>
              </a:rPr>
              <a:t> </a:t>
            </a:r>
            <a:r>
              <a:rPr lang="en-US" sz="800" b="1" i="1" spc="-8" dirty="0">
                <a:latin typeface="Helvetica"/>
                <a:cs typeface="Helvetica"/>
              </a:rPr>
              <a:t>Notes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i="1" spc="-8" dirty="0">
                <a:latin typeface="Helvetica"/>
                <a:cs typeface="Helvetica"/>
              </a:rPr>
              <a:t>2025-06-</a:t>
            </a:r>
            <a:r>
              <a:rPr lang="en-US" sz="800" i="1" dirty="0">
                <a:latin typeface="Helvetica"/>
                <a:cs typeface="Helvetica"/>
              </a:rPr>
              <a:t>03</a:t>
            </a:r>
            <a:r>
              <a:rPr lang="en-US" sz="800" i="1" spc="26" dirty="0">
                <a:latin typeface="Helvetica"/>
                <a:cs typeface="Helvetica"/>
              </a:rPr>
              <a:t> </a:t>
            </a:r>
            <a:r>
              <a:rPr lang="en-US" sz="800" i="1" spc="-8" dirty="0">
                <a:latin typeface="Helvetica"/>
                <a:cs typeface="Helvetica"/>
              </a:rPr>
              <a:t>15:00:40</a:t>
            </a:r>
            <a:endParaRPr lang="en-US" sz="800" dirty="0">
              <a:latin typeface="Helvetica"/>
              <a:cs typeface="Helvetica"/>
            </a:endParaRPr>
          </a:p>
          <a:p>
            <a:pPr marL="19050">
              <a:spcBef>
                <a:spcPts val="30"/>
              </a:spcBef>
            </a:pPr>
            <a:r>
              <a:rPr lang="en-US" sz="800" spc="-8" dirty="0">
                <a:latin typeface="Helvetica"/>
                <a:cs typeface="Helvetica"/>
              </a:rPr>
              <a:t>-------------------------------------------</a:t>
            </a:r>
            <a:r>
              <a:rPr lang="en-US" sz="800" spc="-38" dirty="0">
                <a:latin typeface="Helvetica"/>
                <a:cs typeface="Helvetica"/>
              </a:rPr>
              <a:t>-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On the graph, the black line </a:t>
            </a:r>
            <a:r>
              <a:rPr lang="en-US" sz="800" spc="-19" dirty="0">
                <a:latin typeface="Helvetica"/>
                <a:cs typeface="Helvetica"/>
              </a:rPr>
              <a:t>is </a:t>
            </a:r>
            <a:r>
              <a:rPr lang="en-US" sz="800" dirty="0">
                <a:latin typeface="Helvetica"/>
                <a:cs typeface="Helvetica"/>
              </a:rPr>
              <a:t>called the Local </a:t>
            </a:r>
            <a:r>
              <a:rPr lang="en-US" sz="800" spc="-8" dirty="0">
                <a:latin typeface="Helvetica"/>
                <a:cs typeface="Helvetica"/>
              </a:rPr>
              <a:t>Interstellar </a:t>
            </a:r>
            <a:r>
              <a:rPr lang="en-US" sz="800" dirty="0">
                <a:latin typeface="Helvetica"/>
                <a:cs typeface="Helvetica"/>
              </a:rPr>
              <a:t>Spectra which is what the </a:t>
            </a:r>
            <a:r>
              <a:rPr lang="en-US" sz="800" spc="-8" dirty="0">
                <a:latin typeface="Helvetica"/>
                <a:cs typeface="Helvetica"/>
              </a:rPr>
              <a:t>energy </a:t>
            </a:r>
            <a:r>
              <a:rPr lang="en-US" sz="800" dirty="0">
                <a:latin typeface="Helvetica"/>
                <a:cs typeface="Helvetica"/>
              </a:rPr>
              <a:t>spectra would look like outside </a:t>
            </a:r>
            <a:r>
              <a:rPr lang="en-US" sz="800" spc="-19" dirty="0">
                <a:latin typeface="Helvetica"/>
                <a:cs typeface="Helvetica"/>
              </a:rPr>
              <a:t>of </a:t>
            </a:r>
            <a:r>
              <a:rPr lang="en-US" sz="800" dirty="0">
                <a:latin typeface="Helvetica"/>
                <a:cs typeface="Helvetica"/>
              </a:rPr>
              <a:t>our solar system. When the </a:t>
            </a:r>
            <a:r>
              <a:rPr lang="en-US" sz="800" spc="-8" dirty="0">
                <a:latin typeface="Helvetica"/>
                <a:cs typeface="Helvetica"/>
              </a:rPr>
              <a:t>Solar </a:t>
            </a:r>
            <a:r>
              <a:rPr lang="en-US" sz="800" dirty="0">
                <a:latin typeface="Helvetica"/>
                <a:cs typeface="Helvetica"/>
              </a:rPr>
              <a:t>activity is low, Galactic </a:t>
            </a:r>
            <a:r>
              <a:rPr lang="en-US" sz="800" spc="-8" dirty="0">
                <a:latin typeface="Helvetica"/>
                <a:cs typeface="Helvetica"/>
              </a:rPr>
              <a:t>Cosmic </a:t>
            </a:r>
            <a:r>
              <a:rPr lang="en-US" sz="800" dirty="0">
                <a:latin typeface="Helvetica"/>
                <a:cs typeface="Helvetica"/>
              </a:rPr>
              <a:t>Rays influence the </a:t>
            </a:r>
            <a:r>
              <a:rPr lang="en-US" sz="800" spc="-8" dirty="0">
                <a:latin typeface="Helvetica"/>
                <a:cs typeface="Helvetica"/>
              </a:rPr>
              <a:t>space </a:t>
            </a:r>
            <a:r>
              <a:rPr lang="en-US" sz="800" dirty="0">
                <a:latin typeface="Helvetica"/>
                <a:cs typeface="Helvetica"/>
              </a:rPr>
              <a:t>environment around earth </a:t>
            </a:r>
            <a:r>
              <a:rPr lang="en-US" sz="800" spc="-8" dirty="0">
                <a:latin typeface="Helvetica"/>
                <a:cs typeface="Helvetica"/>
              </a:rPr>
              <a:t>more.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When the Solar activity is </a:t>
            </a:r>
            <a:r>
              <a:rPr lang="en-US" sz="800" spc="-8" dirty="0">
                <a:latin typeface="Helvetica"/>
                <a:cs typeface="Helvetica"/>
              </a:rPr>
              <a:t>high, </a:t>
            </a:r>
            <a:r>
              <a:rPr lang="en-US" sz="800" dirty="0">
                <a:latin typeface="Helvetica"/>
                <a:cs typeface="Helvetica"/>
              </a:rPr>
              <a:t>the Sun influences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dirty="0">
                <a:latin typeface="Helvetica"/>
                <a:cs typeface="Helvetica"/>
              </a:rPr>
              <a:t>environment around earth </a:t>
            </a:r>
            <a:r>
              <a:rPr lang="en-US" sz="800" spc="-8" dirty="0">
                <a:latin typeface="Helvetica"/>
                <a:cs typeface="Helvetica"/>
              </a:rPr>
              <a:t>more.</a:t>
            </a:r>
            <a:endParaRPr lang="en-US" sz="800" dirty="0">
              <a:latin typeface="Helvetica"/>
              <a:cs typeface="Helvetica"/>
            </a:endParaRPr>
          </a:p>
          <a:p>
            <a:pPr marL="19050" marR="13335"/>
            <a:r>
              <a:rPr lang="en-US" sz="800" dirty="0">
                <a:latin typeface="Helvetica"/>
                <a:cs typeface="Helvetica"/>
              </a:rPr>
              <a:t>This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is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one</a:t>
            </a:r>
            <a:r>
              <a:rPr lang="en-US" sz="800" spc="3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reason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why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spc="-15" dirty="0">
                <a:latin typeface="Helvetica"/>
                <a:cs typeface="Helvetica"/>
              </a:rPr>
              <a:t>GCRs</a:t>
            </a:r>
            <a:r>
              <a:rPr lang="en-US" sz="800" dirty="0">
                <a:latin typeface="Helvetica"/>
                <a:cs typeface="Helvetica"/>
              </a:rPr>
              <a:t> are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considered</a:t>
            </a:r>
            <a:r>
              <a:rPr lang="en-US" sz="800" spc="3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</a:t>
            </a:r>
            <a:r>
              <a:rPr lang="en-US" sz="800" spc="30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part</a:t>
            </a:r>
            <a:r>
              <a:rPr lang="en-US" sz="800" spc="34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of</a:t>
            </a:r>
            <a:r>
              <a:rPr lang="en-US" sz="800" spc="34" dirty="0">
                <a:latin typeface="Helvetica"/>
                <a:cs typeface="Helvetica"/>
              </a:rPr>
              <a:t> </a:t>
            </a:r>
            <a:r>
              <a:rPr lang="en-US" sz="800" spc="-19" dirty="0">
                <a:latin typeface="Helvetica"/>
                <a:cs typeface="Helvetica"/>
              </a:rPr>
              <a:t>the </a:t>
            </a:r>
            <a:r>
              <a:rPr lang="en-US" sz="800" dirty="0">
                <a:latin typeface="Helvetica"/>
                <a:cs typeface="Helvetica"/>
              </a:rPr>
              <a:t>“Quiet”</a:t>
            </a:r>
            <a:r>
              <a:rPr lang="en-US" sz="800" spc="4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Environment</a:t>
            </a:r>
            <a:r>
              <a:rPr lang="en-US" sz="800" spc="4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due</a:t>
            </a:r>
            <a:r>
              <a:rPr lang="en-US" sz="800" spc="45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to</a:t>
            </a:r>
            <a:r>
              <a:rPr lang="en-US" sz="800" spc="45" dirty="0">
                <a:latin typeface="Helvetica"/>
                <a:cs typeface="Helvetica"/>
              </a:rPr>
              <a:t> </a:t>
            </a:r>
            <a:r>
              <a:rPr lang="en-US" sz="800" spc="-15" dirty="0">
                <a:latin typeface="Helvetica"/>
                <a:cs typeface="Helvetica"/>
              </a:rPr>
              <a:t>less </a:t>
            </a:r>
            <a:r>
              <a:rPr lang="en-US" sz="800" dirty="0">
                <a:latin typeface="Helvetica"/>
                <a:cs typeface="Helvetica"/>
              </a:rPr>
              <a:t>Solar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activity.</a:t>
            </a:r>
            <a:r>
              <a:rPr lang="en-US" sz="800" spc="26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If</a:t>
            </a:r>
            <a:r>
              <a:rPr lang="en-US" sz="800" spc="23" dirty="0">
                <a:latin typeface="Helvetica"/>
                <a:cs typeface="Helvetica"/>
              </a:rPr>
              <a:t> </a:t>
            </a:r>
            <a:r>
              <a:rPr lang="en-US" sz="800" dirty="0">
                <a:latin typeface="Helvetica"/>
                <a:cs typeface="Helvetica"/>
              </a:rPr>
              <a:t>iron</a:t>
            </a:r>
            <a:r>
              <a:rPr lang="en-US" sz="800" spc="19" dirty="0">
                <a:latin typeface="Helvetica"/>
                <a:cs typeface="Helvetica"/>
              </a:rPr>
              <a:t> </a:t>
            </a:r>
            <a:r>
              <a:rPr lang="en-US" sz="800" spc="-8" dirty="0">
                <a:latin typeface="Helvetica"/>
                <a:cs typeface="Helvetica"/>
              </a:rPr>
              <a:t>energies </a:t>
            </a:r>
            <a:r>
              <a:rPr lang="en-US" sz="800" dirty="0">
                <a:latin typeface="Helvetica"/>
                <a:cs typeface="Helvetica"/>
              </a:rPr>
              <a:t>have high energies. </a:t>
            </a:r>
            <a:r>
              <a:rPr lang="en-US" sz="800" spc="-8" dirty="0">
                <a:latin typeface="Helvetica"/>
                <a:cs typeface="Helvetica"/>
              </a:rPr>
              <a:t>Stronger </a:t>
            </a:r>
            <a:r>
              <a:rPr lang="en-US" sz="800" dirty="0">
                <a:latin typeface="Helvetica"/>
                <a:cs typeface="Helvetica"/>
              </a:rPr>
              <a:t>solar max is attenuating the </a:t>
            </a:r>
            <a:r>
              <a:rPr lang="en-US" sz="800" spc="-15" dirty="0">
                <a:latin typeface="Helvetica"/>
                <a:cs typeface="Helvetica"/>
              </a:rPr>
              <a:t>iron </a:t>
            </a:r>
            <a:r>
              <a:rPr lang="en-US" sz="800" dirty="0">
                <a:latin typeface="Helvetica"/>
                <a:cs typeface="Helvetica"/>
              </a:rPr>
              <a:t>from the </a:t>
            </a:r>
            <a:r>
              <a:rPr lang="en-US" sz="800" spc="-19" dirty="0">
                <a:latin typeface="Helvetica"/>
                <a:cs typeface="Helvetica"/>
              </a:rPr>
              <a:t>GCR</a:t>
            </a:r>
            <a:endParaRPr lang="en-US" sz="800" dirty="0">
              <a:latin typeface="Helvetica"/>
              <a:cs typeface="Helvetic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742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/>
          <p:cNvSpPr>
            <a:spLocks noGrp="1"/>
          </p:cNvSpPr>
          <p:nvPr>
            <p:ph type="title"/>
          </p:nvPr>
        </p:nvSpPr>
        <p:spPr>
          <a:xfrm>
            <a:off x="457200" y="2553884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Enter Title Here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58788" y="3880087"/>
            <a:ext cx="8223250" cy="1111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Enter Name Here</a:t>
            </a:r>
          </a:p>
        </p:txBody>
      </p:sp>
    </p:spTree>
    <p:extLst>
      <p:ext uri="{BB962C8B-B14F-4D97-AF65-F5344CB8AC3E}">
        <p14:creationId xmlns:p14="http://schemas.microsoft.com/office/powerpoint/2010/main" val="4112940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306688" y="968447"/>
            <a:ext cx="8357616" cy="4451203"/>
          </a:xfrm>
          <a:prstGeom prst="rect">
            <a:avLst/>
          </a:prstGeom>
        </p:spPr>
        <p:txBody>
          <a:bodyPr vert="horz"/>
          <a:lstStyle>
            <a:lvl1pPr marL="287338" indent="-287338">
              <a:buSzPct val="110000"/>
              <a:defRPr sz="2000" b="1">
                <a:latin typeface="Arial"/>
                <a:cs typeface="Arial"/>
              </a:defRPr>
            </a:lvl1pPr>
            <a:lvl2pPr marL="573088" indent="-238125">
              <a:buFont typeface="Lucida Grande"/>
              <a:buChar char="-"/>
              <a:defRPr sz="2000">
                <a:latin typeface="Arial"/>
                <a:cs typeface="Arial"/>
              </a:defRPr>
            </a:lvl2pPr>
            <a:lvl3pPr marL="906463" indent="-228600">
              <a:buSzPct val="90000"/>
              <a:buFont typeface="Wingdings" charset="2"/>
              <a:buChar char="§"/>
              <a:defRPr sz="1800">
                <a:latin typeface="Arial" charset="0"/>
                <a:ea typeface="Arial" charset="0"/>
                <a:cs typeface="Arial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1"/>
            <a:ext cx="4038600" cy="377163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3501"/>
            <a:ext cx="4038600" cy="377163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6C4D8F5-CC1E-9B43-A3F6-CC28933C42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5204354"/>
            <a:ext cx="2133600" cy="396876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9/25/19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F3A8DF9-22BA-4546-A07D-1C617CB2A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5204354"/>
            <a:ext cx="2895600" cy="396876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cs typeface="+mn-cs"/>
              </a:defRPr>
            </a:lvl1pPr>
          </a:lstStyle>
          <a:p>
            <a:pPr>
              <a:defRPr/>
            </a:pPr>
            <a:r>
              <a:rPr lang="en-US"/>
              <a:t>Loveless - RadFX in Electronics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2B7DE69-6DD0-324A-BEB6-E6DAB192B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8821" y="5204354"/>
            <a:ext cx="2133600" cy="396876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D5F8EB3-FA9F-8A48-8B73-47C8527661E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567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EE77317-9557-F24F-8A4C-700090F693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5204354"/>
            <a:ext cx="2133600" cy="396876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9/25/19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102A6BC-B644-F144-9953-894038135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5204354"/>
            <a:ext cx="2895600" cy="396876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cs typeface="+mn-cs"/>
              </a:defRPr>
            </a:lvl1pPr>
          </a:lstStyle>
          <a:p>
            <a:pPr>
              <a:defRPr/>
            </a:pPr>
            <a:r>
              <a:rPr lang="en-US"/>
              <a:t>Loveless - RadFX in Electronics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A8657B8-154D-894F-8777-BF884FD0D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8821" y="5204354"/>
            <a:ext cx="2133600" cy="396876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D5F8EB3-FA9F-8A48-8B73-47C8527661E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166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only: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224499"/>
            <a:ext cx="82664" cy="430218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18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D37AC3B4-8A5F-CC32-DF48-5CE1E4AEF6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9830" y="145144"/>
            <a:ext cx="8004391" cy="6364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200" b="1" i="0" cap="none" spc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666B2C-A779-9FEF-7442-3233CA2F20B1}"/>
              </a:ext>
            </a:extLst>
          </p:cNvPr>
          <p:cNvSpPr txBox="1"/>
          <p:nvPr userDrawn="1"/>
        </p:nvSpPr>
        <p:spPr>
          <a:xfrm>
            <a:off x="3783189" y="1587943"/>
            <a:ext cx="9475611" cy="258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79" b="1" dirty="0">
                <a:solidFill>
                  <a:schemeClr val="bg1"/>
                </a:solidFill>
              </a:rPr>
              <a:t>INDIANA UNIVERSITY</a:t>
            </a:r>
          </a:p>
        </p:txBody>
      </p:sp>
      <p:sp>
        <p:nvSpPr>
          <p:cNvPr id="10" name="Google Shape;90;p13">
            <a:extLst>
              <a:ext uri="{FF2B5EF4-FFF2-40B4-BE49-F238E27FC236}">
                <a16:creationId xmlns:a16="http://schemas.microsoft.com/office/drawing/2014/main" id="{E553561B-70F1-ABB0-ED09-EAC44B7E9FBE}"/>
              </a:ext>
            </a:extLst>
          </p:cNvPr>
          <p:cNvSpPr/>
          <p:nvPr/>
        </p:nvSpPr>
        <p:spPr>
          <a:xfrm>
            <a:off x="4993243" y="7685916"/>
            <a:ext cx="9218560" cy="962430"/>
          </a:xfrm>
          <a:prstGeom prst="rect">
            <a:avLst/>
          </a:prstGeom>
          <a:solidFill>
            <a:schemeClr val="lt1">
              <a:alpha val="0"/>
            </a:schemeClr>
          </a:solidFill>
          <a:ln>
            <a:noFill/>
          </a:ln>
        </p:spPr>
        <p:txBody>
          <a:bodyPr spcFirstLastPara="1" wrap="square" lIns="64075" tIns="32039" rIns="64075" bIns="32039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endParaRPr sz="107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ACA339-CDE9-CAB1-44DF-96E552078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56600" y="69685"/>
            <a:ext cx="787400" cy="7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461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E6E6E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9525">
              <a:lnSpc>
                <a:spcPts val="1069"/>
              </a:lnSpc>
            </a:pPr>
            <a:r>
              <a:rPr lang="en-US"/>
              <a:t>DISTRIBUTION</a:t>
            </a:r>
            <a:r>
              <a:rPr lang="en-US" spc="-30"/>
              <a:t> </a:t>
            </a:r>
            <a:r>
              <a:rPr lang="en-US" spc="-23"/>
              <a:t>STATEMENT</a:t>
            </a:r>
            <a:r>
              <a:rPr lang="en-US" spc="-41"/>
              <a:t> </a:t>
            </a:r>
            <a:r>
              <a:rPr lang="en-US"/>
              <a:t>A.</a:t>
            </a:r>
            <a:r>
              <a:rPr lang="en-US" spc="-38"/>
              <a:t> </a:t>
            </a:r>
            <a:r>
              <a:rPr lang="en-US"/>
              <a:t>Approved</a:t>
            </a:r>
            <a:r>
              <a:rPr lang="en-US" spc="8"/>
              <a:t> </a:t>
            </a:r>
            <a:r>
              <a:rPr lang="en-US"/>
              <a:t>for</a:t>
            </a:r>
            <a:r>
              <a:rPr lang="en-US" spc="-34"/>
              <a:t> </a:t>
            </a:r>
            <a:r>
              <a:rPr lang="en-US"/>
              <a:t>public</a:t>
            </a:r>
            <a:r>
              <a:rPr lang="en-US" spc="-23"/>
              <a:t> </a:t>
            </a:r>
            <a:r>
              <a:rPr lang="en-US"/>
              <a:t>release;</a:t>
            </a:r>
            <a:r>
              <a:rPr lang="en-US" spc="-60"/>
              <a:t> </a:t>
            </a:r>
            <a:r>
              <a:rPr lang="en-US"/>
              <a:t>distribution</a:t>
            </a:r>
            <a:r>
              <a:rPr lang="en-US" spc="-8"/>
              <a:t> </a:t>
            </a:r>
            <a:r>
              <a:rPr lang="en-US"/>
              <a:t>is</a:t>
            </a:r>
            <a:r>
              <a:rPr lang="en-US" spc="-38"/>
              <a:t> </a:t>
            </a:r>
            <a:r>
              <a:rPr lang="en-US" spc="-8"/>
              <a:t>unlimited.</a:t>
            </a:r>
            <a:endParaRPr lang="en-US" spc="-8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F6EC5"/>
                </a:solidFill>
                <a:latin typeface="Arial"/>
                <a:cs typeface="Arial"/>
              </a:defRPr>
            </a:lvl1pPr>
          </a:lstStyle>
          <a:p>
            <a:pPr marL="76200">
              <a:lnSpc>
                <a:spcPts val="1069"/>
              </a:lnSpc>
            </a:pPr>
            <a:fld id="{81D60167-4931-47E6-BA6A-407CBD079E47}" type="slidenum">
              <a:rPr lang="en-US" spc="-38" smtClean="0">
                <a:solidFill>
                  <a:srgbClr val="FFFFFF"/>
                </a:solidFill>
              </a:rPr>
              <a:pPr marL="76200">
                <a:lnSpc>
                  <a:spcPts val="1069"/>
                </a:lnSpc>
              </a:pPr>
              <a:t>‹#›</a:t>
            </a:fld>
            <a:endParaRPr lang="en-US" spc="-38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2788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314450"/>
            <a:ext cx="39776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314450"/>
            <a:ext cx="39776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9525">
              <a:lnSpc>
                <a:spcPts val="1069"/>
              </a:lnSpc>
            </a:pPr>
            <a:r>
              <a:rPr lang="en-US"/>
              <a:t>DISTRIBUTION</a:t>
            </a:r>
            <a:r>
              <a:rPr lang="en-US" spc="-30"/>
              <a:t> </a:t>
            </a:r>
            <a:r>
              <a:rPr lang="en-US" spc="-23"/>
              <a:t>STATEMENT</a:t>
            </a:r>
            <a:r>
              <a:rPr lang="en-US" spc="-41"/>
              <a:t> </a:t>
            </a:r>
            <a:r>
              <a:rPr lang="en-US"/>
              <a:t>A.</a:t>
            </a:r>
            <a:r>
              <a:rPr lang="en-US" spc="-38"/>
              <a:t> </a:t>
            </a:r>
            <a:r>
              <a:rPr lang="en-US"/>
              <a:t>Approved</a:t>
            </a:r>
            <a:r>
              <a:rPr lang="en-US" spc="8"/>
              <a:t> </a:t>
            </a:r>
            <a:r>
              <a:rPr lang="en-US"/>
              <a:t>for</a:t>
            </a:r>
            <a:r>
              <a:rPr lang="en-US" spc="-34"/>
              <a:t> </a:t>
            </a:r>
            <a:r>
              <a:rPr lang="en-US"/>
              <a:t>public</a:t>
            </a:r>
            <a:r>
              <a:rPr lang="en-US" spc="-23"/>
              <a:t> </a:t>
            </a:r>
            <a:r>
              <a:rPr lang="en-US"/>
              <a:t>release;</a:t>
            </a:r>
            <a:r>
              <a:rPr lang="en-US" spc="-60"/>
              <a:t> </a:t>
            </a:r>
            <a:r>
              <a:rPr lang="en-US"/>
              <a:t>distribution</a:t>
            </a:r>
            <a:r>
              <a:rPr lang="en-US" spc="-8"/>
              <a:t> </a:t>
            </a:r>
            <a:r>
              <a:rPr lang="en-US"/>
              <a:t>is</a:t>
            </a:r>
            <a:r>
              <a:rPr lang="en-US" spc="-38"/>
              <a:t> </a:t>
            </a:r>
            <a:r>
              <a:rPr lang="en-US" spc="-8"/>
              <a:t>unlimited.</a:t>
            </a:r>
            <a:endParaRPr lang="en-US" spc="-8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F6EC5"/>
                </a:solidFill>
                <a:latin typeface="Arial"/>
                <a:cs typeface="Arial"/>
              </a:defRPr>
            </a:lvl1pPr>
          </a:lstStyle>
          <a:p>
            <a:pPr marL="76200">
              <a:lnSpc>
                <a:spcPts val="1069"/>
              </a:lnSpc>
            </a:pPr>
            <a:fld id="{81D60167-4931-47E6-BA6A-407CBD079E47}" type="slidenum">
              <a:rPr lang="en-US" spc="-38" smtClean="0">
                <a:solidFill>
                  <a:srgbClr val="FFFFFF"/>
                </a:solidFill>
              </a:rPr>
              <a:pPr marL="76200">
                <a:lnSpc>
                  <a:spcPts val="1069"/>
                </a:lnSpc>
              </a:pPr>
              <a:t>‹#›</a:t>
            </a:fld>
            <a:endParaRPr lang="en-US" spc="-38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9011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3999" cy="5714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9525">
              <a:lnSpc>
                <a:spcPts val="1069"/>
              </a:lnSpc>
            </a:pPr>
            <a:r>
              <a:rPr lang="en-US"/>
              <a:t>DISTRIBUTION</a:t>
            </a:r>
            <a:r>
              <a:rPr lang="en-US" spc="-30"/>
              <a:t> </a:t>
            </a:r>
            <a:r>
              <a:rPr lang="en-US" spc="-23"/>
              <a:t>STATEMENT</a:t>
            </a:r>
            <a:r>
              <a:rPr lang="en-US" spc="-41"/>
              <a:t> </a:t>
            </a:r>
            <a:r>
              <a:rPr lang="en-US"/>
              <a:t>A.</a:t>
            </a:r>
            <a:r>
              <a:rPr lang="en-US" spc="-38"/>
              <a:t> </a:t>
            </a:r>
            <a:r>
              <a:rPr lang="en-US"/>
              <a:t>Approved</a:t>
            </a:r>
            <a:r>
              <a:rPr lang="en-US" spc="8"/>
              <a:t> </a:t>
            </a:r>
            <a:r>
              <a:rPr lang="en-US"/>
              <a:t>for</a:t>
            </a:r>
            <a:r>
              <a:rPr lang="en-US" spc="-34"/>
              <a:t> </a:t>
            </a:r>
            <a:r>
              <a:rPr lang="en-US"/>
              <a:t>public</a:t>
            </a:r>
            <a:r>
              <a:rPr lang="en-US" spc="-23"/>
              <a:t> </a:t>
            </a:r>
            <a:r>
              <a:rPr lang="en-US"/>
              <a:t>release;</a:t>
            </a:r>
            <a:r>
              <a:rPr lang="en-US" spc="-60"/>
              <a:t> </a:t>
            </a:r>
            <a:r>
              <a:rPr lang="en-US"/>
              <a:t>distribution</a:t>
            </a:r>
            <a:r>
              <a:rPr lang="en-US" spc="-8"/>
              <a:t> </a:t>
            </a:r>
            <a:r>
              <a:rPr lang="en-US"/>
              <a:t>is</a:t>
            </a:r>
            <a:r>
              <a:rPr lang="en-US" spc="-38"/>
              <a:t> </a:t>
            </a:r>
            <a:r>
              <a:rPr lang="en-US" spc="-8"/>
              <a:t>unlimited.</a:t>
            </a:r>
            <a:endParaRPr lang="en-US" spc="-8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F6EC5"/>
                </a:solidFill>
                <a:latin typeface="Arial"/>
                <a:cs typeface="Arial"/>
              </a:defRPr>
            </a:lvl1pPr>
          </a:lstStyle>
          <a:p>
            <a:pPr marL="76200">
              <a:lnSpc>
                <a:spcPts val="1069"/>
              </a:lnSpc>
            </a:pPr>
            <a:fld id="{81D60167-4931-47E6-BA6A-407CBD079E47}" type="slidenum">
              <a:rPr lang="en-US" spc="-38" smtClean="0">
                <a:solidFill>
                  <a:srgbClr val="FFFFFF"/>
                </a:solidFill>
              </a:rPr>
              <a:pPr marL="76200">
                <a:lnSpc>
                  <a:spcPts val="1069"/>
                </a:lnSpc>
              </a:pPr>
              <a:t>‹#›</a:t>
            </a:fld>
            <a:endParaRPr lang="en-US" spc="-38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3513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/>
          <p:cNvSpPr>
            <a:spLocks noGrp="1"/>
          </p:cNvSpPr>
          <p:nvPr>
            <p:ph type="title"/>
          </p:nvPr>
        </p:nvSpPr>
        <p:spPr>
          <a:xfrm>
            <a:off x="457200" y="2553884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Enter Title Here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58788" y="3880087"/>
            <a:ext cx="8223250" cy="1111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Enter Name Here</a:t>
            </a:r>
          </a:p>
        </p:txBody>
      </p:sp>
    </p:spTree>
    <p:extLst>
      <p:ext uri="{BB962C8B-B14F-4D97-AF65-F5344CB8AC3E}">
        <p14:creationId xmlns:p14="http://schemas.microsoft.com/office/powerpoint/2010/main" val="3214641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 userDrawn="1"/>
        </p:nvSpPr>
        <p:spPr>
          <a:xfrm>
            <a:off x="0" y="4954915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baseline="0" dirty="0">
                <a:solidFill>
                  <a:schemeClr val="tx1"/>
                </a:solidFill>
              </a:rPr>
              <a:t>Radiation Hardened Microelectronics Work Force Development</a:t>
            </a:r>
          </a:p>
        </p:txBody>
      </p:sp>
    </p:spTree>
    <p:extLst>
      <p:ext uri="{BB962C8B-B14F-4D97-AF65-F5344CB8AC3E}">
        <p14:creationId xmlns:p14="http://schemas.microsoft.com/office/powerpoint/2010/main" val="39875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42" r:id="rId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200" b="1" i="0" kern="120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0" indent="0" algn="ctr" defTabSz="457200" rtl="0" eaLnBrk="1" latinLnBrk="0" hangingPunct="1">
        <a:spcBef>
          <a:spcPct val="20000"/>
        </a:spcBef>
        <a:buFont typeface="Arial"/>
        <a:buNone/>
        <a:defRPr sz="2800" b="1" i="0" kern="1200" baseline="0">
          <a:solidFill>
            <a:schemeClr val="tx1"/>
          </a:solidFill>
          <a:latin typeface="Arial"/>
          <a:ea typeface="+mn-ea"/>
          <a:cs typeface="Arial"/>
        </a:defRPr>
      </a:lvl1pPr>
      <a:lvl2pPr marL="457200" indent="0" algn="l" defTabSz="457200" rtl="0" eaLnBrk="1" latinLnBrk="0" hangingPunct="1">
        <a:spcBef>
          <a:spcPct val="20000"/>
        </a:spcBef>
        <a:buFont typeface="Arial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Rectangle 132"/>
          <p:cNvSpPr>
            <a:spLocks noGrp="1" noChangeArrowheads="1"/>
          </p:cNvSpPr>
          <p:nvPr>
            <p:ph type="title"/>
          </p:nvPr>
        </p:nvSpPr>
        <p:spPr bwMode="auto">
          <a:xfrm>
            <a:off x="288925" y="0"/>
            <a:ext cx="7495871" cy="863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4200115" y="5633745"/>
            <a:ext cx="184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14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0" r:id="rId1"/>
    <p:sldLayoutId id="2147484251" r:id="rId2"/>
    <p:sldLayoutId id="2147484255" r:id="rId3"/>
    <p:sldLayoutId id="2147484256" r:id="rId4"/>
    <p:sldLayoutId id="2147484305" r:id="rId5"/>
    <p:sldLayoutId id="2147484308" r:id="rId6"/>
    <p:sldLayoutId id="2147484309" r:id="rId7"/>
    <p:sldLayoutId id="2147484310" r:id="rId8"/>
    <p:sldLayoutId id="2147484311" r:id="rId9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/>
          <a:ea typeface="+mj-ea"/>
          <a:cs typeface="Arial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Univers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Univers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Univers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Univers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Univers" charset="0"/>
          <a:ea typeface="ＭＳ Ｐゴシック" charset="0"/>
          <a:cs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Univers" charset="0"/>
          <a:ea typeface="ＭＳ Ｐゴシック" charset="0"/>
          <a:cs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Univers" charset="0"/>
          <a:ea typeface="ＭＳ Ｐゴシック" charset="0"/>
          <a:cs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Univers" charset="0"/>
          <a:ea typeface="ＭＳ Ｐゴシック" charset="0"/>
          <a:cs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Times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Times" charset="0"/>
        <a:buChar char="•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Times" charset="0"/>
        <a:buChar char="•"/>
        <a:defRPr sz="1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Times" charset="0"/>
        <a:buChar char="•"/>
        <a:defRPr sz="1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Times" charset="0"/>
        <a:buChar char="•"/>
        <a:defRPr sz="1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Times" charset="0"/>
        <a:buChar char="•"/>
        <a:defRPr sz="1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Times" charset="0"/>
        <a:buChar char="•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tif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://www.swpc.noaa.gov/" TargetMode="External"/><Relationship Id="rId4" Type="http://schemas.openxmlformats.org/officeDocument/2006/relationships/image" Target="../media/image16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8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52.png"/><Relationship Id="rId9" Type="http://schemas.openxmlformats.org/officeDocument/2006/relationships/image" Target="../media/image53.jp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5.jpg"/><Relationship Id="rId4" Type="http://schemas.openxmlformats.org/officeDocument/2006/relationships/image" Target="../media/image5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7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6.png"/><Relationship Id="rId5" Type="http://schemas.openxmlformats.org/officeDocument/2006/relationships/image" Target="../media/image9.jpg"/><Relationship Id="rId4" Type="http://schemas.openxmlformats.org/officeDocument/2006/relationships/image" Target="../media/image51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.png"/><Relationship Id="rId5" Type="http://schemas.openxmlformats.org/officeDocument/2006/relationships/image" Target="../media/image4.tiff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589" y="1492520"/>
            <a:ext cx="8381504" cy="1703315"/>
          </a:xfrm>
        </p:spPr>
        <p:txBody>
          <a:bodyPr>
            <a:normAutofit fontScale="90000"/>
          </a:bodyPr>
          <a:lstStyle/>
          <a:p>
            <a:pPr>
              <a:spcBef>
                <a:spcPts val="0"/>
              </a:spcBef>
            </a:pPr>
            <a:r>
              <a:rPr lang="en-US" dirty="0"/>
              <a:t>02 – The Natural Space Radiation Environment</a:t>
            </a:r>
            <a:br>
              <a:rPr lang="en-US" dirty="0"/>
            </a:br>
            <a:br>
              <a:rPr lang="en-US" sz="700" dirty="0"/>
            </a:br>
            <a:r>
              <a:rPr lang="en-US" sz="2700" dirty="0"/>
              <a:t>ENGR-E 399/599</a:t>
            </a:r>
            <a:br>
              <a:rPr lang="en-US" sz="2700" dirty="0"/>
            </a:br>
            <a:r>
              <a:rPr lang="en-US" sz="2700" dirty="0"/>
              <a:t>Microelectronics Radiation Effects and Reliability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2FA408-B456-56B6-B277-5EE077F30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34"/>
            <a:ext cx="787400" cy="787400"/>
          </a:xfrm>
          <a:prstGeom prst="rect">
            <a:avLst/>
          </a:prstGeom>
        </p:spPr>
      </p:pic>
      <p:pic>
        <p:nvPicPr>
          <p:cNvPr id="8" name="Picture 7" descr="A black and white logo&#10;&#10;Description automatically generated">
            <a:extLst>
              <a:ext uri="{FF2B5EF4-FFF2-40B4-BE49-F238E27FC236}">
                <a16:creationId xmlns:a16="http://schemas.microsoft.com/office/drawing/2014/main" id="{80757EF8-8BA1-0927-62C8-A3060B4EDA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883" y="4906644"/>
            <a:ext cx="3849552" cy="73082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5E6A829-0955-0B15-8803-F70EF1D086C5}"/>
              </a:ext>
            </a:extLst>
          </p:cNvPr>
          <p:cNvGrpSpPr/>
          <p:nvPr/>
        </p:nvGrpSpPr>
        <p:grpSpPr>
          <a:xfrm>
            <a:off x="112565" y="4878366"/>
            <a:ext cx="1654161" cy="753510"/>
            <a:chOff x="3906647" y="4143602"/>
            <a:chExt cx="1654161" cy="75351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325340B-9457-6345-A1BC-D47A650AE6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06647" y="4143602"/>
              <a:ext cx="753510" cy="75351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57286D1-17BE-3752-287A-FCEBA50E3C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97491" y="4147304"/>
              <a:ext cx="763317" cy="749808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9D285ECA-BF22-0650-6939-5BDB286928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1960" y="4878365"/>
            <a:ext cx="753511" cy="7535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CFAF5C-F490-54C0-8E3C-785534B55DD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8586" b="17476"/>
          <a:stretch>
            <a:fillRect/>
          </a:stretch>
        </p:blipFill>
        <p:spPr>
          <a:xfrm>
            <a:off x="2645471" y="4878365"/>
            <a:ext cx="1765300" cy="73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962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92152" y="1410766"/>
            <a:ext cx="6486525" cy="3805238"/>
            <a:chOff x="3456203" y="1500022"/>
            <a:chExt cx="8648700" cy="5073650"/>
          </a:xfrm>
        </p:grpSpPr>
        <p:sp>
          <p:nvSpPr>
            <p:cNvPr id="3" name="object 3"/>
            <p:cNvSpPr/>
            <p:nvPr/>
          </p:nvSpPr>
          <p:spPr>
            <a:xfrm>
              <a:off x="3460965" y="3943248"/>
              <a:ext cx="8639175" cy="2625725"/>
            </a:xfrm>
            <a:custGeom>
              <a:avLst/>
              <a:gdLst/>
              <a:ahLst/>
              <a:cxnLst/>
              <a:rect l="l" t="t" r="r" b="b"/>
              <a:pathLst>
                <a:path w="8639175" h="2625725">
                  <a:moveTo>
                    <a:pt x="8639060" y="0"/>
                  </a:moveTo>
                  <a:lnTo>
                    <a:pt x="0" y="0"/>
                  </a:lnTo>
                  <a:lnTo>
                    <a:pt x="0" y="2625623"/>
                  </a:lnTo>
                  <a:lnTo>
                    <a:pt x="8639060" y="2625623"/>
                  </a:lnTo>
                  <a:lnTo>
                    <a:pt x="8639060" y="0"/>
                  </a:lnTo>
                  <a:close/>
                </a:path>
              </a:pathLst>
            </a:custGeom>
            <a:solidFill>
              <a:srgbClr val="FFE4B1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4" name="object 4"/>
            <p:cNvSpPr/>
            <p:nvPr/>
          </p:nvSpPr>
          <p:spPr>
            <a:xfrm>
              <a:off x="3460965" y="3943248"/>
              <a:ext cx="8639175" cy="2625725"/>
            </a:xfrm>
            <a:custGeom>
              <a:avLst/>
              <a:gdLst/>
              <a:ahLst/>
              <a:cxnLst/>
              <a:rect l="l" t="t" r="r" b="b"/>
              <a:pathLst>
                <a:path w="8639175" h="2625725">
                  <a:moveTo>
                    <a:pt x="0" y="0"/>
                  </a:moveTo>
                  <a:lnTo>
                    <a:pt x="8639060" y="0"/>
                  </a:lnTo>
                  <a:lnTo>
                    <a:pt x="8639060" y="2625623"/>
                  </a:lnTo>
                  <a:lnTo>
                    <a:pt x="0" y="2625623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5" name="object 5"/>
            <p:cNvSpPr/>
            <p:nvPr/>
          </p:nvSpPr>
          <p:spPr>
            <a:xfrm>
              <a:off x="10117315" y="5096268"/>
              <a:ext cx="1932939" cy="1433830"/>
            </a:xfrm>
            <a:custGeom>
              <a:avLst/>
              <a:gdLst/>
              <a:ahLst/>
              <a:cxnLst/>
              <a:rect l="l" t="t" r="r" b="b"/>
              <a:pathLst>
                <a:path w="1932940" h="1433829">
                  <a:moveTo>
                    <a:pt x="1932444" y="0"/>
                  </a:moveTo>
                  <a:lnTo>
                    <a:pt x="0" y="0"/>
                  </a:lnTo>
                  <a:lnTo>
                    <a:pt x="0" y="1433715"/>
                  </a:lnTo>
                  <a:lnTo>
                    <a:pt x="1932444" y="1433715"/>
                  </a:lnTo>
                  <a:lnTo>
                    <a:pt x="19324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6" name="object 6"/>
            <p:cNvSpPr/>
            <p:nvPr/>
          </p:nvSpPr>
          <p:spPr>
            <a:xfrm>
              <a:off x="10117315" y="5096268"/>
              <a:ext cx="1932939" cy="1433830"/>
            </a:xfrm>
            <a:custGeom>
              <a:avLst/>
              <a:gdLst/>
              <a:ahLst/>
              <a:cxnLst/>
              <a:rect l="l" t="t" r="r" b="b"/>
              <a:pathLst>
                <a:path w="1932940" h="1433829">
                  <a:moveTo>
                    <a:pt x="0" y="0"/>
                  </a:moveTo>
                  <a:lnTo>
                    <a:pt x="1932444" y="0"/>
                  </a:lnTo>
                  <a:lnTo>
                    <a:pt x="1932444" y="1433715"/>
                  </a:lnTo>
                  <a:lnTo>
                    <a:pt x="0" y="143371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7" name="object 7"/>
            <p:cNvSpPr/>
            <p:nvPr/>
          </p:nvSpPr>
          <p:spPr>
            <a:xfrm>
              <a:off x="3460965" y="2612644"/>
              <a:ext cx="8639175" cy="1330960"/>
            </a:xfrm>
            <a:custGeom>
              <a:avLst/>
              <a:gdLst/>
              <a:ahLst/>
              <a:cxnLst/>
              <a:rect l="l" t="t" r="r" b="b"/>
              <a:pathLst>
                <a:path w="8639175" h="1330960">
                  <a:moveTo>
                    <a:pt x="8639060" y="0"/>
                  </a:moveTo>
                  <a:lnTo>
                    <a:pt x="0" y="0"/>
                  </a:lnTo>
                  <a:lnTo>
                    <a:pt x="0" y="1330540"/>
                  </a:lnTo>
                  <a:lnTo>
                    <a:pt x="8639060" y="1330540"/>
                  </a:lnTo>
                  <a:lnTo>
                    <a:pt x="863906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8" name="object 8"/>
            <p:cNvSpPr/>
            <p:nvPr/>
          </p:nvSpPr>
          <p:spPr>
            <a:xfrm>
              <a:off x="3460965" y="2612644"/>
              <a:ext cx="8639175" cy="1330960"/>
            </a:xfrm>
            <a:custGeom>
              <a:avLst/>
              <a:gdLst/>
              <a:ahLst/>
              <a:cxnLst/>
              <a:rect l="l" t="t" r="r" b="b"/>
              <a:pathLst>
                <a:path w="8639175" h="1330960">
                  <a:moveTo>
                    <a:pt x="0" y="0"/>
                  </a:moveTo>
                  <a:lnTo>
                    <a:pt x="8639060" y="0"/>
                  </a:lnTo>
                  <a:lnTo>
                    <a:pt x="8639060" y="1330540"/>
                  </a:lnTo>
                  <a:lnTo>
                    <a:pt x="0" y="133054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9" name="object 9"/>
            <p:cNvSpPr/>
            <p:nvPr/>
          </p:nvSpPr>
          <p:spPr>
            <a:xfrm>
              <a:off x="3462502" y="1504784"/>
              <a:ext cx="8637905" cy="1111885"/>
            </a:xfrm>
            <a:custGeom>
              <a:avLst/>
              <a:gdLst/>
              <a:ahLst/>
              <a:cxnLst/>
              <a:rect l="l" t="t" r="r" b="b"/>
              <a:pathLst>
                <a:path w="8637905" h="1111885">
                  <a:moveTo>
                    <a:pt x="8637524" y="0"/>
                  </a:moveTo>
                  <a:lnTo>
                    <a:pt x="0" y="0"/>
                  </a:lnTo>
                  <a:lnTo>
                    <a:pt x="0" y="1111275"/>
                  </a:lnTo>
                  <a:lnTo>
                    <a:pt x="8637524" y="1111275"/>
                  </a:lnTo>
                  <a:lnTo>
                    <a:pt x="8637524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3462502" y="1504784"/>
              <a:ext cx="8637905" cy="1111885"/>
            </a:xfrm>
            <a:custGeom>
              <a:avLst/>
              <a:gdLst/>
              <a:ahLst/>
              <a:cxnLst/>
              <a:rect l="l" t="t" r="r" b="b"/>
              <a:pathLst>
                <a:path w="8637905" h="1111885">
                  <a:moveTo>
                    <a:pt x="0" y="0"/>
                  </a:moveTo>
                  <a:lnTo>
                    <a:pt x="8637524" y="0"/>
                  </a:lnTo>
                  <a:lnTo>
                    <a:pt x="8637524" y="1111275"/>
                  </a:lnTo>
                  <a:lnTo>
                    <a:pt x="0" y="111127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4019933" y="3470109"/>
              <a:ext cx="0" cy="588645"/>
            </a:xfrm>
            <a:custGeom>
              <a:avLst/>
              <a:gdLst/>
              <a:ahLst/>
              <a:cxnLst/>
              <a:rect l="l" t="t" r="r" b="b"/>
              <a:pathLst>
                <a:path h="588645">
                  <a:moveTo>
                    <a:pt x="0" y="0"/>
                  </a:moveTo>
                  <a:lnTo>
                    <a:pt x="0" y="588646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3962777" y="4039708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0"/>
                  </a:lnTo>
                  <a:lnTo>
                    <a:pt x="57150" y="114299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7985234" y="3468206"/>
              <a:ext cx="0" cy="590550"/>
            </a:xfrm>
            <a:custGeom>
              <a:avLst/>
              <a:gdLst/>
              <a:ahLst/>
              <a:cxnLst/>
              <a:rect l="l" t="t" r="r" b="b"/>
              <a:pathLst>
                <a:path h="590550">
                  <a:moveTo>
                    <a:pt x="0" y="0"/>
                  </a:moveTo>
                  <a:lnTo>
                    <a:pt x="0" y="59055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7928077" y="4039708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0"/>
                  </a:lnTo>
                  <a:lnTo>
                    <a:pt x="57150" y="114299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9433034" y="3592347"/>
              <a:ext cx="0" cy="484505"/>
            </a:xfrm>
            <a:custGeom>
              <a:avLst/>
              <a:gdLst/>
              <a:ahLst/>
              <a:cxnLst/>
              <a:rect l="l" t="t" r="r" b="b"/>
              <a:pathLst>
                <a:path h="484504">
                  <a:moveTo>
                    <a:pt x="0" y="0"/>
                  </a:moveTo>
                  <a:lnTo>
                    <a:pt x="0" y="48419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9375890" y="4057489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0"/>
                  </a:ln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11185633" y="3409787"/>
              <a:ext cx="0" cy="666750"/>
            </a:xfrm>
            <a:custGeom>
              <a:avLst/>
              <a:gdLst/>
              <a:ahLst/>
              <a:cxnLst/>
              <a:rect l="l" t="t" r="r" b="b"/>
              <a:pathLst>
                <a:path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11128490" y="4057489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0"/>
                  </a:ln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3575164" y="1619084"/>
              <a:ext cx="898525" cy="593725"/>
            </a:xfrm>
            <a:custGeom>
              <a:avLst/>
              <a:gdLst/>
              <a:ahLst/>
              <a:cxnLst/>
              <a:rect l="l" t="t" r="r" b="b"/>
              <a:pathLst>
                <a:path w="898525" h="593725">
                  <a:moveTo>
                    <a:pt x="898525" y="0"/>
                  </a:moveTo>
                  <a:lnTo>
                    <a:pt x="0" y="0"/>
                  </a:lnTo>
                  <a:lnTo>
                    <a:pt x="0" y="593725"/>
                  </a:lnTo>
                  <a:lnTo>
                    <a:pt x="898525" y="593725"/>
                  </a:lnTo>
                  <a:lnTo>
                    <a:pt x="8985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3575164" y="1619084"/>
              <a:ext cx="898525" cy="593725"/>
            </a:xfrm>
            <a:custGeom>
              <a:avLst/>
              <a:gdLst/>
              <a:ahLst/>
              <a:cxnLst/>
              <a:rect l="l" t="t" r="r" b="b"/>
              <a:pathLst>
                <a:path w="898525" h="593725">
                  <a:moveTo>
                    <a:pt x="0" y="0"/>
                  </a:moveTo>
                  <a:lnTo>
                    <a:pt x="898525" y="0"/>
                  </a:lnTo>
                  <a:lnTo>
                    <a:pt x="898525" y="593725"/>
                  </a:lnTo>
                  <a:lnTo>
                    <a:pt x="0" y="59372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742043" y="1521401"/>
            <a:ext cx="551498" cy="1938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1200" b="1" spc="-8" dirty="0">
                <a:latin typeface="Arial"/>
                <a:cs typeface="Arial"/>
              </a:rPr>
              <a:t>Plasma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638663" y="2621632"/>
            <a:ext cx="825341" cy="271463"/>
            <a:chOff x="3518217" y="3114509"/>
            <a:chExt cx="1100455" cy="361950"/>
          </a:xfrm>
        </p:grpSpPr>
        <p:sp>
          <p:nvSpPr>
            <p:cNvPr id="24" name="object 24"/>
            <p:cNvSpPr/>
            <p:nvPr/>
          </p:nvSpPr>
          <p:spPr>
            <a:xfrm>
              <a:off x="3524567" y="3120859"/>
              <a:ext cx="1087755" cy="349250"/>
            </a:xfrm>
            <a:custGeom>
              <a:avLst/>
              <a:gdLst/>
              <a:ahLst/>
              <a:cxnLst/>
              <a:rect l="l" t="t" r="r" b="b"/>
              <a:pathLst>
                <a:path w="1087754" h="349250">
                  <a:moveTo>
                    <a:pt x="1087437" y="0"/>
                  </a:moveTo>
                  <a:lnTo>
                    <a:pt x="0" y="0"/>
                  </a:lnTo>
                  <a:lnTo>
                    <a:pt x="0" y="349250"/>
                  </a:lnTo>
                  <a:lnTo>
                    <a:pt x="1087437" y="349250"/>
                  </a:lnTo>
                  <a:lnTo>
                    <a:pt x="10874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3524567" y="3120859"/>
              <a:ext cx="1087755" cy="349250"/>
            </a:xfrm>
            <a:custGeom>
              <a:avLst/>
              <a:gdLst/>
              <a:ahLst/>
              <a:cxnLst/>
              <a:rect l="l" t="t" r="r" b="b"/>
              <a:pathLst>
                <a:path w="1087754" h="349250">
                  <a:moveTo>
                    <a:pt x="0" y="0"/>
                  </a:moveTo>
                  <a:lnTo>
                    <a:pt x="1087437" y="0"/>
                  </a:lnTo>
                  <a:lnTo>
                    <a:pt x="1087437" y="349250"/>
                  </a:lnTo>
                  <a:lnTo>
                    <a:pt x="0" y="34925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708672" y="2647733"/>
            <a:ext cx="685800" cy="1938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1200" b="1" spc="-8" dirty="0">
                <a:latin typeface="Arial"/>
                <a:cs typeface="Arial"/>
              </a:rPr>
              <a:t>Charging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022516" y="2581150"/>
            <a:ext cx="733425" cy="271463"/>
            <a:chOff x="10696688" y="3060534"/>
            <a:chExt cx="977900" cy="361950"/>
          </a:xfrm>
        </p:grpSpPr>
        <p:sp>
          <p:nvSpPr>
            <p:cNvPr id="28" name="object 28"/>
            <p:cNvSpPr/>
            <p:nvPr/>
          </p:nvSpPr>
          <p:spPr>
            <a:xfrm>
              <a:off x="10703038" y="3066884"/>
              <a:ext cx="965200" cy="349250"/>
            </a:xfrm>
            <a:custGeom>
              <a:avLst/>
              <a:gdLst/>
              <a:ahLst/>
              <a:cxnLst/>
              <a:rect l="l" t="t" r="r" b="b"/>
              <a:pathLst>
                <a:path w="965200" h="349250">
                  <a:moveTo>
                    <a:pt x="965200" y="0"/>
                  </a:moveTo>
                  <a:lnTo>
                    <a:pt x="0" y="0"/>
                  </a:lnTo>
                  <a:lnTo>
                    <a:pt x="0" y="349250"/>
                  </a:lnTo>
                  <a:lnTo>
                    <a:pt x="965200" y="349250"/>
                  </a:lnTo>
                  <a:lnTo>
                    <a:pt x="965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29" name="object 29"/>
            <p:cNvSpPr/>
            <p:nvPr/>
          </p:nvSpPr>
          <p:spPr>
            <a:xfrm>
              <a:off x="10703038" y="3066884"/>
              <a:ext cx="965200" cy="349250"/>
            </a:xfrm>
            <a:custGeom>
              <a:avLst/>
              <a:gdLst/>
              <a:ahLst/>
              <a:cxnLst/>
              <a:rect l="l" t="t" r="r" b="b"/>
              <a:pathLst>
                <a:path w="965200" h="349250">
                  <a:moveTo>
                    <a:pt x="0" y="0"/>
                  </a:moveTo>
                  <a:lnTo>
                    <a:pt x="965200" y="0"/>
                  </a:lnTo>
                  <a:lnTo>
                    <a:pt x="965200" y="349250"/>
                  </a:lnTo>
                  <a:lnTo>
                    <a:pt x="0" y="34925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092521" y="2607252"/>
            <a:ext cx="592455" cy="1938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1200" b="1" spc="-8" dirty="0">
                <a:latin typeface="Arial"/>
                <a:cs typeface="Arial"/>
              </a:rPr>
              <a:t>Impacts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745527" y="2113159"/>
            <a:ext cx="2672715" cy="774383"/>
            <a:chOff x="7660703" y="2436545"/>
            <a:chExt cx="3563620" cy="1032510"/>
          </a:xfrm>
        </p:grpSpPr>
        <p:sp>
          <p:nvSpPr>
            <p:cNvPr id="32" name="object 32"/>
            <p:cNvSpPr/>
            <p:nvPr/>
          </p:nvSpPr>
          <p:spPr>
            <a:xfrm>
              <a:off x="11166584" y="2455595"/>
              <a:ext cx="0" cy="516255"/>
            </a:xfrm>
            <a:custGeom>
              <a:avLst/>
              <a:gdLst/>
              <a:ahLst/>
              <a:cxnLst/>
              <a:rect l="l" t="t" r="r" b="b"/>
              <a:pathLst>
                <a:path h="516255">
                  <a:moveTo>
                    <a:pt x="0" y="0"/>
                  </a:moveTo>
                  <a:lnTo>
                    <a:pt x="0" y="51604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33" name="object 33"/>
            <p:cNvSpPr/>
            <p:nvPr/>
          </p:nvSpPr>
          <p:spPr>
            <a:xfrm>
              <a:off x="11109440" y="295259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0"/>
                  </a:ln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34" name="object 34"/>
            <p:cNvSpPr/>
            <p:nvPr/>
          </p:nvSpPr>
          <p:spPr>
            <a:xfrm>
              <a:off x="7667053" y="3112922"/>
              <a:ext cx="659130" cy="349250"/>
            </a:xfrm>
            <a:custGeom>
              <a:avLst/>
              <a:gdLst/>
              <a:ahLst/>
              <a:cxnLst/>
              <a:rect l="l" t="t" r="r" b="b"/>
              <a:pathLst>
                <a:path w="659129" h="349250">
                  <a:moveTo>
                    <a:pt x="658812" y="0"/>
                  </a:moveTo>
                  <a:lnTo>
                    <a:pt x="0" y="0"/>
                  </a:lnTo>
                  <a:lnTo>
                    <a:pt x="0" y="349250"/>
                  </a:lnTo>
                  <a:lnTo>
                    <a:pt x="658812" y="349250"/>
                  </a:lnTo>
                  <a:lnTo>
                    <a:pt x="6588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35" name="object 35"/>
            <p:cNvSpPr/>
            <p:nvPr/>
          </p:nvSpPr>
          <p:spPr>
            <a:xfrm>
              <a:off x="7667053" y="3112922"/>
              <a:ext cx="659130" cy="349250"/>
            </a:xfrm>
            <a:custGeom>
              <a:avLst/>
              <a:gdLst/>
              <a:ahLst/>
              <a:cxnLst/>
              <a:rect l="l" t="t" r="r" b="b"/>
              <a:pathLst>
                <a:path w="659129" h="349250">
                  <a:moveTo>
                    <a:pt x="0" y="0"/>
                  </a:moveTo>
                  <a:lnTo>
                    <a:pt x="658812" y="0"/>
                  </a:lnTo>
                  <a:lnTo>
                    <a:pt x="658812" y="349250"/>
                  </a:lnTo>
                  <a:lnTo>
                    <a:pt x="0" y="34925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5814392" y="2641779"/>
            <a:ext cx="365760" cy="1938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1200" b="1" spc="-15" dirty="0">
                <a:latin typeface="Arial"/>
                <a:cs typeface="Arial"/>
              </a:rPr>
              <a:t>Drag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5946068" y="2109025"/>
            <a:ext cx="1447800" cy="875824"/>
            <a:chOff x="7928090" y="2431033"/>
            <a:chExt cx="1930400" cy="1167765"/>
          </a:xfrm>
        </p:grpSpPr>
        <p:sp>
          <p:nvSpPr>
            <p:cNvPr id="38" name="object 38"/>
            <p:cNvSpPr/>
            <p:nvPr/>
          </p:nvSpPr>
          <p:spPr>
            <a:xfrm>
              <a:off x="7985234" y="2450083"/>
              <a:ext cx="0" cy="560705"/>
            </a:xfrm>
            <a:custGeom>
              <a:avLst/>
              <a:gdLst/>
              <a:ahLst/>
              <a:cxnLst/>
              <a:rect l="l" t="t" r="r" b="b"/>
              <a:pathLst>
                <a:path h="560705">
                  <a:moveTo>
                    <a:pt x="0" y="0"/>
                  </a:moveTo>
                  <a:lnTo>
                    <a:pt x="0" y="560443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39" name="object 39"/>
            <p:cNvSpPr/>
            <p:nvPr/>
          </p:nvSpPr>
          <p:spPr>
            <a:xfrm>
              <a:off x="7928090" y="2991479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0"/>
                  </a:ln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40" name="object 40"/>
            <p:cNvSpPr/>
            <p:nvPr/>
          </p:nvSpPr>
          <p:spPr>
            <a:xfrm>
              <a:off x="8899639" y="2998622"/>
              <a:ext cx="952500" cy="593725"/>
            </a:xfrm>
            <a:custGeom>
              <a:avLst/>
              <a:gdLst/>
              <a:ahLst/>
              <a:cxnLst/>
              <a:rect l="l" t="t" r="r" b="b"/>
              <a:pathLst>
                <a:path w="952500" h="593725">
                  <a:moveTo>
                    <a:pt x="952500" y="0"/>
                  </a:moveTo>
                  <a:lnTo>
                    <a:pt x="0" y="0"/>
                  </a:lnTo>
                  <a:lnTo>
                    <a:pt x="0" y="593725"/>
                  </a:lnTo>
                  <a:lnTo>
                    <a:pt x="952500" y="593725"/>
                  </a:lnTo>
                  <a:lnTo>
                    <a:pt x="952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41" name="object 41"/>
            <p:cNvSpPr/>
            <p:nvPr/>
          </p:nvSpPr>
          <p:spPr>
            <a:xfrm>
              <a:off x="8899639" y="2998622"/>
              <a:ext cx="952500" cy="593725"/>
            </a:xfrm>
            <a:custGeom>
              <a:avLst/>
              <a:gdLst/>
              <a:ahLst/>
              <a:cxnLst/>
              <a:rect l="l" t="t" r="r" b="b"/>
              <a:pathLst>
                <a:path w="952500" h="593725">
                  <a:moveTo>
                    <a:pt x="0" y="0"/>
                  </a:moveTo>
                  <a:lnTo>
                    <a:pt x="952500" y="0"/>
                  </a:lnTo>
                  <a:lnTo>
                    <a:pt x="952500" y="593725"/>
                  </a:lnTo>
                  <a:lnTo>
                    <a:pt x="0" y="59372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738840" y="2556055"/>
            <a:ext cx="584835" cy="378469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 marR="3810" indent="4286">
              <a:spcBef>
                <a:spcPts val="71"/>
              </a:spcBef>
            </a:pPr>
            <a:r>
              <a:rPr sz="1200" b="1" spc="-8" dirty="0">
                <a:latin typeface="Arial"/>
                <a:cs typeface="Arial"/>
              </a:rPr>
              <a:t>Surface Erosion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6594157" y="1495300"/>
            <a:ext cx="928688" cy="1033463"/>
            <a:chOff x="8792209" y="1612734"/>
            <a:chExt cx="1238250" cy="1377950"/>
          </a:xfrm>
        </p:grpSpPr>
        <p:sp>
          <p:nvSpPr>
            <p:cNvPr id="44" name="object 44"/>
            <p:cNvSpPr/>
            <p:nvPr/>
          </p:nvSpPr>
          <p:spPr>
            <a:xfrm>
              <a:off x="9402872" y="2212809"/>
              <a:ext cx="0" cy="682625"/>
            </a:xfrm>
            <a:custGeom>
              <a:avLst/>
              <a:gdLst/>
              <a:ahLst/>
              <a:cxnLst/>
              <a:rect l="l" t="t" r="r" b="b"/>
              <a:pathLst>
                <a:path h="682625">
                  <a:moveTo>
                    <a:pt x="0" y="0"/>
                  </a:moveTo>
                  <a:lnTo>
                    <a:pt x="0" y="682627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45" name="object 45"/>
            <p:cNvSpPr/>
            <p:nvPr/>
          </p:nvSpPr>
          <p:spPr>
            <a:xfrm>
              <a:off x="9345729" y="2876389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0"/>
                  </a:ln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46" name="object 46"/>
            <p:cNvSpPr/>
            <p:nvPr/>
          </p:nvSpPr>
          <p:spPr>
            <a:xfrm>
              <a:off x="8798559" y="1619084"/>
              <a:ext cx="1225550" cy="593725"/>
            </a:xfrm>
            <a:custGeom>
              <a:avLst/>
              <a:gdLst/>
              <a:ahLst/>
              <a:cxnLst/>
              <a:rect l="l" t="t" r="r" b="b"/>
              <a:pathLst>
                <a:path w="1225550" h="593725">
                  <a:moveTo>
                    <a:pt x="1225029" y="0"/>
                  </a:moveTo>
                  <a:lnTo>
                    <a:pt x="0" y="0"/>
                  </a:lnTo>
                  <a:lnTo>
                    <a:pt x="0" y="593725"/>
                  </a:lnTo>
                  <a:lnTo>
                    <a:pt x="1225029" y="593725"/>
                  </a:lnTo>
                  <a:lnTo>
                    <a:pt x="12250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47" name="object 47"/>
            <p:cNvSpPr/>
            <p:nvPr/>
          </p:nvSpPr>
          <p:spPr>
            <a:xfrm>
              <a:off x="8798559" y="1619084"/>
              <a:ext cx="1225550" cy="593725"/>
            </a:xfrm>
            <a:custGeom>
              <a:avLst/>
              <a:gdLst/>
              <a:ahLst/>
              <a:cxnLst/>
              <a:rect l="l" t="t" r="r" b="b"/>
              <a:pathLst>
                <a:path w="1225550" h="593725">
                  <a:moveTo>
                    <a:pt x="0" y="0"/>
                  </a:moveTo>
                  <a:lnTo>
                    <a:pt x="1225029" y="0"/>
                  </a:lnTo>
                  <a:lnTo>
                    <a:pt x="1225029" y="593725"/>
                  </a:lnTo>
                  <a:lnTo>
                    <a:pt x="0" y="593725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6677708" y="1521402"/>
            <a:ext cx="760095" cy="378469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115729" marR="3810" indent="-106680">
              <a:spcBef>
                <a:spcPts val="71"/>
              </a:spcBef>
            </a:pPr>
            <a:r>
              <a:rPr sz="1200" b="1" spc="-8" dirty="0">
                <a:latin typeface="Arial"/>
                <a:cs typeface="Arial"/>
              </a:rPr>
              <a:t>Ultraviolet </a:t>
            </a:r>
            <a:r>
              <a:rPr sz="1200" b="1" dirty="0">
                <a:latin typeface="Arial"/>
                <a:cs typeface="Arial"/>
              </a:rPr>
              <a:t>&amp;</a:t>
            </a:r>
            <a:r>
              <a:rPr sz="1200" b="1" spc="-4" dirty="0">
                <a:latin typeface="Arial"/>
                <a:cs typeface="Arial"/>
              </a:rPr>
              <a:t> </a:t>
            </a:r>
            <a:r>
              <a:rPr sz="1200" b="1" spc="-8" dirty="0">
                <a:latin typeface="Arial"/>
                <a:cs typeface="Arial"/>
              </a:rPr>
              <a:t>X-</a:t>
            </a:r>
            <a:r>
              <a:rPr sz="1200" b="1" spc="-19" dirty="0">
                <a:latin typeface="Arial"/>
                <a:cs typeface="Arial"/>
              </a:rPr>
              <a:t>ray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045701" y="1495301"/>
            <a:ext cx="4943475" cy="1131094"/>
            <a:chOff x="4060935" y="1612734"/>
            <a:chExt cx="6591300" cy="1508125"/>
          </a:xfrm>
        </p:grpSpPr>
        <p:sp>
          <p:nvSpPr>
            <p:cNvPr id="50" name="object 50"/>
            <p:cNvSpPr/>
            <p:nvPr/>
          </p:nvSpPr>
          <p:spPr>
            <a:xfrm>
              <a:off x="5435621" y="2190587"/>
              <a:ext cx="321310" cy="669290"/>
            </a:xfrm>
            <a:custGeom>
              <a:avLst/>
              <a:gdLst/>
              <a:ahLst/>
              <a:cxnLst/>
              <a:rect l="l" t="t" r="r" b="b"/>
              <a:pathLst>
                <a:path w="321310" h="669289">
                  <a:moveTo>
                    <a:pt x="320763" y="0"/>
                  </a:moveTo>
                  <a:lnTo>
                    <a:pt x="0" y="66897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51" name="object 51"/>
            <p:cNvSpPr/>
            <p:nvPr/>
          </p:nvSpPr>
          <p:spPr>
            <a:xfrm>
              <a:off x="5392315" y="2817669"/>
              <a:ext cx="103505" cy="128270"/>
            </a:xfrm>
            <a:custGeom>
              <a:avLst/>
              <a:gdLst/>
              <a:ahLst/>
              <a:cxnLst/>
              <a:rect l="l" t="t" r="r" b="b"/>
              <a:pathLst>
                <a:path w="103504" h="128269">
                  <a:moveTo>
                    <a:pt x="0" y="0"/>
                  </a:moveTo>
                  <a:lnTo>
                    <a:pt x="2120" y="127774"/>
                  </a:lnTo>
                  <a:lnTo>
                    <a:pt x="103060" y="494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52" name="object 52"/>
            <p:cNvSpPr/>
            <p:nvPr/>
          </p:nvSpPr>
          <p:spPr>
            <a:xfrm>
              <a:off x="6156434" y="2114387"/>
              <a:ext cx="565785" cy="762000"/>
            </a:xfrm>
            <a:custGeom>
              <a:avLst/>
              <a:gdLst/>
              <a:ahLst/>
              <a:cxnLst/>
              <a:rect l="l" t="t" r="r" b="b"/>
              <a:pathLst>
                <a:path w="565784" h="762000">
                  <a:moveTo>
                    <a:pt x="0" y="0"/>
                  </a:moveTo>
                  <a:lnTo>
                    <a:pt x="565518" y="76172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53" name="object 53"/>
            <p:cNvSpPr/>
            <p:nvPr/>
          </p:nvSpPr>
          <p:spPr>
            <a:xfrm>
              <a:off x="6664719" y="2826745"/>
              <a:ext cx="114300" cy="126364"/>
            </a:xfrm>
            <a:custGeom>
              <a:avLst/>
              <a:gdLst/>
              <a:ahLst/>
              <a:cxnLst/>
              <a:rect l="l" t="t" r="r" b="b"/>
              <a:pathLst>
                <a:path w="114300" h="126364">
                  <a:moveTo>
                    <a:pt x="91770" y="0"/>
                  </a:moveTo>
                  <a:lnTo>
                    <a:pt x="0" y="68135"/>
                  </a:lnTo>
                  <a:lnTo>
                    <a:pt x="114007" y="125844"/>
                  </a:lnTo>
                  <a:lnTo>
                    <a:pt x="9177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54" name="object 54"/>
            <p:cNvSpPr/>
            <p:nvPr/>
          </p:nvSpPr>
          <p:spPr>
            <a:xfrm>
              <a:off x="4134999" y="2114387"/>
              <a:ext cx="1170940" cy="946785"/>
            </a:xfrm>
            <a:custGeom>
              <a:avLst/>
              <a:gdLst/>
              <a:ahLst/>
              <a:cxnLst/>
              <a:rect l="l" t="t" r="r" b="b"/>
              <a:pathLst>
                <a:path w="1170939" h="946785">
                  <a:moveTo>
                    <a:pt x="1170533" y="0"/>
                  </a:moveTo>
                  <a:lnTo>
                    <a:pt x="0" y="94658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55" name="object 55"/>
            <p:cNvSpPr/>
            <p:nvPr/>
          </p:nvSpPr>
          <p:spPr>
            <a:xfrm>
              <a:off x="4060935" y="3004549"/>
              <a:ext cx="125095" cy="116839"/>
            </a:xfrm>
            <a:custGeom>
              <a:avLst/>
              <a:gdLst/>
              <a:ahLst/>
              <a:cxnLst/>
              <a:rect l="l" t="t" r="r" b="b"/>
              <a:pathLst>
                <a:path w="125095" h="116839">
                  <a:moveTo>
                    <a:pt x="52933" y="0"/>
                  </a:moveTo>
                  <a:lnTo>
                    <a:pt x="0" y="116306"/>
                  </a:lnTo>
                  <a:lnTo>
                    <a:pt x="124815" y="88874"/>
                  </a:lnTo>
                  <a:lnTo>
                    <a:pt x="529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56" name="object 56"/>
            <p:cNvSpPr/>
            <p:nvPr/>
          </p:nvSpPr>
          <p:spPr>
            <a:xfrm>
              <a:off x="9783389" y="2000087"/>
              <a:ext cx="850265" cy="920750"/>
            </a:xfrm>
            <a:custGeom>
              <a:avLst/>
              <a:gdLst/>
              <a:ahLst/>
              <a:cxnLst/>
              <a:rect l="l" t="t" r="r" b="b"/>
              <a:pathLst>
                <a:path w="850265" h="920750">
                  <a:moveTo>
                    <a:pt x="849795" y="0"/>
                  </a:moveTo>
                  <a:lnTo>
                    <a:pt x="0" y="92061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57" name="object 57"/>
            <p:cNvSpPr/>
            <p:nvPr/>
          </p:nvSpPr>
          <p:spPr>
            <a:xfrm>
              <a:off x="9718789" y="2867933"/>
              <a:ext cx="120014" cy="123189"/>
            </a:xfrm>
            <a:custGeom>
              <a:avLst/>
              <a:gdLst/>
              <a:ahLst/>
              <a:cxnLst/>
              <a:rect l="l" t="t" r="r" b="b"/>
              <a:pathLst>
                <a:path w="120015" h="123189">
                  <a:moveTo>
                    <a:pt x="35521" y="0"/>
                  </a:moveTo>
                  <a:lnTo>
                    <a:pt x="0" y="122758"/>
                  </a:lnTo>
                  <a:lnTo>
                    <a:pt x="119519" y="77520"/>
                  </a:lnTo>
                  <a:lnTo>
                    <a:pt x="355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58" name="object 58"/>
            <p:cNvSpPr/>
            <p:nvPr/>
          </p:nvSpPr>
          <p:spPr>
            <a:xfrm>
              <a:off x="8194784" y="2076287"/>
              <a:ext cx="774065" cy="844550"/>
            </a:xfrm>
            <a:custGeom>
              <a:avLst/>
              <a:gdLst/>
              <a:ahLst/>
              <a:cxnLst/>
              <a:rect l="l" t="t" r="r" b="b"/>
              <a:pathLst>
                <a:path w="774065" h="844550">
                  <a:moveTo>
                    <a:pt x="0" y="0"/>
                  </a:moveTo>
                  <a:lnTo>
                    <a:pt x="773836" y="844181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59" name="object 59"/>
            <p:cNvSpPr/>
            <p:nvPr/>
          </p:nvSpPr>
          <p:spPr>
            <a:xfrm>
              <a:off x="8913619" y="2867811"/>
              <a:ext cx="119380" cy="123189"/>
            </a:xfrm>
            <a:custGeom>
              <a:avLst/>
              <a:gdLst/>
              <a:ahLst/>
              <a:cxnLst/>
              <a:rect l="l" t="t" r="r" b="b"/>
              <a:pathLst>
                <a:path w="119379" h="123189">
                  <a:moveTo>
                    <a:pt x="84264" y="0"/>
                  </a:moveTo>
                  <a:lnTo>
                    <a:pt x="0" y="77228"/>
                  </a:lnTo>
                  <a:lnTo>
                    <a:pt x="119367" y="122872"/>
                  </a:lnTo>
                  <a:lnTo>
                    <a:pt x="8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60" name="object 60"/>
            <p:cNvSpPr/>
            <p:nvPr/>
          </p:nvSpPr>
          <p:spPr>
            <a:xfrm>
              <a:off x="7508989" y="1619084"/>
              <a:ext cx="1028700" cy="831215"/>
            </a:xfrm>
            <a:custGeom>
              <a:avLst/>
              <a:gdLst/>
              <a:ahLst/>
              <a:cxnLst/>
              <a:rect l="l" t="t" r="r" b="b"/>
              <a:pathLst>
                <a:path w="1028700" h="831214">
                  <a:moveTo>
                    <a:pt x="1028700" y="0"/>
                  </a:moveTo>
                  <a:lnTo>
                    <a:pt x="0" y="0"/>
                  </a:lnTo>
                  <a:lnTo>
                    <a:pt x="0" y="830999"/>
                  </a:lnTo>
                  <a:lnTo>
                    <a:pt x="1028700" y="830999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61" name="object 61"/>
            <p:cNvSpPr/>
            <p:nvPr/>
          </p:nvSpPr>
          <p:spPr>
            <a:xfrm>
              <a:off x="7508989" y="1619084"/>
              <a:ext cx="1028700" cy="831215"/>
            </a:xfrm>
            <a:custGeom>
              <a:avLst/>
              <a:gdLst/>
              <a:ahLst/>
              <a:cxnLst/>
              <a:rect l="l" t="t" r="r" b="b"/>
              <a:pathLst>
                <a:path w="1028700" h="831214">
                  <a:moveTo>
                    <a:pt x="0" y="0"/>
                  </a:moveTo>
                  <a:lnTo>
                    <a:pt x="1028700" y="0"/>
                  </a:lnTo>
                  <a:lnTo>
                    <a:pt x="1028700" y="830999"/>
                  </a:lnTo>
                  <a:lnTo>
                    <a:pt x="0" y="83099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5694775" y="1521402"/>
            <a:ext cx="643889" cy="563135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 marR="3810" indent="1429" algn="ctr">
              <a:spcBef>
                <a:spcPts val="71"/>
              </a:spcBef>
            </a:pPr>
            <a:r>
              <a:rPr sz="1200" b="1" spc="-8" dirty="0">
                <a:latin typeface="Arial"/>
                <a:cs typeface="Arial"/>
              </a:rPr>
              <a:t>Neutral </a:t>
            </a:r>
            <a:r>
              <a:rPr sz="1200" b="1" spc="-19" dirty="0">
                <a:latin typeface="Arial"/>
                <a:cs typeface="Arial"/>
              </a:rPr>
              <a:t>gas </a:t>
            </a:r>
            <a:r>
              <a:rPr sz="1200" b="1" spc="-8" dirty="0">
                <a:latin typeface="Arial"/>
                <a:cs typeface="Arial"/>
              </a:rPr>
              <a:t>particles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3895811" y="1478632"/>
            <a:ext cx="2764631" cy="1169670"/>
            <a:chOff x="5194414" y="1590509"/>
            <a:chExt cx="3686175" cy="1559560"/>
          </a:xfrm>
        </p:grpSpPr>
        <p:sp>
          <p:nvSpPr>
            <p:cNvPr id="64" name="object 64"/>
            <p:cNvSpPr/>
            <p:nvPr/>
          </p:nvSpPr>
          <p:spPr>
            <a:xfrm>
              <a:off x="6594584" y="2152487"/>
              <a:ext cx="2199005" cy="953135"/>
            </a:xfrm>
            <a:custGeom>
              <a:avLst/>
              <a:gdLst/>
              <a:ahLst/>
              <a:cxnLst/>
              <a:rect l="l" t="t" r="r" b="b"/>
              <a:pathLst>
                <a:path w="2199004" h="953135">
                  <a:moveTo>
                    <a:pt x="0" y="0"/>
                  </a:moveTo>
                  <a:lnTo>
                    <a:pt x="2198598" y="95272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65" name="object 65"/>
            <p:cNvSpPr/>
            <p:nvPr/>
          </p:nvSpPr>
          <p:spPr>
            <a:xfrm>
              <a:off x="8752982" y="3045198"/>
              <a:ext cx="127635" cy="105410"/>
            </a:xfrm>
            <a:custGeom>
              <a:avLst/>
              <a:gdLst/>
              <a:ahLst/>
              <a:cxnLst/>
              <a:rect l="l" t="t" r="r" b="b"/>
              <a:pathLst>
                <a:path w="127634" h="105410">
                  <a:moveTo>
                    <a:pt x="45453" y="0"/>
                  </a:moveTo>
                  <a:lnTo>
                    <a:pt x="0" y="104876"/>
                  </a:lnTo>
                  <a:lnTo>
                    <a:pt x="127596" y="97891"/>
                  </a:lnTo>
                  <a:lnTo>
                    <a:pt x="4545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66" name="object 66"/>
            <p:cNvSpPr/>
            <p:nvPr/>
          </p:nvSpPr>
          <p:spPr>
            <a:xfrm>
              <a:off x="5222989" y="1619084"/>
              <a:ext cx="1447800" cy="593725"/>
            </a:xfrm>
            <a:custGeom>
              <a:avLst/>
              <a:gdLst/>
              <a:ahLst/>
              <a:cxnLst/>
              <a:rect l="l" t="t" r="r" b="b"/>
              <a:pathLst>
                <a:path w="1447800" h="593725">
                  <a:moveTo>
                    <a:pt x="1447800" y="0"/>
                  </a:moveTo>
                  <a:lnTo>
                    <a:pt x="0" y="0"/>
                  </a:lnTo>
                  <a:lnTo>
                    <a:pt x="0" y="593725"/>
                  </a:lnTo>
                  <a:lnTo>
                    <a:pt x="1447800" y="593725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67" name="object 67"/>
            <p:cNvSpPr/>
            <p:nvPr/>
          </p:nvSpPr>
          <p:spPr>
            <a:xfrm>
              <a:off x="5222989" y="1619084"/>
              <a:ext cx="1447800" cy="593725"/>
            </a:xfrm>
            <a:custGeom>
              <a:avLst/>
              <a:gdLst/>
              <a:ahLst/>
              <a:cxnLst/>
              <a:rect l="l" t="t" r="r" b="b"/>
              <a:pathLst>
                <a:path w="1447800" h="593725">
                  <a:moveTo>
                    <a:pt x="0" y="0"/>
                  </a:moveTo>
                  <a:lnTo>
                    <a:pt x="1447800" y="0"/>
                  </a:lnTo>
                  <a:lnTo>
                    <a:pt x="1447800" y="593725"/>
                  </a:lnTo>
                  <a:lnTo>
                    <a:pt x="0" y="593725"/>
                  </a:lnTo>
                  <a:lnTo>
                    <a:pt x="0" y="0"/>
                  </a:lnTo>
                  <a:close/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4129917" y="1521402"/>
            <a:ext cx="660558" cy="378469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 marR="3810" indent="45720">
              <a:spcBef>
                <a:spcPts val="71"/>
              </a:spcBef>
            </a:pPr>
            <a:r>
              <a:rPr sz="1200" b="1" spc="-8" dirty="0">
                <a:solidFill>
                  <a:srgbClr val="FF0000"/>
                </a:solidFill>
                <a:latin typeface="Arial"/>
                <a:cs typeface="Arial"/>
              </a:rPr>
              <a:t>Particle radiation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7641516" y="1494034"/>
            <a:ext cx="1253014" cy="638175"/>
            <a:chOff x="10188688" y="1611045"/>
            <a:chExt cx="1670685" cy="850900"/>
          </a:xfrm>
        </p:grpSpPr>
        <p:sp>
          <p:nvSpPr>
            <p:cNvPr id="70" name="object 70"/>
            <p:cNvSpPr/>
            <p:nvPr/>
          </p:nvSpPr>
          <p:spPr>
            <a:xfrm>
              <a:off x="10195038" y="1617395"/>
              <a:ext cx="1657985" cy="838200"/>
            </a:xfrm>
            <a:custGeom>
              <a:avLst/>
              <a:gdLst/>
              <a:ahLst/>
              <a:cxnLst/>
              <a:rect l="l" t="t" r="r" b="b"/>
              <a:pathLst>
                <a:path w="1657984" h="838200">
                  <a:moveTo>
                    <a:pt x="1657553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657553" y="838200"/>
                  </a:lnTo>
                  <a:lnTo>
                    <a:pt x="16575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71" name="object 71"/>
            <p:cNvSpPr/>
            <p:nvPr/>
          </p:nvSpPr>
          <p:spPr>
            <a:xfrm>
              <a:off x="10195038" y="1617395"/>
              <a:ext cx="1657985" cy="838200"/>
            </a:xfrm>
            <a:custGeom>
              <a:avLst/>
              <a:gdLst/>
              <a:ahLst/>
              <a:cxnLst/>
              <a:rect l="l" t="t" r="r" b="b"/>
              <a:pathLst>
                <a:path w="1657984" h="838200">
                  <a:moveTo>
                    <a:pt x="0" y="0"/>
                  </a:moveTo>
                  <a:lnTo>
                    <a:pt x="1657553" y="0"/>
                  </a:lnTo>
                  <a:lnTo>
                    <a:pt x="1657553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7770999" y="1520131"/>
            <a:ext cx="992981" cy="563135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 marR="3810" indent="259080">
              <a:spcBef>
                <a:spcPts val="71"/>
              </a:spcBef>
            </a:pPr>
            <a:r>
              <a:rPr sz="1200" b="1" spc="-8" dirty="0">
                <a:latin typeface="Arial"/>
                <a:cs typeface="Arial"/>
              </a:rPr>
              <a:t>Micro- </a:t>
            </a:r>
            <a:r>
              <a:rPr sz="1200" b="1" dirty="0">
                <a:latin typeface="Arial"/>
                <a:cs typeface="Arial"/>
              </a:rPr>
              <a:t>meteoroids</a:t>
            </a:r>
            <a:r>
              <a:rPr sz="1200" b="1" spc="-45" dirty="0">
                <a:latin typeface="Arial"/>
                <a:cs typeface="Arial"/>
              </a:rPr>
              <a:t> </a:t>
            </a:r>
            <a:r>
              <a:rPr sz="1200" b="1" spc="-38" dirty="0">
                <a:latin typeface="Arial"/>
                <a:cs typeface="Arial"/>
              </a:rPr>
              <a:t>&amp; </a:t>
            </a:r>
            <a:r>
              <a:rPr sz="1200" b="1" dirty="0">
                <a:latin typeface="Arial"/>
                <a:cs typeface="Arial"/>
              </a:rPr>
              <a:t>orbital</a:t>
            </a:r>
            <a:r>
              <a:rPr sz="1200" b="1" spc="-26" dirty="0">
                <a:latin typeface="Arial"/>
                <a:cs typeface="Arial"/>
              </a:rPr>
              <a:t> </a:t>
            </a:r>
            <a:r>
              <a:rPr sz="1200" b="1" spc="-8" dirty="0">
                <a:latin typeface="Arial"/>
                <a:cs typeface="Arial"/>
              </a:rPr>
              <a:t>debris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2959840" y="1942978"/>
            <a:ext cx="1704023" cy="1443038"/>
            <a:chOff x="3946453" y="2209637"/>
            <a:chExt cx="2272030" cy="1924050"/>
          </a:xfrm>
        </p:grpSpPr>
        <p:sp>
          <p:nvSpPr>
            <p:cNvPr id="74" name="object 74"/>
            <p:cNvSpPr/>
            <p:nvPr/>
          </p:nvSpPr>
          <p:spPr>
            <a:xfrm>
              <a:off x="4003607" y="2228687"/>
              <a:ext cx="635" cy="789305"/>
            </a:xfrm>
            <a:custGeom>
              <a:avLst/>
              <a:gdLst/>
              <a:ahLst/>
              <a:cxnLst/>
              <a:rect l="l" t="t" r="r" b="b"/>
              <a:pathLst>
                <a:path w="635" h="789305">
                  <a:moveTo>
                    <a:pt x="177" y="0"/>
                  </a:moveTo>
                  <a:lnTo>
                    <a:pt x="0" y="788987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75" name="object 75"/>
            <p:cNvSpPr/>
            <p:nvPr/>
          </p:nvSpPr>
          <p:spPr>
            <a:xfrm>
              <a:off x="3946453" y="2998614"/>
              <a:ext cx="114300" cy="114935"/>
            </a:xfrm>
            <a:custGeom>
              <a:avLst/>
              <a:gdLst/>
              <a:ahLst/>
              <a:cxnLst/>
              <a:rect l="l" t="t" r="r" b="b"/>
              <a:pathLst>
                <a:path w="114300" h="114935">
                  <a:moveTo>
                    <a:pt x="114300" y="25"/>
                  </a:moveTo>
                  <a:lnTo>
                    <a:pt x="0" y="0"/>
                  </a:lnTo>
                  <a:lnTo>
                    <a:pt x="57124" y="114312"/>
                  </a:lnTo>
                  <a:lnTo>
                    <a:pt x="114300" y="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76" name="object 76"/>
            <p:cNvSpPr/>
            <p:nvPr/>
          </p:nvSpPr>
          <p:spPr>
            <a:xfrm>
              <a:off x="5470635" y="3790784"/>
              <a:ext cx="0" cy="247650"/>
            </a:xfrm>
            <a:custGeom>
              <a:avLst/>
              <a:gdLst/>
              <a:ahLst/>
              <a:cxnLst/>
              <a:rect l="l" t="t" r="r" b="b"/>
              <a:pathLst>
                <a:path h="247650">
                  <a:moveTo>
                    <a:pt x="0" y="0"/>
                  </a:moveTo>
                  <a:lnTo>
                    <a:pt x="0" y="24765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77" name="object 77"/>
            <p:cNvSpPr/>
            <p:nvPr/>
          </p:nvSpPr>
          <p:spPr>
            <a:xfrm>
              <a:off x="5413491" y="4019389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0"/>
                  </a:ln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78" name="object 78"/>
            <p:cNvSpPr/>
            <p:nvPr/>
          </p:nvSpPr>
          <p:spPr>
            <a:xfrm>
              <a:off x="4784839" y="2952584"/>
              <a:ext cx="1427480" cy="838200"/>
            </a:xfrm>
            <a:custGeom>
              <a:avLst/>
              <a:gdLst/>
              <a:ahLst/>
              <a:cxnLst/>
              <a:rect l="l" t="t" r="r" b="b"/>
              <a:pathLst>
                <a:path w="1427479" h="838200">
                  <a:moveTo>
                    <a:pt x="1427162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427162" y="838200"/>
                  </a:lnTo>
                  <a:lnTo>
                    <a:pt x="14271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79" name="object 79"/>
            <p:cNvSpPr/>
            <p:nvPr/>
          </p:nvSpPr>
          <p:spPr>
            <a:xfrm>
              <a:off x="4784839" y="2952584"/>
              <a:ext cx="1427480" cy="838200"/>
            </a:xfrm>
            <a:custGeom>
              <a:avLst/>
              <a:gdLst/>
              <a:ahLst/>
              <a:cxnLst/>
              <a:rect l="l" t="t" r="r" b="b"/>
              <a:pathLst>
                <a:path w="1427479" h="838200">
                  <a:moveTo>
                    <a:pt x="0" y="0"/>
                  </a:moveTo>
                  <a:lnTo>
                    <a:pt x="1427162" y="0"/>
                  </a:lnTo>
                  <a:lnTo>
                    <a:pt x="1427162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3655024" y="2521527"/>
            <a:ext cx="938213" cy="563135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 marR="3810" algn="ctr">
              <a:spcBef>
                <a:spcPts val="71"/>
              </a:spcBef>
            </a:pPr>
            <a:r>
              <a:rPr sz="1200" b="1" dirty="0">
                <a:solidFill>
                  <a:srgbClr val="FF0000"/>
                </a:solidFill>
                <a:latin typeface="Arial"/>
                <a:cs typeface="Arial"/>
              </a:rPr>
              <a:t>Ionizing</a:t>
            </a:r>
            <a:r>
              <a:rPr sz="1200" b="1" spc="-38" dirty="0">
                <a:solidFill>
                  <a:srgbClr val="FF0000"/>
                </a:solidFill>
                <a:latin typeface="Arial"/>
                <a:cs typeface="Arial"/>
              </a:rPr>
              <a:t> &amp; </a:t>
            </a:r>
            <a:r>
              <a:rPr sz="1200" b="1" spc="-15" dirty="0">
                <a:solidFill>
                  <a:srgbClr val="FF0000"/>
                </a:solidFill>
                <a:latin typeface="Arial"/>
                <a:cs typeface="Arial"/>
              </a:rPr>
              <a:t>Non-</a:t>
            </a:r>
            <a:r>
              <a:rPr sz="1200" b="1" spc="-8" dirty="0">
                <a:solidFill>
                  <a:srgbClr val="FF0000"/>
                </a:solidFill>
                <a:latin typeface="Arial"/>
                <a:cs typeface="Arial"/>
              </a:rPr>
              <a:t>Ionizing </a:t>
            </a:r>
            <a:r>
              <a:rPr sz="1200" b="1" spc="-15" dirty="0">
                <a:solidFill>
                  <a:srgbClr val="FF0000"/>
                </a:solidFill>
                <a:latin typeface="Arial"/>
                <a:cs typeface="Arial"/>
              </a:rPr>
              <a:t>Dose</a:t>
            </a:r>
            <a:endParaRPr sz="12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3651376" y="3407341"/>
            <a:ext cx="959168" cy="164035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62389" marR="3810" indent="-59531">
              <a:spcBef>
                <a:spcPts val="71"/>
              </a:spcBef>
              <a:buSzPct val="93750"/>
              <a:buFont typeface="Arial"/>
              <a:buChar char="•"/>
              <a:tabLst>
                <a:tab pos="178594" algn="l"/>
              </a:tabLst>
            </a:pPr>
            <a:r>
              <a:rPr sz="1200" b="1" spc="-8" dirty="0">
                <a:latin typeface="Arial"/>
                <a:cs typeface="Arial"/>
              </a:rPr>
              <a:t>Degradation 	</a:t>
            </a:r>
            <a:r>
              <a:rPr sz="1200" b="1" dirty="0">
                <a:latin typeface="Arial"/>
                <a:cs typeface="Arial"/>
              </a:rPr>
              <a:t>of</a:t>
            </a:r>
            <a:r>
              <a:rPr sz="1200" b="1" spc="-8" dirty="0">
                <a:latin typeface="Arial"/>
                <a:cs typeface="Arial"/>
              </a:rPr>
              <a:t> micro</a:t>
            </a:r>
            <a:endParaRPr sz="1200">
              <a:latin typeface="Arial"/>
              <a:cs typeface="Arial"/>
            </a:endParaRPr>
          </a:p>
          <a:p>
            <a:pPr marL="78104"/>
            <a:r>
              <a:rPr sz="1200" b="1" spc="-8" dirty="0">
                <a:latin typeface="Arial"/>
                <a:cs typeface="Arial"/>
              </a:rPr>
              <a:t>electronics</a:t>
            </a:r>
            <a:endParaRPr sz="1200">
              <a:latin typeface="Arial"/>
              <a:cs typeface="Arial"/>
            </a:endParaRPr>
          </a:p>
          <a:p>
            <a:pPr marL="62389" marR="3810" indent="-59531">
              <a:spcBef>
                <a:spcPts val="574"/>
              </a:spcBef>
              <a:buSzPct val="93750"/>
              <a:buFont typeface="Arial"/>
              <a:buChar char="•"/>
              <a:tabLst>
                <a:tab pos="140970" algn="l"/>
              </a:tabLst>
            </a:pPr>
            <a:r>
              <a:rPr sz="1200" b="1" spc="-8" dirty="0">
                <a:latin typeface="Arial"/>
                <a:cs typeface="Arial"/>
              </a:rPr>
              <a:t>Degradation 	</a:t>
            </a:r>
            <a:r>
              <a:rPr sz="1200" b="1" dirty="0">
                <a:latin typeface="Arial"/>
                <a:cs typeface="Arial"/>
              </a:rPr>
              <a:t>of</a:t>
            </a:r>
            <a:r>
              <a:rPr sz="1200" b="1" spc="-8" dirty="0">
                <a:latin typeface="Arial"/>
                <a:cs typeface="Arial"/>
              </a:rPr>
              <a:t> optical</a:t>
            </a:r>
            <a:endParaRPr sz="1200">
              <a:latin typeface="Arial"/>
              <a:cs typeface="Arial"/>
            </a:endParaRPr>
          </a:p>
          <a:p>
            <a:pPr marL="28575"/>
            <a:r>
              <a:rPr sz="1200" b="1" spc="-8" dirty="0">
                <a:latin typeface="Arial"/>
                <a:cs typeface="Arial"/>
              </a:rPr>
              <a:t>components</a:t>
            </a:r>
            <a:endParaRPr sz="1200">
              <a:latin typeface="Arial"/>
              <a:cs typeface="Arial"/>
            </a:endParaRPr>
          </a:p>
          <a:p>
            <a:pPr marL="12859" marR="3810" indent="-10478">
              <a:spcBef>
                <a:spcPts val="578"/>
              </a:spcBef>
              <a:buSzPct val="93750"/>
              <a:buFont typeface="Arial"/>
              <a:buChar char="•"/>
              <a:tabLst>
                <a:tab pos="12859" algn="l"/>
                <a:tab pos="61913" algn="l"/>
              </a:tabLst>
            </a:pPr>
            <a:r>
              <a:rPr sz="1200" b="1" spc="-8" dirty="0">
                <a:latin typeface="Arial"/>
                <a:cs typeface="Arial"/>
              </a:rPr>
              <a:t>	Degradation </a:t>
            </a:r>
            <a:r>
              <a:rPr sz="1200" b="1" dirty="0">
                <a:latin typeface="Arial"/>
                <a:cs typeface="Arial"/>
              </a:rPr>
              <a:t>of</a:t>
            </a:r>
            <a:r>
              <a:rPr sz="1200" b="1" spc="-11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solar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8" dirty="0">
                <a:latin typeface="Arial"/>
                <a:cs typeface="Arial"/>
              </a:rPr>
              <a:t>cells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4767348" y="2478757"/>
            <a:ext cx="699135" cy="907256"/>
            <a:chOff x="6356464" y="2924009"/>
            <a:chExt cx="932180" cy="1209675"/>
          </a:xfrm>
        </p:grpSpPr>
        <p:sp>
          <p:nvSpPr>
            <p:cNvPr id="83" name="object 83"/>
            <p:cNvSpPr/>
            <p:nvPr/>
          </p:nvSpPr>
          <p:spPr>
            <a:xfrm>
              <a:off x="6842234" y="3790784"/>
              <a:ext cx="0" cy="247650"/>
            </a:xfrm>
            <a:custGeom>
              <a:avLst/>
              <a:gdLst/>
              <a:ahLst/>
              <a:cxnLst/>
              <a:rect l="l" t="t" r="r" b="b"/>
              <a:pathLst>
                <a:path h="247650">
                  <a:moveTo>
                    <a:pt x="0" y="0"/>
                  </a:moveTo>
                  <a:lnTo>
                    <a:pt x="0" y="24765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84" name="object 84"/>
            <p:cNvSpPr/>
            <p:nvPr/>
          </p:nvSpPr>
          <p:spPr>
            <a:xfrm>
              <a:off x="6785090" y="4019389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0"/>
                  </a:ln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85" name="object 85"/>
            <p:cNvSpPr/>
            <p:nvPr/>
          </p:nvSpPr>
          <p:spPr>
            <a:xfrm>
              <a:off x="6385039" y="2952584"/>
              <a:ext cx="875030" cy="838200"/>
            </a:xfrm>
            <a:custGeom>
              <a:avLst/>
              <a:gdLst/>
              <a:ahLst/>
              <a:cxnLst/>
              <a:rect l="l" t="t" r="r" b="b"/>
              <a:pathLst>
                <a:path w="875029" h="838200">
                  <a:moveTo>
                    <a:pt x="874712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874712" y="838200"/>
                  </a:lnTo>
                  <a:lnTo>
                    <a:pt x="8747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86" name="object 86"/>
            <p:cNvSpPr/>
            <p:nvPr/>
          </p:nvSpPr>
          <p:spPr>
            <a:xfrm>
              <a:off x="6385039" y="2952584"/>
              <a:ext cx="875030" cy="838200"/>
            </a:xfrm>
            <a:custGeom>
              <a:avLst/>
              <a:gdLst/>
              <a:ahLst/>
              <a:cxnLst/>
              <a:rect l="l" t="t" r="r" b="b"/>
              <a:pathLst>
                <a:path w="875029" h="838200">
                  <a:moveTo>
                    <a:pt x="0" y="0"/>
                  </a:moveTo>
                  <a:lnTo>
                    <a:pt x="874712" y="0"/>
                  </a:lnTo>
                  <a:lnTo>
                    <a:pt x="874712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87" name="object 87"/>
          <p:cNvSpPr txBox="1"/>
          <p:nvPr/>
        </p:nvSpPr>
        <p:spPr>
          <a:xfrm>
            <a:off x="4853934" y="2521527"/>
            <a:ext cx="525304" cy="563135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 marR="3810" indent="24765" algn="just">
              <a:spcBef>
                <a:spcPts val="71"/>
              </a:spcBef>
            </a:pPr>
            <a:r>
              <a:rPr sz="1200" b="1" spc="-8" dirty="0">
                <a:solidFill>
                  <a:srgbClr val="FF0000"/>
                </a:solidFill>
                <a:latin typeface="Arial"/>
                <a:cs typeface="Arial"/>
              </a:rPr>
              <a:t>Single Event Effects</a:t>
            </a:r>
            <a:endParaRPr sz="120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4719093" y="3407341"/>
            <a:ext cx="823436" cy="1717297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31909" marR="26194" indent="241459">
              <a:spcBef>
                <a:spcPts val="71"/>
              </a:spcBef>
              <a:buSzPct val="93750"/>
              <a:buFont typeface="Arial"/>
              <a:buChar char="•"/>
              <a:tabLst>
                <a:tab pos="273368" algn="l"/>
              </a:tabLst>
            </a:pPr>
            <a:r>
              <a:rPr sz="1200" b="1" spc="-15" dirty="0">
                <a:latin typeface="Arial"/>
                <a:cs typeface="Arial"/>
              </a:rPr>
              <a:t>Data </a:t>
            </a:r>
            <a:r>
              <a:rPr sz="1200" b="1" spc="-8" dirty="0">
                <a:latin typeface="Arial"/>
                <a:cs typeface="Arial"/>
              </a:rPr>
              <a:t>corruption</a:t>
            </a:r>
            <a:endParaRPr sz="1200">
              <a:latin typeface="Arial"/>
              <a:cs typeface="Arial"/>
            </a:endParaRPr>
          </a:p>
          <a:p>
            <a:pPr marL="116681" marR="56674" indent="-59531">
              <a:spcBef>
                <a:spcPts val="574"/>
              </a:spcBef>
              <a:buSzPct val="93750"/>
              <a:buFont typeface="Arial"/>
              <a:buChar char="•"/>
              <a:tabLst>
                <a:tab pos="150019" algn="l"/>
              </a:tabLst>
            </a:pPr>
            <a:r>
              <a:rPr sz="1200" b="1" dirty="0">
                <a:latin typeface="Arial"/>
                <a:cs typeface="Arial"/>
              </a:rPr>
              <a:t>Noise</a:t>
            </a:r>
            <a:r>
              <a:rPr sz="1200" b="1" spc="-23" dirty="0">
                <a:latin typeface="Arial"/>
                <a:cs typeface="Arial"/>
              </a:rPr>
              <a:t> </a:t>
            </a:r>
            <a:r>
              <a:rPr sz="1200" b="1" spc="-19" dirty="0">
                <a:latin typeface="Arial"/>
                <a:cs typeface="Arial"/>
              </a:rPr>
              <a:t>on 	</a:t>
            </a:r>
            <a:r>
              <a:rPr sz="1200" b="1" spc="-8" dirty="0">
                <a:latin typeface="Arial"/>
                <a:cs typeface="Arial"/>
              </a:rPr>
              <a:t>Images</a:t>
            </a:r>
            <a:endParaRPr sz="1200">
              <a:latin typeface="Arial"/>
              <a:cs typeface="Arial"/>
            </a:endParaRPr>
          </a:p>
          <a:p>
            <a:pPr marL="9525" marR="3810" lvl="1" indent="160020">
              <a:spcBef>
                <a:spcPts val="578"/>
              </a:spcBef>
              <a:buSzPct val="93750"/>
              <a:buFont typeface="Arial"/>
              <a:buChar char="•"/>
              <a:tabLst>
                <a:tab pos="169545" algn="l"/>
              </a:tabLst>
            </a:pPr>
            <a:r>
              <a:rPr sz="1200" b="1" spc="-8" dirty="0">
                <a:latin typeface="Arial"/>
                <a:cs typeface="Arial"/>
              </a:rPr>
              <a:t>System shutdowns</a:t>
            </a:r>
            <a:endParaRPr sz="1200">
              <a:latin typeface="Arial"/>
              <a:cs typeface="Arial"/>
            </a:endParaRPr>
          </a:p>
          <a:p>
            <a:pPr marL="124778" marR="119063" lvl="1" indent="71914">
              <a:spcBef>
                <a:spcPts val="574"/>
              </a:spcBef>
              <a:buSzPct val="93750"/>
              <a:buFont typeface="Arial"/>
              <a:buChar char="•"/>
              <a:tabLst>
                <a:tab pos="196691" algn="l"/>
              </a:tabLst>
            </a:pPr>
            <a:r>
              <a:rPr sz="1200" b="1" spc="-8" dirty="0">
                <a:latin typeface="Arial"/>
                <a:cs typeface="Arial"/>
              </a:rPr>
              <a:t>Circuit damage</a:t>
            </a:r>
            <a:endParaRPr sz="120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6622978" y="3378610"/>
            <a:ext cx="959168" cy="1563409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61913" marR="3810" indent="-59531">
              <a:spcBef>
                <a:spcPts val="71"/>
              </a:spcBef>
              <a:buSzPct val="93750"/>
              <a:buFont typeface="Arial"/>
              <a:buChar char="•"/>
              <a:tabLst>
                <a:tab pos="90488" algn="l"/>
              </a:tabLst>
            </a:pPr>
            <a:r>
              <a:rPr sz="1200" b="1" spc="-8" dirty="0">
                <a:latin typeface="Arial"/>
                <a:cs typeface="Arial"/>
              </a:rPr>
              <a:t>Degradation 	</a:t>
            </a:r>
            <a:r>
              <a:rPr sz="1200" b="1" dirty="0">
                <a:latin typeface="Arial"/>
                <a:cs typeface="Arial"/>
              </a:rPr>
              <a:t>of</a:t>
            </a:r>
            <a:r>
              <a:rPr sz="1200" b="1" spc="-8" dirty="0">
                <a:latin typeface="Arial"/>
                <a:cs typeface="Arial"/>
              </a:rPr>
              <a:t> thermal, 	electrical,</a:t>
            </a:r>
            <a:endParaRPr sz="1200">
              <a:latin typeface="Arial"/>
              <a:cs typeface="Arial"/>
            </a:endParaRPr>
          </a:p>
          <a:p>
            <a:pPr marL="107633" marR="102394" indent="126683"/>
            <a:r>
              <a:rPr sz="1200" b="1" spc="-8" dirty="0">
                <a:latin typeface="Arial"/>
                <a:cs typeface="Arial"/>
              </a:rPr>
              <a:t>optical properties</a:t>
            </a:r>
            <a:endParaRPr sz="1200">
              <a:latin typeface="Arial"/>
              <a:cs typeface="Arial"/>
            </a:endParaRPr>
          </a:p>
          <a:p>
            <a:pPr marL="35719" marR="3810" indent="-33338">
              <a:spcBef>
                <a:spcPts val="574"/>
              </a:spcBef>
              <a:buSzPct val="93750"/>
              <a:buFont typeface="Arial"/>
              <a:buChar char="•"/>
              <a:tabLst>
                <a:tab pos="35719" algn="l"/>
                <a:tab pos="61913" algn="l"/>
              </a:tabLst>
            </a:pPr>
            <a:r>
              <a:rPr sz="1200" b="1" spc="-8" dirty="0">
                <a:latin typeface="Arial"/>
                <a:cs typeface="Arial"/>
              </a:rPr>
              <a:t>	Degradation </a:t>
            </a:r>
            <a:r>
              <a:rPr sz="1200" b="1" dirty="0">
                <a:latin typeface="Arial"/>
                <a:cs typeface="Arial"/>
              </a:rPr>
              <a:t>of</a:t>
            </a:r>
            <a:r>
              <a:rPr sz="1200" b="1" spc="-8" dirty="0">
                <a:latin typeface="Arial"/>
                <a:cs typeface="Arial"/>
              </a:rPr>
              <a:t> structural</a:t>
            </a:r>
            <a:endParaRPr sz="1200">
              <a:latin typeface="Arial"/>
              <a:cs typeface="Arial"/>
            </a:endParaRPr>
          </a:p>
          <a:p>
            <a:pPr marL="180975"/>
            <a:r>
              <a:rPr sz="1200" b="1" spc="-8" dirty="0">
                <a:latin typeface="Arial"/>
                <a:cs typeface="Arial"/>
              </a:rPr>
              <a:t>integrity</a:t>
            </a:r>
            <a:endParaRPr sz="1200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2639625" y="3397612"/>
            <a:ext cx="809149" cy="1717297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11430" marR="3810" indent="-9049" algn="just">
              <a:spcBef>
                <a:spcPts val="71"/>
              </a:spcBef>
              <a:buSzPct val="93750"/>
              <a:buFont typeface="Arial"/>
              <a:buChar char="•"/>
              <a:tabLst>
                <a:tab pos="11430" algn="l"/>
                <a:tab pos="61913" algn="l"/>
              </a:tabLst>
            </a:pPr>
            <a:r>
              <a:rPr sz="1200" b="1" dirty="0">
                <a:latin typeface="Arial"/>
                <a:cs typeface="Arial"/>
              </a:rPr>
              <a:t>	Biasing</a:t>
            </a:r>
            <a:r>
              <a:rPr sz="1200" b="1" spc="-34" dirty="0">
                <a:latin typeface="Arial"/>
                <a:cs typeface="Arial"/>
              </a:rPr>
              <a:t> </a:t>
            </a:r>
            <a:r>
              <a:rPr sz="1200" b="1" spc="-19" dirty="0">
                <a:latin typeface="Arial"/>
                <a:cs typeface="Arial"/>
              </a:rPr>
              <a:t>of </a:t>
            </a:r>
            <a:r>
              <a:rPr sz="1200" b="1" spc="-8" dirty="0">
                <a:latin typeface="Arial"/>
                <a:cs typeface="Arial"/>
              </a:rPr>
              <a:t>instrument readings</a:t>
            </a:r>
            <a:endParaRPr sz="1200">
              <a:latin typeface="Arial"/>
              <a:cs typeface="Arial"/>
            </a:endParaRPr>
          </a:p>
          <a:p>
            <a:pPr marL="155734" lvl="1" indent="-59531">
              <a:spcBef>
                <a:spcPts val="574"/>
              </a:spcBef>
              <a:buSzPct val="93750"/>
              <a:buFont typeface="Arial"/>
              <a:buChar char="•"/>
              <a:tabLst>
                <a:tab pos="155734" algn="l"/>
              </a:tabLst>
            </a:pPr>
            <a:r>
              <a:rPr sz="1200" b="1" spc="-8" dirty="0">
                <a:latin typeface="Arial"/>
                <a:cs typeface="Arial"/>
              </a:rPr>
              <a:t>Pulsing</a:t>
            </a:r>
            <a:endParaRPr sz="1200">
              <a:latin typeface="Arial"/>
              <a:cs typeface="Arial"/>
            </a:endParaRPr>
          </a:p>
          <a:p>
            <a:pPr marL="175736" marR="142875" lvl="2" indent="-36671">
              <a:spcBef>
                <a:spcPts val="578"/>
              </a:spcBef>
              <a:buSzPct val="93750"/>
              <a:buFont typeface="Arial"/>
              <a:buChar char="•"/>
              <a:tabLst>
                <a:tab pos="175736" algn="l"/>
                <a:tab pos="198596" algn="l"/>
              </a:tabLst>
            </a:pPr>
            <a:r>
              <a:rPr sz="1200" b="1" spc="-8" dirty="0">
                <a:latin typeface="Arial"/>
                <a:cs typeface="Arial"/>
              </a:rPr>
              <a:t>	Power drains</a:t>
            </a:r>
            <a:endParaRPr sz="1200">
              <a:latin typeface="Arial"/>
              <a:cs typeface="Arial"/>
            </a:endParaRPr>
          </a:p>
          <a:p>
            <a:pPr marL="116681" marR="65723" lvl="1" indent="-53816">
              <a:spcBef>
                <a:spcPts val="574"/>
              </a:spcBef>
              <a:buSzPct val="93750"/>
              <a:buFont typeface="Arial"/>
              <a:buChar char="•"/>
              <a:tabLst>
                <a:tab pos="116681" algn="l"/>
                <a:tab pos="122396" algn="l"/>
              </a:tabLst>
            </a:pPr>
            <a:r>
              <a:rPr sz="1200" dirty="0">
                <a:latin typeface="Arial"/>
                <a:cs typeface="Arial"/>
              </a:rPr>
              <a:t>	</a:t>
            </a:r>
            <a:r>
              <a:rPr sz="1200" b="1" spc="-8" dirty="0">
                <a:latin typeface="Arial"/>
                <a:cs typeface="Arial"/>
              </a:rPr>
              <a:t>Physical damage</a:t>
            </a:r>
            <a:endParaRPr sz="1200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5652337" y="3304880"/>
            <a:ext cx="671513" cy="714138"/>
          </a:xfrm>
          <a:prstGeom prst="rect">
            <a:avLst/>
          </a:prstGeom>
        </p:spPr>
        <p:txBody>
          <a:bodyPr vert="horz" wrap="square" lIns="0" tIns="82391" rIns="0" bIns="0" rtlCol="0">
            <a:spAutoFit/>
          </a:bodyPr>
          <a:lstStyle/>
          <a:p>
            <a:pPr marL="62389" indent="-59531">
              <a:spcBef>
                <a:spcPts val="649"/>
              </a:spcBef>
              <a:buSzPct val="93750"/>
              <a:buFont typeface="Arial"/>
              <a:buChar char="•"/>
              <a:tabLst>
                <a:tab pos="62389" algn="l"/>
              </a:tabLst>
            </a:pPr>
            <a:r>
              <a:rPr sz="1200" b="1" spc="-8" dirty="0">
                <a:latin typeface="Arial"/>
                <a:cs typeface="Arial"/>
              </a:rPr>
              <a:t>Torques</a:t>
            </a:r>
            <a:endParaRPr sz="1200">
              <a:latin typeface="Arial"/>
              <a:cs typeface="Arial"/>
            </a:endParaRPr>
          </a:p>
          <a:p>
            <a:pPr marL="116681" marR="58103" lvl="1" indent="-59531">
              <a:spcBef>
                <a:spcPts val="578"/>
              </a:spcBef>
              <a:buSzPct val="93750"/>
              <a:buFont typeface="Arial"/>
              <a:buChar char="•"/>
              <a:tabLst>
                <a:tab pos="121444" algn="l"/>
              </a:tabLst>
            </a:pPr>
            <a:r>
              <a:rPr sz="1200" b="1" spc="-8" dirty="0">
                <a:latin typeface="Arial"/>
                <a:cs typeface="Arial"/>
              </a:rPr>
              <a:t>Orbital 	decay</a:t>
            </a:r>
            <a:endParaRPr sz="1200">
              <a:latin typeface="Arial"/>
              <a:cs typeface="Arial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7781667" y="3378458"/>
            <a:ext cx="1213009" cy="640079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273368" marR="214313" indent="-59531">
              <a:spcBef>
                <a:spcPts val="71"/>
              </a:spcBef>
              <a:buSzPct val="93750"/>
              <a:buFont typeface="Arial"/>
              <a:buChar char="•"/>
              <a:tabLst>
                <a:tab pos="319088" algn="l"/>
              </a:tabLst>
            </a:pPr>
            <a:r>
              <a:rPr sz="1200" b="1" spc="-8" dirty="0">
                <a:latin typeface="Arial"/>
                <a:cs typeface="Arial"/>
              </a:rPr>
              <a:t>Structural 	damage</a:t>
            </a:r>
            <a:endParaRPr sz="1200">
              <a:latin typeface="Arial"/>
              <a:cs typeface="Arial"/>
            </a:endParaRPr>
          </a:p>
          <a:p>
            <a:pPr marL="62389" indent="-59531">
              <a:spcBef>
                <a:spcPts val="574"/>
              </a:spcBef>
              <a:buSzPct val="93750"/>
              <a:buFont typeface="Arial"/>
              <a:buChar char="•"/>
              <a:tabLst>
                <a:tab pos="62389" algn="l"/>
              </a:tabLst>
            </a:pPr>
            <a:r>
              <a:rPr sz="1200" b="1" spc="-8" dirty="0">
                <a:latin typeface="Arial"/>
                <a:cs typeface="Arial"/>
              </a:rPr>
              <a:t>Decompression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8763261" y="1133956"/>
            <a:ext cx="267176" cy="239970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 marR="3810" indent="7620">
              <a:spcBef>
                <a:spcPts val="71"/>
              </a:spcBef>
            </a:pPr>
            <a:r>
              <a:rPr sz="750" b="1" i="1" spc="-8" dirty="0">
                <a:latin typeface="Arial"/>
                <a:cs typeface="Arial"/>
              </a:rPr>
              <a:t>after Barth</a:t>
            </a:r>
            <a:endParaRPr sz="750">
              <a:latin typeface="Arial"/>
              <a:cs typeface="Arial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3394075" y="1058769"/>
            <a:ext cx="5213985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2100" b="1" dirty="0">
                <a:latin typeface="Arial"/>
                <a:cs typeface="Arial"/>
              </a:rPr>
              <a:t>Space</a:t>
            </a:r>
            <a:r>
              <a:rPr sz="2100" b="1" spc="-60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Environments</a:t>
            </a:r>
            <a:r>
              <a:rPr sz="2100" b="1" spc="-41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and</a:t>
            </a:r>
            <a:r>
              <a:rPr sz="2100" b="1" spc="-64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Related</a:t>
            </a:r>
            <a:r>
              <a:rPr sz="2100" b="1" spc="-56" dirty="0">
                <a:latin typeface="Arial"/>
                <a:cs typeface="Arial"/>
              </a:rPr>
              <a:t> </a:t>
            </a:r>
            <a:r>
              <a:rPr sz="2100" b="1" spc="-8" dirty="0">
                <a:latin typeface="Arial"/>
                <a:cs typeface="Arial"/>
              </a:rPr>
              <a:t>Effects</a:t>
            </a:r>
            <a:endParaRPr sz="2100" dirty="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81175" y="1193220"/>
            <a:ext cx="2435543" cy="3510288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182880" marR="3810" indent="-173831">
              <a:spcBef>
                <a:spcPts val="79"/>
              </a:spcBef>
              <a:buFont typeface="Arial"/>
              <a:buChar char="•"/>
              <a:tabLst>
                <a:tab pos="182880" algn="l"/>
              </a:tabLst>
            </a:pPr>
            <a:r>
              <a:rPr sz="1500" b="1" dirty="0">
                <a:latin typeface="Arial"/>
                <a:cs typeface="Arial"/>
              </a:rPr>
              <a:t>This</a:t>
            </a:r>
            <a:r>
              <a:rPr sz="1500" b="1" spc="-19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presentation</a:t>
            </a:r>
            <a:r>
              <a:rPr sz="1500" b="1" spc="-4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is</a:t>
            </a:r>
            <a:r>
              <a:rPr sz="1500" b="1" spc="-15" dirty="0">
                <a:latin typeface="Arial"/>
                <a:cs typeface="Arial"/>
              </a:rPr>
              <a:t> only </a:t>
            </a:r>
            <a:r>
              <a:rPr sz="1500" b="1" dirty="0">
                <a:latin typeface="Arial"/>
                <a:cs typeface="Arial"/>
              </a:rPr>
              <a:t>focused</a:t>
            </a:r>
            <a:r>
              <a:rPr sz="1500" b="1" spc="-38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on</a:t>
            </a:r>
            <a:r>
              <a:rPr sz="1500" b="1" spc="-1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the</a:t>
            </a:r>
            <a:r>
              <a:rPr sz="1500" b="1" spc="-26" dirty="0">
                <a:latin typeface="Arial"/>
                <a:cs typeface="Arial"/>
              </a:rPr>
              <a:t> </a:t>
            </a:r>
            <a:r>
              <a:rPr sz="1500" b="1" spc="-8" dirty="0">
                <a:latin typeface="Arial"/>
                <a:cs typeface="Arial"/>
              </a:rPr>
              <a:t>natural </a:t>
            </a:r>
            <a:r>
              <a:rPr sz="1500" b="1" dirty="0">
                <a:latin typeface="Arial"/>
                <a:cs typeface="Arial"/>
              </a:rPr>
              <a:t>space</a:t>
            </a:r>
            <a:r>
              <a:rPr sz="1500" b="1" spc="-19" dirty="0">
                <a:latin typeface="Arial"/>
                <a:cs typeface="Arial"/>
              </a:rPr>
              <a:t> </a:t>
            </a:r>
            <a:r>
              <a:rPr sz="1500" b="1" spc="-8" dirty="0">
                <a:latin typeface="Arial"/>
                <a:cs typeface="Arial"/>
              </a:rPr>
              <a:t>exoatmospheric </a:t>
            </a:r>
            <a:r>
              <a:rPr sz="1500" b="1" dirty="0">
                <a:latin typeface="Arial"/>
                <a:cs typeface="Arial"/>
              </a:rPr>
              <a:t>radiation</a:t>
            </a:r>
            <a:r>
              <a:rPr sz="1500" b="1" spc="-49" dirty="0">
                <a:latin typeface="Arial"/>
                <a:cs typeface="Arial"/>
              </a:rPr>
              <a:t> </a:t>
            </a:r>
            <a:r>
              <a:rPr sz="1500" b="1" spc="-8" dirty="0">
                <a:latin typeface="Arial"/>
                <a:cs typeface="Arial"/>
              </a:rPr>
              <a:t>environment </a:t>
            </a:r>
            <a:r>
              <a:rPr sz="1500" b="1" dirty="0">
                <a:latin typeface="Arial"/>
                <a:cs typeface="Arial"/>
              </a:rPr>
              <a:t>around</a:t>
            </a:r>
            <a:r>
              <a:rPr sz="1500" b="1" spc="-23" dirty="0">
                <a:latin typeface="Arial"/>
                <a:cs typeface="Arial"/>
              </a:rPr>
              <a:t> </a:t>
            </a:r>
            <a:r>
              <a:rPr sz="1500" b="1" spc="-15" dirty="0">
                <a:latin typeface="Arial"/>
                <a:cs typeface="Arial"/>
              </a:rPr>
              <a:t>Earth</a:t>
            </a:r>
            <a:endParaRPr sz="1500" dirty="0">
              <a:latin typeface="Arial"/>
              <a:cs typeface="Arial"/>
            </a:endParaRPr>
          </a:p>
          <a:p>
            <a:pPr marL="355759" marR="45720" indent="-172878">
              <a:lnSpc>
                <a:spcPct val="117600"/>
              </a:lnSpc>
              <a:spcBef>
                <a:spcPts val="143"/>
              </a:spcBef>
            </a:pPr>
            <a:r>
              <a:rPr sz="1275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275" spc="28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Focus</a:t>
            </a:r>
            <a:r>
              <a:rPr sz="1275" b="1" spc="-1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1275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this </a:t>
            </a:r>
            <a:r>
              <a:rPr sz="1275" b="1" spc="-8" dirty="0">
                <a:solidFill>
                  <a:srgbClr val="0000FF"/>
                </a:solidFill>
                <a:latin typeface="Arial"/>
                <a:cs typeface="Arial"/>
              </a:rPr>
              <a:t>presentation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will</a:t>
            </a:r>
            <a:r>
              <a:rPr sz="1275" b="1" spc="-3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specifically</a:t>
            </a:r>
            <a:r>
              <a:rPr sz="1275" b="1" spc="-1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be</a:t>
            </a:r>
            <a:r>
              <a:rPr sz="1275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spc="-19" dirty="0">
                <a:solidFill>
                  <a:srgbClr val="0000FF"/>
                </a:solidFill>
                <a:latin typeface="Arial"/>
                <a:cs typeface="Arial"/>
              </a:rPr>
              <a:t>on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particle</a:t>
            </a:r>
            <a:r>
              <a:rPr sz="1275" b="1" spc="-3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radiation,</a:t>
            </a:r>
            <a:r>
              <a:rPr sz="1275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spc="-15" dirty="0">
                <a:solidFill>
                  <a:srgbClr val="0000FF"/>
                </a:solidFill>
                <a:latin typeface="Arial"/>
                <a:cs typeface="Arial"/>
              </a:rPr>
              <a:t>since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those</a:t>
            </a:r>
            <a:r>
              <a:rPr sz="1275" b="1" spc="-2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are</a:t>
            </a:r>
            <a:r>
              <a:rPr sz="1275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1275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kind</a:t>
            </a:r>
            <a:r>
              <a:rPr sz="1275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spc="-15" dirty="0">
                <a:solidFill>
                  <a:srgbClr val="0000FF"/>
                </a:solidFill>
                <a:latin typeface="Arial"/>
                <a:cs typeface="Arial"/>
              </a:rPr>
              <a:t>most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likely</a:t>
            </a:r>
            <a:r>
              <a:rPr sz="1275" b="1" spc="-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to</a:t>
            </a:r>
            <a:r>
              <a:rPr sz="1275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affect</a:t>
            </a:r>
            <a:r>
              <a:rPr sz="1275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spc="-8" dirty="0">
                <a:solidFill>
                  <a:srgbClr val="0000FF"/>
                </a:solidFill>
                <a:latin typeface="Arial"/>
                <a:cs typeface="Arial"/>
              </a:rPr>
              <a:t>advanced electronics</a:t>
            </a:r>
            <a:endParaRPr sz="1275" dirty="0">
              <a:latin typeface="Arial"/>
              <a:cs typeface="Arial"/>
            </a:endParaRPr>
          </a:p>
          <a:p>
            <a:pPr marL="355759" marR="71914" indent="-172878">
              <a:lnSpc>
                <a:spcPct val="117600"/>
              </a:lnSpc>
              <a:spcBef>
                <a:spcPts val="307"/>
              </a:spcBef>
            </a:pPr>
            <a:r>
              <a:rPr sz="1275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275" spc="25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Will</a:t>
            </a:r>
            <a:r>
              <a:rPr sz="1275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not</a:t>
            </a:r>
            <a:r>
              <a:rPr sz="1275" b="1" spc="-3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discuss</a:t>
            </a:r>
            <a:r>
              <a:rPr sz="1275" b="1" spc="-1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Jovian </a:t>
            </a:r>
            <a:r>
              <a:rPr sz="1275" b="1" spc="-19" dirty="0">
                <a:solidFill>
                  <a:srgbClr val="0000FF"/>
                </a:solidFill>
                <a:latin typeface="Arial"/>
                <a:cs typeface="Arial"/>
              </a:rPr>
              <a:t>or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Cis</a:t>
            </a:r>
            <a:r>
              <a:rPr sz="1275" b="1" spc="-1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Lunar</a:t>
            </a:r>
            <a:r>
              <a:rPr sz="1275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spc="-8" dirty="0">
                <a:solidFill>
                  <a:srgbClr val="0000FF"/>
                </a:solidFill>
                <a:latin typeface="Arial"/>
                <a:cs typeface="Arial"/>
              </a:rPr>
              <a:t>environment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(Jupiter,</a:t>
            </a:r>
            <a:r>
              <a:rPr sz="1275" b="1" spc="-3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Saturn,</a:t>
            </a:r>
            <a:r>
              <a:rPr sz="1275" b="1" spc="-3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spc="-8" dirty="0">
                <a:solidFill>
                  <a:srgbClr val="0000FF"/>
                </a:solidFill>
                <a:latin typeface="Arial"/>
                <a:cs typeface="Arial"/>
              </a:rPr>
              <a:t>Neptune,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sz="1275" b="1" spc="-8" dirty="0">
                <a:solidFill>
                  <a:srgbClr val="0000FF"/>
                </a:solidFill>
                <a:latin typeface="Arial"/>
                <a:cs typeface="Arial"/>
              </a:rPr>
              <a:t> Uranus)</a:t>
            </a:r>
            <a:endParaRPr sz="1275" dirty="0">
              <a:latin typeface="Arial"/>
              <a:cs typeface="Arial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2566911" y="1093470"/>
            <a:ext cx="6543675" cy="4135755"/>
          </a:xfrm>
          <a:custGeom>
            <a:avLst/>
            <a:gdLst/>
            <a:ahLst/>
            <a:cxnLst/>
            <a:rect l="l" t="t" r="r" b="b"/>
            <a:pathLst>
              <a:path w="8724900" h="5514340">
                <a:moveTo>
                  <a:pt x="0" y="0"/>
                </a:moveTo>
                <a:lnTo>
                  <a:pt x="8724900" y="0"/>
                </a:lnTo>
                <a:lnTo>
                  <a:pt x="8724900" y="5514098"/>
                </a:lnTo>
                <a:lnTo>
                  <a:pt x="0" y="5514098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graphicFrame>
        <p:nvGraphicFramePr>
          <p:cNvPr id="97" name="object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600139"/>
              </p:ext>
            </p:extLst>
          </p:nvPr>
        </p:nvGraphicFramePr>
        <p:xfrm>
          <a:off x="7643831" y="4151204"/>
          <a:ext cx="1345883" cy="9486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5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57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100" b="1" i="1" spc="-10" dirty="0">
                          <a:latin typeface="Arial"/>
                          <a:cs typeface="Arial"/>
                        </a:rPr>
                        <a:t>Environments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3000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173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100" b="1" spc="-10" dirty="0">
                          <a:latin typeface="Arial"/>
                          <a:cs typeface="Arial"/>
                        </a:rPr>
                        <a:t>Effects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3428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88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100" b="1" dirty="0">
                          <a:latin typeface="Arial"/>
                          <a:cs typeface="Arial"/>
                        </a:rPr>
                        <a:t>Failure</a:t>
                      </a:r>
                      <a:r>
                        <a:rPr sz="11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20" dirty="0">
                          <a:latin typeface="Arial"/>
                          <a:cs typeface="Arial"/>
                        </a:rPr>
                        <a:t>Mode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323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E4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R="26034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100" b="1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Focus</a:t>
                      </a:r>
                      <a:r>
                        <a:rPr sz="1100" b="1" i="1" spc="-5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i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sz="1100" b="1" i="1" spc="-4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100" b="1" i="1" spc="-4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Course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42386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9" name="Title 108">
            <a:extLst>
              <a:ext uri="{FF2B5EF4-FFF2-40B4-BE49-F238E27FC236}">
                <a16:creationId xmlns:a16="http://schemas.microsoft.com/office/drawing/2014/main" id="{52B15BA8-7BF3-31C4-D2C4-5B1824415B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Context</a:t>
            </a:r>
          </a:p>
        </p:txBody>
      </p:sp>
      <p:sp>
        <p:nvSpPr>
          <p:cNvPr id="110" name="object 86">
            <a:extLst>
              <a:ext uri="{FF2B5EF4-FFF2-40B4-BE49-F238E27FC236}">
                <a16:creationId xmlns:a16="http://schemas.microsoft.com/office/drawing/2014/main" id="{AC7BDC17-0231-0EF9-2305-447B002A54E6}"/>
              </a:ext>
            </a:extLst>
          </p:cNvPr>
          <p:cNvSpPr/>
          <p:nvPr/>
        </p:nvSpPr>
        <p:spPr>
          <a:xfrm>
            <a:off x="3604830" y="2512007"/>
            <a:ext cx="1042416" cy="628650"/>
          </a:xfrm>
          <a:custGeom>
            <a:avLst/>
            <a:gdLst/>
            <a:ahLst/>
            <a:cxnLst/>
            <a:rect l="l" t="t" r="r" b="b"/>
            <a:pathLst>
              <a:path w="875029" h="838200">
                <a:moveTo>
                  <a:pt x="0" y="0"/>
                </a:moveTo>
                <a:lnTo>
                  <a:pt x="874712" y="0"/>
                </a:lnTo>
                <a:lnTo>
                  <a:pt x="874712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ln w="571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11" name="object 93">
            <a:extLst>
              <a:ext uri="{FF2B5EF4-FFF2-40B4-BE49-F238E27FC236}">
                <a16:creationId xmlns:a16="http://schemas.microsoft.com/office/drawing/2014/main" id="{6A74C1C5-FB81-87B6-251B-82D2AF99FC9B}"/>
              </a:ext>
            </a:extLst>
          </p:cNvPr>
          <p:cNvSpPr txBox="1"/>
          <p:nvPr/>
        </p:nvSpPr>
        <p:spPr>
          <a:xfrm>
            <a:off x="7897577" y="964860"/>
            <a:ext cx="1213009" cy="124554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 marR="3810" indent="7620">
              <a:spcBef>
                <a:spcPts val="71"/>
              </a:spcBef>
            </a:pPr>
            <a:r>
              <a:rPr sz="750" b="1" i="1" spc="-8" dirty="0">
                <a:latin typeface="Arial"/>
                <a:cs typeface="Arial"/>
              </a:rPr>
              <a:t>after </a:t>
            </a:r>
            <a:r>
              <a:rPr lang="en-US" sz="750" b="1" i="1" spc="-8" dirty="0">
                <a:latin typeface="Arial"/>
                <a:cs typeface="Arial"/>
              </a:rPr>
              <a:t>McKenna, A4RES 25</a:t>
            </a:r>
            <a:endParaRPr sz="7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4846" y="1181476"/>
            <a:ext cx="7361873" cy="1780135"/>
          </a:xfrm>
          <a:prstGeom prst="rect">
            <a:avLst/>
          </a:prstGeom>
        </p:spPr>
        <p:txBody>
          <a:bodyPr vert="horz" wrap="square" lIns="0" tIns="58579" rIns="0" bIns="0" rtlCol="0">
            <a:spAutoFit/>
          </a:bodyPr>
          <a:lstStyle/>
          <a:p>
            <a:pPr marL="182403" indent="-172878">
              <a:spcBef>
                <a:spcPts val="461"/>
              </a:spcBef>
              <a:buFont typeface="Arial"/>
              <a:buChar char="•"/>
              <a:tabLst>
                <a:tab pos="182403" algn="l"/>
              </a:tabLst>
            </a:pPr>
            <a:r>
              <a:rPr sz="1800" b="1" dirty="0">
                <a:latin typeface="Arial"/>
                <a:cs typeface="Arial"/>
              </a:rPr>
              <a:t>Explain</a:t>
            </a:r>
            <a:r>
              <a:rPr sz="1800" b="1" spc="-26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why</a:t>
            </a:r>
            <a:r>
              <a:rPr sz="1800" b="1" spc="-53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environments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are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important</a:t>
            </a:r>
            <a:r>
              <a:rPr sz="1800" b="1" spc="-26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-23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design</a:t>
            </a:r>
            <a:endParaRPr sz="1800" dirty="0">
              <a:latin typeface="Arial"/>
              <a:cs typeface="Arial"/>
            </a:endParaRPr>
          </a:p>
          <a:p>
            <a:pPr marL="181928" marR="306229" indent="-172878">
              <a:lnSpc>
                <a:spcPts val="1800"/>
              </a:lnSpc>
              <a:spcBef>
                <a:spcPts val="746"/>
              </a:spcBef>
              <a:buFont typeface="Arial"/>
              <a:buChar char="•"/>
              <a:tabLst>
                <a:tab pos="182880" algn="l"/>
              </a:tabLst>
            </a:pPr>
            <a:r>
              <a:rPr sz="1800" b="1" dirty="0">
                <a:latin typeface="Arial"/>
                <a:cs typeface="Arial"/>
              </a:rPr>
              <a:t>Identify</a:t>
            </a:r>
            <a:r>
              <a:rPr sz="1800" b="1" spc="-49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3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direct</a:t>
            </a:r>
            <a:r>
              <a:rPr sz="1800" b="1" spc="-3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3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indirect</a:t>
            </a:r>
            <a:r>
              <a:rPr sz="1800" b="1" spc="-38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sources</a:t>
            </a:r>
            <a:r>
              <a:rPr sz="1800" b="1" spc="-23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particle</a:t>
            </a:r>
            <a:r>
              <a:rPr sz="1800" b="1" spc="-38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radiation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15" dirty="0">
                <a:latin typeface="Arial"/>
                <a:cs typeface="Arial"/>
              </a:rPr>
              <a:t>that 	</a:t>
            </a:r>
            <a:r>
              <a:rPr sz="1800" b="1" dirty="0">
                <a:latin typeface="Arial"/>
                <a:cs typeface="Arial"/>
              </a:rPr>
              <a:t>affect</a:t>
            </a:r>
            <a:r>
              <a:rPr sz="1800" b="1" spc="-53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electronics</a:t>
            </a:r>
            <a:endParaRPr sz="1800" dirty="0">
              <a:latin typeface="Arial"/>
              <a:cs typeface="Arial"/>
            </a:endParaRPr>
          </a:p>
          <a:p>
            <a:pPr marL="182403" indent="-172878">
              <a:spcBef>
                <a:spcPts val="386"/>
              </a:spcBef>
              <a:buFont typeface="Arial"/>
              <a:buChar char="•"/>
              <a:tabLst>
                <a:tab pos="182403" algn="l"/>
              </a:tabLst>
            </a:pPr>
            <a:r>
              <a:rPr sz="1800" b="1" dirty="0">
                <a:latin typeface="Arial"/>
                <a:cs typeface="Arial"/>
              </a:rPr>
              <a:t>Explain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how</a:t>
            </a:r>
            <a:r>
              <a:rPr sz="1800" b="1" spc="-3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26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Sun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impacts</a:t>
            </a:r>
            <a:r>
              <a:rPr sz="1800" b="1" spc="-23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26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environments</a:t>
            </a:r>
            <a:r>
              <a:rPr sz="1800" b="1" spc="-23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that</a:t>
            </a:r>
            <a:r>
              <a:rPr sz="1800" b="1" spc="-23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exist</a:t>
            </a:r>
            <a:r>
              <a:rPr sz="1800" b="1" spc="-26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-41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space</a:t>
            </a:r>
            <a:endParaRPr sz="1800" dirty="0">
              <a:latin typeface="Arial"/>
              <a:cs typeface="Arial"/>
            </a:endParaRPr>
          </a:p>
          <a:p>
            <a:pPr marL="181928" marR="162878" indent="-172878">
              <a:lnSpc>
                <a:spcPts val="1800"/>
              </a:lnSpc>
              <a:spcBef>
                <a:spcPts val="758"/>
              </a:spcBef>
              <a:buFont typeface="Arial"/>
              <a:buChar char="•"/>
              <a:tabLst>
                <a:tab pos="182880" algn="l"/>
              </a:tabLst>
            </a:pPr>
            <a:r>
              <a:rPr sz="1800" b="1" dirty="0">
                <a:latin typeface="Arial"/>
                <a:cs typeface="Arial"/>
              </a:rPr>
              <a:t>Identify</a:t>
            </a:r>
            <a:r>
              <a:rPr sz="1800" b="1" spc="-49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different</a:t>
            </a:r>
            <a:r>
              <a:rPr sz="1800" b="1" spc="-38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mission</a:t>
            </a:r>
            <a:r>
              <a:rPr sz="1800" b="1" spc="-49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regimes</a:t>
            </a:r>
            <a:r>
              <a:rPr sz="1800" b="1" spc="-26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38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environments</a:t>
            </a:r>
            <a:r>
              <a:rPr sz="1800" b="1" spc="-3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that</a:t>
            </a:r>
            <a:r>
              <a:rPr sz="1800" b="1" spc="-34" dirty="0">
                <a:latin typeface="Arial"/>
                <a:cs typeface="Arial"/>
              </a:rPr>
              <a:t> </a:t>
            </a:r>
            <a:r>
              <a:rPr sz="1800" b="1" spc="-15" dirty="0">
                <a:latin typeface="Arial"/>
                <a:cs typeface="Arial"/>
              </a:rPr>
              <a:t>will 	</a:t>
            </a:r>
            <a:r>
              <a:rPr sz="1800" b="1" dirty="0">
                <a:latin typeface="Arial"/>
                <a:cs typeface="Arial"/>
              </a:rPr>
              <a:t>impact</a:t>
            </a:r>
            <a:r>
              <a:rPr sz="1800" b="1" spc="-41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those</a:t>
            </a:r>
            <a:r>
              <a:rPr sz="1800" b="1" spc="-38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missions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285750"/>
            <a:ext cx="0" cy="1317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069"/>
              </a:lnSpc>
            </a:pPr>
            <a:fld id="{81D60167-4931-47E6-BA6A-407CBD079E47}" type="slidenum">
              <a:rPr spc="-38" dirty="0">
                <a:solidFill>
                  <a:srgbClr val="FFFFFF"/>
                </a:solidFill>
              </a:rPr>
              <a:pPr marL="76200">
                <a:lnSpc>
                  <a:spcPts val="1069"/>
                </a:lnSpc>
              </a:pPr>
              <a:t>3</a:t>
            </a:fld>
            <a:endParaRPr spc="-38" dirty="0">
              <a:solidFill>
                <a:srgbClr val="FFFFFF"/>
              </a:solidFill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5FDF7ED-DC36-394B-C8D2-EF5F115CBC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Learning Objectives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285750"/>
            <a:ext cx="0" cy="1317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069"/>
              </a:lnSpc>
            </a:pPr>
            <a:fld id="{81D60167-4931-47E6-BA6A-407CBD079E47}" type="slidenum">
              <a:rPr spc="-38" dirty="0">
                <a:solidFill>
                  <a:srgbClr val="FFFFFF"/>
                </a:solidFill>
              </a:rPr>
              <a:pPr marL="76200">
                <a:lnSpc>
                  <a:spcPts val="1069"/>
                </a:lnSpc>
              </a:pPr>
              <a:t>4</a:t>
            </a:fld>
            <a:endParaRPr spc="-38" dirty="0">
              <a:solidFill>
                <a:srgbClr val="FFFFFF"/>
              </a:solidFill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CCF7829E-226B-5B69-006A-D681618539E8}"/>
              </a:ext>
            </a:extLst>
          </p:cNvPr>
          <p:cNvSpPr txBox="1"/>
          <p:nvPr/>
        </p:nvSpPr>
        <p:spPr>
          <a:xfrm>
            <a:off x="744846" y="1181476"/>
            <a:ext cx="7361873" cy="1654460"/>
          </a:xfrm>
          <a:prstGeom prst="rect">
            <a:avLst/>
          </a:prstGeom>
        </p:spPr>
        <p:txBody>
          <a:bodyPr vert="horz" wrap="square" lIns="0" tIns="58579" rIns="0" bIns="0" rtlCol="0">
            <a:spAutoFit/>
          </a:bodyPr>
          <a:lstStyle/>
          <a:p>
            <a:pPr marL="182403" marR="0" lvl="0" indent="-172878" algn="l" defTabSz="914400" rtl="0" eaLnBrk="0" fontAlgn="base" latinLnBrk="0" hangingPunct="0">
              <a:lnSpc>
                <a:spcPct val="100000"/>
              </a:lnSpc>
              <a:spcBef>
                <a:spcPts val="461"/>
              </a:spcBef>
              <a:spcAft>
                <a:spcPct val="0"/>
              </a:spcAft>
              <a:buClrTx/>
              <a:buSzTx/>
              <a:buFont typeface="Arial"/>
              <a:buChar char="•"/>
              <a:tabLst>
                <a:tab pos="182403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What</a:t>
            </a:r>
            <a:r>
              <a:rPr kumimoji="0" lang="en-US" sz="1800" b="1" i="0" u="none" strike="noStrike" kern="12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are</a:t>
            </a:r>
            <a:r>
              <a:rPr kumimoji="0" lang="en-US" sz="1800" b="1" i="0" u="none" strike="noStrike" kern="1200" cap="none" spc="-2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the</a:t>
            </a:r>
            <a:r>
              <a:rPr kumimoji="0" lang="en-US" sz="1800" b="1" i="0" u="none" strike="noStrike" kern="12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sources</a:t>
            </a:r>
            <a:r>
              <a:rPr kumimoji="0" lang="en-US" sz="1800" b="1" i="0" u="none" strike="noStrike" kern="1200" cap="none" spc="-1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of</a:t>
            </a:r>
            <a:r>
              <a:rPr kumimoji="0" lang="en-US" sz="1800" b="1" i="0" u="none" strike="noStrike" kern="12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the</a:t>
            </a:r>
            <a:r>
              <a:rPr kumimoji="0" lang="en-US" sz="1800" b="1" i="0" u="none" strike="noStrike" kern="12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natural</a:t>
            </a:r>
            <a:r>
              <a:rPr kumimoji="0" lang="en-US" sz="1800" b="1" i="0" u="none" strike="noStrike" kern="12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space</a:t>
            </a:r>
            <a:r>
              <a:rPr kumimoji="0" lang="en-US" sz="1800" b="1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radiation</a:t>
            </a:r>
            <a:r>
              <a:rPr kumimoji="0" lang="en-US" sz="1800" b="1" i="0" u="none" strike="noStrike" kern="1200" cap="none" spc="-4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</a:t>
            </a:r>
            <a:r>
              <a:rPr kumimoji="0" lang="en-US" sz="1800" b="1" i="0" u="none" strike="noStrike" kern="1200" cap="none" spc="-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environment?</a:t>
            </a:r>
          </a:p>
          <a:p>
            <a:pPr marL="182403" marR="0" lvl="0" indent="-172878" algn="l" defTabSz="914400" rtl="0" eaLnBrk="0" fontAlgn="base" latinLnBrk="0" hangingPunct="0">
              <a:lnSpc>
                <a:spcPct val="100000"/>
              </a:lnSpc>
              <a:spcBef>
                <a:spcPts val="386"/>
              </a:spcBef>
              <a:spcAft>
                <a:spcPct val="0"/>
              </a:spcAft>
              <a:buClrTx/>
              <a:buSzTx/>
              <a:buFont typeface="Arial"/>
              <a:buChar char="•"/>
              <a:tabLst>
                <a:tab pos="182403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What</a:t>
            </a:r>
            <a:r>
              <a:rPr kumimoji="0" lang="en-US" sz="1800" b="1" i="0" u="none" strike="noStrike" kern="1200" cap="none" spc="-2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role</a:t>
            </a:r>
            <a:r>
              <a:rPr kumimoji="0" lang="en-US" sz="1800" b="1" i="0" u="none" strike="noStrike" kern="1200" cap="none" spc="-2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does</a:t>
            </a:r>
            <a:r>
              <a:rPr kumimoji="0" lang="en-US" sz="1800" b="1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the</a:t>
            </a:r>
            <a:r>
              <a:rPr kumimoji="0" lang="en-US" sz="1800" b="1" i="0" u="none" strike="noStrike" kern="1200" cap="none" spc="-2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Sun</a:t>
            </a:r>
            <a:r>
              <a:rPr kumimoji="0" lang="en-US" sz="1800" b="1" i="0" u="none" strike="noStrike" kern="1200" cap="none" spc="-2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play</a:t>
            </a:r>
            <a:r>
              <a:rPr kumimoji="0" lang="en-US" sz="1800" b="1" i="0" u="none" strike="noStrike" kern="1200" cap="none" spc="-2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on</a:t>
            </a:r>
            <a:r>
              <a:rPr kumimoji="0" lang="en-US" sz="1800" b="1" i="0" u="none" strike="noStrike" kern="1200" cap="none" spc="-2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these</a:t>
            </a:r>
            <a:r>
              <a:rPr kumimoji="0" lang="en-US" sz="1800" b="1" i="0" u="none" strike="noStrike" kern="1200" cap="none" spc="-19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</a:t>
            </a:r>
            <a:r>
              <a:rPr kumimoji="0" lang="en-US" sz="1800" b="1" i="0" u="none" strike="noStrike" kern="1200" cap="none" spc="-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environments?</a:t>
            </a:r>
          </a:p>
          <a:p>
            <a:pPr marL="182403" marR="0" lvl="0" indent="-172878" algn="l" defTabSz="914400" rtl="0" eaLnBrk="0" fontAlgn="base" latinLnBrk="0" hangingPunct="0">
              <a:lnSpc>
                <a:spcPct val="100000"/>
              </a:lnSpc>
              <a:spcBef>
                <a:spcPts val="386"/>
              </a:spcBef>
              <a:spcAft>
                <a:spcPct val="0"/>
              </a:spcAft>
              <a:buClrTx/>
              <a:buSzTx/>
              <a:buFont typeface="Arial"/>
              <a:buChar char="•"/>
              <a:tabLst>
                <a:tab pos="182403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Why</a:t>
            </a:r>
            <a:r>
              <a:rPr kumimoji="0" lang="en-US" sz="1800" b="1" i="0" u="none" strike="noStrike" kern="1200" cap="none" spc="-2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do</a:t>
            </a:r>
            <a:r>
              <a:rPr kumimoji="0" lang="en-US" sz="1800" b="1" i="0" u="none" strike="noStrike" kern="1200" cap="none" spc="-2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environments</a:t>
            </a:r>
            <a:r>
              <a:rPr kumimoji="0" lang="en-US" sz="1800" b="1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 </a:t>
            </a:r>
            <a:r>
              <a:rPr kumimoji="0" lang="en-US" sz="1800" b="1" i="0" u="none" strike="noStrike" kern="1200" cap="none" spc="-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matter?</a:t>
            </a:r>
          </a:p>
          <a:p>
            <a:pPr marL="182403" marR="0" lvl="0" indent="-172878" algn="l" defTabSz="914400" rtl="0" eaLnBrk="0" fontAlgn="base" latinLnBrk="0" hangingPunct="0">
              <a:lnSpc>
                <a:spcPct val="100000"/>
              </a:lnSpc>
              <a:spcBef>
                <a:spcPts val="398"/>
              </a:spcBef>
              <a:spcAft>
                <a:spcPct val="0"/>
              </a:spcAft>
              <a:buClrTx/>
              <a:buSzTx/>
              <a:buFont typeface="Arial"/>
              <a:buChar char="•"/>
              <a:tabLst>
                <a:tab pos="182403" algn="l"/>
              </a:tabLst>
              <a:defRPr/>
            </a:pPr>
            <a:r>
              <a:rPr kumimoji="0" lang="en-US" sz="1800" b="1" i="0" u="none" strike="noStrike" kern="1200" cap="none" spc="-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Summary</a:t>
            </a:r>
          </a:p>
          <a:p>
            <a:pPr marL="181928" marR="162878" indent="-172878">
              <a:lnSpc>
                <a:spcPts val="1800"/>
              </a:lnSpc>
              <a:spcBef>
                <a:spcPts val="758"/>
              </a:spcBef>
              <a:buFont typeface="Arial"/>
              <a:buChar char="•"/>
              <a:tabLst>
                <a:tab pos="182880" algn="l"/>
              </a:tabLst>
            </a:pPr>
            <a:endParaRPr sz="1800" dirty="0">
              <a:latin typeface="Arial"/>
              <a:cs typeface="Arial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94D9F74-D862-D942-3A04-DD3876CDCB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Section Topics/Outline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21D40-051C-4F91-D735-5F404C3F6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03732128-26C4-CE20-3A36-5DA51E788932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0" y="285750"/>
            <a:ext cx="0" cy="1317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069"/>
              </a:lnSpc>
            </a:pPr>
            <a:fld id="{81D60167-4931-47E6-BA6A-407CBD079E47}" type="slidenum">
              <a:rPr spc="-38" dirty="0">
                <a:solidFill>
                  <a:srgbClr val="FFFFFF"/>
                </a:solidFill>
              </a:rPr>
              <a:pPr marL="76200">
                <a:lnSpc>
                  <a:spcPts val="1069"/>
                </a:lnSpc>
              </a:pPr>
              <a:t>5</a:t>
            </a:fld>
            <a:endParaRPr spc="-38" dirty="0">
              <a:solidFill>
                <a:srgbClr val="FFFFFF"/>
              </a:solidFill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0992C53E-B263-9E54-53C3-1EE0574B06A3}"/>
              </a:ext>
            </a:extLst>
          </p:cNvPr>
          <p:cNvSpPr txBox="1"/>
          <p:nvPr/>
        </p:nvSpPr>
        <p:spPr>
          <a:xfrm>
            <a:off x="744846" y="1181476"/>
            <a:ext cx="7361873" cy="2285402"/>
          </a:xfrm>
          <a:prstGeom prst="rect">
            <a:avLst/>
          </a:prstGeom>
        </p:spPr>
        <p:txBody>
          <a:bodyPr vert="horz" wrap="square" lIns="0" tIns="58579" rIns="0" bIns="0" rtlCol="0">
            <a:spAutoFit/>
          </a:bodyPr>
          <a:lstStyle/>
          <a:p>
            <a:pPr marL="182403" indent="-172878">
              <a:spcBef>
                <a:spcPts val="431"/>
              </a:spcBef>
              <a:buFont typeface="Arial"/>
              <a:buChar char="•"/>
              <a:tabLst>
                <a:tab pos="182403" algn="l"/>
              </a:tabLst>
            </a:pPr>
            <a:r>
              <a:rPr lang="en-US" sz="1800" b="1" dirty="0">
                <a:solidFill>
                  <a:srgbClr val="000000"/>
                </a:solidFill>
              </a:rPr>
              <a:t>What</a:t>
            </a:r>
            <a:r>
              <a:rPr lang="en-US" sz="1800" b="1" spc="-3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000000"/>
                </a:solidFill>
              </a:rPr>
              <a:t>are</a:t>
            </a:r>
            <a:r>
              <a:rPr lang="en-US" sz="1800" b="1" spc="-26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000000"/>
                </a:solidFill>
              </a:rPr>
              <a:t>the</a:t>
            </a:r>
            <a:r>
              <a:rPr lang="en-US" sz="1800" b="1" spc="-3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000000"/>
                </a:solidFill>
              </a:rPr>
              <a:t>sources</a:t>
            </a:r>
            <a:r>
              <a:rPr lang="en-US" sz="1800" b="1" spc="-19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000000"/>
                </a:solidFill>
              </a:rPr>
              <a:t>of</a:t>
            </a:r>
            <a:r>
              <a:rPr lang="en-US" sz="1800" b="1" spc="-3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000000"/>
                </a:solidFill>
              </a:rPr>
              <a:t>the</a:t>
            </a:r>
            <a:r>
              <a:rPr lang="en-US" sz="1800" b="1" spc="-3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000000"/>
                </a:solidFill>
              </a:rPr>
              <a:t>natural</a:t>
            </a:r>
            <a:r>
              <a:rPr lang="en-US" sz="1800" b="1" spc="-3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000000"/>
                </a:solidFill>
              </a:rPr>
              <a:t>space</a:t>
            </a:r>
            <a:r>
              <a:rPr lang="en-US" sz="1800" b="1" spc="-15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000000"/>
                </a:solidFill>
              </a:rPr>
              <a:t>radiation</a:t>
            </a:r>
            <a:r>
              <a:rPr lang="en-US" sz="1800" b="1" spc="-45" dirty="0">
                <a:solidFill>
                  <a:srgbClr val="000000"/>
                </a:solidFill>
              </a:rPr>
              <a:t> </a:t>
            </a:r>
            <a:r>
              <a:rPr lang="en-US" sz="1800" b="1" spc="-8" dirty="0">
                <a:solidFill>
                  <a:srgbClr val="000000"/>
                </a:solidFill>
              </a:rPr>
              <a:t>environment?</a:t>
            </a:r>
          </a:p>
          <a:p>
            <a:pPr marL="182880">
              <a:spcBef>
                <a:spcPts val="300"/>
              </a:spcBef>
            </a:pPr>
            <a:r>
              <a:rPr lang="en-US" sz="1800" b="1" dirty="0">
                <a:solidFill>
                  <a:srgbClr val="0000FF"/>
                </a:solidFill>
              </a:rPr>
              <a:t>‒</a:t>
            </a:r>
            <a:r>
              <a:rPr lang="en-US" sz="1800" b="1" spc="79" dirty="0">
                <a:solidFill>
                  <a:srgbClr val="0000FF"/>
                </a:solidFill>
              </a:rPr>
              <a:t> </a:t>
            </a:r>
            <a:r>
              <a:rPr lang="en-US" sz="1800" b="1" dirty="0">
                <a:solidFill>
                  <a:srgbClr val="0000FF"/>
                </a:solidFill>
              </a:rPr>
              <a:t>Direct</a:t>
            </a:r>
            <a:r>
              <a:rPr lang="en-US" sz="1800" b="1" spc="-34" dirty="0">
                <a:solidFill>
                  <a:srgbClr val="0000FF"/>
                </a:solidFill>
              </a:rPr>
              <a:t> </a:t>
            </a:r>
            <a:r>
              <a:rPr lang="en-US" sz="1800" b="1" dirty="0">
                <a:solidFill>
                  <a:srgbClr val="0000FF"/>
                </a:solidFill>
              </a:rPr>
              <a:t>Sources</a:t>
            </a:r>
            <a:r>
              <a:rPr lang="en-US" sz="1800" b="1" spc="-30" dirty="0">
                <a:solidFill>
                  <a:srgbClr val="0000FF"/>
                </a:solidFill>
              </a:rPr>
              <a:t> </a:t>
            </a:r>
            <a:r>
              <a:rPr lang="en-US" sz="1800" b="1" dirty="0">
                <a:solidFill>
                  <a:srgbClr val="0000FF"/>
                </a:solidFill>
              </a:rPr>
              <a:t>(Solar</a:t>
            </a:r>
            <a:r>
              <a:rPr lang="en-US" sz="1800" b="1" spc="-34" dirty="0">
                <a:solidFill>
                  <a:srgbClr val="0000FF"/>
                </a:solidFill>
              </a:rPr>
              <a:t> </a:t>
            </a:r>
            <a:r>
              <a:rPr lang="en-US" sz="1800" b="1" dirty="0">
                <a:solidFill>
                  <a:srgbClr val="0000FF"/>
                </a:solidFill>
              </a:rPr>
              <a:t>Particles,</a:t>
            </a:r>
            <a:r>
              <a:rPr lang="en-US" sz="1800" b="1" spc="-49" dirty="0">
                <a:solidFill>
                  <a:srgbClr val="0000FF"/>
                </a:solidFill>
              </a:rPr>
              <a:t> </a:t>
            </a:r>
            <a:r>
              <a:rPr lang="en-US" sz="1800" b="1" dirty="0">
                <a:solidFill>
                  <a:srgbClr val="0000FF"/>
                </a:solidFill>
              </a:rPr>
              <a:t>Galactic</a:t>
            </a:r>
            <a:r>
              <a:rPr lang="en-US" sz="1800" b="1" spc="-49" dirty="0">
                <a:solidFill>
                  <a:srgbClr val="0000FF"/>
                </a:solidFill>
              </a:rPr>
              <a:t> </a:t>
            </a:r>
            <a:r>
              <a:rPr lang="en-US" sz="1800" b="1" dirty="0">
                <a:solidFill>
                  <a:srgbClr val="0000FF"/>
                </a:solidFill>
              </a:rPr>
              <a:t>Cosmic</a:t>
            </a:r>
            <a:r>
              <a:rPr lang="en-US" sz="1800" b="1" spc="-30" dirty="0">
                <a:solidFill>
                  <a:srgbClr val="0000FF"/>
                </a:solidFill>
              </a:rPr>
              <a:t> </a:t>
            </a:r>
            <a:r>
              <a:rPr lang="en-US" sz="1800" b="1" spc="-8" dirty="0">
                <a:solidFill>
                  <a:srgbClr val="0000FF"/>
                </a:solidFill>
              </a:rPr>
              <a:t>Rays)</a:t>
            </a:r>
            <a:endParaRPr lang="en-US" sz="1800" b="1" dirty="0"/>
          </a:p>
          <a:p>
            <a:pPr marL="182880">
              <a:spcBef>
                <a:spcPts val="304"/>
              </a:spcBef>
            </a:pPr>
            <a:r>
              <a:rPr lang="en-US" sz="1800" b="1" dirty="0">
                <a:solidFill>
                  <a:srgbClr val="0000FF"/>
                </a:solidFill>
              </a:rPr>
              <a:t>‒</a:t>
            </a:r>
            <a:r>
              <a:rPr lang="en-US" sz="1800" b="1" spc="86" dirty="0">
                <a:solidFill>
                  <a:srgbClr val="0000FF"/>
                </a:solidFill>
              </a:rPr>
              <a:t> </a:t>
            </a:r>
            <a:r>
              <a:rPr lang="en-US" sz="1800" b="1" dirty="0">
                <a:solidFill>
                  <a:srgbClr val="0000FF"/>
                </a:solidFill>
              </a:rPr>
              <a:t>Indirect</a:t>
            </a:r>
            <a:r>
              <a:rPr lang="en-US" sz="1800" b="1" spc="-34" dirty="0">
                <a:solidFill>
                  <a:srgbClr val="0000FF"/>
                </a:solidFill>
              </a:rPr>
              <a:t> </a:t>
            </a:r>
            <a:r>
              <a:rPr lang="en-US" sz="1800" b="1" dirty="0">
                <a:solidFill>
                  <a:srgbClr val="0000FF"/>
                </a:solidFill>
              </a:rPr>
              <a:t>Sources</a:t>
            </a:r>
            <a:r>
              <a:rPr lang="en-US" sz="1800" b="1" spc="-23" dirty="0">
                <a:solidFill>
                  <a:srgbClr val="0000FF"/>
                </a:solidFill>
              </a:rPr>
              <a:t> </a:t>
            </a:r>
            <a:r>
              <a:rPr lang="en-US" sz="1800" b="1" dirty="0">
                <a:solidFill>
                  <a:srgbClr val="0000FF"/>
                </a:solidFill>
              </a:rPr>
              <a:t>(Trapped</a:t>
            </a:r>
            <a:r>
              <a:rPr lang="en-US" sz="1800" b="1" spc="-38" dirty="0">
                <a:solidFill>
                  <a:srgbClr val="0000FF"/>
                </a:solidFill>
              </a:rPr>
              <a:t> </a:t>
            </a:r>
            <a:r>
              <a:rPr lang="en-US" sz="1800" b="1" spc="-8" dirty="0">
                <a:solidFill>
                  <a:srgbClr val="0000FF"/>
                </a:solidFill>
              </a:rPr>
              <a:t>Radiation)</a:t>
            </a:r>
            <a:endParaRPr lang="en-US" sz="1800" b="1" dirty="0"/>
          </a:p>
          <a:p>
            <a:pPr marL="182403" indent="-172878">
              <a:spcBef>
                <a:spcPts val="386"/>
              </a:spcBef>
              <a:buFont typeface="Arial"/>
              <a:buChar char="•"/>
              <a:tabLst>
                <a:tab pos="182403" algn="l"/>
              </a:tabLst>
            </a:pPr>
            <a:r>
              <a:rPr lang="en-US" sz="1800" b="1" dirty="0"/>
              <a:t>What</a:t>
            </a:r>
            <a:r>
              <a:rPr lang="en-US" sz="1800" b="1" spc="-23" dirty="0"/>
              <a:t> </a:t>
            </a:r>
            <a:r>
              <a:rPr lang="en-US" sz="1800" b="1" dirty="0"/>
              <a:t>role</a:t>
            </a:r>
            <a:r>
              <a:rPr lang="en-US" sz="1800" b="1" spc="-26" dirty="0"/>
              <a:t> </a:t>
            </a:r>
            <a:r>
              <a:rPr lang="en-US" sz="1800" b="1" dirty="0"/>
              <a:t>does</a:t>
            </a:r>
            <a:r>
              <a:rPr lang="en-US" sz="1800" b="1" spc="-15" dirty="0"/>
              <a:t> </a:t>
            </a:r>
            <a:r>
              <a:rPr lang="en-US" sz="1800" b="1" dirty="0"/>
              <a:t>the</a:t>
            </a:r>
            <a:r>
              <a:rPr lang="en-US" sz="1800" b="1" spc="-26" dirty="0"/>
              <a:t> </a:t>
            </a:r>
            <a:r>
              <a:rPr lang="en-US" sz="1800" b="1" dirty="0"/>
              <a:t>Sun</a:t>
            </a:r>
            <a:r>
              <a:rPr lang="en-US" sz="1800" b="1" spc="-26" dirty="0"/>
              <a:t> </a:t>
            </a:r>
            <a:r>
              <a:rPr lang="en-US" sz="1800" b="1" dirty="0"/>
              <a:t>play</a:t>
            </a:r>
            <a:r>
              <a:rPr lang="en-US" sz="1800" b="1" spc="-23" dirty="0"/>
              <a:t> </a:t>
            </a:r>
            <a:r>
              <a:rPr lang="en-US" sz="1800" b="1" dirty="0"/>
              <a:t>on</a:t>
            </a:r>
            <a:r>
              <a:rPr lang="en-US" sz="1800" b="1" spc="-26" dirty="0"/>
              <a:t> </a:t>
            </a:r>
            <a:r>
              <a:rPr lang="en-US" sz="1800" b="1" dirty="0"/>
              <a:t>these</a:t>
            </a:r>
            <a:r>
              <a:rPr lang="en-US" sz="1800" b="1" spc="-19" dirty="0"/>
              <a:t> </a:t>
            </a:r>
            <a:r>
              <a:rPr lang="en-US" sz="1800" b="1" spc="-8" dirty="0"/>
              <a:t>environments?</a:t>
            </a:r>
          </a:p>
          <a:p>
            <a:pPr marL="182403" indent="-172878">
              <a:spcBef>
                <a:spcPts val="386"/>
              </a:spcBef>
              <a:buFont typeface="Arial"/>
              <a:buChar char="•"/>
              <a:tabLst>
                <a:tab pos="182403" algn="l"/>
              </a:tabLst>
            </a:pPr>
            <a:r>
              <a:rPr lang="en-US" sz="1800" b="1" dirty="0"/>
              <a:t>Why</a:t>
            </a:r>
            <a:r>
              <a:rPr lang="en-US" sz="1800" b="1" spc="-26" dirty="0"/>
              <a:t> </a:t>
            </a:r>
            <a:r>
              <a:rPr lang="en-US" sz="1800" b="1" dirty="0"/>
              <a:t>do</a:t>
            </a:r>
            <a:r>
              <a:rPr lang="en-US" sz="1800" b="1" spc="-23" dirty="0"/>
              <a:t> </a:t>
            </a:r>
            <a:r>
              <a:rPr lang="en-US" sz="1800" b="1" dirty="0"/>
              <a:t>environments</a:t>
            </a:r>
            <a:r>
              <a:rPr lang="en-US" sz="1800" b="1" spc="-15" dirty="0"/>
              <a:t> </a:t>
            </a:r>
            <a:r>
              <a:rPr lang="en-US" sz="1800" b="1" spc="-8" dirty="0"/>
              <a:t>matter?</a:t>
            </a:r>
          </a:p>
          <a:p>
            <a:pPr marL="182403" indent="-172878">
              <a:spcBef>
                <a:spcPts val="386"/>
              </a:spcBef>
              <a:buFont typeface="Arial"/>
              <a:buChar char="•"/>
              <a:tabLst>
                <a:tab pos="182403" algn="l"/>
              </a:tabLst>
            </a:pPr>
            <a:r>
              <a:rPr lang="en-US" sz="1800" b="1" spc="-8" dirty="0"/>
              <a:t>Summary</a:t>
            </a:r>
          </a:p>
          <a:p>
            <a:pPr marL="181928" marR="162878" indent="-172878">
              <a:lnSpc>
                <a:spcPts val="1800"/>
              </a:lnSpc>
              <a:spcBef>
                <a:spcPts val="758"/>
              </a:spcBef>
              <a:buFont typeface="Arial"/>
              <a:buChar char="•"/>
              <a:tabLst>
                <a:tab pos="182880" algn="l"/>
              </a:tabLst>
            </a:pPr>
            <a:endParaRPr sz="1800" dirty="0">
              <a:latin typeface="Arial"/>
              <a:cs typeface="Arial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60AA4B43-2BAF-D2F8-EC86-0F9747C203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Section Topics/Outline</a:t>
            </a:r>
          </a:p>
        </p:txBody>
      </p:sp>
    </p:spTree>
    <p:extLst>
      <p:ext uri="{BB962C8B-B14F-4D97-AF65-F5344CB8AC3E}">
        <p14:creationId xmlns:p14="http://schemas.microsoft.com/office/powerpoint/2010/main" val="1636792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952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75"/>
              </a:spcBef>
            </a:pPr>
            <a:r>
              <a:rPr dirty="0"/>
              <a:t>The</a:t>
            </a:r>
            <a:r>
              <a:rPr spc="-26" dirty="0"/>
              <a:t> </a:t>
            </a:r>
            <a:r>
              <a:rPr dirty="0"/>
              <a:t>Natural</a:t>
            </a:r>
            <a:r>
              <a:rPr spc="-41" dirty="0"/>
              <a:t> </a:t>
            </a:r>
            <a:r>
              <a:rPr dirty="0"/>
              <a:t>Space</a:t>
            </a:r>
            <a:r>
              <a:rPr spc="-34" dirty="0"/>
              <a:t> </a:t>
            </a:r>
            <a:r>
              <a:rPr dirty="0"/>
              <a:t>Radiation</a:t>
            </a:r>
            <a:r>
              <a:rPr spc="-26" dirty="0"/>
              <a:t> </a:t>
            </a:r>
            <a:r>
              <a:rPr spc="-8" dirty="0"/>
              <a:t>Environment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49616" y="1203723"/>
            <a:ext cx="5845016" cy="3854291"/>
            <a:chOff x="2199487" y="1223963"/>
            <a:chExt cx="7793355" cy="513905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99487" y="1223963"/>
              <a:ext cx="7793024" cy="513873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741443" y="3892548"/>
              <a:ext cx="0" cy="1168400"/>
            </a:xfrm>
            <a:custGeom>
              <a:avLst/>
              <a:gdLst/>
              <a:ahLst/>
              <a:cxnLst/>
              <a:rect l="l" t="t" r="r" b="b"/>
              <a:pathLst>
                <a:path h="1168400">
                  <a:moveTo>
                    <a:pt x="0" y="1168399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6" name="object 6"/>
            <p:cNvSpPr/>
            <p:nvPr/>
          </p:nvSpPr>
          <p:spPr>
            <a:xfrm>
              <a:off x="7703348" y="382904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7" name="object 7"/>
            <p:cNvSpPr/>
            <p:nvPr/>
          </p:nvSpPr>
          <p:spPr>
            <a:xfrm>
              <a:off x="8503443" y="3816348"/>
              <a:ext cx="0" cy="1244600"/>
            </a:xfrm>
            <a:custGeom>
              <a:avLst/>
              <a:gdLst/>
              <a:ahLst/>
              <a:cxnLst/>
              <a:rect l="l" t="t" r="r" b="b"/>
              <a:pathLst>
                <a:path h="1244600">
                  <a:moveTo>
                    <a:pt x="0" y="1244599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8" name="object 8"/>
            <p:cNvSpPr/>
            <p:nvPr/>
          </p:nvSpPr>
          <p:spPr>
            <a:xfrm>
              <a:off x="8465348" y="375284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888112" y="4035968"/>
            <a:ext cx="2111216" cy="540854"/>
          </a:xfrm>
          <a:prstGeom prst="rect">
            <a:avLst/>
          </a:prstGeom>
        </p:spPr>
        <p:txBody>
          <a:bodyPr vert="horz" wrap="square" lIns="0" tIns="73343" rIns="0" bIns="0" rtlCol="0">
            <a:spAutoFit/>
          </a:bodyPr>
          <a:lstStyle/>
          <a:p>
            <a:pPr marL="2858" algn="ctr">
              <a:spcBef>
                <a:spcPts val="578"/>
              </a:spcBef>
            </a:pPr>
            <a:r>
              <a:rPr sz="1500" dirty="0">
                <a:solidFill>
                  <a:srgbClr val="FFFFFF"/>
                </a:solidFill>
                <a:latin typeface="Arial"/>
                <a:cs typeface="Arial"/>
              </a:rPr>
              <a:t>Trapped</a:t>
            </a:r>
            <a:r>
              <a:rPr sz="1500" spc="-3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8" dirty="0">
                <a:solidFill>
                  <a:srgbClr val="FFFFFF"/>
                </a:solidFill>
                <a:latin typeface="Arial"/>
                <a:cs typeface="Arial"/>
              </a:rPr>
              <a:t>Particles</a:t>
            </a:r>
            <a:endParaRPr sz="1500">
              <a:latin typeface="Arial"/>
              <a:cs typeface="Arial"/>
            </a:endParaRPr>
          </a:p>
          <a:p>
            <a:pPr algn="ctr">
              <a:spcBef>
                <a:spcPts val="398"/>
              </a:spcBef>
            </a:pPr>
            <a:r>
              <a:rPr sz="1200" dirty="0">
                <a:solidFill>
                  <a:srgbClr val="FFFF00"/>
                </a:solidFill>
                <a:latin typeface="Arial"/>
                <a:cs typeface="Arial"/>
              </a:rPr>
              <a:t>Protons,</a:t>
            </a:r>
            <a:r>
              <a:rPr sz="1200" spc="-26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00"/>
                </a:solidFill>
                <a:latin typeface="Arial"/>
                <a:cs typeface="Arial"/>
              </a:rPr>
              <a:t>Electrons,</a:t>
            </a:r>
            <a:r>
              <a:rPr sz="1200" spc="-23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00"/>
                </a:solidFill>
                <a:latin typeface="Arial"/>
                <a:cs typeface="Arial"/>
              </a:rPr>
              <a:t>Heavy</a:t>
            </a:r>
            <a:r>
              <a:rPr sz="1200" spc="-34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200" spc="-15" dirty="0">
                <a:solidFill>
                  <a:srgbClr val="FFFF00"/>
                </a:solidFill>
                <a:latin typeface="Arial"/>
                <a:cs typeface="Arial"/>
              </a:rPr>
              <a:t>Ions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45036" y="1478994"/>
            <a:ext cx="2583656" cy="2409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1500" dirty="0">
                <a:solidFill>
                  <a:srgbClr val="FFFFFF"/>
                </a:solidFill>
                <a:latin typeface="Arial"/>
                <a:cs typeface="Arial"/>
              </a:rPr>
              <a:t>Galactic</a:t>
            </a:r>
            <a:r>
              <a:rPr sz="1500" spc="-4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FFFFF"/>
                </a:solidFill>
                <a:latin typeface="Arial"/>
                <a:cs typeface="Arial"/>
              </a:rPr>
              <a:t>Cosmic</a:t>
            </a:r>
            <a:r>
              <a:rPr sz="1500" spc="-3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FFFFFF"/>
                </a:solidFill>
                <a:latin typeface="Arial"/>
                <a:cs typeface="Arial"/>
              </a:rPr>
              <a:t>Rays</a:t>
            </a:r>
            <a:r>
              <a:rPr sz="15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8" dirty="0">
                <a:solidFill>
                  <a:srgbClr val="FFFFFF"/>
                </a:solidFill>
                <a:latin typeface="Arial"/>
                <a:cs typeface="Arial"/>
              </a:rPr>
              <a:t>(GCRs)</a:t>
            </a:r>
            <a:endParaRPr sz="15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54346" y="3710012"/>
            <a:ext cx="1174909" cy="605133"/>
          </a:xfrm>
          <a:prstGeom prst="rect">
            <a:avLst/>
          </a:prstGeom>
        </p:spPr>
        <p:txBody>
          <a:bodyPr vert="horz" wrap="square" lIns="0" tIns="55721" rIns="0" bIns="0" rtlCol="0">
            <a:spAutoFit/>
          </a:bodyPr>
          <a:lstStyle/>
          <a:p>
            <a:pPr marL="523875" marR="3810" indent="-514826">
              <a:lnSpc>
                <a:spcPct val="80000"/>
              </a:lnSpc>
              <a:spcBef>
                <a:spcPts val="439"/>
              </a:spcBef>
            </a:pPr>
            <a:r>
              <a:rPr sz="1500" dirty="0">
                <a:solidFill>
                  <a:srgbClr val="FFFFFF"/>
                </a:solidFill>
                <a:latin typeface="Arial"/>
                <a:cs typeface="Arial"/>
              </a:rPr>
              <a:t>Solar</a:t>
            </a:r>
            <a:r>
              <a:rPr sz="1500" spc="-4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8" dirty="0">
                <a:solidFill>
                  <a:srgbClr val="FFFFFF"/>
                </a:solidFill>
                <a:latin typeface="Arial"/>
                <a:cs typeface="Arial"/>
              </a:rPr>
              <a:t>Protons </a:t>
            </a:r>
            <a:r>
              <a:rPr sz="1500" spc="-38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endParaRPr sz="1500">
              <a:latin typeface="Arial"/>
              <a:cs typeface="Arial"/>
            </a:endParaRPr>
          </a:p>
          <a:p>
            <a:pPr marL="51435">
              <a:lnSpc>
                <a:spcPts val="1440"/>
              </a:lnSpc>
            </a:pPr>
            <a:r>
              <a:rPr sz="1500" dirty="0">
                <a:solidFill>
                  <a:srgbClr val="FFFFFF"/>
                </a:solidFill>
                <a:latin typeface="Arial"/>
                <a:cs typeface="Arial"/>
              </a:rPr>
              <a:t>Heavier</a:t>
            </a:r>
            <a:r>
              <a:rPr sz="1500" spc="-4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Arial"/>
                <a:cs typeface="Arial"/>
              </a:rPr>
              <a:t>Ions</a:t>
            </a:r>
            <a:endParaRPr sz="15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06315" y="5089938"/>
            <a:ext cx="7530941" cy="4462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069"/>
              </a:lnSpc>
            </a:pPr>
            <a:r>
              <a:rPr sz="1100" b="1" dirty="0">
                <a:latin typeface="Arial"/>
                <a:cs typeface="Arial"/>
              </a:rPr>
              <a:t>Depiction</a:t>
            </a:r>
            <a:r>
              <a:rPr sz="1100" b="1" spc="-19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of</a:t>
            </a:r>
            <a:r>
              <a:rPr sz="1100" b="1" spc="-11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the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natural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space</a:t>
            </a:r>
            <a:r>
              <a:rPr sz="1100" b="1" spc="-38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radiation</a:t>
            </a:r>
            <a:r>
              <a:rPr sz="1100" b="1" spc="-19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environment</a:t>
            </a:r>
            <a:r>
              <a:rPr sz="1100" b="1" spc="-11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local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to</a:t>
            </a:r>
            <a:r>
              <a:rPr sz="1100" b="1" spc="-11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the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Earth</a:t>
            </a:r>
            <a:r>
              <a:rPr sz="1100" b="1" spc="-26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modified</a:t>
            </a:r>
            <a:r>
              <a:rPr sz="1100" b="1" spc="-11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from</a:t>
            </a:r>
            <a:r>
              <a:rPr sz="1100" b="1" spc="-19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K.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Endo,</a:t>
            </a:r>
            <a:r>
              <a:rPr sz="1100" b="1" spc="-8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Nikkei</a:t>
            </a:r>
            <a:r>
              <a:rPr sz="1100" b="1" spc="-34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Science</a:t>
            </a:r>
            <a:r>
              <a:rPr sz="1100" b="1" spc="-38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Inc.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of</a:t>
            </a:r>
            <a:r>
              <a:rPr sz="1100" b="1" spc="-11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Japan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and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J.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L.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spc="-8" dirty="0">
                <a:latin typeface="Arial"/>
                <a:cs typeface="Arial"/>
              </a:rPr>
              <a:t>Barth</a:t>
            </a:r>
            <a:endParaRPr sz="1100" dirty="0">
              <a:latin typeface="Arial"/>
              <a:cs typeface="Arial"/>
            </a:endParaRPr>
          </a:p>
          <a:p>
            <a:pPr algn="ctr">
              <a:spcBef>
                <a:spcPts val="244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DISTRIBUTION</a:t>
            </a:r>
            <a:r>
              <a:rPr sz="9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3" dirty="0">
                <a:solidFill>
                  <a:srgbClr val="FFFFFF"/>
                </a:solidFill>
                <a:latin typeface="Arial"/>
                <a:cs typeface="Arial"/>
              </a:rPr>
              <a:t>STATEMENT</a:t>
            </a:r>
            <a:r>
              <a:rPr sz="900" b="1" spc="-4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A.</a:t>
            </a:r>
            <a:r>
              <a:rPr sz="900" b="1" spc="-3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Approved</a:t>
            </a:r>
            <a:r>
              <a:rPr sz="900" b="1" spc="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900" b="1" spc="-3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public</a:t>
            </a:r>
            <a:r>
              <a:rPr sz="900" b="1" spc="-2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release;</a:t>
            </a:r>
            <a:r>
              <a:rPr sz="9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distribution</a:t>
            </a:r>
            <a:r>
              <a:rPr sz="900" b="1" spc="-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900" b="1" spc="-3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8" dirty="0">
                <a:solidFill>
                  <a:srgbClr val="FFFFFF"/>
                </a:solidFill>
                <a:latin typeface="Arial"/>
                <a:cs typeface="Arial"/>
              </a:rPr>
              <a:t>unlimited.</a:t>
            </a:r>
            <a:endParaRPr sz="9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2894" y="1322207"/>
            <a:ext cx="8704421" cy="3689509"/>
            <a:chOff x="257191" y="1381942"/>
            <a:chExt cx="11605895" cy="491934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012" y="1771650"/>
              <a:ext cx="7020284" cy="452956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85825" y="3080505"/>
              <a:ext cx="4336415" cy="1727835"/>
            </a:xfrm>
            <a:custGeom>
              <a:avLst/>
              <a:gdLst/>
              <a:ahLst/>
              <a:cxnLst/>
              <a:rect l="l" t="t" r="r" b="b"/>
              <a:pathLst>
                <a:path w="4336415" h="1727835">
                  <a:moveTo>
                    <a:pt x="3472230" y="0"/>
                  </a:moveTo>
                  <a:lnTo>
                    <a:pt x="3472230" y="431926"/>
                  </a:lnTo>
                  <a:lnTo>
                    <a:pt x="0" y="431926"/>
                  </a:lnTo>
                  <a:lnTo>
                    <a:pt x="0" y="1295780"/>
                  </a:lnTo>
                  <a:lnTo>
                    <a:pt x="3472230" y="1295780"/>
                  </a:lnTo>
                  <a:lnTo>
                    <a:pt x="3472230" y="1727708"/>
                  </a:lnTo>
                  <a:lnTo>
                    <a:pt x="4336072" y="863853"/>
                  </a:lnTo>
                  <a:lnTo>
                    <a:pt x="3472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5" name="object 5"/>
            <p:cNvSpPr/>
            <p:nvPr/>
          </p:nvSpPr>
          <p:spPr>
            <a:xfrm>
              <a:off x="885825" y="3080505"/>
              <a:ext cx="4336415" cy="1727835"/>
            </a:xfrm>
            <a:custGeom>
              <a:avLst/>
              <a:gdLst/>
              <a:ahLst/>
              <a:cxnLst/>
              <a:rect l="l" t="t" r="r" b="b"/>
              <a:pathLst>
                <a:path w="4336415" h="1727835">
                  <a:moveTo>
                    <a:pt x="0" y="431926"/>
                  </a:moveTo>
                  <a:lnTo>
                    <a:pt x="3472230" y="431926"/>
                  </a:lnTo>
                  <a:lnTo>
                    <a:pt x="3472230" y="0"/>
                  </a:lnTo>
                  <a:lnTo>
                    <a:pt x="4336072" y="863853"/>
                  </a:lnTo>
                  <a:lnTo>
                    <a:pt x="3472230" y="1727708"/>
                  </a:lnTo>
                  <a:lnTo>
                    <a:pt x="3472230" y="1295780"/>
                  </a:lnTo>
                  <a:lnTo>
                    <a:pt x="0" y="1295780"/>
                  </a:lnTo>
                  <a:lnTo>
                    <a:pt x="0" y="431926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21078" y="1777403"/>
              <a:ext cx="3531917" cy="32416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316302" y="1772640"/>
              <a:ext cx="3542029" cy="3251200"/>
            </a:xfrm>
            <a:custGeom>
              <a:avLst/>
              <a:gdLst/>
              <a:ahLst/>
              <a:cxnLst/>
              <a:rect l="l" t="t" r="r" b="b"/>
              <a:pathLst>
                <a:path w="3542029" h="3251200">
                  <a:moveTo>
                    <a:pt x="0" y="0"/>
                  </a:moveTo>
                  <a:lnTo>
                    <a:pt x="3541458" y="0"/>
                  </a:lnTo>
                  <a:lnTo>
                    <a:pt x="3541458" y="3251187"/>
                  </a:lnTo>
                  <a:lnTo>
                    <a:pt x="0" y="325118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8" name="object 8"/>
            <p:cNvSpPr/>
            <p:nvPr/>
          </p:nvSpPr>
          <p:spPr>
            <a:xfrm>
              <a:off x="295291" y="1420042"/>
              <a:ext cx="4736465" cy="2524760"/>
            </a:xfrm>
            <a:custGeom>
              <a:avLst/>
              <a:gdLst/>
              <a:ahLst/>
              <a:cxnLst/>
              <a:rect l="l" t="t" r="r" b="b"/>
              <a:pathLst>
                <a:path w="4736465" h="2524760">
                  <a:moveTo>
                    <a:pt x="4736109" y="0"/>
                  </a:moveTo>
                  <a:lnTo>
                    <a:pt x="0" y="0"/>
                  </a:lnTo>
                  <a:lnTo>
                    <a:pt x="0" y="2524315"/>
                  </a:lnTo>
                  <a:lnTo>
                    <a:pt x="400037" y="2524315"/>
                  </a:lnTo>
                </a:path>
              </a:pathLst>
            </a:custGeom>
            <a:ln w="762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9" name="object 9"/>
            <p:cNvSpPr/>
            <p:nvPr/>
          </p:nvSpPr>
          <p:spPr>
            <a:xfrm>
              <a:off x="657219" y="3830049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2" y="0"/>
                  </a:moveTo>
                  <a:lnTo>
                    <a:pt x="0" y="228599"/>
                  </a:lnTo>
                  <a:lnTo>
                    <a:pt x="228600" y="11431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880627" y="1174379"/>
            <a:ext cx="1753553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2100" b="1" dirty="0">
                <a:latin typeface="Arial"/>
                <a:cs typeface="Arial"/>
              </a:rPr>
              <a:t>Direct</a:t>
            </a:r>
            <a:r>
              <a:rPr sz="2100" b="1" spc="-45" dirty="0">
                <a:latin typeface="Arial"/>
                <a:cs typeface="Arial"/>
              </a:rPr>
              <a:t> </a:t>
            </a:r>
            <a:r>
              <a:rPr sz="2100" b="1" spc="-8" dirty="0">
                <a:latin typeface="Arial"/>
                <a:cs typeface="Arial"/>
              </a:rPr>
              <a:t>Source</a:t>
            </a:r>
            <a:endParaRPr sz="2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7857" y="3032600"/>
            <a:ext cx="595789" cy="378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b="1" spc="-19" dirty="0">
                <a:latin typeface="Arial"/>
                <a:cs typeface="Arial"/>
              </a:rPr>
              <a:t>Sun</a:t>
            </a:r>
            <a:endParaRPr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02341" y="3034175"/>
            <a:ext cx="696754" cy="382797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31445" marR="127159" algn="ctr">
              <a:lnSpc>
                <a:spcPts val="863"/>
              </a:lnSpc>
              <a:spcBef>
                <a:spcPts val="285"/>
              </a:spcBef>
            </a:pPr>
            <a:r>
              <a:rPr sz="900" b="1" spc="-8" dirty="0">
                <a:latin typeface="Arial"/>
                <a:cs typeface="Arial"/>
              </a:rPr>
              <a:t>Protons </a:t>
            </a:r>
            <a:r>
              <a:rPr sz="900" b="1" spc="-38" dirty="0">
                <a:latin typeface="Arial"/>
                <a:cs typeface="Arial"/>
              </a:rPr>
              <a:t>&amp;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ts val="874"/>
              </a:lnSpc>
            </a:pPr>
            <a:r>
              <a:rPr sz="900" b="1" dirty="0">
                <a:latin typeface="Arial"/>
                <a:cs typeface="Arial"/>
              </a:rPr>
              <a:t>Heavier</a:t>
            </a:r>
            <a:r>
              <a:rPr sz="900" b="1" spc="-45" dirty="0">
                <a:latin typeface="Arial"/>
                <a:cs typeface="Arial"/>
              </a:rPr>
              <a:t> </a:t>
            </a:r>
            <a:r>
              <a:rPr sz="900" b="1" spc="-15" dirty="0">
                <a:latin typeface="Arial"/>
                <a:cs typeface="Arial"/>
              </a:rPr>
              <a:t>Ions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426236" y="3156707"/>
            <a:ext cx="1513523" cy="172878"/>
            <a:chOff x="1901648" y="3827943"/>
            <a:chExt cx="2018030" cy="230504"/>
          </a:xfrm>
        </p:grpSpPr>
        <p:sp>
          <p:nvSpPr>
            <p:cNvPr id="15" name="object 15"/>
            <p:cNvSpPr/>
            <p:nvPr/>
          </p:nvSpPr>
          <p:spPr>
            <a:xfrm>
              <a:off x="1939748" y="3941926"/>
              <a:ext cx="181610" cy="1905"/>
            </a:xfrm>
            <a:custGeom>
              <a:avLst/>
              <a:gdLst/>
              <a:ahLst/>
              <a:cxnLst/>
              <a:rect l="l" t="t" r="r" b="b"/>
              <a:pathLst>
                <a:path w="181610" h="1904">
                  <a:moveTo>
                    <a:pt x="0" y="1409"/>
                  </a:moveTo>
                  <a:lnTo>
                    <a:pt x="181267" y="0"/>
                  </a:lnTo>
                </a:path>
              </a:pathLst>
            </a:custGeom>
            <a:ln w="762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2082018" y="3827943"/>
              <a:ext cx="229870" cy="228600"/>
            </a:xfrm>
            <a:custGeom>
              <a:avLst/>
              <a:gdLst/>
              <a:ahLst/>
              <a:cxnLst/>
              <a:rect l="l" t="t" r="r" b="b"/>
              <a:pathLst>
                <a:path w="229869" h="228600">
                  <a:moveTo>
                    <a:pt x="0" y="0"/>
                  </a:moveTo>
                  <a:lnTo>
                    <a:pt x="1790" y="228587"/>
                  </a:lnTo>
                  <a:lnTo>
                    <a:pt x="229488" y="1125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7" name="object 17"/>
            <p:cNvSpPr/>
            <p:nvPr/>
          </p:nvSpPr>
          <p:spPr>
            <a:xfrm>
              <a:off x="3547427" y="3943534"/>
              <a:ext cx="181610" cy="1905"/>
            </a:xfrm>
            <a:custGeom>
              <a:avLst/>
              <a:gdLst/>
              <a:ahLst/>
              <a:cxnLst/>
              <a:rect l="l" t="t" r="r" b="b"/>
              <a:pathLst>
                <a:path w="181610" h="1904">
                  <a:moveTo>
                    <a:pt x="0" y="1409"/>
                  </a:moveTo>
                  <a:lnTo>
                    <a:pt x="181267" y="0"/>
                  </a:lnTo>
                </a:path>
              </a:pathLst>
            </a:custGeom>
            <a:ln w="762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3689696" y="3829551"/>
              <a:ext cx="229870" cy="228600"/>
            </a:xfrm>
            <a:custGeom>
              <a:avLst/>
              <a:gdLst/>
              <a:ahLst/>
              <a:cxnLst/>
              <a:rect l="l" t="t" r="r" b="b"/>
              <a:pathLst>
                <a:path w="229870" h="228600">
                  <a:moveTo>
                    <a:pt x="0" y="0"/>
                  </a:moveTo>
                  <a:lnTo>
                    <a:pt x="1790" y="228587"/>
                  </a:lnTo>
                  <a:lnTo>
                    <a:pt x="229489" y="1125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740004" y="2926218"/>
            <a:ext cx="891064" cy="509915"/>
          </a:xfrm>
          <a:prstGeom prst="rect">
            <a:avLst/>
          </a:prstGeom>
        </p:spPr>
        <p:txBody>
          <a:bodyPr vert="horz" wrap="square" lIns="0" tIns="75724" rIns="0" bIns="0" rtlCol="0">
            <a:spAutoFit/>
          </a:bodyPr>
          <a:lstStyle/>
          <a:p>
            <a:pPr marL="1429" algn="ctr">
              <a:spcBef>
                <a:spcPts val="596"/>
              </a:spcBef>
            </a:pPr>
            <a:r>
              <a:rPr sz="1200" b="1" spc="-15" dirty="0">
                <a:latin typeface="Arial"/>
                <a:cs typeface="Arial"/>
              </a:rPr>
              <a:t>CMEs</a:t>
            </a:r>
            <a:endParaRPr sz="1200">
              <a:latin typeface="Arial"/>
              <a:cs typeface="Arial"/>
            </a:endParaRPr>
          </a:p>
          <a:p>
            <a:pPr algn="ctr">
              <a:spcBef>
                <a:spcPts val="521"/>
              </a:spcBef>
            </a:pPr>
            <a:r>
              <a:rPr sz="1200" b="1" dirty="0">
                <a:latin typeface="Arial"/>
                <a:cs typeface="Arial"/>
              </a:rPr>
              <a:t>Solar</a:t>
            </a:r>
            <a:r>
              <a:rPr sz="1200" b="1" spc="-26" dirty="0">
                <a:latin typeface="Arial"/>
                <a:cs typeface="Arial"/>
              </a:rPr>
              <a:t> </a:t>
            </a:r>
            <a:r>
              <a:rPr sz="1200" b="1" spc="-8" dirty="0">
                <a:latin typeface="Arial"/>
                <a:cs typeface="Arial"/>
              </a:rPr>
              <a:t>Flares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993791" y="1613959"/>
            <a:ext cx="3710464" cy="1151573"/>
            <a:chOff x="5325054" y="1770945"/>
            <a:chExt cx="4947285" cy="1535430"/>
          </a:xfrm>
        </p:grpSpPr>
        <p:sp>
          <p:nvSpPr>
            <p:cNvPr id="21" name="object 21"/>
            <p:cNvSpPr/>
            <p:nvPr/>
          </p:nvSpPr>
          <p:spPr>
            <a:xfrm>
              <a:off x="5329816" y="1775707"/>
              <a:ext cx="4937760" cy="1525905"/>
            </a:xfrm>
            <a:custGeom>
              <a:avLst/>
              <a:gdLst/>
              <a:ahLst/>
              <a:cxnLst/>
              <a:rect l="l" t="t" r="r" b="b"/>
              <a:pathLst>
                <a:path w="4937759" h="1525904">
                  <a:moveTo>
                    <a:pt x="4937760" y="0"/>
                  </a:moveTo>
                  <a:lnTo>
                    <a:pt x="280746" y="0"/>
                  </a:lnTo>
                  <a:lnTo>
                    <a:pt x="280746" y="938415"/>
                  </a:lnTo>
                  <a:lnTo>
                    <a:pt x="0" y="938415"/>
                  </a:lnTo>
                  <a:lnTo>
                    <a:pt x="662177" y="1525752"/>
                  </a:lnTo>
                  <a:lnTo>
                    <a:pt x="1324356" y="938415"/>
                  </a:lnTo>
                  <a:lnTo>
                    <a:pt x="1043622" y="938415"/>
                  </a:lnTo>
                  <a:lnTo>
                    <a:pt x="1043622" y="762876"/>
                  </a:lnTo>
                  <a:lnTo>
                    <a:pt x="4937760" y="762876"/>
                  </a:lnTo>
                  <a:lnTo>
                    <a:pt x="49377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5329816" y="1775707"/>
              <a:ext cx="4937760" cy="1525905"/>
            </a:xfrm>
            <a:custGeom>
              <a:avLst/>
              <a:gdLst/>
              <a:ahLst/>
              <a:cxnLst/>
              <a:rect l="l" t="t" r="r" b="b"/>
              <a:pathLst>
                <a:path w="4937759" h="1525904">
                  <a:moveTo>
                    <a:pt x="4937760" y="762876"/>
                  </a:moveTo>
                  <a:lnTo>
                    <a:pt x="1043622" y="762876"/>
                  </a:lnTo>
                  <a:lnTo>
                    <a:pt x="1043622" y="938415"/>
                  </a:lnTo>
                  <a:lnTo>
                    <a:pt x="1324356" y="938415"/>
                  </a:lnTo>
                  <a:lnTo>
                    <a:pt x="662177" y="1525752"/>
                  </a:lnTo>
                  <a:lnTo>
                    <a:pt x="0" y="938415"/>
                  </a:lnTo>
                  <a:lnTo>
                    <a:pt x="280746" y="938415"/>
                  </a:lnTo>
                  <a:lnTo>
                    <a:pt x="280746" y="0"/>
                  </a:lnTo>
                  <a:lnTo>
                    <a:pt x="4937760" y="0"/>
                  </a:lnTo>
                  <a:lnTo>
                    <a:pt x="4937760" y="76287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899033" y="1749326"/>
            <a:ext cx="441008" cy="1938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1200" b="1" spc="-15" dirty="0">
                <a:latin typeface="Arial"/>
                <a:cs typeface="Arial"/>
              </a:rPr>
              <a:t>GCRs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817148" y="1689836"/>
            <a:ext cx="1394936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2100" b="1" spc="-8" dirty="0">
                <a:latin typeface="Arial"/>
                <a:cs typeface="Arial"/>
              </a:rPr>
              <a:t>Supernova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357697" y="1769215"/>
            <a:ext cx="412909" cy="171450"/>
            <a:chOff x="7143596" y="1977953"/>
            <a:chExt cx="550545" cy="228600"/>
          </a:xfrm>
        </p:grpSpPr>
        <p:sp>
          <p:nvSpPr>
            <p:cNvPr id="26" name="object 26"/>
            <p:cNvSpPr/>
            <p:nvPr/>
          </p:nvSpPr>
          <p:spPr>
            <a:xfrm>
              <a:off x="7334106" y="2092264"/>
              <a:ext cx="321945" cy="0"/>
            </a:xfrm>
            <a:custGeom>
              <a:avLst/>
              <a:gdLst/>
              <a:ahLst/>
              <a:cxnLst/>
              <a:rect l="l" t="t" r="r" b="b"/>
              <a:pathLst>
                <a:path w="321945">
                  <a:moveTo>
                    <a:pt x="321792" y="0"/>
                  </a:moveTo>
                  <a:lnTo>
                    <a:pt x="0" y="0"/>
                  </a:lnTo>
                </a:path>
              </a:pathLst>
            </a:custGeom>
            <a:ln w="762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27" name="object 27"/>
            <p:cNvSpPr/>
            <p:nvPr/>
          </p:nvSpPr>
          <p:spPr>
            <a:xfrm>
              <a:off x="7143596" y="1977953"/>
              <a:ext cx="229235" cy="228600"/>
            </a:xfrm>
            <a:custGeom>
              <a:avLst/>
              <a:gdLst/>
              <a:ahLst/>
              <a:cxnLst/>
              <a:rect l="l" t="t" r="r" b="b"/>
              <a:pathLst>
                <a:path w="229234" h="228600">
                  <a:moveTo>
                    <a:pt x="228600" y="0"/>
                  </a:moveTo>
                  <a:lnTo>
                    <a:pt x="0" y="114312"/>
                  </a:lnTo>
                  <a:lnTo>
                    <a:pt x="228612" y="2286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276180" y="2147799"/>
            <a:ext cx="450533" cy="480227"/>
          </a:xfrm>
          <a:prstGeom prst="rect">
            <a:avLst/>
          </a:prstGeom>
        </p:spPr>
        <p:txBody>
          <a:bodyPr vert="horz" wrap="square" lIns="0" tIns="36671" rIns="0" bIns="0" rtlCol="0">
            <a:spAutoFit/>
          </a:bodyPr>
          <a:lstStyle/>
          <a:p>
            <a:pPr marL="9049" marR="3810" algn="ctr">
              <a:lnSpc>
                <a:spcPct val="80000"/>
              </a:lnSpc>
              <a:spcBef>
                <a:spcPts val="289"/>
              </a:spcBef>
            </a:pPr>
            <a:r>
              <a:rPr sz="900" b="1" spc="-8" dirty="0">
                <a:latin typeface="Arial"/>
                <a:cs typeface="Arial"/>
              </a:rPr>
              <a:t>Protons </a:t>
            </a:r>
            <a:r>
              <a:rPr sz="900" b="1" spc="-38" dirty="0">
                <a:latin typeface="Arial"/>
                <a:cs typeface="Arial"/>
              </a:rPr>
              <a:t>&amp; </a:t>
            </a:r>
            <a:r>
              <a:rPr sz="900" b="1" spc="-8" dirty="0">
                <a:latin typeface="Arial"/>
                <a:cs typeface="Arial"/>
              </a:rPr>
              <a:t>Heavier </a:t>
            </a:r>
            <a:r>
              <a:rPr sz="900" b="1" spc="-15" dirty="0">
                <a:latin typeface="Arial"/>
                <a:cs typeface="Arial"/>
              </a:rPr>
              <a:t>Ions</a:t>
            </a:r>
            <a:endParaRPr sz="9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222790" y="4417623"/>
            <a:ext cx="2305050" cy="378469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73343" marR="3810" indent="-64294">
              <a:spcBef>
                <a:spcPts val="71"/>
              </a:spcBef>
            </a:pPr>
            <a:r>
              <a:rPr sz="1200" b="1" dirty="0">
                <a:latin typeface="Arial"/>
                <a:cs typeface="Arial"/>
              </a:rPr>
              <a:t>Coronal</a:t>
            </a:r>
            <a:r>
              <a:rPr sz="1200" b="1" spc="-23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Mass</a:t>
            </a:r>
            <a:r>
              <a:rPr sz="1200" b="1" spc="-38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Ejections</a:t>
            </a:r>
            <a:r>
              <a:rPr sz="1200" b="1" spc="-11" dirty="0">
                <a:latin typeface="Arial"/>
                <a:cs typeface="Arial"/>
              </a:rPr>
              <a:t> </a:t>
            </a:r>
            <a:r>
              <a:rPr sz="1200" b="1" spc="-8" dirty="0">
                <a:latin typeface="Arial"/>
                <a:cs typeface="Arial"/>
              </a:rPr>
              <a:t>(CMEs) </a:t>
            </a:r>
            <a:r>
              <a:rPr sz="1200" b="1" dirty="0">
                <a:latin typeface="Arial"/>
                <a:cs typeface="Arial"/>
              </a:rPr>
              <a:t>Galactic</a:t>
            </a:r>
            <a:r>
              <a:rPr sz="1200" b="1" spc="-23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Cosmic</a:t>
            </a:r>
            <a:r>
              <a:rPr sz="1200" b="1" spc="-34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Rays</a:t>
            </a:r>
            <a:r>
              <a:rPr sz="1200" b="1" spc="-19" dirty="0">
                <a:latin typeface="Arial"/>
                <a:cs typeface="Arial"/>
              </a:rPr>
              <a:t> </a:t>
            </a:r>
            <a:r>
              <a:rPr sz="1200" b="1" spc="-8" dirty="0">
                <a:latin typeface="Arial"/>
                <a:cs typeface="Arial"/>
              </a:rPr>
              <a:t>(GCRs)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419028" y="1322208"/>
            <a:ext cx="3163253" cy="799148"/>
            <a:chOff x="5892038" y="1381944"/>
            <a:chExt cx="4217670" cy="1065530"/>
          </a:xfrm>
        </p:grpSpPr>
        <p:sp>
          <p:nvSpPr>
            <p:cNvPr id="31" name="object 31"/>
            <p:cNvSpPr/>
            <p:nvPr/>
          </p:nvSpPr>
          <p:spPr>
            <a:xfrm>
              <a:off x="6005818" y="2084337"/>
              <a:ext cx="460375" cy="172720"/>
            </a:xfrm>
            <a:custGeom>
              <a:avLst/>
              <a:gdLst/>
              <a:ahLst/>
              <a:cxnLst/>
              <a:rect l="l" t="t" r="r" b="b"/>
              <a:pathLst>
                <a:path w="460375" h="172719">
                  <a:moveTo>
                    <a:pt x="459790" y="0"/>
                  </a:moveTo>
                  <a:lnTo>
                    <a:pt x="0" y="0"/>
                  </a:lnTo>
                  <a:lnTo>
                    <a:pt x="0" y="172313"/>
                  </a:lnTo>
                </a:path>
              </a:pathLst>
            </a:custGeom>
            <a:ln w="762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32" name="object 32"/>
            <p:cNvSpPr/>
            <p:nvPr/>
          </p:nvSpPr>
          <p:spPr>
            <a:xfrm>
              <a:off x="5892038" y="2217004"/>
              <a:ext cx="228600" cy="230504"/>
            </a:xfrm>
            <a:custGeom>
              <a:avLst/>
              <a:gdLst/>
              <a:ahLst/>
              <a:cxnLst/>
              <a:rect l="l" t="t" r="r" b="b"/>
              <a:pathLst>
                <a:path w="228600" h="230505">
                  <a:moveTo>
                    <a:pt x="0" y="0"/>
                  </a:moveTo>
                  <a:lnTo>
                    <a:pt x="111188" y="230124"/>
                  </a:lnTo>
                  <a:lnTo>
                    <a:pt x="228574" y="30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33" name="object 33"/>
            <p:cNvSpPr/>
            <p:nvPr/>
          </p:nvSpPr>
          <p:spPr>
            <a:xfrm>
              <a:off x="7655899" y="1420044"/>
              <a:ext cx="2415540" cy="687705"/>
            </a:xfrm>
            <a:custGeom>
              <a:avLst/>
              <a:gdLst/>
              <a:ahLst/>
              <a:cxnLst/>
              <a:rect l="l" t="t" r="r" b="b"/>
              <a:pathLst>
                <a:path w="2415540" h="687705">
                  <a:moveTo>
                    <a:pt x="0" y="0"/>
                  </a:moveTo>
                  <a:lnTo>
                    <a:pt x="2415298" y="0"/>
                  </a:lnTo>
                  <a:lnTo>
                    <a:pt x="2415298" y="687273"/>
                  </a:lnTo>
                  <a:lnTo>
                    <a:pt x="2253361" y="687273"/>
                  </a:lnTo>
                </a:path>
              </a:pathLst>
            </a:custGeom>
            <a:ln w="762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34" name="object 34"/>
            <p:cNvSpPr/>
            <p:nvPr/>
          </p:nvSpPr>
          <p:spPr>
            <a:xfrm>
              <a:off x="9718765" y="1993009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587" y="0"/>
                  </a:moveTo>
                  <a:lnTo>
                    <a:pt x="0" y="114312"/>
                  </a:lnTo>
                  <a:lnTo>
                    <a:pt x="228600" y="228600"/>
                  </a:lnTo>
                  <a:lnTo>
                    <a:pt x="22858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39" name="object 14">
            <a:extLst>
              <a:ext uri="{FF2B5EF4-FFF2-40B4-BE49-F238E27FC236}">
                <a16:creationId xmlns:a16="http://schemas.microsoft.com/office/drawing/2014/main" id="{165D22EE-C6EE-839E-5A46-1D1B7D3BEB3C}"/>
              </a:ext>
            </a:extLst>
          </p:cNvPr>
          <p:cNvSpPr txBox="1"/>
          <p:nvPr/>
        </p:nvSpPr>
        <p:spPr>
          <a:xfrm>
            <a:off x="806315" y="5089938"/>
            <a:ext cx="7530941" cy="4462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069"/>
              </a:lnSpc>
            </a:pPr>
            <a:r>
              <a:rPr sz="1100" b="1" dirty="0">
                <a:latin typeface="Arial"/>
                <a:cs typeface="Arial"/>
              </a:rPr>
              <a:t>Depiction</a:t>
            </a:r>
            <a:r>
              <a:rPr sz="1100" b="1" spc="-19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of</a:t>
            </a:r>
            <a:r>
              <a:rPr sz="1100" b="1" spc="-11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the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natural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space</a:t>
            </a:r>
            <a:r>
              <a:rPr sz="1100" b="1" spc="-38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radiation</a:t>
            </a:r>
            <a:r>
              <a:rPr sz="1100" b="1" spc="-19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environment</a:t>
            </a:r>
            <a:r>
              <a:rPr sz="1100" b="1" spc="-11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local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to</a:t>
            </a:r>
            <a:r>
              <a:rPr sz="1100" b="1" spc="-11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the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Earth</a:t>
            </a:r>
            <a:r>
              <a:rPr sz="1100" b="1" spc="-26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modified</a:t>
            </a:r>
            <a:r>
              <a:rPr sz="1100" b="1" spc="-11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from</a:t>
            </a:r>
            <a:r>
              <a:rPr sz="1100" b="1" spc="-19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K.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Endo,</a:t>
            </a:r>
            <a:r>
              <a:rPr sz="1100" b="1" spc="-8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Nikkei</a:t>
            </a:r>
            <a:r>
              <a:rPr sz="1100" b="1" spc="-34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Science</a:t>
            </a:r>
            <a:r>
              <a:rPr sz="1100" b="1" spc="-38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Inc.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of</a:t>
            </a:r>
            <a:r>
              <a:rPr sz="1100" b="1" spc="-11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Japan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and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J.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L.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spc="-8" dirty="0">
                <a:latin typeface="Arial"/>
                <a:cs typeface="Arial"/>
              </a:rPr>
              <a:t>Barth</a:t>
            </a:r>
            <a:endParaRPr sz="1100" dirty="0">
              <a:latin typeface="Arial"/>
              <a:cs typeface="Arial"/>
            </a:endParaRPr>
          </a:p>
          <a:p>
            <a:pPr algn="ctr">
              <a:spcBef>
                <a:spcPts val="244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DISTRIBUTION</a:t>
            </a:r>
            <a:r>
              <a:rPr sz="9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3" dirty="0">
                <a:solidFill>
                  <a:srgbClr val="FFFFFF"/>
                </a:solidFill>
                <a:latin typeface="Arial"/>
                <a:cs typeface="Arial"/>
              </a:rPr>
              <a:t>STATEMENT</a:t>
            </a:r>
            <a:r>
              <a:rPr sz="900" b="1" spc="-4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A.</a:t>
            </a:r>
            <a:r>
              <a:rPr sz="900" b="1" spc="-3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Approved</a:t>
            </a:r>
            <a:r>
              <a:rPr sz="900" b="1" spc="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900" b="1" spc="-3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public</a:t>
            </a:r>
            <a:r>
              <a:rPr sz="900" b="1" spc="-2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release;</a:t>
            </a:r>
            <a:r>
              <a:rPr sz="9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distribution</a:t>
            </a:r>
            <a:r>
              <a:rPr sz="900" b="1" spc="-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900" b="1" spc="-3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8" dirty="0">
                <a:solidFill>
                  <a:srgbClr val="FFFFFF"/>
                </a:solidFill>
                <a:latin typeface="Arial"/>
                <a:cs typeface="Arial"/>
              </a:rPr>
              <a:t>unlimited.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B6D360C2-798E-0289-5320-CFF94216F6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dirty="0"/>
              <a:t>Sources of Natural Space Radiation Environment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89286" y="1209655"/>
            <a:ext cx="4203383" cy="3791903"/>
            <a:chOff x="3052381" y="1231874"/>
            <a:chExt cx="5604510" cy="505587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52381" y="1231874"/>
              <a:ext cx="5604268" cy="505542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447413" y="1362951"/>
              <a:ext cx="2814320" cy="523240"/>
            </a:xfrm>
            <a:custGeom>
              <a:avLst/>
              <a:gdLst/>
              <a:ahLst/>
              <a:cxnLst/>
              <a:rect l="l" t="t" r="r" b="b"/>
              <a:pathLst>
                <a:path w="2814320" h="523239">
                  <a:moveTo>
                    <a:pt x="2814205" y="0"/>
                  </a:moveTo>
                  <a:lnTo>
                    <a:pt x="0" y="0"/>
                  </a:lnTo>
                  <a:lnTo>
                    <a:pt x="0" y="523214"/>
                  </a:lnTo>
                  <a:lnTo>
                    <a:pt x="2814205" y="523214"/>
                  </a:lnTo>
                  <a:lnTo>
                    <a:pt x="28142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5" name="object 5"/>
            <p:cNvSpPr/>
            <p:nvPr/>
          </p:nvSpPr>
          <p:spPr>
            <a:xfrm>
              <a:off x="4447413" y="1362951"/>
              <a:ext cx="2814320" cy="523240"/>
            </a:xfrm>
            <a:custGeom>
              <a:avLst/>
              <a:gdLst/>
              <a:ahLst/>
              <a:cxnLst/>
              <a:rect l="l" t="t" r="r" b="b"/>
              <a:pathLst>
                <a:path w="2814320" h="523239">
                  <a:moveTo>
                    <a:pt x="0" y="0"/>
                  </a:moveTo>
                  <a:lnTo>
                    <a:pt x="2814205" y="0"/>
                  </a:lnTo>
                  <a:lnTo>
                    <a:pt x="2814205" y="523214"/>
                  </a:lnTo>
                  <a:lnTo>
                    <a:pt x="0" y="52321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339132" y="1327763"/>
            <a:ext cx="2103596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80963">
              <a:spcBef>
                <a:spcPts val="71"/>
              </a:spcBef>
            </a:pPr>
            <a:r>
              <a:rPr sz="2100" b="1" dirty="0">
                <a:latin typeface="Arial"/>
                <a:cs typeface="Arial"/>
              </a:rPr>
              <a:t>Indirect</a:t>
            </a:r>
            <a:r>
              <a:rPr sz="2100" b="1" spc="-56" dirty="0">
                <a:latin typeface="Arial"/>
                <a:cs typeface="Arial"/>
              </a:rPr>
              <a:t> </a:t>
            </a:r>
            <a:r>
              <a:rPr sz="2100" b="1" spc="-8" dirty="0">
                <a:latin typeface="Arial"/>
                <a:cs typeface="Arial"/>
              </a:rPr>
              <a:t>Source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135539" y="1475592"/>
            <a:ext cx="2510790" cy="1720215"/>
            <a:chOff x="4180719" y="1586456"/>
            <a:chExt cx="3347720" cy="2293620"/>
          </a:xfrm>
        </p:grpSpPr>
        <p:sp>
          <p:nvSpPr>
            <p:cNvPr id="9" name="object 9"/>
            <p:cNvSpPr/>
            <p:nvPr/>
          </p:nvSpPr>
          <p:spPr>
            <a:xfrm>
              <a:off x="6935284" y="1624556"/>
              <a:ext cx="554990" cy="2131060"/>
            </a:xfrm>
            <a:custGeom>
              <a:avLst/>
              <a:gdLst/>
              <a:ahLst/>
              <a:cxnLst/>
              <a:rect l="l" t="t" r="r" b="b"/>
              <a:pathLst>
                <a:path w="554990" h="2131060">
                  <a:moveTo>
                    <a:pt x="326339" y="0"/>
                  </a:moveTo>
                  <a:lnTo>
                    <a:pt x="554939" y="0"/>
                  </a:lnTo>
                  <a:lnTo>
                    <a:pt x="554939" y="2130844"/>
                  </a:lnTo>
                  <a:lnTo>
                    <a:pt x="0" y="2130844"/>
                  </a:lnTo>
                </a:path>
              </a:pathLst>
            </a:custGeom>
            <a:ln w="762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6744826" y="3640279"/>
              <a:ext cx="231140" cy="228600"/>
            </a:xfrm>
            <a:custGeom>
              <a:avLst/>
              <a:gdLst/>
              <a:ahLst/>
              <a:cxnLst/>
              <a:rect l="l" t="t" r="r" b="b"/>
              <a:pathLst>
                <a:path w="231140" h="228600">
                  <a:moveTo>
                    <a:pt x="226034" y="0"/>
                  </a:moveTo>
                  <a:lnTo>
                    <a:pt x="0" y="119303"/>
                  </a:lnTo>
                  <a:lnTo>
                    <a:pt x="231063" y="228549"/>
                  </a:lnTo>
                  <a:lnTo>
                    <a:pt x="2260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4218819" y="1624556"/>
              <a:ext cx="307975" cy="2139950"/>
            </a:xfrm>
            <a:custGeom>
              <a:avLst/>
              <a:gdLst/>
              <a:ahLst/>
              <a:cxnLst/>
              <a:rect l="l" t="t" r="r" b="b"/>
              <a:pathLst>
                <a:path w="307975" h="2139950">
                  <a:moveTo>
                    <a:pt x="228600" y="0"/>
                  </a:moveTo>
                  <a:lnTo>
                    <a:pt x="0" y="0"/>
                  </a:lnTo>
                  <a:lnTo>
                    <a:pt x="0" y="2139899"/>
                  </a:lnTo>
                  <a:lnTo>
                    <a:pt x="307594" y="2139899"/>
                  </a:lnTo>
                </a:path>
              </a:pathLst>
            </a:custGeom>
            <a:ln w="762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4485412" y="3651152"/>
              <a:ext cx="231775" cy="228600"/>
            </a:xfrm>
            <a:custGeom>
              <a:avLst/>
              <a:gdLst/>
              <a:ahLst/>
              <a:cxnLst/>
              <a:rect l="l" t="t" r="r" b="b"/>
              <a:pathLst>
                <a:path w="231775" h="228600">
                  <a:moveTo>
                    <a:pt x="0" y="0"/>
                  </a:moveTo>
                  <a:lnTo>
                    <a:pt x="5829" y="228523"/>
                  </a:lnTo>
                  <a:lnTo>
                    <a:pt x="231444" y="1084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866510" y="4401064"/>
            <a:ext cx="2919413" cy="561212"/>
          </a:xfrm>
          <a:prstGeom prst="rect">
            <a:avLst/>
          </a:prstGeom>
          <a:solidFill>
            <a:srgbClr val="090F07"/>
          </a:solidFill>
          <a:ln w="9525">
            <a:solidFill>
              <a:srgbClr val="FFFFFF"/>
            </a:solidFill>
          </a:ln>
        </p:spPr>
        <p:txBody>
          <a:bodyPr vert="horz" wrap="square" lIns="0" tIns="30004" rIns="0" bIns="0" rtlCol="0">
            <a:spAutoFit/>
          </a:bodyPr>
          <a:lstStyle/>
          <a:p>
            <a:pPr algn="ctr">
              <a:spcBef>
                <a:spcPts val="236"/>
              </a:spcBef>
            </a:pPr>
            <a:r>
              <a:rPr sz="2100" b="1" spc="-8" dirty="0">
                <a:solidFill>
                  <a:srgbClr val="FFFFFF"/>
                </a:solidFill>
                <a:latin typeface="Arial"/>
                <a:cs typeface="Arial"/>
              </a:rPr>
              <a:t>Trapped</a:t>
            </a:r>
            <a:r>
              <a:rPr sz="2100" b="1" spc="-11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b="1" spc="-8" dirty="0">
                <a:solidFill>
                  <a:srgbClr val="FFFFFF"/>
                </a:solidFill>
                <a:latin typeface="Arial"/>
                <a:cs typeface="Arial"/>
              </a:rPr>
              <a:t>Particles</a:t>
            </a:r>
            <a:endParaRPr sz="2100">
              <a:latin typeface="Arial"/>
              <a:cs typeface="Arial"/>
            </a:endParaRPr>
          </a:p>
          <a:p>
            <a:pPr algn="ctr">
              <a:spcBef>
                <a:spcPts val="19"/>
              </a:spcBef>
            </a:pPr>
            <a:r>
              <a:rPr sz="1350" b="1" dirty="0">
                <a:solidFill>
                  <a:srgbClr val="FFFF00"/>
                </a:solidFill>
                <a:latin typeface="Arial"/>
                <a:cs typeface="Arial"/>
              </a:rPr>
              <a:t>Protons,</a:t>
            </a:r>
            <a:r>
              <a:rPr sz="1350" b="1" spc="-49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FFFF00"/>
                </a:solidFill>
                <a:latin typeface="Arial"/>
                <a:cs typeface="Arial"/>
              </a:rPr>
              <a:t>Electrons,</a:t>
            </a:r>
            <a:r>
              <a:rPr sz="1350" b="1" spc="-38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FFFF00"/>
                </a:solidFill>
                <a:latin typeface="Arial"/>
                <a:cs typeface="Arial"/>
              </a:rPr>
              <a:t>Heavy</a:t>
            </a:r>
            <a:r>
              <a:rPr sz="1350" b="1" spc="-15" dirty="0">
                <a:solidFill>
                  <a:srgbClr val="FFFF00"/>
                </a:solidFill>
                <a:latin typeface="Arial"/>
                <a:cs typeface="Arial"/>
              </a:rPr>
              <a:t> Ions</a:t>
            </a:r>
            <a:endParaRPr sz="1350">
              <a:latin typeface="Arial"/>
              <a:cs typeface="Arial"/>
            </a:endParaRPr>
          </a:p>
        </p:txBody>
      </p:sp>
      <p:sp>
        <p:nvSpPr>
          <p:cNvPr id="17" name="object 14">
            <a:extLst>
              <a:ext uri="{FF2B5EF4-FFF2-40B4-BE49-F238E27FC236}">
                <a16:creationId xmlns:a16="http://schemas.microsoft.com/office/drawing/2014/main" id="{F372FCBF-F7B7-1F10-B944-B155DAA8B960}"/>
              </a:ext>
            </a:extLst>
          </p:cNvPr>
          <p:cNvSpPr txBox="1"/>
          <p:nvPr/>
        </p:nvSpPr>
        <p:spPr>
          <a:xfrm>
            <a:off x="806315" y="5089938"/>
            <a:ext cx="7530941" cy="4462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069"/>
              </a:lnSpc>
            </a:pPr>
            <a:r>
              <a:rPr sz="1100" b="1" dirty="0">
                <a:latin typeface="Arial"/>
                <a:cs typeface="Arial"/>
              </a:rPr>
              <a:t>Depiction</a:t>
            </a:r>
            <a:r>
              <a:rPr sz="1100" b="1" spc="-19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of</a:t>
            </a:r>
            <a:r>
              <a:rPr sz="1100" b="1" spc="-11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the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natural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space</a:t>
            </a:r>
            <a:r>
              <a:rPr sz="1100" b="1" spc="-38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radiation</a:t>
            </a:r>
            <a:r>
              <a:rPr sz="1100" b="1" spc="-19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environment</a:t>
            </a:r>
            <a:r>
              <a:rPr sz="1100" b="1" spc="-11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local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to</a:t>
            </a:r>
            <a:r>
              <a:rPr sz="1100" b="1" spc="-11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the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Earth</a:t>
            </a:r>
            <a:r>
              <a:rPr sz="1100" b="1" spc="-26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modified</a:t>
            </a:r>
            <a:r>
              <a:rPr sz="1100" b="1" spc="-11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from</a:t>
            </a:r>
            <a:r>
              <a:rPr sz="1100" b="1" spc="-19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K.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Endo,</a:t>
            </a:r>
            <a:r>
              <a:rPr sz="1100" b="1" spc="-8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Nikkei</a:t>
            </a:r>
            <a:r>
              <a:rPr sz="1100" b="1" spc="-34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Science</a:t>
            </a:r>
            <a:r>
              <a:rPr sz="1100" b="1" spc="-38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Inc.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of</a:t>
            </a:r>
            <a:r>
              <a:rPr sz="1100" b="1" spc="-11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Japan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and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J.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L.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spc="-8" dirty="0">
                <a:latin typeface="Arial"/>
                <a:cs typeface="Arial"/>
              </a:rPr>
              <a:t>Barth</a:t>
            </a:r>
            <a:endParaRPr sz="1100" dirty="0">
              <a:latin typeface="Arial"/>
              <a:cs typeface="Arial"/>
            </a:endParaRPr>
          </a:p>
          <a:p>
            <a:pPr algn="ctr">
              <a:spcBef>
                <a:spcPts val="244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DISTRIBUTION</a:t>
            </a:r>
            <a:r>
              <a:rPr sz="9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3" dirty="0">
                <a:solidFill>
                  <a:srgbClr val="FFFFFF"/>
                </a:solidFill>
                <a:latin typeface="Arial"/>
                <a:cs typeface="Arial"/>
              </a:rPr>
              <a:t>STATEMENT</a:t>
            </a:r>
            <a:r>
              <a:rPr sz="900" b="1" spc="-4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A.</a:t>
            </a:r>
            <a:r>
              <a:rPr sz="900" b="1" spc="-3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Approved</a:t>
            </a:r>
            <a:r>
              <a:rPr sz="900" b="1" spc="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900" b="1" spc="-3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public</a:t>
            </a:r>
            <a:r>
              <a:rPr sz="900" b="1" spc="-2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release;</a:t>
            </a:r>
            <a:r>
              <a:rPr sz="9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distribution</a:t>
            </a:r>
            <a:r>
              <a:rPr sz="900" b="1" spc="-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900" b="1" spc="-3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8" dirty="0">
                <a:solidFill>
                  <a:srgbClr val="FFFFFF"/>
                </a:solidFill>
                <a:latin typeface="Arial"/>
                <a:cs typeface="Arial"/>
              </a:rPr>
              <a:t>unlimited.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20" name="Title 37">
            <a:extLst>
              <a:ext uri="{FF2B5EF4-FFF2-40B4-BE49-F238E27FC236}">
                <a16:creationId xmlns:a16="http://schemas.microsoft.com/office/drawing/2014/main" id="{8EB4A8A5-E520-F5C2-89BB-FD05381A62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dirty="0"/>
              <a:t>Sources of Natural Space Radiation Environment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71701" y="1193007"/>
            <a:ext cx="6536531" cy="359330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529830" y="83314"/>
            <a:ext cx="8004391" cy="760144"/>
          </a:xfrm>
          <a:prstGeom prst="rect">
            <a:avLst/>
          </a:prstGeom>
        </p:spPr>
        <p:txBody>
          <a:bodyPr vert="horz" wrap="square" lIns="0" tIns="2381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188"/>
              </a:spcBef>
            </a:pPr>
            <a:r>
              <a:rPr dirty="0"/>
              <a:t>Radiation</a:t>
            </a:r>
            <a:r>
              <a:rPr spc="-53" dirty="0"/>
              <a:t> </a:t>
            </a:r>
            <a:r>
              <a:rPr spc="-15" dirty="0"/>
              <a:t>Belts</a:t>
            </a:r>
          </a:p>
          <a:p>
            <a:pPr marL="9525">
              <a:spcBef>
                <a:spcPts val="116"/>
              </a:spcBef>
            </a:pPr>
            <a:r>
              <a:rPr sz="1500" b="0" spc="-8" dirty="0">
                <a:solidFill>
                  <a:srgbClr val="8B8D8E"/>
                </a:solidFill>
              </a:rPr>
              <a:t>Trapped</a:t>
            </a:r>
            <a:endParaRPr sz="1500" dirty="0">
              <a:solidFill>
                <a:srgbClr val="8B8D8E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893" y="4929187"/>
            <a:ext cx="5075396" cy="190982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9525">
              <a:spcBef>
                <a:spcPts val="94"/>
              </a:spcBef>
            </a:pPr>
            <a:r>
              <a:rPr sz="1163" b="1" dirty="0">
                <a:solidFill>
                  <a:srgbClr val="2D008A"/>
                </a:solidFill>
                <a:latin typeface="Arial"/>
                <a:cs typeface="Arial"/>
              </a:rPr>
              <a:t>Different</a:t>
            </a:r>
            <a:r>
              <a:rPr sz="1163" b="1" spc="75" dirty="0">
                <a:solidFill>
                  <a:srgbClr val="2D008A"/>
                </a:solidFill>
                <a:latin typeface="Arial"/>
                <a:cs typeface="Arial"/>
              </a:rPr>
              <a:t> </a:t>
            </a:r>
            <a:r>
              <a:rPr sz="1163" b="1" dirty="0">
                <a:solidFill>
                  <a:srgbClr val="2D008A"/>
                </a:solidFill>
                <a:latin typeface="Arial"/>
                <a:cs typeface="Arial"/>
              </a:rPr>
              <a:t>Orbits</a:t>
            </a:r>
            <a:r>
              <a:rPr sz="1163" b="1" spc="98" dirty="0">
                <a:solidFill>
                  <a:srgbClr val="2D008A"/>
                </a:solidFill>
                <a:latin typeface="Arial"/>
                <a:cs typeface="Arial"/>
              </a:rPr>
              <a:t> </a:t>
            </a:r>
            <a:r>
              <a:rPr sz="1163" b="1" dirty="0">
                <a:solidFill>
                  <a:srgbClr val="2D008A"/>
                </a:solidFill>
                <a:latin typeface="Arial"/>
                <a:cs typeface="Arial"/>
              </a:rPr>
              <a:t>will</a:t>
            </a:r>
            <a:r>
              <a:rPr sz="1163" b="1" spc="86" dirty="0">
                <a:solidFill>
                  <a:srgbClr val="2D008A"/>
                </a:solidFill>
                <a:latin typeface="Arial"/>
                <a:cs typeface="Arial"/>
              </a:rPr>
              <a:t> </a:t>
            </a:r>
            <a:r>
              <a:rPr sz="1163" b="1" dirty="0">
                <a:solidFill>
                  <a:srgbClr val="2D008A"/>
                </a:solidFill>
                <a:latin typeface="Arial"/>
                <a:cs typeface="Arial"/>
              </a:rPr>
              <a:t>sample</a:t>
            </a:r>
            <a:r>
              <a:rPr sz="1163" b="1" spc="94" dirty="0">
                <a:solidFill>
                  <a:srgbClr val="2D008A"/>
                </a:solidFill>
                <a:latin typeface="Arial"/>
                <a:cs typeface="Arial"/>
              </a:rPr>
              <a:t> </a:t>
            </a:r>
            <a:r>
              <a:rPr sz="1163" b="1" dirty="0">
                <a:solidFill>
                  <a:srgbClr val="2D008A"/>
                </a:solidFill>
                <a:latin typeface="Arial"/>
                <a:cs typeface="Arial"/>
              </a:rPr>
              <a:t>different</a:t>
            </a:r>
            <a:r>
              <a:rPr sz="1163" b="1" spc="143" dirty="0">
                <a:solidFill>
                  <a:srgbClr val="2D008A"/>
                </a:solidFill>
                <a:latin typeface="Arial"/>
                <a:cs typeface="Arial"/>
              </a:rPr>
              <a:t> </a:t>
            </a:r>
            <a:r>
              <a:rPr sz="1163" b="1" dirty="0">
                <a:solidFill>
                  <a:srgbClr val="2D008A"/>
                </a:solidFill>
                <a:latin typeface="Arial"/>
                <a:cs typeface="Arial"/>
              </a:rPr>
              <a:t>parts</a:t>
            </a:r>
            <a:r>
              <a:rPr sz="1163" b="1" spc="94" dirty="0">
                <a:solidFill>
                  <a:srgbClr val="2D008A"/>
                </a:solidFill>
                <a:latin typeface="Arial"/>
                <a:cs typeface="Arial"/>
              </a:rPr>
              <a:t> </a:t>
            </a:r>
            <a:r>
              <a:rPr sz="1163" b="1" dirty="0">
                <a:solidFill>
                  <a:srgbClr val="2D008A"/>
                </a:solidFill>
                <a:latin typeface="Arial"/>
                <a:cs typeface="Arial"/>
              </a:rPr>
              <a:t>of</a:t>
            </a:r>
            <a:r>
              <a:rPr sz="1163" b="1" spc="79" dirty="0">
                <a:solidFill>
                  <a:srgbClr val="2D008A"/>
                </a:solidFill>
                <a:latin typeface="Arial"/>
                <a:cs typeface="Arial"/>
              </a:rPr>
              <a:t> </a:t>
            </a:r>
            <a:r>
              <a:rPr sz="1163" b="1" dirty="0">
                <a:solidFill>
                  <a:srgbClr val="2D008A"/>
                </a:solidFill>
                <a:latin typeface="Arial"/>
                <a:cs typeface="Arial"/>
              </a:rPr>
              <a:t>the</a:t>
            </a:r>
            <a:r>
              <a:rPr sz="1163" b="1" spc="94" dirty="0">
                <a:solidFill>
                  <a:srgbClr val="2D008A"/>
                </a:solidFill>
                <a:latin typeface="Arial"/>
                <a:cs typeface="Arial"/>
              </a:rPr>
              <a:t> </a:t>
            </a:r>
            <a:r>
              <a:rPr sz="1163" b="1" dirty="0">
                <a:solidFill>
                  <a:srgbClr val="2D008A"/>
                </a:solidFill>
                <a:latin typeface="Arial"/>
                <a:cs typeface="Arial"/>
              </a:rPr>
              <a:t>trapped</a:t>
            </a:r>
            <a:r>
              <a:rPr sz="1163" b="1" spc="86" dirty="0">
                <a:solidFill>
                  <a:srgbClr val="2D008A"/>
                </a:solidFill>
                <a:latin typeface="Arial"/>
                <a:cs typeface="Arial"/>
              </a:rPr>
              <a:t> </a:t>
            </a:r>
            <a:r>
              <a:rPr sz="1163" b="1" spc="-8" dirty="0">
                <a:solidFill>
                  <a:srgbClr val="2D008A"/>
                </a:solidFill>
                <a:latin typeface="Arial"/>
                <a:cs typeface="Arial"/>
              </a:rPr>
              <a:t>environment</a:t>
            </a:r>
            <a:endParaRPr sz="1163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10549" y="668131"/>
            <a:ext cx="1621631" cy="4251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b="1" dirty="0">
                <a:solidFill>
                  <a:srgbClr val="C00000"/>
                </a:solidFill>
                <a:latin typeface="Arial"/>
                <a:cs typeface="Arial"/>
              </a:rPr>
              <a:t>Energetic</a:t>
            </a:r>
            <a:r>
              <a:rPr sz="1350" b="1" spc="-19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350" b="1" spc="-8" dirty="0">
                <a:solidFill>
                  <a:srgbClr val="C00000"/>
                </a:solidFill>
                <a:latin typeface="Arial"/>
                <a:cs typeface="Arial"/>
              </a:rPr>
              <a:t>Protons</a:t>
            </a:r>
            <a:endParaRPr sz="1350">
              <a:latin typeface="Arial"/>
              <a:cs typeface="Arial"/>
            </a:endParaRPr>
          </a:p>
          <a:p>
            <a:pPr marL="9525">
              <a:spcBef>
                <a:spcPts val="15"/>
              </a:spcBef>
            </a:pPr>
            <a:r>
              <a:rPr sz="1350" dirty="0">
                <a:latin typeface="Arial"/>
                <a:cs typeface="Arial"/>
              </a:rPr>
              <a:t>Very</a:t>
            </a:r>
            <a:r>
              <a:rPr sz="1350" spc="-30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stable</a:t>
            </a:r>
            <a:r>
              <a:rPr sz="1350" spc="-41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over</a:t>
            </a:r>
            <a:r>
              <a:rPr sz="1350" spc="-26" dirty="0">
                <a:latin typeface="Arial"/>
                <a:cs typeface="Arial"/>
              </a:rPr>
              <a:t> </a:t>
            </a:r>
            <a:r>
              <a:rPr sz="1350" spc="-15" dirty="0">
                <a:latin typeface="Arial"/>
                <a:cs typeface="Arial"/>
              </a:rPr>
              <a:t>time</a:t>
            </a:r>
            <a:endParaRPr sz="13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45900" y="1138428"/>
            <a:ext cx="4731068" cy="1994059"/>
          </a:xfrm>
          <a:custGeom>
            <a:avLst/>
            <a:gdLst/>
            <a:ahLst/>
            <a:cxnLst/>
            <a:rect l="l" t="t" r="r" b="b"/>
            <a:pathLst>
              <a:path w="6308090" h="2658745">
                <a:moveTo>
                  <a:pt x="636905" y="2544445"/>
                </a:moveTo>
                <a:lnTo>
                  <a:pt x="555371" y="2519680"/>
                </a:lnTo>
                <a:lnTo>
                  <a:pt x="560717" y="2551023"/>
                </a:lnTo>
                <a:lnTo>
                  <a:pt x="0" y="2645791"/>
                </a:lnTo>
                <a:lnTo>
                  <a:pt x="2159" y="2658364"/>
                </a:lnTo>
                <a:lnTo>
                  <a:pt x="562838" y="2563457"/>
                </a:lnTo>
                <a:lnTo>
                  <a:pt x="568198" y="2594737"/>
                </a:lnTo>
                <a:lnTo>
                  <a:pt x="630821" y="2548890"/>
                </a:lnTo>
                <a:lnTo>
                  <a:pt x="636905" y="2544445"/>
                </a:lnTo>
                <a:close/>
              </a:path>
              <a:path w="6308090" h="2658745">
                <a:moveTo>
                  <a:pt x="6308090" y="2667"/>
                </a:moveTo>
                <a:lnTo>
                  <a:pt x="6295644" y="0"/>
                </a:lnTo>
                <a:lnTo>
                  <a:pt x="5830240" y="2222284"/>
                </a:lnTo>
                <a:lnTo>
                  <a:pt x="5799201" y="2215769"/>
                </a:lnTo>
                <a:lnTo>
                  <a:pt x="5820918" y="2298192"/>
                </a:lnTo>
                <a:lnTo>
                  <a:pt x="5869025" y="2237359"/>
                </a:lnTo>
                <a:lnTo>
                  <a:pt x="5873750" y="2231390"/>
                </a:lnTo>
                <a:lnTo>
                  <a:pt x="5842698" y="2224887"/>
                </a:lnTo>
                <a:lnTo>
                  <a:pt x="6308090" y="26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7" name="object 7"/>
          <p:cNvSpPr txBox="1"/>
          <p:nvPr/>
        </p:nvSpPr>
        <p:spPr>
          <a:xfrm>
            <a:off x="59055" y="2797254"/>
            <a:ext cx="2051209" cy="62401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9525" marR="3810">
              <a:lnSpc>
                <a:spcPct val="100899"/>
              </a:lnSpc>
              <a:spcBef>
                <a:spcPts val="60"/>
              </a:spcBef>
            </a:pPr>
            <a:r>
              <a:rPr sz="1350" b="1" dirty="0">
                <a:solidFill>
                  <a:srgbClr val="7EB82E"/>
                </a:solidFill>
                <a:latin typeface="Arial"/>
                <a:cs typeface="Arial"/>
              </a:rPr>
              <a:t>Energetic</a:t>
            </a:r>
            <a:r>
              <a:rPr sz="1350" b="1" spc="-19" dirty="0">
                <a:solidFill>
                  <a:srgbClr val="7EB82E"/>
                </a:solidFill>
                <a:latin typeface="Arial"/>
                <a:cs typeface="Arial"/>
              </a:rPr>
              <a:t> </a:t>
            </a:r>
            <a:r>
              <a:rPr sz="1350" b="1" spc="-8" dirty="0">
                <a:solidFill>
                  <a:srgbClr val="7EB82E"/>
                </a:solidFill>
                <a:latin typeface="Arial"/>
                <a:cs typeface="Arial"/>
              </a:rPr>
              <a:t>Electrons </a:t>
            </a:r>
            <a:r>
              <a:rPr sz="1350" dirty="0">
                <a:latin typeface="Arial"/>
                <a:cs typeface="Arial"/>
              </a:rPr>
              <a:t>Dynamic:</a:t>
            </a:r>
            <a:r>
              <a:rPr sz="1350" spc="8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varies</a:t>
            </a:r>
            <a:r>
              <a:rPr sz="1350" spc="-56" dirty="0">
                <a:latin typeface="Arial"/>
                <a:cs typeface="Arial"/>
              </a:rPr>
              <a:t> </a:t>
            </a:r>
            <a:r>
              <a:rPr sz="1350" spc="-19" dirty="0">
                <a:latin typeface="Arial"/>
                <a:cs typeface="Arial"/>
              </a:rPr>
              <a:t>on </a:t>
            </a:r>
            <a:r>
              <a:rPr sz="1350" dirty="0">
                <a:latin typeface="Arial"/>
                <a:cs typeface="Arial"/>
              </a:rPr>
              <a:t>weekly/monthly</a:t>
            </a:r>
            <a:r>
              <a:rPr sz="1350" spc="-19" dirty="0">
                <a:latin typeface="Arial"/>
                <a:cs typeface="Arial"/>
              </a:rPr>
              <a:t> </a:t>
            </a:r>
            <a:r>
              <a:rPr sz="1350" spc="-8" dirty="0">
                <a:latin typeface="Arial"/>
                <a:cs typeface="Arial"/>
              </a:rPr>
              <a:t>timescales</a:t>
            </a:r>
            <a:endParaRPr sz="13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37456" y="4837033"/>
            <a:ext cx="836771" cy="121732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marL="9525">
              <a:spcBef>
                <a:spcPts val="94"/>
              </a:spcBef>
            </a:pPr>
            <a:r>
              <a:rPr sz="713" dirty="0">
                <a:latin typeface="Arial"/>
                <a:cs typeface="Arial"/>
              </a:rPr>
              <a:t>Courtesy</a:t>
            </a:r>
            <a:r>
              <a:rPr sz="713" spc="146" dirty="0">
                <a:latin typeface="Arial"/>
                <a:cs typeface="Arial"/>
              </a:rPr>
              <a:t> </a:t>
            </a:r>
            <a:r>
              <a:rPr sz="713" spc="-8" dirty="0">
                <a:latin typeface="Arial"/>
                <a:cs typeface="Arial"/>
              </a:rPr>
              <a:t>Wikipedia</a:t>
            </a:r>
            <a:endParaRPr sz="713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0281" y="857250"/>
            <a:ext cx="7583488" cy="471260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952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75"/>
              </a:spcBef>
            </a:pPr>
            <a:r>
              <a:rPr dirty="0"/>
              <a:t>Radiation</a:t>
            </a:r>
            <a:r>
              <a:rPr spc="-53" dirty="0"/>
              <a:t> </a:t>
            </a:r>
            <a:r>
              <a:rPr spc="-15" dirty="0"/>
              <a:t>Belts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0" y="6618288"/>
            <a:ext cx="203200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8575">
              <a:spcBef>
                <a:spcPts val="34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45"/>
                </a:spcBef>
              </a:pPr>
              <a:t>10</a:t>
            </a:fld>
            <a:endParaRPr spc="-19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2D998-BF60-E5B3-3232-3FF648DDC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BBBC0905-8337-F35F-0594-F8A970A1F263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0" y="285750"/>
            <a:ext cx="0" cy="1317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069"/>
              </a:lnSpc>
            </a:pPr>
            <a:fld id="{81D60167-4931-47E6-BA6A-407CBD079E47}" type="slidenum">
              <a:rPr spc="-38" dirty="0">
                <a:solidFill>
                  <a:srgbClr val="FFFFFF"/>
                </a:solidFill>
              </a:rPr>
              <a:pPr marL="76200">
                <a:lnSpc>
                  <a:spcPts val="1069"/>
                </a:lnSpc>
              </a:pPr>
              <a:t>11</a:t>
            </a:fld>
            <a:endParaRPr spc="-38" dirty="0">
              <a:solidFill>
                <a:srgbClr val="FFFFFF"/>
              </a:solidFill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54D2992A-F91C-4849-E303-7B37373582E6}"/>
              </a:ext>
            </a:extLst>
          </p:cNvPr>
          <p:cNvSpPr txBox="1"/>
          <p:nvPr/>
        </p:nvSpPr>
        <p:spPr>
          <a:xfrm>
            <a:off x="744846" y="1181476"/>
            <a:ext cx="7361873" cy="2267448"/>
          </a:xfrm>
          <a:prstGeom prst="rect">
            <a:avLst/>
          </a:prstGeom>
        </p:spPr>
        <p:txBody>
          <a:bodyPr vert="horz" wrap="square" lIns="0" tIns="58579" rIns="0" bIns="0" rtlCol="0">
            <a:spAutoFit/>
          </a:bodyPr>
          <a:lstStyle/>
          <a:p>
            <a:pPr marL="182403" indent="-172878">
              <a:spcBef>
                <a:spcPts val="461"/>
              </a:spcBef>
              <a:buFont typeface="Arial"/>
              <a:buChar char="•"/>
              <a:tabLst>
                <a:tab pos="182403" algn="l"/>
              </a:tabLst>
            </a:pPr>
            <a:r>
              <a:rPr lang="en-US" sz="1800" b="1" dirty="0"/>
              <a:t>What</a:t>
            </a:r>
            <a:r>
              <a:rPr lang="en-US" sz="1800" b="1" spc="-30" dirty="0"/>
              <a:t> </a:t>
            </a:r>
            <a:r>
              <a:rPr lang="en-US" sz="1800" b="1" dirty="0"/>
              <a:t>are</a:t>
            </a:r>
            <a:r>
              <a:rPr lang="en-US" sz="1800" b="1" spc="-26" dirty="0"/>
              <a:t> </a:t>
            </a:r>
            <a:r>
              <a:rPr lang="en-US" sz="1800" b="1" dirty="0"/>
              <a:t>the</a:t>
            </a:r>
            <a:r>
              <a:rPr lang="en-US" sz="1800" b="1" spc="-30" dirty="0"/>
              <a:t> </a:t>
            </a:r>
            <a:r>
              <a:rPr lang="en-US" sz="1800" b="1" dirty="0"/>
              <a:t>sources</a:t>
            </a:r>
            <a:r>
              <a:rPr lang="en-US" sz="1800" b="1" spc="-19" dirty="0"/>
              <a:t> </a:t>
            </a:r>
            <a:r>
              <a:rPr lang="en-US" sz="1800" b="1" dirty="0"/>
              <a:t>of</a:t>
            </a:r>
            <a:r>
              <a:rPr lang="en-US" sz="1800" b="1" spc="-30" dirty="0"/>
              <a:t> </a:t>
            </a:r>
            <a:r>
              <a:rPr lang="en-US" sz="1800" b="1" dirty="0"/>
              <a:t>the</a:t>
            </a:r>
            <a:r>
              <a:rPr lang="en-US" sz="1800" b="1" spc="-30" dirty="0"/>
              <a:t> </a:t>
            </a:r>
            <a:r>
              <a:rPr lang="en-US" sz="1800" b="1" dirty="0"/>
              <a:t>natural</a:t>
            </a:r>
            <a:r>
              <a:rPr lang="en-US" sz="1800" b="1" spc="-30" dirty="0"/>
              <a:t> </a:t>
            </a:r>
            <a:r>
              <a:rPr lang="en-US" sz="1800" b="1" dirty="0"/>
              <a:t>space</a:t>
            </a:r>
            <a:r>
              <a:rPr lang="en-US" sz="1800" b="1" spc="-15" dirty="0"/>
              <a:t> </a:t>
            </a:r>
            <a:r>
              <a:rPr lang="en-US" sz="1800" b="1" dirty="0"/>
              <a:t>radiation</a:t>
            </a:r>
            <a:r>
              <a:rPr lang="en-US" sz="1800" b="1" spc="-45" dirty="0"/>
              <a:t> </a:t>
            </a:r>
            <a:r>
              <a:rPr lang="en-US" sz="1800" b="1" spc="-8" dirty="0"/>
              <a:t>environment?</a:t>
            </a:r>
          </a:p>
          <a:p>
            <a:pPr marL="182403" indent="-172878">
              <a:spcBef>
                <a:spcPts val="386"/>
              </a:spcBef>
              <a:buFont typeface="Arial"/>
              <a:buChar char="•"/>
              <a:tabLst>
                <a:tab pos="182403" algn="l"/>
              </a:tabLst>
            </a:pPr>
            <a:r>
              <a:rPr lang="en-US" sz="1800" b="1" dirty="0">
                <a:solidFill>
                  <a:srgbClr val="000000"/>
                </a:solidFill>
              </a:rPr>
              <a:t>What</a:t>
            </a:r>
            <a:r>
              <a:rPr lang="en-US" sz="1800" b="1" spc="-23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000000"/>
                </a:solidFill>
              </a:rPr>
              <a:t>role</a:t>
            </a:r>
            <a:r>
              <a:rPr lang="en-US" sz="1800" b="1" spc="-26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000000"/>
                </a:solidFill>
              </a:rPr>
              <a:t>does</a:t>
            </a:r>
            <a:r>
              <a:rPr lang="en-US" sz="1800" b="1" spc="-15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000000"/>
                </a:solidFill>
              </a:rPr>
              <a:t>the</a:t>
            </a:r>
            <a:r>
              <a:rPr lang="en-US" sz="1800" b="1" spc="-26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000000"/>
                </a:solidFill>
              </a:rPr>
              <a:t>Sun</a:t>
            </a:r>
            <a:r>
              <a:rPr lang="en-US" sz="1800" b="1" spc="-26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000000"/>
                </a:solidFill>
              </a:rPr>
              <a:t>play</a:t>
            </a:r>
            <a:r>
              <a:rPr lang="en-US" sz="1800" b="1" spc="-23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000000"/>
                </a:solidFill>
              </a:rPr>
              <a:t>on</a:t>
            </a:r>
            <a:r>
              <a:rPr lang="en-US" sz="1800" b="1" spc="-26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000000"/>
                </a:solidFill>
              </a:rPr>
              <a:t>these</a:t>
            </a:r>
            <a:r>
              <a:rPr lang="en-US" sz="1800" b="1" spc="-19" dirty="0">
                <a:solidFill>
                  <a:srgbClr val="000000"/>
                </a:solidFill>
              </a:rPr>
              <a:t> </a:t>
            </a:r>
            <a:r>
              <a:rPr lang="en-US" sz="1800" b="1" spc="-8" dirty="0">
                <a:solidFill>
                  <a:srgbClr val="000000"/>
                </a:solidFill>
              </a:rPr>
              <a:t>environments?</a:t>
            </a:r>
          </a:p>
          <a:p>
            <a:pPr marL="182880">
              <a:spcBef>
                <a:spcPts val="307"/>
              </a:spcBef>
            </a:pPr>
            <a:r>
              <a:rPr lang="en-US" sz="1800" b="1" dirty="0">
                <a:solidFill>
                  <a:srgbClr val="0000FF"/>
                </a:solidFill>
              </a:rPr>
              <a:t>‒</a:t>
            </a:r>
            <a:r>
              <a:rPr lang="en-US" sz="1800" b="1" spc="86" dirty="0">
                <a:solidFill>
                  <a:srgbClr val="0000FF"/>
                </a:solidFill>
              </a:rPr>
              <a:t> </a:t>
            </a:r>
            <a:r>
              <a:rPr lang="en-US" sz="1800" b="1" dirty="0">
                <a:solidFill>
                  <a:srgbClr val="0000FF"/>
                </a:solidFill>
              </a:rPr>
              <a:t>Source</a:t>
            </a:r>
            <a:r>
              <a:rPr lang="en-US" sz="1800" b="1" spc="-23" dirty="0">
                <a:solidFill>
                  <a:srgbClr val="0000FF"/>
                </a:solidFill>
              </a:rPr>
              <a:t> </a:t>
            </a:r>
            <a:r>
              <a:rPr lang="en-US" sz="1800" b="1" dirty="0">
                <a:solidFill>
                  <a:srgbClr val="0000FF"/>
                </a:solidFill>
              </a:rPr>
              <a:t>vs. </a:t>
            </a:r>
            <a:r>
              <a:rPr lang="en-US" sz="1800" b="1" spc="-8" dirty="0">
                <a:solidFill>
                  <a:srgbClr val="0000FF"/>
                </a:solidFill>
              </a:rPr>
              <a:t>Modulator</a:t>
            </a:r>
            <a:endParaRPr lang="en-US" sz="1800" b="1" dirty="0"/>
          </a:p>
          <a:p>
            <a:pPr marL="182880">
              <a:spcBef>
                <a:spcPts val="300"/>
              </a:spcBef>
            </a:pPr>
            <a:r>
              <a:rPr lang="en-US" sz="1800" b="1" dirty="0">
                <a:solidFill>
                  <a:srgbClr val="0000FF"/>
                </a:solidFill>
              </a:rPr>
              <a:t>‒</a:t>
            </a:r>
            <a:r>
              <a:rPr lang="en-US" sz="1800" b="1" spc="105" dirty="0">
                <a:solidFill>
                  <a:srgbClr val="0000FF"/>
                </a:solidFill>
              </a:rPr>
              <a:t> </a:t>
            </a:r>
            <a:r>
              <a:rPr lang="en-US" sz="1800" b="1" spc="-8" dirty="0">
                <a:solidFill>
                  <a:srgbClr val="0000FF"/>
                </a:solidFill>
              </a:rPr>
              <a:t>Sunspots</a:t>
            </a:r>
            <a:endParaRPr lang="en-US" sz="1800" b="1" dirty="0"/>
          </a:p>
          <a:p>
            <a:pPr marL="182880">
              <a:spcBef>
                <a:spcPts val="296"/>
              </a:spcBef>
            </a:pPr>
            <a:r>
              <a:rPr lang="en-US" sz="1800" b="1" dirty="0">
                <a:solidFill>
                  <a:srgbClr val="0000FF"/>
                </a:solidFill>
              </a:rPr>
              <a:t>‒</a:t>
            </a:r>
            <a:r>
              <a:rPr lang="en-US" sz="1800" b="1" spc="90" dirty="0">
                <a:solidFill>
                  <a:srgbClr val="0000FF"/>
                </a:solidFill>
              </a:rPr>
              <a:t> </a:t>
            </a:r>
            <a:r>
              <a:rPr lang="en-US" sz="1800" b="1" dirty="0">
                <a:solidFill>
                  <a:srgbClr val="0000FF"/>
                </a:solidFill>
              </a:rPr>
              <a:t>Solar</a:t>
            </a:r>
            <a:r>
              <a:rPr lang="en-US" sz="1800" b="1" spc="-30" dirty="0">
                <a:solidFill>
                  <a:srgbClr val="0000FF"/>
                </a:solidFill>
              </a:rPr>
              <a:t> </a:t>
            </a:r>
            <a:r>
              <a:rPr lang="en-US" sz="1800" b="1" spc="-15" dirty="0">
                <a:solidFill>
                  <a:srgbClr val="0000FF"/>
                </a:solidFill>
              </a:rPr>
              <a:t>Cycle</a:t>
            </a:r>
            <a:endParaRPr lang="en-US" sz="1800" b="1" dirty="0"/>
          </a:p>
          <a:p>
            <a:pPr marL="182403" indent="-172878">
              <a:spcBef>
                <a:spcPts val="382"/>
              </a:spcBef>
              <a:buFont typeface="Arial"/>
              <a:buChar char="•"/>
              <a:tabLst>
                <a:tab pos="182403" algn="l"/>
              </a:tabLst>
            </a:pPr>
            <a:r>
              <a:rPr lang="en-US" sz="1800" b="1" dirty="0"/>
              <a:t>Why</a:t>
            </a:r>
            <a:r>
              <a:rPr lang="en-US" sz="1800" b="1" spc="-26" dirty="0"/>
              <a:t> </a:t>
            </a:r>
            <a:r>
              <a:rPr lang="en-US" sz="1800" b="1" dirty="0"/>
              <a:t>do</a:t>
            </a:r>
            <a:r>
              <a:rPr lang="en-US" sz="1800" b="1" spc="-23" dirty="0"/>
              <a:t> </a:t>
            </a:r>
            <a:r>
              <a:rPr lang="en-US" sz="1800" b="1" dirty="0"/>
              <a:t>environments</a:t>
            </a:r>
            <a:r>
              <a:rPr lang="en-US" sz="1800" b="1" spc="-15" dirty="0"/>
              <a:t> </a:t>
            </a:r>
            <a:r>
              <a:rPr lang="en-US" sz="1800" b="1" spc="-8" dirty="0"/>
              <a:t>matter?</a:t>
            </a:r>
          </a:p>
          <a:p>
            <a:pPr marL="182403" indent="-172878">
              <a:spcBef>
                <a:spcPts val="398"/>
              </a:spcBef>
              <a:buFont typeface="Arial"/>
              <a:buChar char="•"/>
              <a:tabLst>
                <a:tab pos="182403" algn="l"/>
              </a:tabLst>
            </a:pPr>
            <a:r>
              <a:rPr lang="en-US" sz="1800" b="1" spc="-8" dirty="0"/>
              <a:t>Summary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BE39811-CCFB-642F-91C6-892F4DC828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Section Topics/Outline</a:t>
            </a:r>
          </a:p>
        </p:txBody>
      </p:sp>
    </p:spTree>
    <p:extLst>
      <p:ext uri="{BB962C8B-B14F-4D97-AF65-F5344CB8AC3E}">
        <p14:creationId xmlns:p14="http://schemas.microsoft.com/office/powerpoint/2010/main" val="3478000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2236" y="1373067"/>
            <a:ext cx="4048647" cy="3740287"/>
          </a:xfrm>
          <a:prstGeom prst="rect">
            <a:avLst/>
          </a:prstGeom>
        </p:spPr>
        <p:txBody>
          <a:bodyPr vert="horz" wrap="square" lIns="0" tIns="35719" rIns="0" bIns="0" rtlCol="0">
            <a:spAutoFit/>
          </a:bodyPr>
          <a:lstStyle/>
          <a:p>
            <a:pPr marL="182880" marR="30004" indent="-173831">
              <a:lnSpc>
                <a:spcPts val="1800"/>
              </a:lnSpc>
              <a:spcBef>
                <a:spcPts val="281"/>
              </a:spcBef>
              <a:buFont typeface="Arial"/>
              <a:buChar char="•"/>
              <a:tabLst>
                <a:tab pos="182880" algn="l"/>
              </a:tabLst>
            </a:pP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Sun’s</a:t>
            </a:r>
            <a:r>
              <a:rPr sz="1800" b="1" spc="-26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serves</a:t>
            </a:r>
            <a:r>
              <a:rPr sz="1800" b="1" spc="-38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as</a:t>
            </a:r>
            <a:r>
              <a:rPr sz="1800" b="1" spc="-26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both</a:t>
            </a:r>
            <a:r>
              <a:rPr sz="1800" b="1" spc="-19" dirty="0">
                <a:latin typeface="Arial"/>
                <a:cs typeface="Arial"/>
              </a:rPr>
              <a:t> </a:t>
            </a:r>
            <a:r>
              <a:rPr sz="1800" b="1" spc="-38" dirty="0">
                <a:latin typeface="Arial"/>
                <a:cs typeface="Arial"/>
              </a:rPr>
              <a:t>a </a:t>
            </a:r>
            <a:r>
              <a:rPr sz="1800" b="1" dirty="0">
                <a:latin typeface="Arial"/>
                <a:cs typeface="Arial"/>
              </a:rPr>
              <a:t>producer</a:t>
            </a:r>
            <a:r>
              <a:rPr sz="1800" b="1" spc="-3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3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modulator</a:t>
            </a:r>
            <a:r>
              <a:rPr sz="1800" b="1" spc="-3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8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particles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-19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23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space</a:t>
            </a:r>
            <a:r>
              <a:rPr sz="1800" b="1" spc="-23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environment</a:t>
            </a:r>
            <a:endParaRPr sz="1800" dirty="0">
              <a:latin typeface="Arial"/>
              <a:cs typeface="Arial"/>
            </a:endParaRPr>
          </a:p>
          <a:p>
            <a:pPr marL="267653">
              <a:spcBef>
                <a:spcPts val="240"/>
              </a:spcBef>
            </a:pPr>
            <a:r>
              <a:rPr sz="16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600" spc="13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00FF"/>
                </a:solidFill>
                <a:latin typeface="Arial"/>
                <a:cs typeface="Arial"/>
              </a:rPr>
              <a:t>Direct</a:t>
            </a:r>
            <a:r>
              <a:rPr sz="1600" b="1" spc="-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00FF"/>
                </a:solidFill>
                <a:latin typeface="Arial"/>
                <a:cs typeface="Arial"/>
              </a:rPr>
              <a:t>Source</a:t>
            </a:r>
            <a:r>
              <a:rPr sz="1600" b="1" spc="-19" dirty="0">
                <a:solidFill>
                  <a:srgbClr val="0000FF"/>
                </a:solidFill>
                <a:latin typeface="Arial"/>
                <a:cs typeface="Arial"/>
              </a:rPr>
              <a:t> of:</a:t>
            </a:r>
            <a:endParaRPr sz="1600" dirty="0">
              <a:latin typeface="Arial"/>
              <a:cs typeface="Arial"/>
            </a:endParaRPr>
          </a:p>
          <a:p>
            <a:pPr marL="441484">
              <a:spcBef>
                <a:spcPts val="544"/>
              </a:spcBef>
            </a:pP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400" spc="28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0000FF"/>
                </a:solidFill>
                <a:latin typeface="Arial"/>
                <a:cs typeface="Arial"/>
              </a:rPr>
              <a:t>Protons</a:t>
            </a:r>
            <a:r>
              <a:rPr sz="1400" b="1" i="1" spc="-2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sz="1400" b="1" i="1" spc="-1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rgbClr val="0000FF"/>
                </a:solidFill>
                <a:latin typeface="Arial"/>
                <a:cs typeface="Arial"/>
              </a:rPr>
              <a:t>heavy</a:t>
            </a:r>
            <a:r>
              <a:rPr sz="1400" b="1" i="1" spc="-1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b="1" i="1" spc="-15" dirty="0">
                <a:solidFill>
                  <a:srgbClr val="0000FF"/>
                </a:solidFill>
                <a:latin typeface="Arial"/>
                <a:cs typeface="Arial"/>
              </a:rPr>
              <a:t>ions</a:t>
            </a:r>
            <a:endParaRPr sz="1400" dirty="0">
              <a:latin typeface="Arial"/>
              <a:cs typeface="Arial"/>
            </a:endParaRPr>
          </a:p>
          <a:p>
            <a:pPr marL="267653">
              <a:spcBef>
                <a:spcPts val="420"/>
              </a:spcBef>
            </a:pPr>
            <a:r>
              <a:rPr sz="16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600" spc="13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00FF"/>
                </a:solidFill>
                <a:latin typeface="Arial"/>
                <a:cs typeface="Arial"/>
              </a:rPr>
              <a:t>Indirect</a:t>
            </a:r>
            <a:r>
              <a:rPr sz="1600" b="1" spc="-1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00FF"/>
                </a:solidFill>
                <a:latin typeface="Arial"/>
                <a:cs typeface="Arial"/>
              </a:rPr>
              <a:t>Source</a:t>
            </a:r>
            <a:r>
              <a:rPr sz="1600" b="1" spc="-19" dirty="0">
                <a:solidFill>
                  <a:srgbClr val="0000FF"/>
                </a:solidFill>
                <a:latin typeface="Arial"/>
                <a:cs typeface="Arial"/>
              </a:rPr>
              <a:t> of:</a:t>
            </a:r>
            <a:endParaRPr sz="1600" dirty="0">
              <a:latin typeface="Arial"/>
              <a:cs typeface="Arial"/>
            </a:endParaRPr>
          </a:p>
          <a:p>
            <a:pPr marL="441484">
              <a:spcBef>
                <a:spcPts val="536"/>
              </a:spcBef>
            </a:pP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400" spc="26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00FF"/>
                </a:solidFill>
                <a:latin typeface="Arial"/>
                <a:cs typeface="Arial"/>
              </a:rPr>
              <a:t>Protons</a:t>
            </a:r>
            <a:r>
              <a:rPr sz="1400" b="1" spc="-3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sz="1400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00FF"/>
                </a:solidFill>
                <a:latin typeface="Arial"/>
                <a:cs typeface="Arial"/>
              </a:rPr>
              <a:t>electrons</a:t>
            </a:r>
            <a:r>
              <a:rPr sz="14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00FF"/>
                </a:solidFill>
                <a:latin typeface="Arial"/>
                <a:cs typeface="Arial"/>
              </a:rPr>
              <a:t>in</a:t>
            </a:r>
            <a:r>
              <a:rPr sz="1400" b="1" spc="-1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00FF"/>
                </a:solidFill>
                <a:latin typeface="Arial"/>
                <a:cs typeface="Arial"/>
              </a:rPr>
              <a:t>Van</a:t>
            </a:r>
            <a:r>
              <a:rPr sz="1400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00FF"/>
                </a:solidFill>
                <a:latin typeface="Arial"/>
                <a:cs typeface="Arial"/>
              </a:rPr>
              <a:t>Allen</a:t>
            </a:r>
            <a:r>
              <a:rPr sz="1400" b="1" spc="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b="1" spc="-8" dirty="0">
                <a:solidFill>
                  <a:srgbClr val="0000FF"/>
                </a:solidFill>
                <a:latin typeface="Arial"/>
                <a:cs typeface="Arial"/>
              </a:rPr>
              <a:t>belts</a:t>
            </a:r>
            <a:endParaRPr sz="1400" dirty="0">
              <a:latin typeface="Arial"/>
              <a:cs typeface="Arial"/>
            </a:endParaRPr>
          </a:p>
          <a:p>
            <a:pPr marL="267653">
              <a:spcBef>
                <a:spcPts val="424"/>
              </a:spcBef>
            </a:pPr>
            <a:r>
              <a:rPr sz="16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600" spc="13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00FF"/>
                </a:solidFill>
                <a:latin typeface="Arial"/>
                <a:cs typeface="Arial"/>
              </a:rPr>
              <a:t>Modulator</a:t>
            </a:r>
            <a:r>
              <a:rPr sz="1600" b="1" spc="-3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600" b="1" spc="-19" dirty="0">
                <a:solidFill>
                  <a:srgbClr val="0000FF"/>
                </a:solidFill>
                <a:latin typeface="Arial"/>
                <a:cs typeface="Arial"/>
              </a:rPr>
              <a:t>of:</a:t>
            </a:r>
            <a:endParaRPr sz="1600" dirty="0">
              <a:latin typeface="Arial"/>
              <a:cs typeface="Arial"/>
            </a:endParaRPr>
          </a:p>
          <a:p>
            <a:pPr marL="615314" marR="395288" indent="-173831">
              <a:lnSpc>
                <a:spcPct val="117600"/>
              </a:lnSpc>
              <a:spcBef>
                <a:spcPts val="270"/>
              </a:spcBef>
            </a:pPr>
            <a:r>
              <a:rPr sz="14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400" spc="25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00FF"/>
                </a:solidFill>
                <a:latin typeface="Arial"/>
                <a:cs typeface="Arial"/>
              </a:rPr>
              <a:t>Galactic Cosmic</a:t>
            </a:r>
            <a:r>
              <a:rPr sz="1400" b="1" spc="-2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00FF"/>
                </a:solidFill>
                <a:latin typeface="Arial"/>
                <a:cs typeface="Arial"/>
              </a:rPr>
              <a:t>Ray</a:t>
            </a:r>
            <a:r>
              <a:rPr sz="1400" b="1" spc="-2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00FF"/>
                </a:solidFill>
                <a:latin typeface="Arial"/>
                <a:cs typeface="Arial"/>
              </a:rPr>
              <a:t>fluxes</a:t>
            </a:r>
            <a:r>
              <a:rPr sz="1400" b="1" spc="-1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b="1" spc="-8" dirty="0">
                <a:solidFill>
                  <a:srgbClr val="0000FF"/>
                </a:solidFill>
                <a:latin typeface="Arial"/>
                <a:cs typeface="Arial"/>
              </a:rPr>
              <a:t>entering </a:t>
            </a:r>
            <a:r>
              <a:rPr sz="1400" b="1" dirty="0">
                <a:solidFill>
                  <a:srgbClr val="0000FF"/>
                </a:solidFill>
                <a:latin typeface="Arial"/>
                <a:cs typeface="Arial"/>
              </a:rPr>
              <a:t>solar</a:t>
            </a:r>
            <a:r>
              <a:rPr sz="1400" b="1" spc="-2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b="1" spc="-8" dirty="0">
                <a:solidFill>
                  <a:srgbClr val="0000FF"/>
                </a:solidFill>
                <a:latin typeface="Arial"/>
                <a:cs typeface="Arial"/>
              </a:rPr>
              <a:t>system</a:t>
            </a:r>
            <a:endParaRPr sz="1400" dirty="0">
              <a:latin typeface="Arial"/>
              <a:cs typeface="Arial"/>
            </a:endParaRPr>
          </a:p>
          <a:p>
            <a:pPr marL="182880" marR="3810" indent="-173831">
              <a:lnSpc>
                <a:spcPts val="1800"/>
              </a:lnSpc>
              <a:spcBef>
                <a:spcPts val="934"/>
              </a:spcBef>
              <a:buFont typeface="Arial"/>
              <a:buChar char="•"/>
              <a:tabLst>
                <a:tab pos="182880" algn="l"/>
              </a:tabLst>
            </a:pP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41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solar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cycle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determines</a:t>
            </a:r>
            <a:r>
              <a:rPr sz="1800" b="1" spc="-38" dirty="0">
                <a:latin typeface="Arial"/>
                <a:cs typeface="Arial"/>
              </a:rPr>
              <a:t> </a:t>
            </a:r>
            <a:r>
              <a:rPr sz="1800" b="1" spc="-19" dirty="0">
                <a:latin typeface="Arial"/>
                <a:cs typeface="Arial"/>
              </a:rPr>
              <a:t>the </a:t>
            </a:r>
            <a:r>
              <a:rPr sz="1800" b="1" dirty="0">
                <a:latin typeface="Arial"/>
                <a:cs typeface="Arial"/>
              </a:rPr>
              <a:t>frequency</a:t>
            </a:r>
            <a:r>
              <a:rPr sz="1800" b="1" spc="-26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solar</a:t>
            </a:r>
            <a:r>
              <a:rPr sz="1800" b="1" spc="-41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events</a:t>
            </a:r>
            <a:r>
              <a:rPr sz="1800" b="1" spc="-3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which </a:t>
            </a:r>
            <a:r>
              <a:rPr sz="1800" b="1" dirty="0">
                <a:latin typeface="Arial"/>
                <a:cs typeface="Arial"/>
              </a:rPr>
              <a:t>environments</a:t>
            </a:r>
            <a:r>
              <a:rPr sz="1800" b="1" spc="-3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are</a:t>
            </a:r>
            <a:r>
              <a:rPr sz="1800" b="1" spc="-49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most</a:t>
            </a:r>
            <a:r>
              <a:rPr sz="1800" b="1" spc="-41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dominant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952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75"/>
              </a:spcBef>
            </a:pPr>
            <a:r>
              <a:rPr dirty="0"/>
              <a:t>Effects</a:t>
            </a:r>
            <a:r>
              <a:rPr spc="-45" dirty="0"/>
              <a:t> </a:t>
            </a:r>
            <a:r>
              <a:rPr dirty="0"/>
              <a:t>of</a:t>
            </a:r>
            <a:r>
              <a:rPr spc="-23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Sun</a:t>
            </a:r>
            <a:r>
              <a:rPr spc="-26" dirty="0"/>
              <a:t> </a:t>
            </a:r>
            <a:r>
              <a:rPr dirty="0"/>
              <a:t>on</a:t>
            </a:r>
            <a:r>
              <a:rPr spc="-30" dirty="0"/>
              <a:t> </a:t>
            </a:r>
            <a:r>
              <a:rPr dirty="0"/>
              <a:t>Space</a:t>
            </a:r>
            <a:r>
              <a:rPr spc="-26" dirty="0"/>
              <a:t> </a:t>
            </a:r>
            <a:r>
              <a:rPr spc="-8" dirty="0"/>
              <a:t>Environment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371708" y="1376886"/>
            <a:ext cx="4579620" cy="2961322"/>
            <a:chOff x="5828944" y="1454848"/>
            <a:chExt cx="6106160" cy="394842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28944" y="1454848"/>
              <a:ext cx="6105880" cy="394830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419849" y="2095162"/>
              <a:ext cx="3028950" cy="1188720"/>
            </a:xfrm>
            <a:custGeom>
              <a:avLst/>
              <a:gdLst/>
              <a:ahLst/>
              <a:cxnLst/>
              <a:rect l="l" t="t" r="r" b="b"/>
              <a:pathLst>
                <a:path w="3028950" h="1188720">
                  <a:moveTo>
                    <a:pt x="2434590" y="0"/>
                  </a:moveTo>
                  <a:lnTo>
                    <a:pt x="2434590" y="297179"/>
                  </a:lnTo>
                  <a:lnTo>
                    <a:pt x="0" y="297179"/>
                  </a:lnTo>
                  <a:lnTo>
                    <a:pt x="0" y="891539"/>
                  </a:lnTo>
                  <a:lnTo>
                    <a:pt x="2434590" y="891539"/>
                  </a:lnTo>
                  <a:lnTo>
                    <a:pt x="2434590" y="1188719"/>
                  </a:lnTo>
                  <a:lnTo>
                    <a:pt x="3028950" y="594359"/>
                  </a:lnTo>
                  <a:lnTo>
                    <a:pt x="24345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7" name="object 7"/>
            <p:cNvSpPr/>
            <p:nvPr/>
          </p:nvSpPr>
          <p:spPr>
            <a:xfrm>
              <a:off x="6419849" y="2095160"/>
              <a:ext cx="3028950" cy="1188720"/>
            </a:xfrm>
            <a:custGeom>
              <a:avLst/>
              <a:gdLst/>
              <a:ahLst/>
              <a:cxnLst/>
              <a:rect l="l" t="t" r="r" b="b"/>
              <a:pathLst>
                <a:path w="3028950" h="1188720">
                  <a:moveTo>
                    <a:pt x="0" y="297179"/>
                  </a:moveTo>
                  <a:lnTo>
                    <a:pt x="2434590" y="297179"/>
                  </a:lnTo>
                  <a:lnTo>
                    <a:pt x="2434590" y="0"/>
                  </a:lnTo>
                  <a:lnTo>
                    <a:pt x="3028950" y="594359"/>
                  </a:lnTo>
                  <a:lnTo>
                    <a:pt x="2434590" y="1188719"/>
                  </a:lnTo>
                  <a:lnTo>
                    <a:pt x="2434590" y="891539"/>
                  </a:lnTo>
                  <a:lnTo>
                    <a:pt x="0" y="891539"/>
                  </a:lnTo>
                  <a:lnTo>
                    <a:pt x="0" y="29717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411084" y="2144463"/>
            <a:ext cx="792956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800" b="1" spc="-8" dirty="0">
                <a:latin typeface="Arial"/>
                <a:cs typeface="Arial"/>
              </a:rPr>
              <a:t>Source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811316" y="2910825"/>
            <a:ext cx="2278856" cy="898684"/>
            <a:chOff x="6415087" y="3500099"/>
            <a:chExt cx="3038475" cy="1198245"/>
          </a:xfrm>
        </p:grpSpPr>
        <p:sp>
          <p:nvSpPr>
            <p:cNvPr id="10" name="object 10"/>
            <p:cNvSpPr/>
            <p:nvPr/>
          </p:nvSpPr>
          <p:spPr>
            <a:xfrm>
              <a:off x="6419850" y="3504862"/>
              <a:ext cx="3028950" cy="1188720"/>
            </a:xfrm>
            <a:custGeom>
              <a:avLst/>
              <a:gdLst/>
              <a:ahLst/>
              <a:cxnLst/>
              <a:rect l="l" t="t" r="r" b="b"/>
              <a:pathLst>
                <a:path w="3028950" h="1188720">
                  <a:moveTo>
                    <a:pt x="2434590" y="0"/>
                  </a:moveTo>
                  <a:lnTo>
                    <a:pt x="2434590" y="297179"/>
                  </a:lnTo>
                  <a:lnTo>
                    <a:pt x="0" y="297179"/>
                  </a:lnTo>
                  <a:lnTo>
                    <a:pt x="0" y="891539"/>
                  </a:lnTo>
                  <a:lnTo>
                    <a:pt x="2434590" y="891539"/>
                  </a:lnTo>
                  <a:lnTo>
                    <a:pt x="2434590" y="1188719"/>
                  </a:lnTo>
                  <a:lnTo>
                    <a:pt x="3028950" y="594359"/>
                  </a:lnTo>
                  <a:lnTo>
                    <a:pt x="24345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6419850" y="3504862"/>
              <a:ext cx="3028950" cy="1188720"/>
            </a:xfrm>
            <a:custGeom>
              <a:avLst/>
              <a:gdLst/>
              <a:ahLst/>
              <a:cxnLst/>
              <a:rect l="l" t="t" r="r" b="b"/>
              <a:pathLst>
                <a:path w="3028950" h="1188720">
                  <a:moveTo>
                    <a:pt x="0" y="297179"/>
                  </a:moveTo>
                  <a:lnTo>
                    <a:pt x="2434590" y="297179"/>
                  </a:lnTo>
                  <a:lnTo>
                    <a:pt x="2434590" y="0"/>
                  </a:lnTo>
                  <a:lnTo>
                    <a:pt x="3028950" y="594359"/>
                  </a:lnTo>
                  <a:lnTo>
                    <a:pt x="2434590" y="1188719"/>
                  </a:lnTo>
                  <a:lnTo>
                    <a:pt x="2434590" y="891539"/>
                  </a:lnTo>
                  <a:lnTo>
                    <a:pt x="0" y="891539"/>
                  </a:lnTo>
                  <a:lnTo>
                    <a:pt x="0" y="29717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166767" y="3206092"/>
            <a:ext cx="1123950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800" b="1" spc="-8" dirty="0">
                <a:latin typeface="Arial"/>
                <a:cs typeface="Arial"/>
              </a:rPr>
              <a:t>Modulator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58541" y="1160400"/>
            <a:ext cx="3487103" cy="1614705"/>
          </a:xfrm>
          <a:prstGeom prst="rect">
            <a:avLst/>
          </a:prstGeom>
        </p:spPr>
        <p:txBody>
          <a:bodyPr vert="horz" wrap="square" lIns="0" tIns="54769" rIns="0" bIns="0" rtlCol="0">
            <a:spAutoFit/>
          </a:bodyPr>
          <a:lstStyle/>
          <a:p>
            <a:pPr marL="182403" indent="-172878" algn="just">
              <a:spcBef>
                <a:spcPts val="431"/>
              </a:spcBef>
              <a:buFont typeface="Arial"/>
              <a:buChar char="•"/>
              <a:tabLst>
                <a:tab pos="182403" algn="l"/>
              </a:tabLst>
            </a:pPr>
            <a:r>
              <a:rPr sz="1800" b="1" dirty="0">
                <a:latin typeface="Arial"/>
                <a:cs typeface="Arial"/>
              </a:rPr>
              <a:t>Sun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is</a:t>
            </a:r>
            <a:r>
              <a:rPr sz="1800" b="1" spc="-26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very</a:t>
            </a:r>
            <a:r>
              <a:rPr sz="1800" b="1" spc="-11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active</a:t>
            </a:r>
            <a:endParaRPr sz="1800" dirty="0">
              <a:latin typeface="Arial"/>
              <a:cs typeface="Arial"/>
            </a:endParaRPr>
          </a:p>
          <a:p>
            <a:pPr marL="355759" marR="3810" indent="-172878" algn="just">
              <a:spcBef>
                <a:spcPts val="300"/>
              </a:spcBef>
            </a:pPr>
            <a:r>
              <a:rPr sz="15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500" spc="9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Sunspots</a:t>
            </a:r>
            <a:r>
              <a:rPr sz="1500" b="1" spc="-1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are</a:t>
            </a:r>
            <a:r>
              <a:rPr sz="15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viewed</a:t>
            </a:r>
            <a:r>
              <a:rPr sz="1500" b="1" spc="-3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as</a:t>
            </a:r>
            <a:r>
              <a:rPr sz="15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500" b="1" spc="-1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proxy</a:t>
            </a:r>
            <a:r>
              <a:rPr sz="1500" b="1" spc="-19" dirty="0">
                <a:solidFill>
                  <a:srgbClr val="0000FF"/>
                </a:solidFill>
                <a:latin typeface="Arial"/>
                <a:cs typeface="Arial"/>
              </a:rPr>
              <a:t> to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solar</a:t>
            </a:r>
            <a:r>
              <a:rPr sz="1500" b="1" spc="-1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activity</a:t>
            </a:r>
            <a:endParaRPr sz="1500" dirty="0">
              <a:latin typeface="Arial"/>
              <a:cs typeface="Arial"/>
            </a:endParaRPr>
          </a:p>
          <a:p>
            <a:pPr marL="181928" marR="83820" indent="-172878" algn="just">
              <a:lnSpc>
                <a:spcPts val="1800"/>
              </a:lnSpc>
              <a:spcBef>
                <a:spcPts val="743"/>
              </a:spcBef>
              <a:buFont typeface="Arial"/>
              <a:buChar char="•"/>
              <a:tabLst>
                <a:tab pos="182880" algn="l"/>
              </a:tabLst>
            </a:pPr>
            <a:r>
              <a:rPr sz="1800" b="1" dirty="0">
                <a:latin typeface="Arial"/>
                <a:cs typeface="Arial"/>
              </a:rPr>
              <a:t>Region</a:t>
            </a:r>
            <a:r>
              <a:rPr sz="1800" b="1" spc="-26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is</a:t>
            </a:r>
            <a:r>
              <a:rPr sz="1800" b="1" spc="-26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cooler</a:t>
            </a:r>
            <a:r>
              <a:rPr sz="1800" b="1" spc="-19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19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appears 	</a:t>
            </a:r>
            <a:r>
              <a:rPr sz="1800" b="1" dirty="0">
                <a:latin typeface="Arial"/>
                <a:cs typeface="Arial"/>
              </a:rPr>
              <a:t>darker</a:t>
            </a:r>
            <a:r>
              <a:rPr sz="1800" b="1" spc="-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when</a:t>
            </a:r>
            <a:r>
              <a:rPr sz="1800" b="1" spc="-41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viewed</a:t>
            </a:r>
            <a:r>
              <a:rPr sz="1800" b="1" spc="-38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-19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visible 	light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99498" y="3170596"/>
            <a:ext cx="3663553" cy="17870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203222" y="5012150"/>
            <a:ext cx="3740468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dirty="0">
                <a:latin typeface="Arial"/>
                <a:cs typeface="Arial"/>
              </a:rPr>
              <a:t>Images</a:t>
            </a:r>
            <a:r>
              <a:rPr sz="1050" b="1" spc="-41" dirty="0">
                <a:latin typeface="Arial"/>
                <a:cs typeface="Arial"/>
              </a:rPr>
              <a:t> </a:t>
            </a:r>
            <a:r>
              <a:rPr sz="1050" b="1" spc="-15" dirty="0">
                <a:latin typeface="Arial"/>
                <a:cs typeface="Arial"/>
              </a:rPr>
              <a:t>Taken</a:t>
            </a:r>
            <a:r>
              <a:rPr sz="1050" b="1" spc="-38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Feb.</a:t>
            </a:r>
            <a:r>
              <a:rPr sz="1050" b="1" spc="-30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3,</a:t>
            </a:r>
            <a:r>
              <a:rPr sz="1050" b="1" spc="-30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2002</a:t>
            </a:r>
            <a:r>
              <a:rPr sz="1050" b="1" spc="-30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(Credit:</a:t>
            </a:r>
            <a:r>
              <a:rPr sz="1050" b="1" spc="-41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ESA</a:t>
            </a:r>
            <a:r>
              <a:rPr sz="1050" b="1" spc="-60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and</a:t>
            </a:r>
            <a:r>
              <a:rPr sz="1050" b="1" spc="-30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NASA</a:t>
            </a:r>
            <a:r>
              <a:rPr sz="1050" b="1" spc="-38" dirty="0">
                <a:latin typeface="Arial"/>
                <a:cs typeface="Arial"/>
              </a:rPr>
              <a:t> </a:t>
            </a:r>
            <a:r>
              <a:rPr sz="1050" b="1" spc="-8" dirty="0">
                <a:latin typeface="Arial"/>
                <a:cs typeface="Arial"/>
              </a:rPr>
              <a:t>(SOHO))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84722" y="2948187"/>
            <a:ext cx="1026795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>
              <a:spcBef>
                <a:spcPts val="75"/>
              </a:spcBef>
            </a:pPr>
            <a:r>
              <a:rPr sz="1350" b="1" dirty="0">
                <a:latin typeface="Arial"/>
                <a:cs typeface="Arial"/>
              </a:rPr>
              <a:t>Visible</a:t>
            </a:r>
            <a:r>
              <a:rPr sz="1350" b="1" spc="-49" dirty="0">
                <a:latin typeface="Arial"/>
                <a:cs typeface="Arial"/>
              </a:rPr>
              <a:t> </a:t>
            </a:r>
            <a:r>
              <a:rPr sz="1350" b="1" spc="-8" dirty="0">
                <a:latin typeface="Arial"/>
                <a:cs typeface="Arial"/>
              </a:rPr>
              <a:t>Light</a:t>
            </a:r>
            <a:endParaRPr sz="13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59572" y="2931042"/>
            <a:ext cx="1315879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>
              <a:spcBef>
                <a:spcPts val="75"/>
              </a:spcBef>
            </a:pPr>
            <a:r>
              <a:rPr sz="1350" b="1" dirty="0">
                <a:latin typeface="Arial"/>
                <a:cs typeface="Arial"/>
              </a:rPr>
              <a:t>Ultraviolet</a:t>
            </a:r>
            <a:r>
              <a:rPr sz="1350" b="1" spc="-49" dirty="0">
                <a:latin typeface="Arial"/>
                <a:cs typeface="Arial"/>
              </a:rPr>
              <a:t> </a:t>
            </a:r>
            <a:r>
              <a:rPr sz="1350" b="1" spc="-8" dirty="0">
                <a:latin typeface="Arial"/>
                <a:cs typeface="Arial"/>
              </a:rPr>
              <a:t>Light</a:t>
            </a:r>
            <a:endParaRPr sz="13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xfrm>
            <a:off x="529830" y="33861"/>
            <a:ext cx="8004391" cy="859049"/>
          </a:xfrm>
          <a:prstGeom prst="rect">
            <a:avLst/>
          </a:prstGeom>
        </p:spPr>
        <p:txBody>
          <a:bodyPr vert="horz" wrap="square" lIns="0" tIns="90011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7938" marR="3810" indent="-7938">
              <a:lnSpc>
                <a:spcPct val="78100"/>
              </a:lnSpc>
              <a:spcBef>
                <a:spcPts val="709"/>
              </a:spcBef>
            </a:pPr>
            <a:r>
              <a:rPr dirty="0"/>
              <a:t>The</a:t>
            </a:r>
            <a:r>
              <a:rPr spc="-30" dirty="0"/>
              <a:t> </a:t>
            </a:r>
            <a:r>
              <a:rPr dirty="0"/>
              <a:t>Sun</a:t>
            </a:r>
            <a:r>
              <a:rPr spc="-23" dirty="0"/>
              <a:t> </a:t>
            </a:r>
            <a:r>
              <a:rPr dirty="0"/>
              <a:t>and</a:t>
            </a:r>
            <a:r>
              <a:rPr spc="-23" dirty="0"/>
              <a:t> </a:t>
            </a:r>
            <a:r>
              <a:rPr dirty="0"/>
              <a:t>It’s</a:t>
            </a:r>
            <a:r>
              <a:rPr spc="-26" dirty="0"/>
              <a:t> </a:t>
            </a:r>
            <a:r>
              <a:rPr dirty="0"/>
              <a:t>Effect</a:t>
            </a:r>
            <a:r>
              <a:rPr spc="-23" dirty="0"/>
              <a:t> </a:t>
            </a:r>
            <a:r>
              <a:rPr dirty="0"/>
              <a:t>on</a:t>
            </a:r>
            <a:r>
              <a:rPr spc="-23" dirty="0"/>
              <a:t> </a:t>
            </a:r>
            <a:r>
              <a:rPr dirty="0"/>
              <a:t>the</a:t>
            </a:r>
            <a:r>
              <a:rPr spc="-26" dirty="0"/>
              <a:t> </a:t>
            </a:r>
            <a:r>
              <a:rPr dirty="0"/>
              <a:t>Natural</a:t>
            </a:r>
            <a:r>
              <a:rPr spc="-34" dirty="0"/>
              <a:t> </a:t>
            </a:r>
            <a:r>
              <a:rPr spc="-8" dirty="0"/>
              <a:t>Space Environment</a:t>
            </a:r>
            <a:endParaRPr dirty="0"/>
          </a:p>
        </p:txBody>
      </p:sp>
      <p:grpSp>
        <p:nvGrpSpPr>
          <p:cNvPr id="8" name="object 8"/>
          <p:cNvGrpSpPr/>
          <p:nvPr/>
        </p:nvGrpSpPr>
        <p:grpSpPr>
          <a:xfrm>
            <a:off x="103727" y="1283084"/>
            <a:ext cx="8781098" cy="3696176"/>
            <a:chOff x="138303" y="1329778"/>
            <a:chExt cx="11708130" cy="492823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303" y="1329778"/>
              <a:ext cx="6506540" cy="488232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165337" y="3521800"/>
              <a:ext cx="2767330" cy="2690495"/>
            </a:xfrm>
            <a:custGeom>
              <a:avLst/>
              <a:gdLst/>
              <a:ahLst/>
              <a:cxnLst/>
              <a:rect l="l" t="t" r="r" b="b"/>
              <a:pathLst>
                <a:path w="2767329" h="2690495">
                  <a:moveTo>
                    <a:pt x="2767317" y="0"/>
                  </a:moveTo>
                  <a:lnTo>
                    <a:pt x="0" y="441325"/>
                  </a:lnTo>
                  <a:lnTo>
                    <a:pt x="63436" y="1788693"/>
                  </a:lnTo>
                  <a:lnTo>
                    <a:pt x="2767317" y="2690304"/>
                  </a:lnTo>
                  <a:lnTo>
                    <a:pt x="2767317" y="0"/>
                  </a:lnTo>
                  <a:close/>
                </a:path>
              </a:pathLst>
            </a:custGeom>
            <a:solidFill>
              <a:srgbClr val="FFFFFF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4165337" y="3521800"/>
              <a:ext cx="2767330" cy="2690495"/>
            </a:xfrm>
            <a:custGeom>
              <a:avLst/>
              <a:gdLst/>
              <a:ahLst/>
              <a:cxnLst/>
              <a:rect l="l" t="t" r="r" b="b"/>
              <a:pathLst>
                <a:path w="2767329" h="2690495">
                  <a:moveTo>
                    <a:pt x="0" y="441325"/>
                  </a:moveTo>
                  <a:lnTo>
                    <a:pt x="2767317" y="0"/>
                  </a:lnTo>
                  <a:lnTo>
                    <a:pt x="2767317" y="2690304"/>
                  </a:lnTo>
                  <a:lnTo>
                    <a:pt x="63436" y="1788693"/>
                  </a:lnTo>
                  <a:lnTo>
                    <a:pt x="0" y="441325"/>
                  </a:lnTo>
                  <a:close/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6932663" y="3522992"/>
              <a:ext cx="4885055" cy="2706370"/>
            </a:xfrm>
            <a:custGeom>
              <a:avLst/>
              <a:gdLst/>
              <a:ahLst/>
              <a:cxnLst/>
              <a:rect l="l" t="t" r="r" b="b"/>
              <a:pathLst>
                <a:path w="4885055" h="2706370">
                  <a:moveTo>
                    <a:pt x="0" y="0"/>
                  </a:moveTo>
                  <a:lnTo>
                    <a:pt x="4884750" y="0"/>
                  </a:lnTo>
                  <a:lnTo>
                    <a:pt x="4884750" y="2706268"/>
                  </a:lnTo>
                  <a:lnTo>
                    <a:pt x="0" y="2706268"/>
                  </a:lnTo>
                  <a:lnTo>
                    <a:pt x="0" y="0"/>
                  </a:lnTo>
                  <a:close/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6932657" y="3832470"/>
              <a:ext cx="0" cy="2357755"/>
            </a:xfrm>
            <a:custGeom>
              <a:avLst/>
              <a:gdLst/>
              <a:ahLst/>
              <a:cxnLst/>
              <a:rect l="l" t="t" r="r" b="b"/>
              <a:pathLst>
                <a:path h="2357754">
                  <a:moveTo>
                    <a:pt x="0" y="0"/>
                  </a:moveTo>
                  <a:lnTo>
                    <a:pt x="0" y="2357608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6932655" y="3550371"/>
              <a:ext cx="0" cy="282575"/>
            </a:xfrm>
            <a:custGeom>
              <a:avLst/>
              <a:gdLst/>
              <a:ahLst/>
              <a:cxnLst/>
              <a:rect l="l" t="t" r="r" b="b"/>
              <a:pathLst>
                <a:path h="282575">
                  <a:moveTo>
                    <a:pt x="0" y="0"/>
                  </a:moveTo>
                  <a:lnTo>
                    <a:pt x="0" y="282098"/>
                  </a:lnTo>
                </a:path>
              </a:pathLst>
            </a:custGeom>
            <a:ln w="571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6904080" y="3479965"/>
              <a:ext cx="57150" cy="0"/>
            </a:xfrm>
            <a:custGeom>
              <a:avLst/>
              <a:gdLst/>
              <a:ahLst/>
              <a:cxnLst/>
              <a:rect l="l" t="t" r="r" b="b"/>
              <a:pathLst>
                <a:path w="57150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ln w="2651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6899604" y="3521796"/>
              <a:ext cx="4885055" cy="0"/>
            </a:xfrm>
            <a:custGeom>
              <a:avLst/>
              <a:gdLst/>
              <a:ahLst/>
              <a:cxnLst/>
              <a:rect l="l" t="t" r="r" b="b"/>
              <a:pathLst>
                <a:path w="4885055">
                  <a:moveTo>
                    <a:pt x="0" y="0"/>
                  </a:moveTo>
                  <a:lnTo>
                    <a:pt x="4884750" y="0"/>
                  </a:lnTo>
                </a:path>
              </a:pathLst>
            </a:custGeom>
            <a:ln w="571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117796" y="5013365"/>
            <a:ext cx="860108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dirty="0">
                <a:latin typeface="Arial"/>
                <a:cs typeface="Arial"/>
              </a:rPr>
              <a:t>Credit:</a:t>
            </a:r>
            <a:r>
              <a:rPr sz="1050" b="1" spc="-41" dirty="0">
                <a:latin typeface="Arial"/>
                <a:cs typeface="Arial"/>
              </a:rPr>
              <a:t> </a:t>
            </a:r>
            <a:r>
              <a:rPr sz="1050" b="1" spc="-15" dirty="0">
                <a:latin typeface="Arial"/>
                <a:cs typeface="Arial"/>
              </a:rPr>
              <a:t>NASA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2547" y="1213688"/>
            <a:ext cx="4099084" cy="2569293"/>
          </a:xfrm>
          <a:prstGeom prst="rect">
            <a:avLst/>
          </a:prstGeom>
        </p:spPr>
        <p:txBody>
          <a:bodyPr vert="horz" wrap="square" lIns="0" tIns="55245" rIns="0" bIns="0" rtlCol="0">
            <a:spAutoFit/>
          </a:bodyPr>
          <a:lstStyle/>
          <a:p>
            <a:pPr marL="181928" marR="607695" indent="-172878">
              <a:lnSpc>
                <a:spcPts val="1800"/>
              </a:lnSpc>
              <a:spcBef>
                <a:spcPts val="435"/>
              </a:spcBef>
              <a:buFont typeface="Arial"/>
              <a:buChar char="•"/>
              <a:tabLst>
                <a:tab pos="182880" algn="l"/>
              </a:tabLst>
            </a:pPr>
            <a:r>
              <a:rPr sz="1800" b="1" dirty="0">
                <a:latin typeface="Arial"/>
                <a:cs typeface="Arial"/>
              </a:rPr>
              <a:t>Sun’s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activity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has</a:t>
            </a:r>
            <a:r>
              <a:rPr sz="1800" b="1" spc="-23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long-term, 	</a:t>
            </a:r>
            <a:r>
              <a:rPr sz="1800" b="1" dirty="0">
                <a:latin typeface="Arial"/>
                <a:cs typeface="Arial"/>
              </a:rPr>
              <a:t>periodic</a:t>
            </a:r>
            <a:r>
              <a:rPr sz="1800" b="1" spc="-68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behavior</a:t>
            </a:r>
            <a:endParaRPr sz="1800">
              <a:latin typeface="Arial"/>
              <a:cs typeface="Arial"/>
            </a:endParaRPr>
          </a:p>
          <a:p>
            <a:pPr marL="181928" marR="240506" indent="-172878">
              <a:lnSpc>
                <a:spcPts val="1800"/>
              </a:lnSpc>
              <a:spcBef>
                <a:spcPts val="746"/>
              </a:spcBef>
              <a:buFont typeface="Arial"/>
              <a:buChar char="•"/>
              <a:tabLst>
                <a:tab pos="182880" algn="l"/>
              </a:tabLst>
            </a:pPr>
            <a:r>
              <a:rPr sz="1800" b="1" dirty="0">
                <a:latin typeface="Arial"/>
                <a:cs typeface="Arial"/>
              </a:rPr>
              <a:t>Sunspot</a:t>
            </a:r>
            <a:r>
              <a:rPr sz="1800" b="1" spc="-41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cycle</a:t>
            </a:r>
            <a:r>
              <a:rPr sz="1800" b="1" spc="-19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indicates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34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sun’s 	</a:t>
            </a:r>
            <a:r>
              <a:rPr sz="1800" b="1" dirty="0">
                <a:latin typeface="Arial"/>
                <a:cs typeface="Arial"/>
              </a:rPr>
              <a:t>magnetic</a:t>
            </a:r>
            <a:r>
              <a:rPr sz="1800" b="1" spc="-53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activity</a:t>
            </a:r>
            <a:r>
              <a:rPr sz="1800" b="1" spc="-49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levels</a:t>
            </a:r>
            <a:endParaRPr sz="1800">
              <a:latin typeface="Arial"/>
              <a:cs typeface="Arial"/>
            </a:endParaRPr>
          </a:p>
          <a:p>
            <a:pPr marL="355759" marR="3810" indent="-172878">
              <a:spcBef>
                <a:spcPts val="307"/>
              </a:spcBef>
            </a:pPr>
            <a:r>
              <a:rPr sz="15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500" spc="7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Approximately</a:t>
            </a:r>
            <a:r>
              <a:rPr sz="1500" b="1" spc="-4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11</a:t>
            </a:r>
            <a:r>
              <a:rPr sz="1500" b="1" spc="-3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year</a:t>
            </a:r>
            <a:r>
              <a:rPr sz="1500" b="1" spc="-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cycle</a:t>
            </a:r>
            <a:r>
              <a:rPr sz="15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but</a:t>
            </a:r>
            <a:r>
              <a:rPr sz="1500" b="1" spc="-1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can</a:t>
            </a:r>
            <a:r>
              <a:rPr sz="1500" b="1" spc="-3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15" dirty="0">
                <a:solidFill>
                  <a:srgbClr val="0000FF"/>
                </a:solidFill>
                <a:latin typeface="Arial"/>
                <a:cs typeface="Arial"/>
              </a:rPr>
              <a:t>vary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in</a:t>
            </a:r>
            <a:r>
              <a:rPr sz="1500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amplitude</a:t>
            </a:r>
            <a:r>
              <a:rPr sz="1500" b="1" spc="-3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sz="1500" b="1" spc="-1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duration</a:t>
            </a:r>
            <a:endParaRPr sz="1500">
              <a:latin typeface="Arial"/>
              <a:cs typeface="Arial"/>
            </a:endParaRPr>
          </a:p>
          <a:p>
            <a:pPr marL="355282" marR="100013" indent="-172403">
              <a:spcBef>
                <a:spcPts val="300"/>
              </a:spcBef>
            </a:pPr>
            <a:r>
              <a:rPr sz="15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500" spc="7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Solar</a:t>
            </a:r>
            <a:r>
              <a:rPr sz="1500" b="1" spc="-3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maximum</a:t>
            </a:r>
            <a:r>
              <a:rPr sz="1500" b="1" spc="-3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–</a:t>
            </a:r>
            <a:r>
              <a:rPr sz="1500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typically</a:t>
            </a:r>
            <a:r>
              <a:rPr sz="1500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7-year</a:t>
            </a:r>
            <a:r>
              <a:rPr sz="1500" b="1" spc="-1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period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when</a:t>
            </a:r>
            <a:r>
              <a:rPr sz="1500" b="1" spc="-4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activity</a:t>
            </a:r>
            <a:r>
              <a:rPr sz="1500" b="1" spc="-1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levels</a:t>
            </a:r>
            <a:r>
              <a:rPr sz="1500" b="1" spc="-1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are</a:t>
            </a:r>
            <a:r>
              <a:rPr sz="1500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higher</a:t>
            </a:r>
            <a:endParaRPr sz="1500">
              <a:latin typeface="Arial"/>
              <a:cs typeface="Arial"/>
            </a:endParaRPr>
          </a:p>
          <a:p>
            <a:pPr marL="355282" marR="143351" indent="-172403">
              <a:spcBef>
                <a:spcPts val="296"/>
              </a:spcBef>
            </a:pPr>
            <a:r>
              <a:rPr sz="15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500" spc="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Solar</a:t>
            </a:r>
            <a:r>
              <a:rPr sz="1500" b="1" spc="-3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minimum</a:t>
            </a:r>
            <a:r>
              <a:rPr sz="1500" b="1" spc="-3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–</a:t>
            </a:r>
            <a:r>
              <a:rPr sz="15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typically</a:t>
            </a:r>
            <a:r>
              <a:rPr sz="15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4-year</a:t>
            </a:r>
            <a:r>
              <a:rPr sz="1500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period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when</a:t>
            </a:r>
            <a:r>
              <a:rPr sz="1500" b="1" spc="-4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activity</a:t>
            </a:r>
            <a:r>
              <a:rPr sz="1500" b="1" spc="-1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levels</a:t>
            </a:r>
            <a:r>
              <a:rPr sz="1500" b="1" spc="-1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are</a:t>
            </a:r>
            <a:r>
              <a:rPr sz="1500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lower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529830" y="141892"/>
            <a:ext cx="8004391" cy="642988"/>
          </a:xfrm>
          <a:prstGeom prst="rect">
            <a:avLst/>
          </a:prstGeom>
        </p:spPr>
        <p:txBody>
          <a:bodyPr vert="horz" wrap="square" lIns="0" tIns="14909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7938">
              <a:spcBef>
                <a:spcPts val="75"/>
              </a:spcBef>
            </a:pPr>
            <a:r>
              <a:rPr dirty="0"/>
              <a:t>The</a:t>
            </a:r>
            <a:r>
              <a:rPr spc="-34" dirty="0"/>
              <a:t> </a:t>
            </a:r>
            <a:r>
              <a:rPr dirty="0"/>
              <a:t>Sunspot</a:t>
            </a:r>
            <a:r>
              <a:rPr spc="-30" dirty="0"/>
              <a:t> </a:t>
            </a:r>
            <a:r>
              <a:rPr spc="-15" dirty="0"/>
              <a:t>Cycle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720275" y="1154859"/>
            <a:ext cx="4421505" cy="4070509"/>
            <a:chOff x="6293700" y="1158811"/>
            <a:chExt cx="5895340" cy="542734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93700" y="3364814"/>
              <a:ext cx="5895251" cy="322092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99094" y="1158811"/>
              <a:ext cx="4065219" cy="290845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050341" y="5062864"/>
            <a:ext cx="1008698" cy="124554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750" dirty="0">
                <a:latin typeface="Arial"/>
                <a:cs typeface="Arial"/>
              </a:rPr>
              <a:t>Courtesy</a:t>
            </a:r>
            <a:r>
              <a:rPr sz="750" spc="-38" dirty="0">
                <a:latin typeface="Arial"/>
                <a:cs typeface="Arial"/>
              </a:rPr>
              <a:t> </a:t>
            </a:r>
            <a:r>
              <a:rPr sz="750" spc="-8" dirty="0">
                <a:latin typeface="Arial"/>
                <a:cs typeface="Arial"/>
              </a:rPr>
              <a:t>NOAA/SWPC</a:t>
            </a:r>
            <a:endParaRPr sz="7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15603" y="3174023"/>
            <a:ext cx="682466" cy="124554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750" dirty="0">
                <a:solidFill>
                  <a:srgbClr val="FFFFFF"/>
                </a:solidFill>
                <a:latin typeface="Arial"/>
                <a:cs typeface="Arial"/>
              </a:rPr>
              <a:t>Courtesy</a:t>
            </a:r>
            <a:r>
              <a:rPr sz="75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50" spc="-15" dirty="0">
                <a:solidFill>
                  <a:srgbClr val="FFFFFF"/>
                </a:solidFill>
                <a:latin typeface="Arial"/>
                <a:cs typeface="Arial"/>
              </a:rPr>
              <a:t>NASA</a:t>
            </a:r>
            <a:endParaRPr sz="7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73445" y="4966881"/>
            <a:ext cx="230838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b="1" spc="-8" dirty="0">
                <a:latin typeface="Arial"/>
                <a:cs typeface="Arial"/>
              </a:rPr>
              <a:t>https://</a:t>
            </a:r>
            <a:r>
              <a:rPr sz="1350" b="1" spc="-8" dirty="0">
                <a:latin typeface="Arial"/>
                <a:cs typeface="Arial"/>
                <a:hlinkClick r:id="rId5"/>
              </a:rPr>
              <a:t>www.swpc.noaa.gov/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E7FB4-2F03-50B2-80D9-AF1F757C3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A17E0CA5-3276-B75D-9314-0DBD00268216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0" y="285750"/>
            <a:ext cx="0" cy="1317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069"/>
              </a:lnSpc>
            </a:pPr>
            <a:fld id="{81D60167-4931-47E6-BA6A-407CBD079E47}" type="slidenum">
              <a:rPr spc="-38" dirty="0">
                <a:solidFill>
                  <a:srgbClr val="FFFFFF"/>
                </a:solidFill>
              </a:rPr>
              <a:pPr marL="76200">
                <a:lnSpc>
                  <a:spcPts val="1069"/>
                </a:lnSpc>
              </a:pPr>
              <a:t>15</a:t>
            </a:fld>
            <a:endParaRPr spc="-38" dirty="0">
              <a:solidFill>
                <a:srgbClr val="FFFFFF"/>
              </a:solidFill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FB967988-BF0D-6186-FAC4-A352F05F5B96}"/>
              </a:ext>
            </a:extLst>
          </p:cNvPr>
          <p:cNvSpPr txBox="1"/>
          <p:nvPr/>
        </p:nvSpPr>
        <p:spPr>
          <a:xfrm>
            <a:off x="744846" y="1181476"/>
            <a:ext cx="7361873" cy="1590339"/>
          </a:xfrm>
          <a:prstGeom prst="rect">
            <a:avLst/>
          </a:prstGeom>
        </p:spPr>
        <p:txBody>
          <a:bodyPr vert="horz" wrap="square" lIns="0" tIns="58579" rIns="0" bIns="0" rtlCol="0">
            <a:spAutoFit/>
          </a:bodyPr>
          <a:lstStyle/>
          <a:p>
            <a:pPr marL="182403" indent="-172878">
              <a:spcBef>
                <a:spcPts val="461"/>
              </a:spcBef>
              <a:buClr>
                <a:srgbClr val="E6E6E6"/>
              </a:buClr>
              <a:buFont typeface="Arial"/>
              <a:buChar char="•"/>
              <a:tabLst>
                <a:tab pos="182403" algn="l"/>
              </a:tabLst>
            </a:pPr>
            <a:r>
              <a:rPr lang="en-US" sz="1800" b="1" dirty="0">
                <a:solidFill>
                  <a:srgbClr val="E6E6E6"/>
                </a:solidFill>
                <a:latin typeface="Arial"/>
                <a:cs typeface="Arial"/>
              </a:rPr>
              <a:t>What</a:t>
            </a:r>
            <a:r>
              <a:rPr lang="en-US" sz="1800" b="1" spc="-30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lang="en-US" sz="1800" b="1" dirty="0">
                <a:solidFill>
                  <a:srgbClr val="E6E6E6"/>
                </a:solidFill>
                <a:latin typeface="Arial"/>
                <a:cs typeface="Arial"/>
              </a:rPr>
              <a:t>are</a:t>
            </a:r>
            <a:r>
              <a:rPr lang="en-US" sz="1800" b="1" spc="-26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lang="en-US" sz="1800" b="1" dirty="0">
                <a:solidFill>
                  <a:srgbClr val="E6E6E6"/>
                </a:solidFill>
                <a:latin typeface="Arial"/>
                <a:cs typeface="Arial"/>
              </a:rPr>
              <a:t>the</a:t>
            </a:r>
            <a:r>
              <a:rPr lang="en-US" sz="1800" b="1" spc="-30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lang="en-US" sz="1800" b="1" dirty="0">
                <a:solidFill>
                  <a:srgbClr val="E6E6E6"/>
                </a:solidFill>
                <a:latin typeface="Arial"/>
                <a:cs typeface="Arial"/>
              </a:rPr>
              <a:t>sources</a:t>
            </a:r>
            <a:r>
              <a:rPr lang="en-US" sz="1800" b="1" spc="-19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lang="en-US" sz="1800" b="1" dirty="0">
                <a:solidFill>
                  <a:srgbClr val="E6E6E6"/>
                </a:solidFill>
                <a:latin typeface="Arial"/>
                <a:cs typeface="Arial"/>
              </a:rPr>
              <a:t>of</a:t>
            </a:r>
            <a:r>
              <a:rPr lang="en-US" sz="1800" b="1" spc="-30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lang="en-US" sz="1800" b="1" dirty="0">
                <a:solidFill>
                  <a:srgbClr val="E6E6E6"/>
                </a:solidFill>
                <a:latin typeface="Arial"/>
                <a:cs typeface="Arial"/>
              </a:rPr>
              <a:t>the</a:t>
            </a:r>
            <a:r>
              <a:rPr lang="en-US" sz="1800" b="1" spc="-30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lang="en-US" sz="1800" b="1" dirty="0">
                <a:solidFill>
                  <a:srgbClr val="E6E6E6"/>
                </a:solidFill>
                <a:latin typeface="Arial"/>
                <a:cs typeface="Arial"/>
              </a:rPr>
              <a:t>natural</a:t>
            </a:r>
            <a:r>
              <a:rPr lang="en-US" sz="1800" b="1" spc="-30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lang="en-US" sz="1800" b="1" dirty="0">
                <a:solidFill>
                  <a:srgbClr val="E6E6E6"/>
                </a:solidFill>
                <a:latin typeface="Arial"/>
                <a:cs typeface="Arial"/>
              </a:rPr>
              <a:t>space</a:t>
            </a:r>
            <a:r>
              <a:rPr lang="en-US" sz="1800" b="1" spc="-15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lang="en-US" sz="1800" b="1" dirty="0">
                <a:solidFill>
                  <a:srgbClr val="E6E6E6"/>
                </a:solidFill>
                <a:latin typeface="Arial"/>
                <a:cs typeface="Arial"/>
              </a:rPr>
              <a:t>radiation</a:t>
            </a:r>
            <a:r>
              <a:rPr lang="en-US" sz="1800" b="1" spc="-45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lang="en-US" sz="1800" b="1" spc="-8" dirty="0">
                <a:solidFill>
                  <a:srgbClr val="E6E6E6"/>
                </a:solidFill>
                <a:latin typeface="Arial"/>
                <a:cs typeface="Arial"/>
              </a:rPr>
              <a:t>environment?</a:t>
            </a:r>
            <a:endParaRPr lang="en-US" sz="1800" dirty="0">
              <a:latin typeface="Arial"/>
              <a:cs typeface="Arial"/>
            </a:endParaRPr>
          </a:p>
          <a:p>
            <a:pPr marL="182403" indent="-172878">
              <a:spcBef>
                <a:spcPts val="386"/>
              </a:spcBef>
              <a:buFont typeface="Arial"/>
              <a:buChar char="•"/>
              <a:tabLst>
                <a:tab pos="182403" algn="l"/>
              </a:tabLst>
            </a:pPr>
            <a:r>
              <a:rPr lang="en-US" sz="1800" b="1" dirty="0">
                <a:latin typeface="Arial"/>
                <a:cs typeface="Arial"/>
              </a:rPr>
              <a:t>What</a:t>
            </a:r>
            <a:r>
              <a:rPr lang="en-US" sz="1800" b="1" spc="-23" dirty="0">
                <a:latin typeface="Arial"/>
                <a:cs typeface="Arial"/>
              </a:rPr>
              <a:t> </a:t>
            </a:r>
            <a:r>
              <a:rPr lang="en-US" sz="1800" b="1" dirty="0">
                <a:latin typeface="Arial"/>
                <a:cs typeface="Arial"/>
              </a:rPr>
              <a:t>role</a:t>
            </a:r>
            <a:r>
              <a:rPr lang="en-US" sz="1800" b="1" spc="-26" dirty="0">
                <a:latin typeface="Arial"/>
                <a:cs typeface="Arial"/>
              </a:rPr>
              <a:t> </a:t>
            </a:r>
            <a:r>
              <a:rPr lang="en-US" sz="1800" b="1" dirty="0">
                <a:latin typeface="Arial"/>
                <a:cs typeface="Arial"/>
              </a:rPr>
              <a:t>does</a:t>
            </a:r>
            <a:r>
              <a:rPr lang="en-US" sz="1800" b="1" spc="-15" dirty="0">
                <a:latin typeface="Arial"/>
                <a:cs typeface="Arial"/>
              </a:rPr>
              <a:t> </a:t>
            </a:r>
            <a:r>
              <a:rPr lang="en-US" sz="1800" b="1" dirty="0">
                <a:latin typeface="Arial"/>
                <a:cs typeface="Arial"/>
              </a:rPr>
              <a:t>the</a:t>
            </a:r>
            <a:r>
              <a:rPr lang="en-US" sz="1800" b="1" spc="-26" dirty="0">
                <a:latin typeface="Arial"/>
                <a:cs typeface="Arial"/>
              </a:rPr>
              <a:t> </a:t>
            </a:r>
            <a:r>
              <a:rPr lang="en-US" sz="1800" b="1" dirty="0">
                <a:latin typeface="Arial"/>
                <a:cs typeface="Arial"/>
              </a:rPr>
              <a:t>Sun</a:t>
            </a:r>
            <a:r>
              <a:rPr lang="en-US" sz="1800" b="1" spc="-26" dirty="0">
                <a:latin typeface="Arial"/>
                <a:cs typeface="Arial"/>
              </a:rPr>
              <a:t> </a:t>
            </a:r>
            <a:r>
              <a:rPr lang="en-US" sz="1800" b="1" dirty="0">
                <a:latin typeface="Arial"/>
                <a:cs typeface="Arial"/>
              </a:rPr>
              <a:t>play</a:t>
            </a:r>
            <a:r>
              <a:rPr lang="en-US" sz="1800" b="1" spc="-23" dirty="0">
                <a:latin typeface="Arial"/>
                <a:cs typeface="Arial"/>
              </a:rPr>
              <a:t> </a:t>
            </a:r>
            <a:r>
              <a:rPr lang="en-US" sz="1800" b="1" dirty="0">
                <a:latin typeface="Arial"/>
                <a:cs typeface="Arial"/>
              </a:rPr>
              <a:t>on</a:t>
            </a:r>
            <a:r>
              <a:rPr lang="en-US" sz="1800" b="1" spc="-26" dirty="0">
                <a:latin typeface="Arial"/>
                <a:cs typeface="Arial"/>
              </a:rPr>
              <a:t> </a:t>
            </a:r>
            <a:r>
              <a:rPr lang="en-US" sz="1800" b="1" dirty="0">
                <a:latin typeface="Arial"/>
                <a:cs typeface="Arial"/>
              </a:rPr>
              <a:t>these</a:t>
            </a:r>
            <a:r>
              <a:rPr lang="en-US" sz="1800" b="1" spc="-19" dirty="0">
                <a:latin typeface="Arial"/>
                <a:cs typeface="Arial"/>
              </a:rPr>
              <a:t> </a:t>
            </a:r>
            <a:r>
              <a:rPr lang="en-US" sz="1800" b="1" spc="-8" dirty="0">
                <a:latin typeface="Arial"/>
                <a:cs typeface="Arial"/>
              </a:rPr>
              <a:t>environments?</a:t>
            </a:r>
            <a:endParaRPr lang="en-US" sz="1800" dirty="0">
              <a:latin typeface="Arial"/>
              <a:cs typeface="Arial"/>
            </a:endParaRPr>
          </a:p>
          <a:p>
            <a:pPr marL="182880">
              <a:spcBef>
                <a:spcPts val="307"/>
              </a:spcBef>
            </a:pPr>
            <a:r>
              <a:rPr lang="en-US" sz="15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lang="en-US" sz="1500" spc="6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1500" b="1" dirty="0">
                <a:solidFill>
                  <a:srgbClr val="0000FF"/>
                </a:solidFill>
                <a:latin typeface="Arial"/>
                <a:cs typeface="Arial"/>
              </a:rPr>
              <a:t>Active</a:t>
            </a:r>
            <a:r>
              <a:rPr lang="en-US" sz="1500" b="1" spc="-3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1500" b="1" dirty="0">
                <a:solidFill>
                  <a:srgbClr val="0000FF"/>
                </a:solidFill>
                <a:latin typeface="Arial"/>
                <a:cs typeface="Arial"/>
              </a:rPr>
              <a:t>Environments</a:t>
            </a:r>
            <a:r>
              <a:rPr lang="en-US" sz="15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1500" b="1" dirty="0">
                <a:solidFill>
                  <a:srgbClr val="0000FF"/>
                </a:solidFill>
                <a:latin typeface="Arial"/>
                <a:cs typeface="Arial"/>
              </a:rPr>
              <a:t>(Solar</a:t>
            </a:r>
            <a:r>
              <a:rPr lang="en-US" sz="15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1500" b="1" dirty="0">
                <a:solidFill>
                  <a:srgbClr val="0000FF"/>
                </a:solidFill>
                <a:latin typeface="Arial"/>
                <a:cs typeface="Arial"/>
              </a:rPr>
              <a:t>Particle</a:t>
            </a:r>
            <a:r>
              <a:rPr lang="en-US" sz="1500" b="1" spc="-5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1500" b="1" spc="-8" dirty="0">
                <a:solidFill>
                  <a:srgbClr val="0000FF"/>
                </a:solidFill>
                <a:latin typeface="Arial"/>
                <a:cs typeface="Arial"/>
              </a:rPr>
              <a:t>Events)</a:t>
            </a:r>
            <a:endParaRPr lang="en-US" sz="1500" dirty="0">
              <a:latin typeface="Arial"/>
              <a:cs typeface="Arial"/>
            </a:endParaRPr>
          </a:p>
          <a:p>
            <a:pPr marL="182403" indent="-172878">
              <a:spcBef>
                <a:spcPts val="386"/>
              </a:spcBef>
              <a:buFont typeface="Arial"/>
              <a:buChar char="•"/>
              <a:tabLst>
                <a:tab pos="182403" algn="l"/>
              </a:tabLst>
            </a:pPr>
            <a:r>
              <a:rPr lang="en-US" sz="1800" b="1" dirty="0">
                <a:solidFill>
                  <a:srgbClr val="E6E6E6"/>
                </a:solidFill>
                <a:latin typeface="Arial"/>
                <a:cs typeface="Arial"/>
              </a:rPr>
              <a:t>Why</a:t>
            </a:r>
            <a:r>
              <a:rPr lang="en-US" sz="1800" b="1" spc="-26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lang="en-US" sz="1800" b="1" dirty="0">
                <a:solidFill>
                  <a:srgbClr val="E6E6E6"/>
                </a:solidFill>
                <a:latin typeface="Arial"/>
                <a:cs typeface="Arial"/>
              </a:rPr>
              <a:t>do</a:t>
            </a:r>
            <a:r>
              <a:rPr lang="en-US" sz="1800" b="1" spc="-23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lang="en-US" sz="1800" b="1" dirty="0">
                <a:solidFill>
                  <a:srgbClr val="E6E6E6"/>
                </a:solidFill>
                <a:latin typeface="Arial"/>
                <a:cs typeface="Arial"/>
              </a:rPr>
              <a:t>environments</a:t>
            </a:r>
            <a:r>
              <a:rPr lang="en-US" sz="1800" b="1" spc="-15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lang="en-US" sz="1800" b="1" spc="-8" dirty="0">
                <a:solidFill>
                  <a:srgbClr val="E6E6E6"/>
                </a:solidFill>
                <a:latin typeface="Arial"/>
                <a:cs typeface="Arial"/>
              </a:rPr>
              <a:t>matter?</a:t>
            </a:r>
            <a:endParaRPr lang="en-US" sz="1800" dirty="0">
              <a:latin typeface="Arial"/>
              <a:cs typeface="Arial"/>
            </a:endParaRPr>
          </a:p>
          <a:p>
            <a:pPr marL="182403" indent="-172878">
              <a:spcBef>
                <a:spcPts val="386"/>
              </a:spcBef>
              <a:buFont typeface="Arial"/>
              <a:buChar char="•"/>
              <a:tabLst>
                <a:tab pos="182403" algn="l"/>
              </a:tabLst>
            </a:pPr>
            <a:r>
              <a:rPr lang="en-US" sz="1800" b="1" spc="-8" dirty="0">
                <a:solidFill>
                  <a:srgbClr val="E6E6E6"/>
                </a:solidFill>
                <a:latin typeface="Arial"/>
                <a:cs typeface="Arial"/>
              </a:rPr>
              <a:t>Summary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831AC1D0-6E63-BED8-F55F-E10DA6E0AA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Section Topics/Outline</a:t>
            </a:r>
          </a:p>
        </p:txBody>
      </p:sp>
    </p:spTree>
    <p:extLst>
      <p:ext uri="{BB962C8B-B14F-4D97-AF65-F5344CB8AC3E}">
        <p14:creationId xmlns:p14="http://schemas.microsoft.com/office/powerpoint/2010/main" val="1682377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8688" y="2533860"/>
            <a:ext cx="128588" cy="614839"/>
            <a:chOff x="10038251" y="2997479"/>
            <a:chExt cx="171450" cy="819785"/>
          </a:xfrm>
        </p:grpSpPr>
        <p:sp>
          <p:nvSpPr>
            <p:cNvPr id="3" name="object 3"/>
            <p:cNvSpPr/>
            <p:nvPr/>
          </p:nvSpPr>
          <p:spPr>
            <a:xfrm>
              <a:off x="10123491" y="3026054"/>
              <a:ext cx="11430" cy="648335"/>
            </a:xfrm>
            <a:custGeom>
              <a:avLst/>
              <a:gdLst/>
              <a:ahLst/>
              <a:cxnLst/>
              <a:rect l="l" t="t" r="r" b="b"/>
              <a:pathLst>
                <a:path w="11429" h="648335">
                  <a:moveTo>
                    <a:pt x="10820" y="0"/>
                  </a:moveTo>
                  <a:lnTo>
                    <a:pt x="0" y="647801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4" name="object 4"/>
            <p:cNvSpPr/>
            <p:nvPr/>
          </p:nvSpPr>
          <p:spPr>
            <a:xfrm>
              <a:off x="10038251" y="3643863"/>
              <a:ext cx="171450" cy="173355"/>
            </a:xfrm>
            <a:custGeom>
              <a:avLst/>
              <a:gdLst/>
              <a:ahLst/>
              <a:cxnLst/>
              <a:rect l="l" t="t" r="r" b="b"/>
              <a:pathLst>
                <a:path w="171450" h="173354">
                  <a:moveTo>
                    <a:pt x="0" y="0"/>
                  </a:moveTo>
                  <a:lnTo>
                    <a:pt x="82854" y="172859"/>
                  </a:lnTo>
                  <a:lnTo>
                    <a:pt x="171424" y="2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5180772" y="1132951"/>
            <a:ext cx="2472214" cy="2894171"/>
            <a:chOff x="6907696" y="1129601"/>
            <a:chExt cx="3296285" cy="385889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92370" y="1129601"/>
              <a:ext cx="1411546" cy="141154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920396" y="3807463"/>
              <a:ext cx="972819" cy="1168400"/>
            </a:xfrm>
            <a:custGeom>
              <a:avLst/>
              <a:gdLst/>
              <a:ahLst/>
              <a:cxnLst/>
              <a:rect l="l" t="t" r="r" b="b"/>
              <a:pathLst>
                <a:path w="972820" h="1168400">
                  <a:moveTo>
                    <a:pt x="810488" y="0"/>
                  </a:moveTo>
                  <a:lnTo>
                    <a:pt x="162102" y="0"/>
                  </a:lnTo>
                  <a:lnTo>
                    <a:pt x="119011" y="5790"/>
                  </a:lnTo>
                  <a:lnTo>
                    <a:pt x="80288" y="22132"/>
                  </a:lnTo>
                  <a:lnTo>
                    <a:pt x="47480" y="47480"/>
                  </a:lnTo>
                  <a:lnTo>
                    <a:pt x="22132" y="80288"/>
                  </a:lnTo>
                  <a:lnTo>
                    <a:pt x="5790" y="119011"/>
                  </a:lnTo>
                  <a:lnTo>
                    <a:pt x="0" y="162102"/>
                  </a:lnTo>
                  <a:lnTo>
                    <a:pt x="0" y="1005827"/>
                  </a:lnTo>
                  <a:lnTo>
                    <a:pt x="5790" y="1048923"/>
                  </a:lnTo>
                  <a:lnTo>
                    <a:pt x="22132" y="1087647"/>
                  </a:lnTo>
                  <a:lnTo>
                    <a:pt x="47480" y="1120454"/>
                  </a:lnTo>
                  <a:lnTo>
                    <a:pt x="80288" y="1145800"/>
                  </a:lnTo>
                  <a:lnTo>
                    <a:pt x="119011" y="1162140"/>
                  </a:lnTo>
                  <a:lnTo>
                    <a:pt x="162102" y="1167930"/>
                  </a:lnTo>
                  <a:lnTo>
                    <a:pt x="810488" y="1167930"/>
                  </a:lnTo>
                  <a:lnTo>
                    <a:pt x="853580" y="1162140"/>
                  </a:lnTo>
                  <a:lnTo>
                    <a:pt x="892302" y="1145800"/>
                  </a:lnTo>
                  <a:lnTo>
                    <a:pt x="925110" y="1120454"/>
                  </a:lnTo>
                  <a:lnTo>
                    <a:pt x="950458" y="1087647"/>
                  </a:lnTo>
                  <a:lnTo>
                    <a:pt x="966800" y="1048923"/>
                  </a:lnTo>
                  <a:lnTo>
                    <a:pt x="972591" y="1005827"/>
                  </a:lnTo>
                  <a:lnTo>
                    <a:pt x="972591" y="162102"/>
                  </a:lnTo>
                  <a:lnTo>
                    <a:pt x="966800" y="119011"/>
                  </a:lnTo>
                  <a:lnTo>
                    <a:pt x="950458" y="80288"/>
                  </a:lnTo>
                  <a:lnTo>
                    <a:pt x="925110" y="47480"/>
                  </a:lnTo>
                  <a:lnTo>
                    <a:pt x="892302" y="22132"/>
                  </a:lnTo>
                  <a:lnTo>
                    <a:pt x="853580" y="5790"/>
                  </a:lnTo>
                  <a:lnTo>
                    <a:pt x="8104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8" name="object 8"/>
            <p:cNvSpPr/>
            <p:nvPr/>
          </p:nvSpPr>
          <p:spPr>
            <a:xfrm>
              <a:off x="6920396" y="3807463"/>
              <a:ext cx="972819" cy="1168400"/>
            </a:xfrm>
            <a:custGeom>
              <a:avLst/>
              <a:gdLst/>
              <a:ahLst/>
              <a:cxnLst/>
              <a:rect l="l" t="t" r="r" b="b"/>
              <a:pathLst>
                <a:path w="972820" h="1168400">
                  <a:moveTo>
                    <a:pt x="0" y="162102"/>
                  </a:moveTo>
                  <a:lnTo>
                    <a:pt x="5790" y="119011"/>
                  </a:lnTo>
                  <a:lnTo>
                    <a:pt x="22132" y="80288"/>
                  </a:lnTo>
                  <a:lnTo>
                    <a:pt x="47480" y="47480"/>
                  </a:lnTo>
                  <a:lnTo>
                    <a:pt x="80288" y="22132"/>
                  </a:lnTo>
                  <a:lnTo>
                    <a:pt x="119011" y="5790"/>
                  </a:lnTo>
                  <a:lnTo>
                    <a:pt x="162102" y="0"/>
                  </a:lnTo>
                  <a:lnTo>
                    <a:pt x="810488" y="0"/>
                  </a:lnTo>
                  <a:lnTo>
                    <a:pt x="853580" y="5790"/>
                  </a:lnTo>
                  <a:lnTo>
                    <a:pt x="892302" y="22132"/>
                  </a:lnTo>
                  <a:lnTo>
                    <a:pt x="925110" y="47480"/>
                  </a:lnTo>
                  <a:lnTo>
                    <a:pt x="950458" y="80288"/>
                  </a:lnTo>
                  <a:lnTo>
                    <a:pt x="966800" y="119011"/>
                  </a:lnTo>
                  <a:lnTo>
                    <a:pt x="972591" y="162102"/>
                  </a:lnTo>
                  <a:lnTo>
                    <a:pt x="972591" y="1005827"/>
                  </a:lnTo>
                  <a:lnTo>
                    <a:pt x="966800" y="1048923"/>
                  </a:lnTo>
                  <a:lnTo>
                    <a:pt x="950458" y="1087647"/>
                  </a:lnTo>
                  <a:lnTo>
                    <a:pt x="925110" y="1120454"/>
                  </a:lnTo>
                  <a:lnTo>
                    <a:pt x="892302" y="1145800"/>
                  </a:lnTo>
                  <a:lnTo>
                    <a:pt x="853580" y="1162140"/>
                  </a:lnTo>
                  <a:lnTo>
                    <a:pt x="810488" y="1167930"/>
                  </a:lnTo>
                  <a:lnTo>
                    <a:pt x="162102" y="1167930"/>
                  </a:lnTo>
                  <a:lnTo>
                    <a:pt x="119011" y="1162140"/>
                  </a:lnTo>
                  <a:lnTo>
                    <a:pt x="80288" y="1145800"/>
                  </a:lnTo>
                  <a:lnTo>
                    <a:pt x="47480" y="1120454"/>
                  </a:lnTo>
                  <a:lnTo>
                    <a:pt x="22132" y="1087647"/>
                  </a:lnTo>
                  <a:lnTo>
                    <a:pt x="5790" y="1048923"/>
                  </a:lnTo>
                  <a:lnTo>
                    <a:pt x="0" y="1005827"/>
                  </a:lnTo>
                  <a:lnTo>
                    <a:pt x="0" y="162102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ctrTitle"/>
          </p:nvPr>
        </p:nvSpPr>
        <p:spPr>
          <a:xfrm>
            <a:off x="529830" y="141892"/>
            <a:ext cx="8004391" cy="642988"/>
          </a:xfrm>
          <a:prstGeom prst="rect">
            <a:avLst/>
          </a:prstGeom>
        </p:spPr>
        <p:txBody>
          <a:bodyPr vert="horz" wrap="square" lIns="0" tIns="14909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7938">
              <a:spcBef>
                <a:spcPts val="75"/>
              </a:spcBef>
            </a:pPr>
            <a:r>
              <a:rPr dirty="0"/>
              <a:t>Solar</a:t>
            </a:r>
            <a:r>
              <a:rPr spc="-30" dirty="0"/>
              <a:t> </a:t>
            </a:r>
            <a:r>
              <a:rPr dirty="0"/>
              <a:t>Energetic</a:t>
            </a:r>
            <a:r>
              <a:rPr spc="-30" dirty="0"/>
              <a:t> </a:t>
            </a:r>
            <a:r>
              <a:rPr spc="-8" dirty="0"/>
              <a:t>Particles</a:t>
            </a: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29523" y="3297268"/>
            <a:ext cx="1918731" cy="191873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29525" y="1240840"/>
            <a:ext cx="1915102" cy="191509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350551" y="3352628"/>
            <a:ext cx="408146" cy="4251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3810" indent="1905">
              <a:spcBef>
                <a:spcPts val="75"/>
              </a:spcBef>
            </a:pPr>
            <a:r>
              <a:rPr sz="1350" b="1" spc="-71" dirty="0">
                <a:latin typeface="Arial"/>
                <a:cs typeface="Arial"/>
              </a:rPr>
              <a:t>Solar Wind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059206" y="3148661"/>
            <a:ext cx="1004888" cy="878205"/>
            <a:chOff x="10745608" y="3817215"/>
            <a:chExt cx="1339850" cy="1170940"/>
          </a:xfrm>
        </p:grpSpPr>
        <p:sp>
          <p:nvSpPr>
            <p:cNvPr id="14" name="object 14"/>
            <p:cNvSpPr/>
            <p:nvPr/>
          </p:nvSpPr>
          <p:spPr>
            <a:xfrm>
              <a:off x="10758308" y="3829915"/>
              <a:ext cx="1314450" cy="1145540"/>
            </a:xfrm>
            <a:custGeom>
              <a:avLst/>
              <a:gdLst/>
              <a:ahLst/>
              <a:cxnLst/>
              <a:rect l="l" t="t" r="r" b="b"/>
              <a:pathLst>
                <a:path w="1314450" h="1145539">
                  <a:moveTo>
                    <a:pt x="1123530" y="0"/>
                  </a:moveTo>
                  <a:lnTo>
                    <a:pt x="190919" y="0"/>
                  </a:lnTo>
                  <a:lnTo>
                    <a:pt x="147141" y="5042"/>
                  </a:lnTo>
                  <a:lnTo>
                    <a:pt x="106954" y="19406"/>
                  </a:lnTo>
                  <a:lnTo>
                    <a:pt x="71506" y="41944"/>
                  </a:lnTo>
                  <a:lnTo>
                    <a:pt x="41940" y="71511"/>
                  </a:lnTo>
                  <a:lnTo>
                    <a:pt x="19404" y="106960"/>
                  </a:lnTo>
                  <a:lnTo>
                    <a:pt x="5041" y="147145"/>
                  </a:lnTo>
                  <a:lnTo>
                    <a:pt x="0" y="190919"/>
                  </a:lnTo>
                  <a:lnTo>
                    <a:pt x="0" y="954570"/>
                  </a:lnTo>
                  <a:lnTo>
                    <a:pt x="5041" y="998343"/>
                  </a:lnTo>
                  <a:lnTo>
                    <a:pt x="19404" y="1038526"/>
                  </a:lnTo>
                  <a:lnTo>
                    <a:pt x="41940" y="1073972"/>
                  </a:lnTo>
                  <a:lnTo>
                    <a:pt x="71506" y="1103536"/>
                  </a:lnTo>
                  <a:lnTo>
                    <a:pt x="106954" y="1126072"/>
                  </a:lnTo>
                  <a:lnTo>
                    <a:pt x="147141" y="1140434"/>
                  </a:lnTo>
                  <a:lnTo>
                    <a:pt x="190919" y="1145476"/>
                  </a:lnTo>
                  <a:lnTo>
                    <a:pt x="1123530" y="1145476"/>
                  </a:lnTo>
                  <a:lnTo>
                    <a:pt x="1167308" y="1140434"/>
                  </a:lnTo>
                  <a:lnTo>
                    <a:pt x="1207495" y="1126072"/>
                  </a:lnTo>
                  <a:lnTo>
                    <a:pt x="1242943" y="1103536"/>
                  </a:lnTo>
                  <a:lnTo>
                    <a:pt x="1272509" y="1073972"/>
                  </a:lnTo>
                  <a:lnTo>
                    <a:pt x="1295045" y="1038526"/>
                  </a:lnTo>
                  <a:lnTo>
                    <a:pt x="1309408" y="998343"/>
                  </a:lnTo>
                  <a:lnTo>
                    <a:pt x="1314450" y="954570"/>
                  </a:lnTo>
                  <a:lnTo>
                    <a:pt x="1314450" y="190919"/>
                  </a:lnTo>
                  <a:lnTo>
                    <a:pt x="1309408" y="147145"/>
                  </a:lnTo>
                  <a:lnTo>
                    <a:pt x="1295045" y="106960"/>
                  </a:lnTo>
                  <a:lnTo>
                    <a:pt x="1272509" y="71511"/>
                  </a:lnTo>
                  <a:lnTo>
                    <a:pt x="1242943" y="41944"/>
                  </a:lnTo>
                  <a:lnTo>
                    <a:pt x="1207495" y="19406"/>
                  </a:lnTo>
                  <a:lnTo>
                    <a:pt x="1167308" y="5042"/>
                  </a:lnTo>
                  <a:lnTo>
                    <a:pt x="11235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10758308" y="3829915"/>
              <a:ext cx="1314450" cy="1145540"/>
            </a:xfrm>
            <a:custGeom>
              <a:avLst/>
              <a:gdLst/>
              <a:ahLst/>
              <a:cxnLst/>
              <a:rect l="l" t="t" r="r" b="b"/>
              <a:pathLst>
                <a:path w="1314450" h="1145539">
                  <a:moveTo>
                    <a:pt x="0" y="190919"/>
                  </a:moveTo>
                  <a:lnTo>
                    <a:pt x="5041" y="147145"/>
                  </a:lnTo>
                  <a:lnTo>
                    <a:pt x="19404" y="106960"/>
                  </a:lnTo>
                  <a:lnTo>
                    <a:pt x="41940" y="71511"/>
                  </a:lnTo>
                  <a:lnTo>
                    <a:pt x="71506" y="41944"/>
                  </a:lnTo>
                  <a:lnTo>
                    <a:pt x="106954" y="19406"/>
                  </a:lnTo>
                  <a:lnTo>
                    <a:pt x="147141" y="5042"/>
                  </a:lnTo>
                  <a:lnTo>
                    <a:pt x="190919" y="0"/>
                  </a:lnTo>
                  <a:lnTo>
                    <a:pt x="1123530" y="0"/>
                  </a:lnTo>
                  <a:lnTo>
                    <a:pt x="1167308" y="5042"/>
                  </a:lnTo>
                  <a:lnTo>
                    <a:pt x="1207495" y="19406"/>
                  </a:lnTo>
                  <a:lnTo>
                    <a:pt x="1242943" y="41944"/>
                  </a:lnTo>
                  <a:lnTo>
                    <a:pt x="1272509" y="71511"/>
                  </a:lnTo>
                  <a:lnTo>
                    <a:pt x="1295045" y="106960"/>
                  </a:lnTo>
                  <a:lnTo>
                    <a:pt x="1309408" y="147145"/>
                  </a:lnTo>
                  <a:lnTo>
                    <a:pt x="1314450" y="190919"/>
                  </a:lnTo>
                  <a:lnTo>
                    <a:pt x="1314450" y="954570"/>
                  </a:lnTo>
                  <a:lnTo>
                    <a:pt x="1309408" y="998343"/>
                  </a:lnTo>
                  <a:lnTo>
                    <a:pt x="1295045" y="1038526"/>
                  </a:lnTo>
                  <a:lnTo>
                    <a:pt x="1272509" y="1073972"/>
                  </a:lnTo>
                  <a:lnTo>
                    <a:pt x="1242943" y="1103536"/>
                  </a:lnTo>
                  <a:lnTo>
                    <a:pt x="1207495" y="1126072"/>
                  </a:lnTo>
                  <a:lnTo>
                    <a:pt x="1167308" y="1140434"/>
                  </a:lnTo>
                  <a:lnTo>
                    <a:pt x="1123530" y="1145476"/>
                  </a:lnTo>
                  <a:lnTo>
                    <a:pt x="190919" y="1145476"/>
                  </a:lnTo>
                  <a:lnTo>
                    <a:pt x="147141" y="1140434"/>
                  </a:lnTo>
                  <a:lnTo>
                    <a:pt x="106954" y="1126072"/>
                  </a:lnTo>
                  <a:lnTo>
                    <a:pt x="71506" y="1103536"/>
                  </a:lnTo>
                  <a:lnTo>
                    <a:pt x="41940" y="1073972"/>
                  </a:lnTo>
                  <a:lnTo>
                    <a:pt x="19404" y="1038526"/>
                  </a:lnTo>
                  <a:lnTo>
                    <a:pt x="5041" y="998343"/>
                  </a:lnTo>
                  <a:lnTo>
                    <a:pt x="0" y="954570"/>
                  </a:lnTo>
                  <a:lnTo>
                    <a:pt x="0" y="190919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182531" y="3463917"/>
            <a:ext cx="75771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b="1" spc="-64" dirty="0">
                <a:latin typeface="Arial"/>
                <a:cs typeface="Arial"/>
              </a:rPr>
              <a:t>Irradiance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037115" y="4520215"/>
            <a:ext cx="1914525" cy="423386"/>
            <a:chOff x="8049486" y="5645953"/>
            <a:chExt cx="2552700" cy="564515"/>
          </a:xfrm>
        </p:grpSpPr>
        <p:sp>
          <p:nvSpPr>
            <p:cNvPr id="18" name="object 18"/>
            <p:cNvSpPr/>
            <p:nvPr/>
          </p:nvSpPr>
          <p:spPr>
            <a:xfrm>
              <a:off x="8062186" y="5658653"/>
              <a:ext cx="2527300" cy="539115"/>
            </a:xfrm>
            <a:custGeom>
              <a:avLst/>
              <a:gdLst/>
              <a:ahLst/>
              <a:cxnLst/>
              <a:rect l="l" t="t" r="r" b="b"/>
              <a:pathLst>
                <a:path w="2527300" h="539114">
                  <a:moveTo>
                    <a:pt x="2437130" y="0"/>
                  </a:moveTo>
                  <a:lnTo>
                    <a:pt x="89789" y="0"/>
                  </a:lnTo>
                  <a:lnTo>
                    <a:pt x="54837" y="7057"/>
                  </a:lnTo>
                  <a:lnTo>
                    <a:pt x="26296" y="26301"/>
                  </a:lnTo>
                  <a:lnTo>
                    <a:pt x="7055" y="54842"/>
                  </a:lnTo>
                  <a:lnTo>
                    <a:pt x="0" y="89788"/>
                  </a:lnTo>
                  <a:lnTo>
                    <a:pt x="0" y="448919"/>
                  </a:lnTo>
                  <a:lnTo>
                    <a:pt x="7055" y="483871"/>
                  </a:lnTo>
                  <a:lnTo>
                    <a:pt x="26296" y="512411"/>
                  </a:lnTo>
                  <a:lnTo>
                    <a:pt x="54837" y="531653"/>
                  </a:lnTo>
                  <a:lnTo>
                    <a:pt x="89789" y="538708"/>
                  </a:lnTo>
                  <a:lnTo>
                    <a:pt x="2437130" y="538708"/>
                  </a:lnTo>
                  <a:lnTo>
                    <a:pt x="2472081" y="531653"/>
                  </a:lnTo>
                  <a:lnTo>
                    <a:pt x="2500622" y="512411"/>
                  </a:lnTo>
                  <a:lnTo>
                    <a:pt x="2519863" y="483871"/>
                  </a:lnTo>
                  <a:lnTo>
                    <a:pt x="2526919" y="448919"/>
                  </a:lnTo>
                  <a:lnTo>
                    <a:pt x="2526919" y="89788"/>
                  </a:lnTo>
                  <a:lnTo>
                    <a:pt x="2519863" y="54842"/>
                  </a:lnTo>
                  <a:lnTo>
                    <a:pt x="2500622" y="26301"/>
                  </a:lnTo>
                  <a:lnTo>
                    <a:pt x="2472081" y="7057"/>
                  </a:lnTo>
                  <a:lnTo>
                    <a:pt x="243713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8062186" y="5658653"/>
              <a:ext cx="2527300" cy="539115"/>
            </a:xfrm>
            <a:custGeom>
              <a:avLst/>
              <a:gdLst/>
              <a:ahLst/>
              <a:cxnLst/>
              <a:rect l="l" t="t" r="r" b="b"/>
              <a:pathLst>
                <a:path w="2527300" h="539114">
                  <a:moveTo>
                    <a:pt x="0" y="89788"/>
                  </a:moveTo>
                  <a:lnTo>
                    <a:pt x="7055" y="54842"/>
                  </a:lnTo>
                  <a:lnTo>
                    <a:pt x="26296" y="26301"/>
                  </a:lnTo>
                  <a:lnTo>
                    <a:pt x="54837" y="7057"/>
                  </a:lnTo>
                  <a:lnTo>
                    <a:pt x="89789" y="0"/>
                  </a:lnTo>
                  <a:lnTo>
                    <a:pt x="2437130" y="0"/>
                  </a:lnTo>
                  <a:lnTo>
                    <a:pt x="2472081" y="7057"/>
                  </a:lnTo>
                  <a:lnTo>
                    <a:pt x="2500622" y="26301"/>
                  </a:lnTo>
                  <a:lnTo>
                    <a:pt x="2519863" y="54842"/>
                  </a:lnTo>
                  <a:lnTo>
                    <a:pt x="2526919" y="89788"/>
                  </a:lnTo>
                  <a:lnTo>
                    <a:pt x="2526919" y="448919"/>
                  </a:lnTo>
                  <a:lnTo>
                    <a:pt x="2519863" y="483871"/>
                  </a:lnTo>
                  <a:lnTo>
                    <a:pt x="2500622" y="512411"/>
                  </a:lnTo>
                  <a:lnTo>
                    <a:pt x="2472081" y="531653"/>
                  </a:lnTo>
                  <a:lnTo>
                    <a:pt x="2437130" y="538708"/>
                  </a:lnTo>
                  <a:lnTo>
                    <a:pt x="89789" y="538708"/>
                  </a:lnTo>
                  <a:lnTo>
                    <a:pt x="54837" y="531653"/>
                  </a:lnTo>
                  <a:lnTo>
                    <a:pt x="26296" y="512411"/>
                  </a:lnTo>
                  <a:lnTo>
                    <a:pt x="7055" y="483871"/>
                  </a:lnTo>
                  <a:lnTo>
                    <a:pt x="0" y="448919"/>
                  </a:lnTo>
                  <a:lnTo>
                    <a:pt x="0" y="89788"/>
                  </a:lnTo>
                  <a:close/>
                </a:path>
              </a:pathLst>
            </a:custGeom>
            <a:ln w="254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421735" y="4505062"/>
            <a:ext cx="1143953" cy="4251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52889" marR="3810" indent="-243840">
              <a:spcBef>
                <a:spcPts val="75"/>
              </a:spcBef>
            </a:pPr>
            <a:r>
              <a:rPr sz="1350" b="1" spc="-79" dirty="0">
                <a:solidFill>
                  <a:srgbClr val="FFFFFF"/>
                </a:solidFill>
                <a:latin typeface="Arial"/>
                <a:cs typeface="Arial"/>
              </a:rPr>
              <a:t>Solar</a:t>
            </a:r>
            <a:r>
              <a:rPr sz="1350" b="1" spc="-8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50" b="1" spc="-71" dirty="0">
                <a:solidFill>
                  <a:srgbClr val="FFFFFF"/>
                </a:solidFill>
                <a:latin typeface="Arial"/>
                <a:cs typeface="Arial"/>
              </a:rPr>
              <a:t>Energetic </a:t>
            </a:r>
            <a:r>
              <a:rPr sz="1350" b="1" spc="-8" dirty="0">
                <a:solidFill>
                  <a:srgbClr val="FFFFFF"/>
                </a:solidFill>
                <a:latin typeface="Arial"/>
                <a:cs typeface="Arial"/>
              </a:rPr>
              <a:t>Particles</a:t>
            </a:r>
            <a:endParaRPr sz="13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859137" y="1480345"/>
            <a:ext cx="521018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2100" b="1" spc="-19" dirty="0">
                <a:latin typeface="Arial"/>
                <a:cs typeface="Arial"/>
              </a:rPr>
              <a:t>Sun</a:t>
            </a:r>
            <a:endParaRPr sz="21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822443" y="4983507"/>
            <a:ext cx="3065621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dirty="0">
                <a:latin typeface="Arial"/>
                <a:cs typeface="Arial"/>
              </a:rPr>
              <a:t>Image</a:t>
            </a:r>
            <a:r>
              <a:rPr sz="1050" b="1" spc="-30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credits:</a:t>
            </a:r>
            <a:r>
              <a:rPr sz="1050" b="1" spc="236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NASA</a:t>
            </a:r>
            <a:r>
              <a:rPr sz="1050" b="1" spc="-38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and</a:t>
            </a:r>
            <a:r>
              <a:rPr sz="1050" b="1" spc="-23" dirty="0">
                <a:latin typeface="Arial"/>
                <a:cs typeface="Arial"/>
              </a:rPr>
              <a:t> </a:t>
            </a:r>
            <a:r>
              <a:rPr sz="1050" b="1" spc="-8" dirty="0">
                <a:latin typeface="Arial"/>
                <a:cs typeface="Arial"/>
              </a:rPr>
              <a:t>ESA</a:t>
            </a:r>
            <a:r>
              <a:rPr sz="1050" b="1" spc="-56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(SOHO</a:t>
            </a:r>
            <a:r>
              <a:rPr sz="1050" b="1" spc="-19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and</a:t>
            </a:r>
            <a:r>
              <a:rPr sz="1050" b="1" spc="-23" dirty="0">
                <a:latin typeface="Arial"/>
                <a:cs typeface="Arial"/>
              </a:rPr>
              <a:t> </a:t>
            </a:r>
            <a:r>
              <a:rPr sz="1050" b="1" spc="-15" dirty="0">
                <a:latin typeface="Arial"/>
                <a:cs typeface="Arial"/>
              </a:rPr>
              <a:t>SDO)</a:t>
            </a:r>
            <a:endParaRPr sz="10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0486" y="1259409"/>
            <a:ext cx="2930843" cy="3588835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182880" marR="426720" indent="-173831">
              <a:spcBef>
                <a:spcPts val="79"/>
              </a:spcBef>
              <a:buFont typeface="Arial"/>
              <a:buChar char="•"/>
              <a:tabLst>
                <a:tab pos="182880" algn="l"/>
              </a:tabLst>
            </a:pPr>
            <a:r>
              <a:rPr sz="1500" b="1" dirty="0">
                <a:latin typeface="Arial"/>
                <a:cs typeface="Arial"/>
              </a:rPr>
              <a:t>Cyclical</a:t>
            </a:r>
            <a:r>
              <a:rPr sz="1500" b="1" spc="-23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(Solar</a:t>
            </a:r>
            <a:r>
              <a:rPr sz="1500" b="1" spc="-34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Max,</a:t>
            </a:r>
            <a:r>
              <a:rPr sz="1500" b="1" spc="-45" dirty="0">
                <a:latin typeface="Arial"/>
                <a:cs typeface="Arial"/>
              </a:rPr>
              <a:t> </a:t>
            </a:r>
            <a:r>
              <a:rPr sz="1500" b="1" spc="-15" dirty="0">
                <a:latin typeface="Arial"/>
                <a:cs typeface="Arial"/>
              </a:rPr>
              <a:t>Solar Min)</a:t>
            </a:r>
            <a:endParaRPr sz="1500">
              <a:latin typeface="Arial"/>
              <a:cs typeface="Arial"/>
            </a:endParaRPr>
          </a:p>
          <a:p>
            <a:pPr marL="182880">
              <a:spcBef>
                <a:spcPts val="413"/>
              </a:spcBef>
            </a:pPr>
            <a:r>
              <a:rPr sz="1275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275" spc="25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spc="-38" dirty="0">
                <a:solidFill>
                  <a:srgbClr val="0000FF"/>
                </a:solidFill>
                <a:latin typeface="Arial"/>
                <a:cs typeface="Arial"/>
              </a:rPr>
              <a:t>11-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year</a:t>
            </a:r>
            <a:r>
              <a:rPr sz="1275" b="1" spc="-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average</a:t>
            </a:r>
            <a:r>
              <a:rPr sz="1275" b="1" spc="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(9</a:t>
            </a:r>
            <a:r>
              <a:rPr sz="1275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to</a:t>
            </a:r>
            <a:r>
              <a:rPr sz="1275" b="1" spc="-2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spc="-19" dirty="0">
                <a:solidFill>
                  <a:srgbClr val="0000FF"/>
                </a:solidFill>
                <a:latin typeface="Arial"/>
                <a:cs typeface="Arial"/>
              </a:rPr>
              <a:t>13)</a:t>
            </a:r>
            <a:endParaRPr sz="1275">
              <a:latin typeface="Arial"/>
              <a:cs typeface="Arial"/>
            </a:endParaRPr>
          </a:p>
          <a:p>
            <a:pPr marL="182880">
              <a:spcBef>
                <a:spcPts val="578"/>
              </a:spcBef>
            </a:pPr>
            <a:r>
              <a:rPr sz="1275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275" spc="25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Solar</a:t>
            </a:r>
            <a:r>
              <a:rPr sz="1275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Max</a:t>
            </a:r>
            <a:r>
              <a:rPr sz="1275" b="1" spc="-2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is</a:t>
            </a:r>
            <a:r>
              <a:rPr sz="1275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more</a:t>
            </a:r>
            <a:r>
              <a:rPr sz="1275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active</a:t>
            </a:r>
            <a:r>
              <a:rPr sz="1275" b="1" spc="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spc="-8" dirty="0">
                <a:solidFill>
                  <a:srgbClr val="0000FF"/>
                </a:solidFill>
                <a:latin typeface="Arial"/>
                <a:cs typeface="Arial"/>
              </a:rPr>
              <a:t>period</a:t>
            </a:r>
            <a:endParaRPr sz="1275">
              <a:latin typeface="Arial"/>
              <a:cs typeface="Arial"/>
            </a:endParaRPr>
          </a:p>
          <a:p>
            <a:pPr marL="182880" indent="-173355">
              <a:spcBef>
                <a:spcPts val="900"/>
              </a:spcBef>
              <a:buFont typeface="Arial"/>
              <a:buChar char="•"/>
              <a:tabLst>
                <a:tab pos="182880" algn="l"/>
              </a:tabLst>
            </a:pPr>
            <a:r>
              <a:rPr sz="1500" b="1" spc="-26" dirty="0">
                <a:latin typeface="Arial"/>
                <a:cs typeface="Arial"/>
              </a:rPr>
              <a:t>Two</a:t>
            </a:r>
            <a:r>
              <a:rPr sz="1500" b="1" spc="-53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types</a:t>
            </a:r>
            <a:r>
              <a:rPr sz="1500" b="1" spc="-1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of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spc="-8" dirty="0">
                <a:latin typeface="Arial"/>
                <a:cs typeface="Arial"/>
              </a:rPr>
              <a:t>events</a:t>
            </a:r>
            <a:endParaRPr sz="1500">
              <a:latin typeface="Arial"/>
              <a:cs typeface="Arial"/>
            </a:endParaRPr>
          </a:p>
          <a:p>
            <a:pPr marL="182880">
              <a:spcBef>
                <a:spcPts val="413"/>
              </a:spcBef>
            </a:pPr>
            <a:r>
              <a:rPr sz="1275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275" spc="2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Coronal</a:t>
            </a:r>
            <a:r>
              <a:rPr sz="1275" b="1" spc="-3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Mass</a:t>
            </a:r>
            <a:r>
              <a:rPr sz="1275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Ejections</a:t>
            </a:r>
            <a:r>
              <a:rPr sz="1275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spc="-8" dirty="0">
                <a:solidFill>
                  <a:srgbClr val="0000FF"/>
                </a:solidFill>
                <a:latin typeface="Arial"/>
                <a:cs typeface="Arial"/>
              </a:rPr>
              <a:t>(CMEs)</a:t>
            </a:r>
            <a:endParaRPr sz="1275">
              <a:latin typeface="Arial"/>
              <a:cs typeface="Arial"/>
            </a:endParaRPr>
          </a:p>
          <a:p>
            <a:pPr marL="482918" lvl="1" indent="-127159">
              <a:spcBef>
                <a:spcPts val="724"/>
              </a:spcBef>
              <a:buFont typeface="Arial"/>
              <a:buChar char="•"/>
              <a:tabLst>
                <a:tab pos="482918" algn="l"/>
              </a:tabLst>
            </a:pPr>
            <a:r>
              <a:rPr sz="1125" b="1" dirty="0">
                <a:latin typeface="Arial"/>
                <a:cs typeface="Arial"/>
              </a:rPr>
              <a:t>More</a:t>
            </a:r>
            <a:r>
              <a:rPr sz="1125" b="1" spc="-30" dirty="0">
                <a:latin typeface="Arial"/>
                <a:cs typeface="Arial"/>
              </a:rPr>
              <a:t> </a:t>
            </a:r>
            <a:r>
              <a:rPr sz="1125" b="1" spc="-8" dirty="0">
                <a:latin typeface="Arial"/>
                <a:cs typeface="Arial"/>
              </a:rPr>
              <a:t>gradual</a:t>
            </a:r>
            <a:endParaRPr sz="1125">
              <a:latin typeface="Arial"/>
              <a:cs typeface="Arial"/>
            </a:endParaRPr>
          </a:p>
          <a:p>
            <a:pPr marL="482918" lvl="1" indent="-127159">
              <a:spcBef>
                <a:spcPts val="596"/>
              </a:spcBef>
              <a:buFont typeface="Arial"/>
              <a:buChar char="•"/>
              <a:tabLst>
                <a:tab pos="482918" algn="l"/>
              </a:tabLst>
            </a:pPr>
            <a:r>
              <a:rPr sz="1125" b="1" dirty="0">
                <a:latin typeface="Arial"/>
                <a:cs typeface="Arial"/>
              </a:rPr>
              <a:t>Proton</a:t>
            </a:r>
            <a:r>
              <a:rPr sz="1125" b="1" spc="-23" dirty="0">
                <a:latin typeface="Arial"/>
                <a:cs typeface="Arial"/>
              </a:rPr>
              <a:t> </a:t>
            </a:r>
            <a:r>
              <a:rPr sz="1125" b="1" dirty="0">
                <a:latin typeface="Arial"/>
                <a:cs typeface="Arial"/>
              </a:rPr>
              <a:t>rich</a:t>
            </a:r>
            <a:r>
              <a:rPr sz="1125" b="1" spc="-23" dirty="0">
                <a:latin typeface="Arial"/>
                <a:cs typeface="Arial"/>
              </a:rPr>
              <a:t> </a:t>
            </a:r>
            <a:r>
              <a:rPr sz="1125" b="1" dirty="0">
                <a:latin typeface="Arial"/>
                <a:cs typeface="Arial"/>
              </a:rPr>
              <a:t>–</a:t>
            </a:r>
            <a:r>
              <a:rPr sz="1125" b="1" spc="-15" dirty="0">
                <a:latin typeface="Arial"/>
                <a:cs typeface="Arial"/>
              </a:rPr>
              <a:t> </a:t>
            </a:r>
            <a:r>
              <a:rPr sz="1125" b="1" spc="-19" dirty="0">
                <a:latin typeface="Arial"/>
                <a:cs typeface="Arial"/>
              </a:rPr>
              <a:t>96%</a:t>
            </a:r>
            <a:endParaRPr sz="1125">
              <a:latin typeface="Arial"/>
              <a:cs typeface="Arial"/>
            </a:endParaRPr>
          </a:p>
          <a:p>
            <a:pPr marL="482918" marR="3810" lvl="1" indent="-127159">
              <a:lnSpc>
                <a:spcPct val="133300"/>
              </a:lnSpc>
              <a:spcBef>
                <a:spcPts val="153"/>
              </a:spcBef>
              <a:buFont typeface="Arial"/>
              <a:buChar char="•"/>
              <a:tabLst>
                <a:tab pos="483870" algn="l"/>
              </a:tabLst>
            </a:pPr>
            <a:r>
              <a:rPr sz="1125" b="1" dirty="0">
                <a:latin typeface="Arial"/>
                <a:cs typeface="Arial"/>
              </a:rPr>
              <a:t>Responsible</a:t>
            </a:r>
            <a:r>
              <a:rPr sz="1125" b="1" spc="-30" dirty="0">
                <a:latin typeface="Arial"/>
                <a:cs typeface="Arial"/>
              </a:rPr>
              <a:t> </a:t>
            </a:r>
            <a:r>
              <a:rPr sz="1125" b="1" dirty="0">
                <a:latin typeface="Arial"/>
                <a:cs typeface="Arial"/>
              </a:rPr>
              <a:t>for</a:t>
            </a:r>
            <a:r>
              <a:rPr sz="1125" b="1" spc="-23" dirty="0">
                <a:latin typeface="Arial"/>
                <a:cs typeface="Arial"/>
              </a:rPr>
              <a:t> </a:t>
            </a:r>
            <a:r>
              <a:rPr sz="1125" b="1" dirty="0">
                <a:latin typeface="Arial"/>
                <a:cs typeface="Arial"/>
              </a:rPr>
              <a:t>major</a:t>
            </a:r>
            <a:r>
              <a:rPr sz="1125" b="1" spc="-23" dirty="0">
                <a:latin typeface="Arial"/>
                <a:cs typeface="Arial"/>
              </a:rPr>
              <a:t> </a:t>
            </a:r>
            <a:r>
              <a:rPr sz="1125" b="1" spc="-8" dirty="0">
                <a:latin typeface="Arial"/>
                <a:cs typeface="Arial"/>
              </a:rPr>
              <a:t>disturbances 	</a:t>
            </a:r>
            <a:r>
              <a:rPr sz="1125" b="1" dirty="0">
                <a:latin typeface="Arial"/>
                <a:cs typeface="Arial"/>
              </a:rPr>
              <a:t>in</a:t>
            </a:r>
            <a:r>
              <a:rPr sz="1125" b="1" spc="-34" dirty="0">
                <a:latin typeface="Arial"/>
                <a:cs typeface="Arial"/>
              </a:rPr>
              <a:t> </a:t>
            </a:r>
            <a:r>
              <a:rPr sz="1125" b="1" spc="-8" dirty="0">
                <a:latin typeface="Arial"/>
                <a:cs typeface="Arial"/>
              </a:rPr>
              <a:t>Earth’s</a:t>
            </a:r>
            <a:r>
              <a:rPr sz="1125" b="1" spc="-30" dirty="0">
                <a:latin typeface="Arial"/>
                <a:cs typeface="Arial"/>
              </a:rPr>
              <a:t> </a:t>
            </a:r>
            <a:r>
              <a:rPr sz="1125" b="1" dirty="0">
                <a:latin typeface="Arial"/>
                <a:cs typeface="Arial"/>
              </a:rPr>
              <a:t>magnetosphere</a:t>
            </a:r>
            <a:r>
              <a:rPr sz="1125" b="1" spc="-23" dirty="0">
                <a:latin typeface="Arial"/>
                <a:cs typeface="Arial"/>
              </a:rPr>
              <a:t> </a:t>
            </a:r>
            <a:r>
              <a:rPr sz="1125" b="1" spc="-19" dirty="0">
                <a:latin typeface="Arial"/>
                <a:cs typeface="Arial"/>
              </a:rPr>
              <a:t>and 	</a:t>
            </a:r>
            <a:r>
              <a:rPr sz="1125" b="1" dirty="0">
                <a:latin typeface="Arial"/>
                <a:cs typeface="Arial"/>
              </a:rPr>
              <a:t>interplanetary</a:t>
            </a:r>
            <a:r>
              <a:rPr sz="1125" b="1" spc="-64" dirty="0">
                <a:latin typeface="Arial"/>
                <a:cs typeface="Arial"/>
              </a:rPr>
              <a:t> </a:t>
            </a:r>
            <a:r>
              <a:rPr sz="1125" b="1" spc="-8" dirty="0">
                <a:latin typeface="Arial"/>
                <a:cs typeface="Arial"/>
              </a:rPr>
              <a:t>space</a:t>
            </a:r>
            <a:endParaRPr sz="1125">
              <a:latin typeface="Arial"/>
              <a:cs typeface="Arial"/>
            </a:endParaRPr>
          </a:p>
          <a:p>
            <a:pPr marL="182880">
              <a:spcBef>
                <a:spcPts val="454"/>
              </a:spcBef>
            </a:pPr>
            <a:r>
              <a:rPr sz="1275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275" spc="26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Solar</a:t>
            </a:r>
            <a:r>
              <a:rPr sz="1275" b="1" spc="-1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spc="-8" dirty="0">
                <a:solidFill>
                  <a:srgbClr val="0000FF"/>
                </a:solidFill>
                <a:latin typeface="Arial"/>
                <a:cs typeface="Arial"/>
              </a:rPr>
              <a:t>Flares</a:t>
            </a:r>
            <a:endParaRPr sz="1275">
              <a:latin typeface="Arial"/>
              <a:cs typeface="Arial"/>
            </a:endParaRPr>
          </a:p>
          <a:p>
            <a:pPr marL="482918" lvl="1" indent="-127159">
              <a:spcBef>
                <a:spcPts val="716"/>
              </a:spcBef>
              <a:buFont typeface="Arial"/>
              <a:buChar char="•"/>
              <a:tabLst>
                <a:tab pos="482918" algn="l"/>
              </a:tabLst>
            </a:pPr>
            <a:r>
              <a:rPr sz="1125" b="1" dirty="0">
                <a:latin typeface="Arial"/>
                <a:cs typeface="Arial"/>
              </a:rPr>
              <a:t>Heavy</a:t>
            </a:r>
            <a:r>
              <a:rPr sz="1125" b="1" spc="-11" dirty="0">
                <a:latin typeface="Arial"/>
                <a:cs typeface="Arial"/>
              </a:rPr>
              <a:t> </a:t>
            </a:r>
            <a:r>
              <a:rPr sz="1125" b="1" dirty="0">
                <a:latin typeface="Arial"/>
                <a:cs typeface="Arial"/>
              </a:rPr>
              <a:t>ion</a:t>
            </a:r>
            <a:r>
              <a:rPr sz="1125" b="1" spc="-34" dirty="0">
                <a:latin typeface="Arial"/>
                <a:cs typeface="Arial"/>
              </a:rPr>
              <a:t> </a:t>
            </a:r>
            <a:r>
              <a:rPr sz="1125" b="1" spc="-15" dirty="0">
                <a:latin typeface="Arial"/>
                <a:cs typeface="Arial"/>
              </a:rPr>
              <a:t>rich</a:t>
            </a:r>
            <a:endParaRPr sz="1125">
              <a:latin typeface="Arial"/>
              <a:cs typeface="Arial"/>
            </a:endParaRPr>
          </a:p>
          <a:p>
            <a:pPr marL="482918" lvl="1" indent="-127159">
              <a:spcBef>
                <a:spcPts val="604"/>
              </a:spcBef>
              <a:buFont typeface="Arial"/>
              <a:buChar char="•"/>
              <a:tabLst>
                <a:tab pos="482918" algn="l"/>
              </a:tabLst>
            </a:pPr>
            <a:r>
              <a:rPr sz="1125" b="1" dirty="0">
                <a:latin typeface="Arial"/>
                <a:cs typeface="Arial"/>
              </a:rPr>
              <a:t>Impulsive</a:t>
            </a:r>
            <a:r>
              <a:rPr sz="1125" b="1" spc="-26" dirty="0">
                <a:latin typeface="Arial"/>
                <a:cs typeface="Arial"/>
              </a:rPr>
              <a:t> </a:t>
            </a:r>
            <a:r>
              <a:rPr sz="1125" b="1" dirty="0">
                <a:latin typeface="Arial"/>
                <a:cs typeface="Arial"/>
              </a:rPr>
              <a:t>or</a:t>
            </a:r>
            <a:r>
              <a:rPr sz="1125" b="1" spc="-26" dirty="0">
                <a:latin typeface="Arial"/>
                <a:cs typeface="Arial"/>
              </a:rPr>
              <a:t> </a:t>
            </a:r>
            <a:r>
              <a:rPr sz="1125" b="1" spc="-8" dirty="0">
                <a:latin typeface="Arial"/>
                <a:cs typeface="Arial"/>
              </a:rPr>
              <a:t>spikes</a:t>
            </a:r>
            <a:endParaRPr sz="1125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504490" y="2343476"/>
            <a:ext cx="3559969" cy="812483"/>
            <a:chOff x="7339319" y="2743635"/>
            <a:chExt cx="4746625" cy="1083310"/>
          </a:xfrm>
        </p:grpSpPr>
        <p:sp>
          <p:nvSpPr>
            <p:cNvPr id="25" name="object 25"/>
            <p:cNvSpPr/>
            <p:nvPr/>
          </p:nvSpPr>
          <p:spPr>
            <a:xfrm>
              <a:off x="8717740" y="3078147"/>
              <a:ext cx="0" cy="588645"/>
            </a:xfrm>
            <a:custGeom>
              <a:avLst/>
              <a:gdLst/>
              <a:ahLst/>
              <a:cxnLst/>
              <a:rect l="l" t="t" r="r" b="b"/>
              <a:pathLst>
                <a:path h="588645">
                  <a:moveTo>
                    <a:pt x="0" y="0"/>
                  </a:moveTo>
                  <a:lnTo>
                    <a:pt x="0" y="588645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26" name="object 26"/>
            <p:cNvSpPr/>
            <p:nvPr/>
          </p:nvSpPr>
          <p:spPr>
            <a:xfrm>
              <a:off x="8632025" y="3638209"/>
              <a:ext cx="171450" cy="172085"/>
            </a:xfrm>
            <a:custGeom>
              <a:avLst/>
              <a:gdLst/>
              <a:ahLst/>
              <a:cxnLst/>
              <a:rect l="l" t="t" r="r" b="b"/>
              <a:pathLst>
                <a:path w="171450" h="172085">
                  <a:moveTo>
                    <a:pt x="171450" y="12"/>
                  </a:moveTo>
                  <a:lnTo>
                    <a:pt x="0" y="0"/>
                  </a:lnTo>
                  <a:lnTo>
                    <a:pt x="85712" y="171462"/>
                  </a:lnTo>
                  <a:lnTo>
                    <a:pt x="171450" y="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27" name="object 27"/>
            <p:cNvSpPr/>
            <p:nvPr/>
          </p:nvSpPr>
          <p:spPr>
            <a:xfrm>
              <a:off x="7425035" y="3071963"/>
              <a:ext cx="0" cy="588645"/>
            </a:xfrm>
            <a:custGeom>
              <a:avLst/>
              <a:gdLst/>
              <a:ahLst/>
              <a:cxnLst/>
              <a:rect l="l" t="t" r="r" b="b"/>
              <a:pathLst>
                <a:path h="588645">
                  <a:moveTo>
                    <a:pt x="0" y="0"/>
                  </a:moveTo>
                  <a:lnTo>
                    <a:pt x="0" y="588645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28" name="object 28"/>
            <p:cNvSpPr/>
            <p:nvPr/>
          </p:nvSpPr>
          <p:spPr>
            <a:xfrm>
              <a:off x="7339319" y="3632024"/>
              <a:ext cx="171450" cy="172085"/>
            </a:xfrm>
            <a:custGeom>
              <a:avLst/>
              <a:gdLst/>
              <a:ahLst/>
              <a:cxnLst/>
              <a:rect l="l" t="t" r="r" b="b"/>
              <a:pathLst>
                <a:path w="171450" h="172085">
                  <a:moveTo>
                    <a:pt x="171450" y="12"/>
                  </a:moveTo>
                  <a:lnTo>
                    <a:pt x="0" y="0"/>
                  </a:lnTo>
                  <a:lnTo>
                    <a:pt x="85712" y="171462"/>
                  </a:lnTo>
                  <a:lnTo>
                    <a:pt x="171450" y="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29" name="object 29"/>
            <p:cNvSpPr/>
            <p:nvPr/>
          </p:nvSpPr>
          <p:spPr>
            <a:xfrm>
              <a:off x="11373891" y="3095397"/>
              <a:ext cx="0" cy="588645"/>
            </a:xfrm>
            <a:custGeom>
              <a:avLst/>
              <a:gdLst/>
              <a:ahLst/>
              <a:cxnLst/>
              <a:rect l="l" t="t" r="r" b="b"/>
              <a:pathLst>
                <a:path h="588645">
                  <a:moveTo>
                    <a:pt x="0" y="0"/>
                  </a:moveTo>
                  <a:lnTo>
                    <a:pt x="0" y="588645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30" name="object 30"/>
            <p:cNvSpPr/>
            <p:nvPr/>
          </p:nvSpPr>
          <p:spPr>
            <a:xfrm>
              <a:off x="11288174" y="3655458"/>
              <a:ext cx="171450" cy="172085"/>
            </a:xfrm>
            <a:custGeom>
              <a:avLst/>
              <a:gdLst/>
              <a:ahLst/>
              <a:cxnLst/>
              <a:rect l="l" t="t" r="r" b="b"/>
              <a:pathLst>
                <a:path w="171450" h="172085">
                  <a:moveTo>
                    <a:pt x="171450" y="12"/>
                  </a:moveTo>
                  <a:lnTo>
                    <a:pt x="0" y="0"/>
                  </a:lnTo>
                  <a:lnTo>
                    <a:pt x="85712" y="171462"/>
                  </a:lnTo>
                  <a:lnTo>
                    <a:pt x="171450" y="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31" name="object 31"/>
            <p:cNvSpPr/>
            <p:nvPr/>
          </p:nvSpPr>
          <p:spPr>
            <a:xfrm>
              <a:off x="9631311" y="2756335"/>
              <a:ext cx="2441575" cy="578485"/>
            </a:xfrm>
            <a:custGeom>
              <a:avLst/>
              <a:gdLst/>
              <a:ahLst/>
              <a:cxnLst/>
              <a:rect l="l" t="t" r="r" b="b"/>
              <a:pathLst>
                <a:path w="2441575" h="578485">
                  <a:moveTo>
                    <a:pt x="2345093" y="0"/>
                  </a:moveTo>
                  <a:lnTo>
                    <a:pt x="96354" y="0"/>
                  </a:lnTo>
                  <a:lnTo>
                    <a:pt x="58850" y="7572"/>
                  </a:lnTo>
                  <a:lnTo>
                    <a:pt x="28222" y="28222"/>
                  </a:lnTo>
                  <a:lnTo>
                    <a:pt x="7572" y="58850"/>
                  </a:lnTo>
                  <a:lnTo>
                    <a:pt x="0" y="96354"/>
                  </a:lnTo>
                  <a:lnTo>
                    <a:pt x="0" y="481749"/>
                  </a:lnTo>
                  <a:lnTo>
                    <a:pt x="7572" y="519251"/>
                  </a:lnTo>
                  <a:lnTo>
                    <a:pt x="28222" y="549875"/>
                  </a:lnTo>
                  <a:lnTo>
                    <a:pt x="58850" y="570520"/>
                  </a:lnTo>
                  <a:lnTo>
                    <a:pt x="96354" y="578091"/>
                  </a:lnTo>
                  <a:lnTo>
                    <a:pt x="2345093" y="578091"/>
                  </a:lnTo>
                  <a:lnTo>
                    <a:pt x="2382597" y="570520"/>
                  </a:lnTo>
                  <a:lnTo>
                    <a:pt x="2413225" y="549875"/>
                  </a:lnTo>
                  <a:lnTo>
                    <a:pt x="2433875" y="519251"/>
                  </a:lnTo>
                  <a:lnTo>
                    <a:pt x="2441448" y="481749"/>
                  </a:lnTo>
                  <a:lnTo>
                    <a:pt x="2441448" y="96354"/>
                  </a:lnTo>
                  <a:lnTo>
                    <a:pt x="2433875" y="58850"/>
                  </a:lnTo>
                  <a:lnTo>
                    <a:pt x="2413225" y="28222"/>
                  </a:lnTo>
                  <a:lnTo>
                    <a:pt x="2382597" y="7572"/>
                  </a:lnTo>
                  <a:lnTo>
                    <a:pt x="2345093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32" name="object 32"/>
            <p:cNvSpPr/>
            <p:nvPr/>
          </p:nvSpPr>
          <p:spPr>
            <a:xfrm>
              <a:off x="9631311" y="2756335"/>
              <a:ext cx="2441575" cy="578485"/>
            </a:xfrm>
            <a:custGeom>
              <a:avLst/>
              <a:gdLst/>
              <a:ahLst/>
              <a:cxnLst/>
              <a:rect l="l" t="t" r="r" b="b"/>
              <a:pathLst>
                <a:path w="2441575" h="578485">
                  <a:moveTo>
                    <a:pt x="0" y="96354"/>
                  </a:moveTo>
                  <a:lnTo>
                    <a:pt x="7572" y="58850"/>
                  </a:lnTo>
                  <a:lnTo>
                    <a:pt x="28222" y="28222"/>
                  </a:lnTo>
                  <a:lnTo>
                    <a:pt x="58850" y="7572"/>
                  </a:lnTo>
                  <a:lnTo>
                    <a:pt x="96354" y="0"/>
                  </a:lnTo>
                  <a:lnTo>
                    <a:pt x="2345093" y="0"/>
                  </a:lnTo>
                  <a:lnTo>
                    <a:pt x="2382597" y="7572"/>
                  </a:lnTo>
                  <a:lnTo>
                    <a:pt x="2413225" y="28222"/>
                  </a:lnTo>
                  <a:lnTo>
                    <a:pt x="2433875" y="58850"/>
                  </a:lnTo>
                  <a:lnTo>
                    <a:pt x="2441448" y="96354"/>
                  </a:lnTo>
                  <a:lnTo>
                    <a:pt x="2441448" y="481749"/>
                  </a:lnTo>
                  <a:lnTo>
                    <a:pt x="2433875" y="519251"/>
                  </a:lnTo>
                  <a:lnTo>
                    <a:pt x="2413225" y="549875"/>
                  </a:lnTo>
                  <a:lnTo>
                    <a:pt x="2382597" y="570520"/>
                  </a:lnTo>
                  <a:lnTo>
                    <a:pt x="2345093" y="578091"/>
                  </a:lnTo>
                  <a:lnTo>
                    <a:pt x="96354" y="578091"/>
                  </a:lnTo>
                  <a:lnTo>
                    <a:pt x="58850" y="570520"/>
                  </a:lnTo>
                  <a:lnTo>
                    <a:pt x="28222" y="549875"/>
                  </a:lnTo>
                  <a:lnTo>
                    <a:pt x="7572" y="519251"/>
                  </a:lnTo>
                  <a:lnTo>
                    <a:pt x="0" y="481749"/>
                  </a:lnTo>
                  <a:lnTo>
                    <a:pt x="0" y="96354"/>
                  </a:lnTo>
                  <a:close/>
                </a:path>
              </a:pathLst>
            </a:custGeom>
            <a:ln w="254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520997" y="2343096"/>
            <a:ext cx="1237298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b="1" spc="-64" dirty="0">
                <a:solidFill>
                  <a:srgbClr val="FFFFFF"/>
                </a:solidFill>
                <a:latin typeface="Arial"/>
                <a:cs typeface="Arial"/>
              </a:rPr>
              <a:t>Electromagnetic</a:t>
            </a:r>
            <a:endParaRPr sz="13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797546" y="2548836"/>
            <a:ext cx="683419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b="1" spc="-98" dirty="0">
                <a:solidFill>
                  <a:srgbClr val="FFFFFF"/>
                </a:solidFill>
                <a:latin typeface="Arial"/>
                <a:cs typeface="Arial"/>
              </a:rPr>
              <a:t>Emission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204420" y="2343477"/>
            <a:ext cx="1850231" cy="452914"/>
            <a:chOff x="6939226" y="2743636"/>
            <a:chExt cx="2466975" cy="603885"/>
          </a:xfrm>
        </p:grpSpPr>
        <p:sp>
          <p:nvSpPr>
            <p:cNvPr id="36" name="object 36"/>
            <p:cNvSpPr/>
            <p:nvPr/>
          </p:nvSpPr>
          <p:spPr>
            <a:xfrm>
              <a:off x="6951926" y="2756336"/>
              <a:ext cx="2441575" cy="578485"/>
            </a:xfrm>
            <a:custGeom>
              <a:avLst/>
              <a:gdLst/>
              <a:ahLst/>
              <a:cxnLst/>
              <a:rect l="l" t="t" r="r" b="b"/>
              <a:pathLst>
                <a:path w="2441575" h="578485">
                  <a:moveTo>
                    <a:pt x="2345093" y="0"/>
                  </a:moveTo>
                  <a:lnTo>
                    <a:pt x="96354" y="0"/>
                  </a:lnTo>
                  <a:lnTo>
                    <a:pt x="58850" y="7572"/>
                  </a:lnTo>
                  <a:lnTo>
                    <a:pt x="28222" y="28222"/>
                  </a:lnTo>
                  <a:lnTo>
                    <a:pt x="7572" y="58850"/>
                  </a:lnTo>
                  <a:lnTo>
                    <a:pt x="0" y="96354"/>
                  </a:lnTo>
                  <a:lnTo>
                    <a:pt x="0" y="481749"/>
                  </a:lnTo>
                  <a:lnTo>
                    <a:pt x="7572" y="519251"/>
                  </a:lnTo>
                  <a:lnTo>
                    <a:pt x="28222" y="549875"/>
                  </a:lnTo>
                  <a:lnTo>
                    <a:pt x="58850" y="570520"/>
                  </a:lnTo>
                  <a:lnTo>
                    <a:pt x="96354" y="578091"/>
                  </a:lnTo>
                  <a:lnTo>
                    <a:pt x="2345093" y="578091"/>
                  </a:lnTo>
                  <a:lnTo>
                    <a:pt x="2382597" y="570520"/>
                  </a:lnTo>
                  <a:lnTo>
                    <a:pt x="2413225" y="549875"/>
                  </a:lnTo>
                  <a:lnTo>
                    <a:pt x="2433875" y="519251"/>
                  </a:lnTo>
                  <a:lnTo>
                    <a:pt x="2441448" y="481749"/>
                  </a:lnTo>
                  <a:lnTo>
                    <a:pt x="2441448" y="96354"/>
                  </a:lnTo>
                  <a:lnTo>
                    <a:pt x="2433875" y="58850"/>
                  </a:lnTo>
                  <a:lnTo>
                    <a:pt x="2413225" y="28222"/>
                  </a:lnTo>
                  <a:lnTo>
                    <a:pt x="2382597" y="7572"/>
                  </a:lnTo>
                  <a:lnTo>
                    <a:pt x="2345093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37" name="object 37"/>
            <p:cNvSpPr/>
            <p:nvPr/>
          </p:nvSpPr>
          <p:spPr>
            <a:xfrm>
              <a:off x="6951926" y="2756336"/>
              <a:ext cx="2441575" cy="578485"/>
            </a:xfrm>
            <a:custGeom>
              <a:avLst/>
              <a:gdLst/>
              <a:ahLst/>
              <a:cxnLst/>
              <a:rect l="l" t="t" r="r" b="b"/>
              <a:pathLst>
                <a:path w="2441575" h="578485">
                  <a:moveTo>
                    <a:pt x="0" y="96354"/>
                  </a:moveTo>
                  <a:lnTo>
                    <a:pt x="7572" y="58850"/>
                  </a:lnTo>
                  <a:lnTo>
                    <a:pt x="28222" y="28222"/>
                  </a:lnTo>
                  <a:lnTo>
                    <a:pt x="58850" y="7572"/>
                  </a:lnTo>
                  <a:lnTo>
                    <a:pt x="96354" y="0"/>
                  </a:lnTo>
                  <a:lnTo>
                    <a:pt x="2345093" y="0"/>
                  </a:lnTo>
                  <a:lnTo>
                    <a:pt x="2382597" y="7572"/>
                  </a:lnTo>
                  <a:lnTo>
                    <a:pt x="2413225" y="28222"/>
                  </a:lnTo>
                  <a:lnTo>
                    <a:pt x="2433875" y="58850"/>
                  </a:lnTo>
                  <a:lnTo>
                    <a:pt x="2441448" y="96354"/>
                  </a:lnTo>
                  <a:lnTo>
                    <a:pt x="2441448" y="481749"/>
                  </a:lnTo>
                  <a:lnTo>
                    <a:pt x="2433875" y="519251"/>
                  </a:lnTo>
                  <a:lnTo>
                    <a:pt x="2413225" y="549875"/>
                  </a:lnTo>
                  <a:lnTo>
                    <a:pt x="2382597" y="570520"/>
                  </a:lnTo>
                  <a:lnTo>
                    <a:pt x="2345093" y="578091"/>
                  </a:lnTo>
                  <a:lnTo>
                    <a:pt x="96354" y="578091"/>
                  </a:lnTo>
                  <a:lnTo>
                    <a:pt x="58850" y="570520"/>
                  </a:lnTo>
                  <a:lnTo>
                    <a:pt x="28222" y="549875"/>
                  </a:lnTo>
                  <a:lnTo>
                    <a:pt x="7572" y="519251"/>
                  </a:lnTo>
                  <a:lnTo>
                    <a:pt x="0" y="481749"/>
                  </a:lnTo>
                  <a:lnTo>
                    <a:pt x="0" y="96354"/>
                  </a:lnTo>
                  <a:close/>
                </a:path>
              </a:pathLst>
            </a:custGeom>
            <a:ln w="254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5788040" y="2343095"/>
            <a:ext cx="683419" cy="4251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3810" indent="143828">
              <a:spcBef>
                <a:spcPts val="75"/>
              </a:spcBef>
            </a:pPr>
            <a:r>
              <a:rPr sz="1350" b="1" spc="-15" dirty="0">
                <a:solidFill>
                  <a:srgbClr val="FFFFFF"/>
                </a:solidFill>
                <a:latin typeface="Arial"/>
                <a:cs typeface="Arial"/>
              </a:rPr>
              <a:t>Mass </a:t>
            </a:r>
            <a:r>
              <a:rPr sz="1350" b="1" spc="-105" dirty="0">
                <a:solidFill>
                  <a:srgbClr val="FFFFFF"/>
                </a:solidFill>
                <a:latin typeface="Arial"/>
                <a:cs typeface="Arial"/>
              </a:rPr>
              <a:t>Emission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037115" y="3131828"/>
            <a:ext cx="1596390" cy="1391603"/>
            <a:chOff x="8049486" y="3794771"/>
            <a:chExt cx="2128520" cy="1855470"/>
          </a:xfrm>
        </p:grpSpPr>
        <p:sp>
          <p:nvSpPr>
            <p:cNvPr id="40" name="object 40"/>
            <p:cNvSpPr/>
            <p:nvPr/>
          </p:nvSpPr>
          <p:spPr>
            <a:xfrm>
              <a:off x="10091403" y="4552556"/>
              <a:ext cx="12065" cy="955040"/>
            </a:xfrm>
            <a:custGeom>
              <a:avLst/>
              <a:gdLst/>
              <a:ahLst/>
              <a:cxnLst/>
              <a:rect l="l" t="t" r="r" b="b"/>
              <a:pathLst>
                <a:path w="12065" h="955039">
                  <a:moveTo>
                    <a:pt x="11480" y="0"/>
                  </a:moveTo>
                  <a:lnTo>
                    <a:pt x="0" y="954417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41" name="object 41"/>
            <p:cNvSpPr/>
            <p:nvPr/>
          </p:nvSpPr>
          <p:spPr>
            <a:xfrm>
              <a:off x="10006018" y="5477370"/>
              <a:ext cx="171450" cy="172720"/>
            </a:xfrm>
            <a:custGeom>
              <a:avLst/>
              <a:gdLst/>
              <a:ahLst/>
              <a:cxnLst/>
              <a:rect l="l" t="t" r="r" b="b"/>
              <a:pathLst>
                <a:path w="171450" h="172720">
                  <a:moveTo>
                    <a:pt x="0" y="0"/>
                  </a:moveTo>
                  <a:lnTo>
                    <a:pt x="83667" y="172466"/>
                  </a:lnTo>
                  <a:lnTo>
                    <a:pt x="171437" y="20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42" name="object 42"/>
            <p:cNvSpPr/>
            <p:nvPr/>
          </p:nvSpPr>
          <p:spPr>
            <a:xfrm>
              <a:off x="8717740" y="4552556"/>
              <a:ext cx="0" cy="954405"/>
            </a:xfrm>
            <a:custGeom>
              <a:avLst/>
              <a:gdLst/>
              <a:ahLst/>
              <a:cxnLst/>
              <a:rect l="l" t="t" r="r" b="b"/>
              <a:pathLst>
                <a:path h="954404">
                  <a:moveTo>
                    <a:pt x="0" y="0"/>
                  </a:moveTo>
                  <a:lnTo>
                    <a:pt x="0" y="954405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43" name="object 43"/>
            <p:cNvSpPr/>
            <p:nvPr/>
          </p:nvSpPr>
          <p:spPr>
            <a:xfrm>
              <a:off x="8632025" y="5478377"/>
              <a:ext cx="171450" cy="172085"/>
            </a:xfrm>
            <a:custGeom>
              <a:avLst/>
              <a:gdLst/>
              <a:ahLst/>
              <a:cxnLst/>
              <a:rect l="l" t="t" r="r" b="b"/>
              <a:pathLst>
                <a:path w="171450" h="172085">
                  <a:moveTo>
                    <a:pt x="171450" y="12"/>
                  </a:moveTo>
                  <a:lnTo>
                    <a:pt x="0" y="0"/>
                  </a:lnTo>
                  <a:lnTo>
                    <a:pt x="85712" y="171462"/>
                  </a:lnTo>
                  <a:lnTo>
                    <a:pt x="171450" y="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44" name="object 44"/>
            <p:cNvSpPr/>
            <p:nvPr/>
          </p:nvSpPr>
          <p:spPr>
            <a:xfrm>
              <a:off x="8062186" y="3807471"/>
              <a:ext cx="1337310" cy="1168400"/>
            </a:xfrm>
            <a:custGeom>
              <a:avLst/>
              <a:gdLst/>
              <a:ahLst/>
              <a:cxnLst/>
              <a:rect l="l" t="t" r="r" b="b"/>
              <a:pathLst>
                <a:path w="1337309" h="1168400">
                  <a:moveTo>
                    <a:pt x="1142504" y="0"/>
                  </a:moveTo>
                  <a:lnTo>
                    <a:pt x="194652" y="0"/>
                  </a:lnTo>
                  <a:lnTo>
                    <a:pt x="150020" y="5140"/>
                  </a:lnTo>
                  <a:lnTo>
                    <a:pt x="109048" y="19784"/>
                  </a:lnTo>
                  <a:lnTo>
                    <a:pt x="72906" y="42762"/>
                  </a:lnTo>
                  <a:lnTo>
                    <a:pt x="42762" y="72906"/>
                  </a:lnTo>
                  <a:lnTo>
                    <a:pt x="19784" y="109048"/>
                  </a:lnTo>
                  <a:lnTo>
                    <a:pt x="5140" y="150020"/>
                  </a:lnTo>
                  <a:lnTo>
                    <a:pt x="0" y="194652"/>
                  </a:lnTo>
                  <a:lnTo>
                    <a:pt x="0" y="973264"/>
                  </a:lnTo>
                  <a:lnTo>
                    <a:pt x="5140" y="1017897"/>
                  </a:lnTo>
                  <a:lnTo>
                    <a:pt x="19784" y="1058871"/>
                  </a:lnTo>
                  <a:lnTo>
                    <a:pt x="42762" y="1095015"/>
                  </a:lnTo>
                  <a:lnTo>
                    <a:pt x="72906" y="1125162"/>
                  </a:lnTo>
                  <a:lnTo>
                    <a:pt x="109048" y="1148143"/>
                  </a:lnTo>
                  <a:lnTo>
                    <a:pt x="150020" y="1162788"/>
                  </a:lnTo>
                  <a:lnTo>
                    <a:pt x="194652" y="1167930"/>
                  </a:lnTo>
                  <a:lnTo>
                    <a:pt x="1142504" y="1167930"/>
                  </a:lnTo>
                  <a:lnTo>
                    <a:pt x="1187137" y="1162788"/>
                  </a:lnTo>
                  <a:lnTo>
                    <a:pt x="1228108" y="1148143"/>
                  </a:lnTo>
                  <a:lnTo>
                    <a:pt x="1264250" y="1125162"/>
                  </a:lnTo>
                  <a:lnTo>
                    <a:pt x="1294395" y="1095015"/>
                  </a:lnTo>
                  <a:lnTo>
                    <a:pt x="1317373" y="1058871"/>
                  </a:lnTo>
                  <a:lnTo>
                    <a:pt x="1332016" y="1017897"/>
                  </a:lnTo>
                  <a:lnTo>
                    <a:pt x="1337157" y="973264"/>
                  </a:lnTo>
                  <a:lnTo>
                    <a:pt x="1337157" y="194652"/>
                  </a:lnTo>
                  <a:lnTo>
                    <a:pt x="1332016" y="150020"/>
                  </a:lnTo>
                  <a:lnTo>
                    <a:pt x="1317373" y="109048"/>
                  </a:lnTo>
                  <a:lnTo>
                    <a:pt x="1294395" y="72906"/>
                  </a:lnTo>
                  <a:lnTo>
                    <a:pt x="1264250" y="42762"/>
                  </a:lnTo>
                  <a:lnTo>
                    <a:pt x="1228108" y="19784"/>
                  </a:lnTo>
                  <a:lnTo>
                    <a:pt x="1187137" y="5140"/>
                  </a:lnTo>
                  <a:lnTo>
                    <a:pt x="1142504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45" name="object 45"/>
            <p:cNvSpPr/>
            <p:nvPr/>
          </p:nvSpPr>
          <p:spPr>
            <a:xfrm>
              <a:off x="8062186" y="3807471"/>
              <a:ext cx="1337310" cy="1168400"/>
            </a:xfrm>
            <a:custGeom>
              <a:avLst/>
              <a:gdLst/>
              <a:ahLst/>
              <a:cxnLst/>
              <a:rect l="l" t="t" r="r" b="b"/>
              <a:pathLst>
                <a:path w="1337309" h="1168400">
                  <a:moveTo>
                    <a:pt x="0" y="194652"/>
                  </a:moveTo>
                  <a:lnTo>
                    <a:pt x="5140" y="150020"/>
                  </a:lnTo>
                  <a:lnTo>
                    <a:pt x="19784" y="109048"/>
                  </a:lnTo>
                  <a:lnTo>
                    <a:pt x="42762" y="72906"/>
                  </a:lnTo>
                  <a:lnTo>
                    <a:pt x="72906" y="42762"/>
                  </a:lnTo>
                  <a:lnTo>
                    <a:pt x="109048" y="19784"/>
                  </a:lnTo>
                  <a:lnTo>
                    <a:pt x="150020" y="5140"/>
                  </a:lnTo>
                  <a:lnTo>
                    <a:pt x="194652" y="0"/>
                  </a:lnTo>
                  <a:lnTo>
                    <a:pt x="1142504" y="0"/>
                  </a:lnTo>
                  <a:lnTo>
                    <a:pt x="1187137" y="5140"/>
                  </a:lnTo>
                  <a:lnTo>
                    <a:pt x="1228108" y="19784"/>
                  </a:lnTo>
                  <a:lnTo>
                    <a:pt x="1264250" y="42762"/>
                  </a:lnTo>
                  <a:lnTo>
                    <a:pt x="1294395" y="72906"/>
                  </a:lnTo>
                  <a:lnTo>
                    <a:pt x="1317373" y="109048"/>
                  </a:lnTo>
                  <a:lnTo>
                    <a:pt x="1332016" y="150020"/>
                  </a:lnTo>
                  <a:lnTo>
                    <a:pt x="1337157" y="194652"/>
                  </a:lnTo>
                  <a:lnTo>
                    <a:pt x="1337157" y="973264"/>
                  </a:lnTo>
                  <a:lnTo>
                    <a:pt x="1332016" y="1017897"/>
                  </a:lnTo>
                  <a:lnTo>
                    <a:pt x="1317373" y="1058871"/>
                  </a:lnTo>
                  <a:lnTo>
                    <a:pt x="1294395" y="1095015"/>
                  </a:lnTo>
                  <a:lnTo>
                    <a:pt x="1264250" y="1125162"/>
                  </a:lnTo>
                  <a:lnTo>
                    <a:pt x="1228108" y="1148143"/>
                  </a:lnTo>
                  <a:lnTo>
                    <a:pt x="1187137" y="1162788"/>
                  </a:lnTo>
                  <a:lnTo>
                    <a:pt x="1142504" y="1167930"/>
                  </a:lnTo>
                  <a:lnTo>
                    <a:pt x="194652" y="1167930"/>
                  </a:lnTo>
                  <a:lnTo>
                    <a:pt x="150020" y="1162788"/>
                  </a:lnTo>
                  <a:lnTo>
                    <a:pt x="109048" y="1148143"/>
                  </a:lnTo>
                  <a:lnTo>
                    <a:pt x="72906" y="1125162"/>
                  </a:lnTo>
                  <a:lnTo>
                    <a:pt x="42762" y="1095015"/>
                  </a:lnTo>
                  <a:lnTo>
                    <a:pt x="19784" y="1058871"/>
                  </a:lnTo>
                  <a:lnTo>
                    <a:pt x="5140" y="1017897"/>
                  </a:lnTo>
                  <a:lnTo>
                    <a:pt x="0" y="973264"/>
                  </a:lnTo>
                  <a:lnTo>
                    <a:pt x="0" y="194652"/>
                  </a:lnTo>
                  <a:close/>
                </a:path>
              </a:pathLst>
            </a:custGeom>
            <a:ln w="254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200113" y="3146888"/>
            <a:ext cx="694373" cy="63286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049" marR="3810" indent="953" algn="ctr">
              <a:spcBef>
                <a:spcPts val="75"/>
              </a:spcBef>
            </a:pPr>
            <a:r>
              <a:rPr sz="1350" b="1" spc="-8" dirty="0">
                <a:solidFill>
                  <a:srgbClr val="FFFFFF"/>
                </a:solidFill>
                <a:latin typeface="Arial"/>
                <a:cs typeface="Arial"/>
              </a:rPr>
              <a:t>Coronal </a:t>
            </a:r>
            <a:r>
              <a:rPr sz="1350" b="1" spc="-15" dirty="0">
                <a:solidFill>
                  <a:srgbClr val="FFFFFF"/>
                </a:solidFill>
                <a:latin typeface="Arial"/>
                <a:cs typeface="Arial"/>
              </a:rPr>
              <a:t>Mass </a:t>
            </a:r>
            <a:r>
              <a:rPr sz="1350" b="1" spc="-79" dirty="0">
                <a:solidFill>
                  <a:srgbClr val="FFFFFF"/>
                </a:solidFill>
                <a:latin typeface="Arial"/>
                <a:cs typeface="Arial"/>
              </a:rPr>
              <a:t>Ejections</a:t>
            </a:r>
            <a:endParaRPr sz="13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282409" y="3764109"/>
            <a:ext cx="53006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b="1" spc="-105" dirty="0">
                <a:solidFill>
                  <a:srgbClr val="FFFFFF"/>
                </a:solidFill>
                <a:latin typeface="Arial"/>
                <a:cs typeface="Arial"/>
              </a:rPr>
              <a:t>(CMEs)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7216816" y="3143428"/>
            <a:ext cx="734854" cy="883444"/>
            <a:chOff x="9622421" y="3810237"/>
            <a:chExt cx="979805" cy="1177925"/>
          </a:xfrm>
        </p:grpSpPr>
        <p:sp>
          <p:nvSpPr>
            <p:cNvPr id="49" name="object 49"/>
            <p:cNvSpPr/>
            <p:nvPr/>
          </p:nvSpPr>
          <p:spPr>
            <a:xfrm>
              <a:off x="9635123" y="3822937"/>
              <a:ext cx="954405" cy="1152525"/>
            </a:xfrm>
            <a:custGeom>
              <a:avLst/>
              <a:gdLst/>
              <a:ahLst/>
              <a:cxnLst/>
              <a:rect l="l" t="t" r="r" b="b"/>
              <a:pathLst>
                <a:path w="954404" h="1152525">
                  <a:moveTo>
                    <a:pt x="794981" y="0"/>
                  </a:moveTo>
                  <a:lnTo>
                    <a:pt x="159004" y="0"/>
                  </a:lnTo>
                  <a:lnTo>
                    <a:pt x="108744" y="8106"/>
                  </a:lnTo>
                  <a:lnTo>
                    <a:pt x="65096" y="30680"/>
                  </a:lnTo>
                  <a:lnTo>
                    <a:pt x="30677" y="65101"/>
                  </a:lnTo>
                  <a:lnTo>
                    <a:pt x="8105" y="108749"/>
                  </a:lnTo>
                  <a:lnTo>
                    <a:pt x="0" y="159004"/>
                  </a:lnTo>
                  <a:lnTo>
                    <a:pt x="0" y="993457"/>
                  </a:lnTo>
                  <a:lnTo>
                    <a:pt x="8105" y="1043716"/>
                  </a:lnTo>
                  <a:lnTo>
                    <a:pt x="30677" y="1087365"/>
                  </a:lnTo>
                  <a:lnTo>
                    <a:pt x="65096" y="1121784"/>
                  </a:lnTo>
                  <a:lnTo>
                    <a:pt x="108744" y="1144355"/>
                  </a:lnTo>
                  <a:lnTo>
                    <a:pt x="159004" y="1152461"/>
                  </a:lnTo>
                  <a:lnTo>
                    <a:pt x="794981" y="1152461"/>
                  </a:lnTo>
                  <a:lnTo>
                    <a:pt x="845241" y="1144355"/>
                  </a:lnTo>
                  <a:lnTo>
                    <a:pt x="888889" y="1121784"/>
                  </a:lnTo>
                  <a:lnTo>
                    <a:pt x="923308" y="1087365"/>
                  </a:lnTo>
                  <a:lnTo>
                    <a:pt x="945880" y="1043716"/>
                  </a:lnTo>
                  <a:lnTo>
                    <a:pt x="953985" y="993457"/>
                  </a:lnTo>
                  <a:lnTo>
                    <a:pt x="953985" y="159004"/>
                  </a:lnTo>
                  <a:lnTo>
                    <a:pt x="945880" y="108749"/>
                  </a:lnTo>
                  <a:lnTo>
                    <a:pt x="923308" y="65101"/>
                  </a:lnTo>
                  <a:lnTo>
                    <a:pt x="888889" y="30680"/>
                  </a:lnTo>
                  <a:lnTo>
                    <a:pt x="845241" y="8106"/>
                  </a:lnTo>
                  <a:lnTo>
                    <a:pt x="794981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50" name="object 50"/>
            <p:cNvSpPr/>
            <p:nvPr/>
          </p:nvSpPr>
          <p:spPr>
            <a:xfrm>
              <a:off x="9635121" y="3822937"/>
              <a:ext cx="954405" cy="1152525"/>
            </a:xfrm>
            <a:custGeom>
              <a:avLst/>
              <a:gdLst/>
              <a:ahLst/>
              <a:cxnLst/>
              <a:rect l="l" t="t" r="r" b="b"/>
              <a:pathLst>
                <a:path w="954404" h="1152525">
                  <a:moveTo>
                    <a:pt x="0" y="159004"/>
                  </a:moveTo>
                  <a:lnTo>
                    <a:pt x="8105" y="108749"/>
                  </a:lnTo>
                  <a:lnTo>
                    <a:pt x="30677" y="65101"/>
                  </a:lnTo>
                  <a:lnTo>
                    <a:pt x="65096" y="30680"/>
                  </a:lnTo>
                  <a:lnTo>
                    <a:pt x="108744" y="8106"/>
                  </a:lnTo>
                  <a:lnTo>
                    <a:pt x="159004" y="0"/>
                  </a:lnTo>
                  <a:lnTo>
                    <a:pt x="794981" y="0"/>
                  </a:lnTo>
                  <a:lnTo>
                    <a:pt x="845241" y="8106"/>
                  </a:lnTo>
                  <a:lnTo>
                    <a:pt x="888889" y="30680"/>
                  </a:lnTo>
                  <a:lnTo>
                    <a:pt x="923308" y="65101"/>
                  </a:lnTo>
                  <a:lnTo>
                    <a:pt x="945880" y="108749"/>
                  </a:lnTo>
                  <a:lnTo>
                    <a:pt x="953985" y="159004"/>
                  </a:lnTo>
                  <a:lnTo>
                    <a:pt x="953985" y="993457"/>
                  </a:lnTo>
                  <a:lnTo>
                    <a:pt x="945880" y="1043716"/>
                  </a:lnTo>
                  <a:lnTo>
                    <a:pt x="923308" y="1087365"/>
                  </a:lnTo>
                  <a:lnTo>
                    <a:pt x="888889" y="1121784"/>
                  </a:lnTo>
                  <a:lnTo>
                    <a:pt x="845241" y="1144355"/>
                  </a:lnTo>
                  <a:lnTo>
                    <a:pt x="794981" y="1152461"/>
                  </a:lnTo>
                  <a:lnTo>
                    <a:pt x="159004" y="1152461"/>
                  </a:lnTo>
                  <a:lnTo>
                    <a:pt x="108744" y="1144355"/>
                  </a:lnTo>
                  <a:lnTo>
                    <a:pt x="65096" y="1121784"/>
                  </a:lnTo>
                  <a:lnTo>
                    <a:pt x="30677" y="1087365"/>
                  </a:lnTo>
                  <a:lnTo>
                    <a:pt x="8105" y="1043716"/>
                  </a:lnTo>
                  <a:lnTo>
                    <a:pt x="0" y="993457"/>
                  </a:lnTo>
                  <a:lnTo>
                    <a:pt x="0" y="159004"/>
                  </a:lnTo>
                  <a:close/>
                </a:path>
              </a:pathLst>
            </a:custGeom>
            <a:ln w="254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7353477" y="3358431"/>
            <a:ext cx="460058" cy="4251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3810" indent="28575">
              <a:spcBef>
                <a:spcPts val="75"/>
              </a:spcBef>
            </a:pPr>
            <a:r>
              <a:rPr sz="1350" b="1" spc="-38" dirty="0">
                <a:solidFill>
                  <a:srgbClr val="FFFFFF"/>
                </a:solidFill>
                <a:latin typeface="Arial"/>
                <a:cs typeface="Arial"/>
              </a:rPr>
              <a:t>Solar </a:t>
            </a:r>
            <a:r>
              <a:rPr sz="1350" b="1" spc="-94" dirty="0">
                <a:solidFill>
                  <a:srgbClr val="FFFFFF"/>
                </a:solidFill>
                <a:latin typeface="Arial"/>
                <a:cs typeface="Arial"/>
              </a:rPr>
              <a:t>Flares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6065193" y="1640846"/>
            <a:ext cx="2138363" cy="712470"/>
            <a:chOff x="8086924" y="1806794"/>
            <a:chExt cx="2851150" cy="949960"/>
          </a:xfrm>
        </p:grpSpPr>
        <p:sp>
          <p:nvSpPr>
            <p:cNvPr id="53" name="object 53"/>
            <p:cNvSpPr/>
            <p:nvPr/>
          </p:nvSpPr>
          <p:spPr>
            <a:xfrm>
              <a:off x="8172647" y="1835369"/>
              <a:ext cx="619760" cy="778510"/>
            </a:xfrm>
            <a:custGeom>
              <a:avLst/>
              <a:gdLst/>
              <a:ahLst/>
              <a:cxnLst/>
              <a:rect l="l" t="t" r="r" b="b"/>
              <a:pathLst>
                <a:path w="619759" h="778510">
                  <a:moveTo>
                    <a:pt x="619721" y="0"/>
                  </a:moveTo>
                  <a:lnTo>
                    <a:pt x="0" y="0"/>
                  </a:lnTo>
                  <a:lnTo>
                    <a:pt x="0" y="778090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54" name="object 54"/>
            <p:cNvSpPr/>
            <p:nvPr/>
          </p:nvSpPr>
          <p:spPr>
            <a:xfrm>
              <a:off x="8086924" y="2584892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171450" y="0"/>
                  </a:moveTo>
                  <a:lnTo>
                    <a:pt x="0" y="0"/>
                  </a:lnTo>
                  <a:lnTo>
                    <a:pt x="85725" y="171450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55" name="object 55"/>
            <p:cNvSpPr/>
            <p:nvPr/>
          </p:nvSpPr>
          <p:spPr>
            <a:xfrm>
              <a:off x="10203921" y="1835371"/>
              <a:ext cx="648335" cy="778510"/>
            </a:xfrm>
            <a:custGeom>
              <a:avLst/>
              <a:gdLst/>
              <a:ahLst/>
              <a:cxnLst/>
              <a:rect l="l" t="t" r="r" b="b"/>
              <a:pathLst>
                <a:path w="648334" h="778510">
                  <a:moveTo>
                    <a:pt x="0" y="0"/>
                  </a:moveTo>
                  <a:lnTo>
                    <a:pt x="648119" y="0"/>
                  </a:lnTo>
                  <a:lnTo>
                    <a:pt x="648119" y="778090"/>
                  </a:lnTo>
                </a:path>
              </a:pathLst>
            </a:custGeom>
            <a:ln w="571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56" name="object 56"/>
            <p:cNvSpPr/>
            <p:nvPr/>
          </p:nvSpPr>
          <p:spPr>
            <a:xfrm>
              <a:off x="10766310" y="258489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171450" y="0"/>
                  </a:moveTo>
                  <a:lnTo>
                    <a:pt x="0" y="0"/>
                  </a:lnTo>
                  <a:lnTo>
                    <a:pt x="85725" y="171450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3777166" y="2783358"/>
            <a:ext cx="610552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2100" b="1" spc="-19" dirty="0">
                <a:solidFill>
                  <a:srgbClr val="FFFFFF"/>
                </a:solidFill>
                <a:latin typeface="Arial"/>
                <a:cs typeface="Arial"/>
              </a:rPr>
              <a:t>CME</a:t>
            </a:r>
            <a:endParaRPr sz="21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361443" y="4869968"/>
            <a:ext cx="1397317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2100" b="1" dirty="0">
                <a:solidFill>
                  <a:srgbClr val="FFFFFF"/>
                </a:solidFill>
                <a:latin typeface="Arial"/>
                <a:cs typeface="Arial"/>
              </a:rPr>
              <a:t>Solar</a:t>
            </a:r>
            <a:r>
              <a:rPr sz="2100" b="1" spc="-5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b="1" spc="-8" dirty="0">
                <a:solidFill>
                  <a:srgbClr val="FFFFFF"/>
                </a:solidFill>
                <a:latin typeface="Arial"/>
                <a:cs typeface="Arial"/>
              </a:rPr>
              <a:t>Flare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529830" y="141892"/>
            <a:ext cx="8004391" cy="642988"/>
          </a:xfrm>
          <a:prstGeom prst="rect">
            <a:avLst/>
          </a:prstGeom>
        </p:spPr>
        <p:txBody>
          <a:bodyPr vert="horz" wrap="square" lIns="0" tIns="14909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7938">
              <a:spcBef>
                <a:spcPts val="75"/>
              </a:spcBef>
            </a:pPr>
            <a:r>
              <a:rPr dirty="0"/>
              <a:t>Solar</a:t>
            </a:r>
            <a:r>
              <a:rPr spc="-19" dirty="0"/>
              <a:t> </a:t>
            </a:r>
            <a:r>
              <a:rPr dirty="0"/>
              <a:t>Cycle</a:t>
            </a:r>
            <a:r>
              <a:rPr spc="-15" dirty="0"/>
              <a:t> </a:t>
            </a:r>
            <a:r>
              <a:rPr spc="-8" dirty="0"/>
              <a:t>Dependence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1385" y="1131188"/>
            <a:ext cx="2843689" cy="3129672"/>
          </a:xfrm>
          <a:prstGeom prst="rect">
            <a:avLst/>
          </a:prstGeom>
        </p:spPr>
        <p:txBody>
          <a:bodyPr vert="horz" wrap="square" lIns="0" tIns="54769" rIns="0" bIns="0" rtlCol="0">
            <a:spAutoFit/>
          </a:bodyPr>
          <a:lstStyle/>
          <a:p>
            <a:pPr marL="182403" indent="-172878">
              <a:spcBef>
                <a:spcPts val="431"/>
              </a:spcBef>
              <a:buFont typeface="Arial"/>
              <a:buChar char="•"/>
              <a:tabLst>
                <a:tab pos="182403" algn="l"/>
              </a:tabLst>
            </a:pPr>
            <a:r>
              <a:rPr sz="1800" b="1" dirty="0">
                <a:latin typeface="Arial"/>
                <a:cs typeface="Arial"/>
              </a:rPr>
              <a:t>Solar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Maximum</a:t>
            </a:r>
            <a:endParaRPr sz="1800">
              <a:latin typeface="Arial"/>
              <a:cs typeface="Arial"/>
            </a:endParaRPr>
          </a:p>
          <a:p>
            <a:pPr marL="440055" marR="259080" indent="-172878">
              <a:spcBef>
                <a:spcPts val="300"/>
              </a:spcBef>
            </a:pPr>
            <a:r>
              <a:rPr sz="15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500" spc="9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Background</a:t>
            </a:r>
            <a:r>
              <a:rPr sz="1500" b="1" spc="-1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(includes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solar</a:t>
            </a:r>
            <a:r>
              <a:rPr sz="1500" b="1" spc="-3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wind)</a:t>
            </a:r>
            <a:r>
              <a:rPr sz="15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levels</a:t>
            </a:r>
            <a:r>
              <a:rPr sz="1500" b="1" spc="-1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15" dirty="0">
                <a:solidFill>
                  <a:srgbClr val="0000FF"/>
                </a:solidFill>
                <a:latin typeface="Arial"/>
                <a:cs typeface="Arial"/>
              </a:rPr>
              <a:t>lower</a:t>
            </a:r>
            <a:endParaRPr sz="1500">
              <a:latin typeface="Arial"/>
              <a:cs typeface="Arial"/>
            </a:endParaRPr>
          </a:p>
          <a:p>
            <a:pPr marL="440055" marR="658654" indent="-172878">
              <a:spcBef>
                <a:spcPts val="304"/>
              </a:spcBef>
            </a:pPr>
            <a:r>
              <a:rPr sz="15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500" spc="8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Solar</a:t>
            </a:r>
            <a:r>
              <a:rPr sz="15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Events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15" dirty="0">
                <a:solidFill>
                  <a:srgbClr val="0000FF"/>
                </a:solidFill>
                <a:latin typeface="Arial"/>
                <a:cs typeface="Arial"/>
              </a:rPr>
              <a:t>More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Frequent</a:t>
            </a:r>
            <a:r>
              <a:rPr sz="1500" b="1" spc="-3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&amp;</a:t>
            </a:r>
            <a:r>
              <a:rPr sz="1500" b="1" spc="-1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Greater Intensity</a:t>
            </a:r>
            <a:endParaRPr sz="1500">
              <a:latin typeface="Arial"/>
              <a:cs typeface="Arial"/>
            </a:endParaRPr>
          </a:p>
          <a:p>
            <a:pPr marL="182403" indent="-172878">
              <a:spcBef>
                <a:spcPts val="386"/>
              </a:spcBef>
              <a:buFont typeface="Arial"/>
              <a:buChar char="•"/>
              <a:tabLst>
                <a:tab pos="182403" algn="l"/>
              </a:tabLst>
            </a:pPr>
            <a:r>
              <a:rPr sz="1800" b="1" dirty="0">
                <a:latin typeface="Arial"/>
                <a:cs typeface="Arial"/>
              </a:rPr>
              <a:t>Solar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Minimum</a:t>
            </a:r>
            <a:endParaRPr sz="1800">
              <a:latin typeface="Arial"/>
              <a:cs typeface="Arial"/>
            </a:endParaRPr>
          </a:p>
          <a:p>
            <a:pPr marL="440055" marR="177165" indent="-172878">
              <a:spcBef>
                <a:spcPts val="300"/>
              </a:spcBef>
            </a:pPr>
            <a:r>
              <a:rPr sz="15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500" spc="9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Background</a:t>
            </a:r>
            <a:r>
              <a:rPr sz="1500" b="1" spc="-1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(includes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solar</a:t>
            </a:r>
            <a:r>
              <a:rPr sz="1500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wind)</a:t>
            </a:r>
            <a:r>
              <a:rPr sz="1500" b="1" spc="-3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levels 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higher</a:t>
            </a:r>
            <a:endParaRPr sz="1500">
              <a:latin typeface="Arial"/>
              <a:cs typeface="Arial"/>
            </a:endParaRPr>
          </a:p>
          <a:p>
            <a:pPr marL="267653">
              <a:spcBef>
                <a:spcPts val="304"/>
              </a:spcBef>
            </a:pPr>
            <a:r>
              <a:rPr sz="15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500" spc="8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Solar</a:t>
            </a:r>
            <a:r>
              <a:rPr sz="15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Events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less</a:t>
            </a:r>
            <a:r>
              <a:rPr sz="1500" b="1" spc="-2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frequent</a:t>
            </a:r>
            <a:endParaRPr sz="1500">
              <a:latin typeface="Arial"/>
              <a:cs typeface="Arial"/>
            </a:endParaRPr>
          </a:p>
          <a:p>
            <a:pPr marL="483870" marR="809149" lvl="1" indent="-128111">
              <a:lnSpc>
                <a:spcPct val="111100"/>
              </a:lnSpc>
              <a:spcBef>
                <a:spcPts val="161"/>
              </a:spcBef>
              <a:buFont typeface="Arial"/>
              <a:buChar char="•"/>
              <a:tabLst>
                <a:tab pos="483870" algn="l"/>
              </a:tabLst>
            </a:pPr>
            <a:r>
              <a:rPr sz="1350" b="1" dirty="0">
                <a:solidFill>
                  <a:srgbClr val="0000FF"/>
                </a:solidFill>
                <a:latin typeface="Arial"/>
                <a:cs typeface="Arial"/>
              </a:rPr>
              <a:t>Does</a:t>
            </a:r>
            <a:r>
              <a:rPr sz="1350" b="1" spc="-2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0000FF"/>
                </a:solidFill>
                <a:latin typeface="Arial"/>
                <a:cs typeface="Arial"/>
              </a:rPr>
              <a:t>not</a:t>
            </a:r>
            <a:r>
              <a:rPr sz="135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0000FF"/>
                </a:solidFill>
                <a:latin typeface="Arial"/>
                <a:cs typeface="Arial"/>
              </a:rPr>
              <a:t>mean</a:t>
            </a:r>
            <a:r>
              <a:rPr sz="1350" b="1" spc="-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350" b="1" spc="-19" dirty="0">
                <a:solidFill>
                  <a:srgbClr val="0000FF"/>
                </a:solidFill>
                <a:latin typeface="Arial"/>
                <a:cs typeface="Arial"/>
              </a:rPr>
              <a:t>not </a:t>
            </a:r>
            <a:r>
              <a:rPr sz="1350" b="1" spc="-8" dirty="0">
                <a:solidFill>
                  <a:srgbClr val="0000FF"/>
                </a:solidFill>
                <a:latin typeface="Arial"/>
                <a:cs typeface="Arial"/>
              </a:rPr>
              <a:t>happening</a:t>
            </a:r>
            <a:endParaRPr sz="13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64357" y="4800381"/>
            <a:ext cx="5415438" cy="282289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28099" rIns="0" bIns="0" rtlCol="0">
            <a:spAutoFit/>
          </a:bodyPr>
          <a:lstStyle/>
          <a:p>
            <a:pPr algn="ctr">
              <a:spcBef>
                <a:spcPts val="221"/>
              </a:spcBef>
            </a:pPr>
            <a:r>
              <a:rPr sz="1650" b="1" dirty="0">
                <a:latin typeface="Arial"/>
                <a:cs typeface="Arial"/>
              </a:rPr>
              <a:t>Sun</a:t>
            </a:r>
            <a:r>
              <a:rPr sz="1650" b="1" spc="-23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is</a:t>
            </a:r>
            <a:r>
              <a:rPr sz="1650" b="1" spc="-30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a</a:t>
            </a:r>
            <a:r>
              <a:rPr sz="1650" b="1" spc="-30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source</a:t>
            </a:r>
            <a:r>
              <a:rPr sz="1650" b="1" spc="-23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of</a:t>
            </a:r>
            <a:r>
              <a:rPr sz="1650" b="1" spc="-23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particle</a:t>
            </a:r>
            <a:r>
              <a:rPr sz="1650" b="1" spc="-11" dirty="0">
                <a:latin typeface="Arial"/>
                <a:cs typeface="Arial"/>
              </a:rPr>
              <a:t> </a:t>
            </a:r>
            <a:r>
              <a:rPr sz="1650" b="1" spc="-8" dirty="0">
                <a:latin typeface="Arial"/>
                <a:cs typeface="Arial"/>
              </a:rPr>
              <a:t>events</a:t>
            </a:r>
            <a:endParaRPr sz="16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27222" y="1370695"/>
            <a:ext cx="5235393" cy="327840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4876" y="1345949"/>
            <a:ext cx="3717608" cy="187692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82880" marR="3810" indent="-173831">
              <a:lnSpc>
                <a:spcPct val="105300"/>
              </a:lnSpc>
              <a:spcBef>
                <a:spcPts val="75"/>
              </a:spcBef>
              <a:buFont typeface="Arial"/>
              <a:buChar char="•"/>
              <a:tabLst>
                <a:tab pos="182880" algn="l"/>
              </a:tabLst>
            </a:pPr>
            <a:r>
              <a:rPr sz="1425" b="1" dirty="0">
                <a:latin typeface="Arial"/>
                <a:cs typeface="Arial"/>
              </a:rPr>
              <a:t>Most</a:t>
            </a:r>
            <a:r>
              <a:rPr sz="1425" b="1" spc="-23" dirty="0">
                <a:latin typeface="Arial"/>
                <a:cs typeface="Arial"/>
              </a:rPr>
              <a:t> </a:t>
            </a:r>
            <a:r>
              <a:rPr sz="1425" b="1" dirty="0">
                <a:latin typeface="Arial"/>
                <a:cs typeface="Arial"/>
              </a:rPr>
              <a:t>common</a:t>
            </a:r>
            <a:r>
              <a:rPr sz="1425" b="1" spc="-23" dirty="0">
                <a:latin typeface="Arial"/>
                <a:cs typeface="Arial"/>
              </a:rPr>
              <a:t> </a:t>
            </a:r>
            <a:r>
              <a:rPr sz="1425" b="1" dirty="0">
                <a:latin typeface="Arial"/>
                <a:cs typeface="Arial"/>
              </a:rPr>
              <a:t>approach</a:t>
            </a:r>
            <a:r>
              <a:rPr sz="1425" b="1" spc="-23" dirty="0">
                <a:latin typeface="Arial"/>
                <a:cs typeface="Arial"/>
              </a:rPr>
              <a:t> </a:t>
            </a:r>
            <a:r>
              <a:rPr sz="1425" b="1" dirty="0">
                <a:latin typeface="Arial"/>
                <a:cs typeface="Arial"/>
              </a:rPr>
              <a:t>is</a:t>
            </a:r>
            <a:r>
              <a:rPr sz="1425" b="1" spc="-30" dirty="0">
                <a:latin typeface="Arial"/>
                <a:cs typeface="Arial"/>
              </a:rPr>
              <a:t> </a:t>
            </a:r>
            <a:r>
              <a:rPr sz="1425" b="1" dirty="0">
                <a:latin typeface="Arial"/>
                <a:cs typeface="Arial"/>
              </a:rPr>
              <a:t>to</a:t>
            </a:r>
            <a:r>
              <a:rPr sz="1425" b="1" spc="-30" dirty="0">
                <a:latin typeface="Arial"/>
                <a:cs typeface="Arial"/>
              </a:rPr>
              <a:t> </a:t>
            </a:r>
            <a:r>
              <a:rPr sz="1425" b="1" dirty="0">
                <a:latin typeface="Arial"/>
                <a:cs typeface="Arial"/>
              </a:rPr>
              <a:t>design</a:t>
            </a:r>
            <a:r>
              <a:rPr sz="1425" b="1" spc="-26" dirty="0">
                <a:latin typeface="Arial"/>
                <a:cs typeface="Arial"/>
              </a:rPr>
              <a:t> </a:t>
            </a:r>
            <a:r>
              <a:rPr sz="1425" b="1" dirty="0">
                <a:latin typeface="Arial"/>
                <a:cs typeface="Arial"/>
              </a:rPr>
              <a:t>to</a:t>
            </a:r>
            <a:r>
              <a:rPr sz="1425" b="1" spc="-30" dirty="0">
                <a:latin typeface="Arial"/>
                <a:cs typeface="Arial"/>
              </a:rPr>
              <a:t> </a:t>
            </a:r>
            <a:r>
              <a:rPr sz="1425" b="1" spc="-38" dirty="0">
                <a:latin typeface="Arial"/>
                <a:cs typeface="Arial"/>
              </a:rPr>
              <a:t>a </a:t>
            </a:r>
            <a:r>
              <a:rPr sz="1425" b="1" spc="-8" dirty="0">
                <a:latin typeface="Arial"/>
                <a:cs typeface="Arial"/>
              </a:rPr>
              <a:t>well-</a:t>
            </a:r>
            <a:r>
              <a:rPr sz="1425" b="1" dirty="0">
                <a:latin typeface="Arial"/>
                <a:cs typeface="Arial"/>
              </a:rPr>
              <a:t>known</a:t>
            </a:r>
            <a:r>
              <a:rPr sz="1425" b="1" spc="-49" dirty="0">
                <a:latin typeface="Arial"/>
                <a:cs typeface="Arial"/>
              </a:rPr>
              <a:t> </a:t>
            </a:r>
            <a:r>
              <a:rPr sz="1425" b="1" dirty="0">
                <a:latin typeface="Arial"/>
                <a:cs typeface="Arial"/>
              </a:rPr>
              <a:t>large</a:t>
            </a:r>
            <a:r>
              <a:rPr sz="1425" b="1" spc="-11" dirty="0">
                <a:latin typeface="Arial"/>
                <a:cs typeface="Arial"/>
              </a:rPr>
              <a:t> </a:t>
            </a:r>
            <a:r>
              <a:rPr sz="1425" b="1" spc="-15" dirty="0">
                <a:latin typeface="Arial"/>
                <a:cs typeface="Arial"/>
              </a:rPr>
              <a:t>event</a:t>
            </a:r>
            <a:endParaRPr sz="1425" dirty="0">
              <a:latin typeface="Arial"/>
              <a:cs typeface="Arial"/>
            </a:endParaRPr>
          </a:p>
          <a:p>
            <a:pPr marL="182880" indent="-173355">
              <a:spcBef>
                <a:spcPts val="836"/>
              </a:spcBef>
              <a:buFont typeface="Arial"/>
              <a:buChar char="•"/>
              <a:tabLst>
                <a:tab pos="182880" algn="l"/>
              </a:tabLst>
            </a:pPr>
            <a:r>
              <a:rPr sz="1425" b="1" dirty="0">
                <a:latin typeface="Arial"/>
                <a:cs typeface="Arial"/>
              </a:rPr>
              <a:t>Events</a:t>
            </a:r>
            <a:r>
              <a:rPr sz="1425" b="1" spc="-4" dirty="0">
                <a:latin typeface="Arial"/>
                <a:cs typeface="Arial"/>
              </a:rPr>
              <a:t> </a:t>
            </a:r>
            <a:r>
              <a:rPr sz="1425" b="1" dirty="0">
                <a:latin typeface="Arial"/>
                <a:cs typeface="Arial"/>
              </a:rPr>
              <a:t>most</a:t>
            </a:r>
            <a:r>
              <a:rPr sz="1425" b="1" spc="-41" dirty="0">
                <a:latin typeface="Arial"/>
                <a:cs typeface="Arial"/>
              </a:rPr>
              <a:t> </a:t>
            </a:r>
            <a:r>
              <a:rPr sz="1425" b="1" dirty="0">
                <a:latin typeface="Arial"/>
                <a:cs typeface="Arial"/>
              </a:rPr>
              <a:t>often</a:t>
            </a:r>
            <a:r>
              <a:rPr sz="1425" b="1" spc="-34" dirty="0">
                <a:latin typeface="Arial"/>
                <a:cs typeface="Arial"/>
              </a:rPr>
              <a:t> </a:t>
            </a:r>
            <a:r>
              <a:rPr sz="1425" b="1" spc="-8" dirty="0">
                <a:latin typeface="Arial"/>
                <a:cs typeface="Arial"/>
              </a:rPr>
              <a:t>considered:</a:t>
            </a:r>
            <a:endParaRPr sz="1425" dirty="0">
              <a:latin typeface="Arial"/>
              <a:cs typeface="Arial"/>
            </a:endParaRPr>
          </a:p>
          <a:p>
            <a:pPr marL="182880">
              <a:spcBef>
                <a:spcPts val="619"/>
              </a:spcBef>
            </a:pP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200" spc="3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00FF"/>
                </a:solidFill>
                <a:latin typeface="Arial"/>
                <a:cs typeface="Arial"/>
              </a:rPr>
              <a:t>October</a:t>
            </a:r>
            <a:r>
              <a:rPr sz="1200" b="1" spc="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spc="-15" dirty="0">
                <a:solidFill>
                  <a:srgbClr val="0000FF"/>
                </a:solidFill>
                <a:latin typeface="Arial"/>
                <a:cs typeface="Arial"/>
              </a:rPr>
              <a:t>2003</a:t>
            </a:r>
            <a:endParaRPr sz="1200" dirty="0">
              <a:latin typeface="Arial"/>
              <a:cs typeface="Arial"/>
            </a:endParaRPr>
          </a:p>
          <a:p>
            <a:pPr marL="182880">
              <a:spcBef>
                <a:spcPts val="660"/>
              </a:spcBef>
            </a:pP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200" spc="3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00FF"/>
                </a:solidFill>
                <a:latin typeface="Arial"/>
                <a:cs typeface="Arial"/>
              </a:rPr>
              <a:t>October</a:t>
            </a:r>
            <a:r>
              <a:rPr sz="1200" b="1" spc="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spc="-15" dirty="0">
                <a:solidFill>
                  <a:srgbClr val="0000FF"/>
                </a:solidFill>
                <a:latin typeface="Arial"/>
                <a:cs typeface="Arial"/>
              </a:rPr>
              <a:t>1989</a:t>
            </a:r>
            <a:endParaRPr sz="1200" dirty="0">
              <a:latin typeface="Arial"/>
              <a:cs typeface="Arial"/>
            </a:endParaRPr>
          </a:p>
          <a:p>
            <a:pPr marL="182880">
              <a:spcBef>
                <a:spcPts val="656"/>
              </a:spcBef>
            </a:pP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200" spc="307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00FF"/>
                </a:solidFill>
                <a:latin typeface="Arial"/>
                <a:cs typeface="Arial"/>
              </a:rPr>
              <a:t>August</a:t>
            </a:r>
            <a:r>
              <a:rPr sz="1200" b="1" spc="1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spc="-15" dirty="0">
                <a:solidFill>
                  <a:srgbClr val="0000FF"/>
                </a:solidFill>
                <a:latin typeface="Arial"/>
                <a:cs typeface="Arial"/>
              </a:rPr>
              <a:t>1972</a:t>
            </a:r>
            <a:endParaRPr sz="1200" dirty="0">
              <a:latin typeface="Arial"/>
              <a:cs typeface="Arial"/>
            </a:endParaRPr>
          </a:p>
          <a:p>
            <a:pPr marL="182880">
              <a:spcBef>
                <a:spcPts val="664"/>
              </a:spcBef>
            </a:pPr>
            <a:r>
              <a:rPr sz="12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200" spc="307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00FF"/>
                </a:solidFill>
                <a:latin typeface="Arial"/>
                <a:cs typeface="Arial"/>
              </a:rPr>
              <a:t>Carrington</a:t>
            </a:r>
            <a:r>
              <a:rPr sz="1200" b="1" spc="-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00FF"/>
                </a:solidFill>
                <a:latin typeface="Arial"/>
                <a:cs typeface="Arial"/>
              </a:rPr>
              <a:t>Event </a:t>
            </a:r>
            <a:r>
              <a:rPr sz="1200" b="1" spc="-15" dirty="0">
                <a:solidFill>
                  <a:srgbClr val="0000FF"/>
                </a:solidFill>
                <a:latin typeface="Arial"/>
                <a:cs typeface="Arial"/>
              </a:rPr>
              <a:t>1859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4876" y="3222613"/>
            <a:ext cx="4035743" cy="17391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82441" marR="89535" indent="-127159">
              <a:lnSpc>
                <a:spcPct val="142800"/>
              </a:lnSpc>
              <a:spcBef>
                <a:spcPts val="75"/>
              </a:spcBef>
              <a:buFont typeface="Arial"/>
              <a:buChar char="•"/>
              <a:tabLst>
                <a:tab pos="483394" algn="l"/>
              </a:tabLst>
            </a:pPr>
            <a:r>
              <a:rPr sz="1050" b="1" dirty="0">
                <a:solidFill>
                  <a:srgbClr val="0000FF"/>
                </a:solidFill>
                <a:latin typeface="Arial"/>
                <a:cs typeface="Arial"/>
              </a:rPr>
              <a:t>Published</a:t>
            </a:r>
            <a:r>
              <a:rPr sz="1050" b="1" spc="-4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0000FF"/>
                </a:solidFill>
                <a:latin typeface="Arial"/>
                <a:cs typeface="Arial"/>
              </a:rPr>
              <a:t>ice</a:t>
            </a:r>
            <a:r>
              <a:rPr sz="105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0000FF"/>
                </a:solidFill>
                <a:latin typeface="Arial"/>
                <a:cs typeface="Arial"/>
              </a:rPr>
              <a:t>core</a:t>
            </a:r>
            <a:r>
              <a:rPr sz="1050" b="1" spc="-2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0000FF"/>
                </a:solidFill>
                <a:latin typeface="Arial"/>
                <a:cs typeface="Arial"/>
              </a:rPr>
              <a:t>data</a:t>
            </a:r>
            <a:r>
              <a:rPr sz="1050" b="1" spc="-2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0000FF"/>
                </a:solidFill>
                <a:latin typeface="Arial"/>
                <a:cs typeface="Arial"/>
              </a:rPr>
              <a:t>not</a:t>
            </a:r>
            <a:r>
              <a:rPr sz="105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050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0000FF"/>
                </a:solidFill>
                <a:latin typeface="Arial"/>
                <a:cs typeface="Arial"/>
              </a:rPr>
              <a:t>reliable</a:t>
            </a:r>
            <a:r>
              <a:rPr sz="105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0000FF"/>
                </a:solidFill>
                <a:latin typeface="Arial"/>
                <a:cs typeface="Arial"/>
              </a:rPr>
              <a:t>indicator</a:t>
            </a:r>
            <a:r>
              <a:rPr sz="1050" b="1" spc="-4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105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50" b="1" spc="-8" dirty="0">
                <a:solidFill>
                  <a:srgbClr val="0000FF"/>
                </a:solidFill>
                <a:latin typeface="Arial"/>
                <a:cs typeface="Arial"/>
              </a:rPr>
              <a:t>solar 	</a:t>
            </a:r>
            <a:r>
              <a:rPr sz="1050" b="1" dirty="0">
                <a:solidFill>
                  <a:srgbClr val="0000FF"/>
                </a:solidFill>
                <a:latin typeface="Arial"/>
                <a:cs typeface="Arial"/>
              </a:rPr>
              <a:t>proton</a:t>
            </a:r>
            <a:r>
              <a:rPr sz="1050" b="1" spc="-4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0000FF"/>
                </a:solidFill>
                <a:latin typeface="Arial"/>
                <a:cs typeface="Arial"/>
              </a:rPr>
              <a:t>event</a:t>
            </a:r>
            <a:r>
              <a:rPr sz="1050" b="1" spc="-3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50" b="1" spc="-8" dirty="0">
                <a:solidFill>
                  <a:srgbClr val="0000FF"/>
                </a:solidFill>
                <a:latin typeface="Arial"/>
                <a:cs typeface="Arial"/>
              </a:rPr>
              <a:t>magnitudes</a:t>
            </a:r>
            <a:endParaRPr sz="1050">
              <a:latin typeface="Arial"/>
              <a:cs typeface="Arial"/>
            </a:endParaRPr>
          </a:p>
          <a:p>
            <a:pPr marL="482918" indent="-127159">
              <a:spcBef>
                <a:spcPts val="694"/>
              </a:spcBef>
              <a:buFont typeface="Arial"/>
              <a:buChar char="•"/>
              <a:tabLst>
                <a:tab pos="482918" algn="l"/>
              </a:tabLst>
            </a:pPr>
            <a:r>
              <a:rPr sz="1050" b="1" dirty="0">
                <a:solidFill>
                  <a:srgbClr val="0000FF"/>
                </a:solidFill>
                <a:latin typeface="Arial"/>
                <a:cs typeface="Arial"/>
              </a:rPr>
              <a:t>Not</a:t>
            </a:r>
            <a:r>
              <a:rPr sz="105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0000FF"/>
                </a:solidFill>
                <a:latin typeface="Arial"/>
                <a:cs typeface="Arial"/>
              </a:rPr>
              <a:t>used</a:t>
            </a:r>
            <a:r>
              <a:rPr sz="1050" b="1" spc="-2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0000FF"/>
                </a:solidFill>
                <a:latin typeface="Arial"/>
                <a:cs typeface="Arial"/>
              </a:rPr>
              <a:t>in</a:t>
            </a:r>
            <a:r>
              <a:rPr sz="1050" b="1" spc="-1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50" b="1" spc="-8" dirty="0">
                <a:solidFill>
                  <a:srgbClr val="0000FF"/>
                </a:solidFill>
                <a:latin typeface="Arial"/>
                <a:cs typeface="Arial"/>
              </a:rPr>
              <a:t>design</a:t>
            </a:r>
            <a:endParaRPr sz="1050">
              <a:latin typeface="Arial"/>
              <a:cs typeface="Arial"/>
            </a:endParaRPr>
          </a:p>
          <a:p>
            <a:pPr marL="482918" indent="-127159">
              <a:spcBef>
                <a:spcPts val="683"/>
              </a:spcBef>
              <a:buFont typeface="Arial"/>
              <a:buChar char="•"/>
              <a:tabLst>
                <a:tab pos="482918" algn="l"/>
              </a:tabLst>
            </a:pPr>
            <a:r>
              <a:rPr sz="1050" b="1" dirty="0">
                <a:solidFill>
                  <a:srgbClr val="0000FF"/>
                </a:solidFill>
                <a:latin typeface="Arial"/>
                <a:cs typeface="Arial"/>
              </a:rPr>
              <a:t>First</a:t>
            </a:r>
            <a:r>
              <a:rPr sz="1050" b="1" spc="-3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0000FF"/>
                </a:solidFill>
                <a:latin typeface="Arial"/>
                <a:cs typeface="Arial"/>
              </a:rPr>
              <a:t>example</a:t>
            </a:r>
            <a:r>
              <a:rPr sz="1050" b="1" spc="-3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0000FF"/>
                </a:solidFill>
                <a:latin typeface="Arial"/>
                <a:cs typeface="Arial"/>
              </a:rPr>
              <a:t>being</a:t>
            </a:r>
            <a:r>
              <a:rPr sz="1050" b="1" spc="-3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0000FF"/>
                </a:solidFill>
                <a:latin typeface="Arial"/>
                <a:cs typeface="Arial"/>
              </a:rPr>
              <a:t>linked</a:t>
            </a:r>
            <a:r>
              <a:rPr sz="1050" b="1" spc="-3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0000FF"/>
                </a:solidFill>
                <a:latin typeface="Arial"/>
                <a:cs typeface="Arial"/>
              </a:rPr>
              <a:t>to</a:t>
            </a:r>
            <a:r>
              <a:rPr sz="1050" b="1" spc="-3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0000FF"/>
                </a:solidFill>
                <a:latin typeface="Arial"/>
                <a:cs typeface="Arial"/>
              </a:rPr>
              <a:t>impacts</a:t>
            </a:r>
            <a:r>
              <a:rPr sz="1050" b="1" spc="-3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0000FF"/>
                </a:solidFill>
                <a:latin typeface="Arial"/>
                <a:cs typeface="Arial"/>
              </a:rPr>
              <a:t>on</a:t>
            </a:r>
            <a:r>
              <a:rPr sz="1050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1050" b="1" spc="-2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50" b="1" spc="-8" dirty="0">
                <a:solidFill>
                  <a:srgbClr val="0000FF"/>
                </a:solidFill>
                <a:latin typeface="Arial"/>
                <a:cs typeface="Arial"/>
              </a:rPr>
              <a:t>earth</a:t>
            </a:r>
            <a:endParaRPr sz="1050">
              <a:latin typeface="Arial"/>
              <a:cs typeface="Arial"/>
            </a:endParaRPr>
          </a:p>
          <a:p>
            <a:pPr marL="182880" marR="3810" indent="-173831">
              <a:lnSpc>
                <a:spcPct val="105300"/>
              </a:lnSpc>
              <a:spcBef>
                <a:spcPts val="679"/>
              </a:spcBef>
              <a:buFont typeface="Arial"/>
              <a:buChar char="•"/>
              <a:tabLst>
                <a:tab pos="182880" algn="l"/>
              </a:tabLst>
            </a:pPr>
            <a:r>
              <a:rPr sz="1425" b="1" dirty="0">
                <a:latin typeface="Arial"/>
                <a:cs typeface="Arial"/>
              </a:rPr>
              <a:t>Refer</a:t>
            </a:r>
            <a:r>
              <a:rPr sz="1425" b="1" spc="-19" dirty="0">
                <a:latin typeface="Arial"/>
                <a:cs typeface="Arial"/>
              </a:rPr>
              <a:t> </a:t>
            </a:r>
            <a:r>
              <a:rPr sz="1425" b="1" dirty="0">
                <a:latin typeface="Arial"/>
                <a:cs typeface="Arial"/>
              </a:rPr>
              <a:t>to</a:t>
            </a:r>
            <a:r>
              <a:rPr sz="1425" b="1" spc="-26" dirty="0">
                <a:latin typeface="Arial"/>
                <a:cs typeface="Arial"/>
              </a:rPr>
              <a:t> </a:t>
            </a:r>
            <a:r>
              <a:rPr sz="1425" b="1" dirty="0">
                <a:latin typeface="Arial"/>
                <a:cs typeface="Arial"/>
              </a:rPr>
              <a:t>Aerospace</a:t>
            </a:r>
            <a:r>
              <a:rPr sz="1425" b="1" spc="-4" dirty="0">
                <a:latin typeface="Arial"/>
                <a:cs typeface="Arial"/>
              </a:rPr>
              <a:t> </a:t>
            </a:r>
            <a:r>
              <a:rPr sz="1425" b="1" spc="-15" dirty="0">
                <a:latin typeface="Arial"/>
                <a:cs typeface="Arial"/>
              </a:rPr>
              <a:t>TOR-</a:t>
            </a:r>
            <a:r>
              <a:rPr sz="1425" b="1" spc="-8" dirty="0">
                <a:latin typeface="Arial"/>
                <a:cs typeface="Arial"/>
              </a:rPr>
              <a:t>2022-</a:t>
            </a:r>
            <a:r>
              <a:rPr sz="1425" b="1" dirty="0">
                <a:latin typeface="Arial"/>
                <a:cs typeface="Arial"/>
              </a:rPr>
              <a:t>00016</a:t>
            </a:r>
            <a:r>
              <a:rPr sz="1425" b="1" spc="4" dirty="0">
                <a:latin typeface="Arial"/>
                <a:cs typeface="Arial"/>
              </a:rPr>
              <a:t> </a:t>
            </a:r>
            <a:r>
              <a:rPr sz="1425" b="1" dirty="0">
                <a:latin typeface="Arial"/>
                <a:cs typeface="Arial"/>
              </a:rPr>
              <a:t>for</a:t>
            </a:r>
            <a:r>
              <a:rPr sz="1425" b="1" spc="-38" dirty="0">
                <a:latin typeface="Arial"/>
                <a:cs typeface="Arial"/>
              </a:rPr>
              <a:t> </a:t>
            </a:r>
            <a:r>
              <a:rPr sz="1425" b="1" spc="-15" dirty="0">
                <a:latin typeface="Arial"/>
                <a:cs typeface="Arial"/>
              </a:rPr>
              <a:t>best </a:t>
            </a:r>
            <a:r>
              <a:rPr sz="1425" b="1" dirty="0">
                <a:latin typeface="Arial"/>
                <a:cs typeface="Arial"/>
              </a:rPr>
              <a:t>practices</a:t>
            </a:r>
            <a:r>
              <a:rPr sz="1425" b="1" spc="-19" dirty="0">
                <a:latin typeface="Arial"/>
                <a:cs typeface="Arial"/>
              </a:rPr>
              <a:t> </a:t>
            </a:r>
            <a:r>
              <a:rPr sz="1425" b="1" dirty="0">
                <a:latin typeface="Arial"/>
                <a:cs typeface="Arial"/>
              </a:rPr>
              <a:t>for</a:t>
            </a:r>
            <a:r>
              <a:rPr sz="1425" b="1" spc="-49" dirty="0">
                <a:latin typeface="Arial"/>
                <a:cs typeface="Arial"/>
              </a:rPr>
              <a:t> </a:t>
            </a:r>
            <a:r>
              <a:rPr sz="1425" b="1" dirty="0">
                <a:latin typeface="Arial"/>
                <a:cs typeface="Arial"/>
              </a:rPr>
              <a:t>generating</a:t>
            </a:r>
            <a:r>
              <a:rPr sz="1425" b="1" spc="-30" dirty="0">
                <a:latin typeface="Arial"/>
                <a:cs typeface="Arial"/>
              </a:rPr>
              <a:t> </a:t>
            </a:r>
            <a:r>
              <a:rPr sz="1425" b="1" dirty="0">
                <a:latin typeface="Arial"/>
                <a:cs typeface="Arial"/>
              </a:rPr>
              <a:t>space</a:t>
            </a:r>
            <a:r>
              <a:rPr sz="1425" b="1" spc="-26" dirty="0">
                <a:latin typeface="Arial"/>
                <a:cs typeface="Arial"/>
              </a:rPr>
              <a:t> </a:t>
            </a:r>
            <a:r>
              <a:rPr sz="1425" b="1" spc="-8" dirty="0">
                <a:latin typeface="Arial"/>
                <a:cs typeface="Arial"/>
              </a:rPr>
              <a:t>environment </a:t>
            </a:r>
            <a:r>
              <a:rPr sz="1425" b="1" dirty="0">
                <a:latin typeface="Arial"/>
                <a:cs typeface="Arial"/>
              </a:rPr>
              <a:t>specifications</a:t>
            </a:r>
            <a:r>
              <a:rPr sz="1425" b="1" spc="-38" dirty="0">
                <a:latin typeface="Arial"/>
                <a:cs typeface="Arial"/>
              </a:rPr>
              <a:t> </a:t>
            </a:r>
            <a:r>
              <a:rPr sz="1425" b="1" dirty="0">
                <a:latin typeface="Arial"/>
                <a:cs typeface="Arial"/>
              </a:rPr>
              <a:t>with</a:t>
            </a:r>
            <a:r>
              <a:rPr sz="1425" b="1" spc="-68" dirty="0">
                <a:latin typeface="Arial"/>
                <a:cs typeface="Arial"/>
              </a:rPr>
              <a:t> </a:t>
            </a:r>
            <a:r>
              <a:rPr sz="1425" b="1" dirty="0">
                <a:latin typeface="Arial"/>
                <a:cs typeface="Arial"/>
              </a:rPr>
              <a:t>modern</a:t>
            </a:r>
            <a:r>
              <a:rPr sz="1425" b="1" spc="-30" dirty="0">
                <a:latin typeface="Arial"/>
                <a:cs typeface="Arial"/>
              </a:rPr>
              <a:t> </a:t>
            </a:r>
            <a:r>
              <a:rPr sz="1425" b="1" spc="-8" dirty="0">
                <a:latin typeface="Arial"/>
                <a:cs typeface="Arial"/>
              </a:rPr>
              <a:t>tools</a:t>
            </a:r>
            <a:endParaRPr sz="1425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xfrm>
            <a:off x="529830" y="141892"/>
            <a:ext cx="8004391" cy="642988"/>
          </a:xfrm>
          <a:prstGeom prst="rect">
            <a:avLst/>
          </a:prstGeom>
        </p:spPr>
        <p:txBody>
          <a:bodyPr vert="horz" wrap="square" lIns="0" tIns="14909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7938">
              <a:spcBef>
                <a:spcPts val="75"/>
              </a:spcBef>
            </a:pPr>
            <a:r>
              <a:rPr dirty="0"/>
              <a:t>Worst</a:t>
            </a:r>
            <a:r>
              <a:rPr spc="-26" dirty="0"/>
              <a:t> </a:t>
            </a:r>
            <a:r>
              <a:rPr dirty="0"/>
              <a:t>Case</a:t>
            </a:r>
            <a:r>
              <a:rPr spc="-34" dirty="0"/>
              <a:t> </a:t>
            </a:r>
            <a:r>
              <a:rPr dirty="0"/>
              <a:t>Solar</a:t>
            </a:r>
            <a:r>
              <a:rPr spc="-15" dirty="0"/>
              <a:t> </a:t>
            </a:r>
            <a:r>
              <a:rPr dirty="0"/>
              <a:t>Particle</a:t>
            </a:r>
            <a:r>
              <a:rPr spc="-34" dirty="0"/>
              <a:t> </a:t>
            </a:r>
            <a:r>
              <a:rPr spc="-8" dirty="0"/>
              <a:t>Events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669163" y="4809982"/>
            <a:ext cx="2460784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dirty="0">
                <a:latin typeface="Arial"/>
                <a:cs typeface="Arial"/>
              </a:rPr>
              <a:t>R.A</a:t>
            </a:r>
            <a:r>
              <a:rPr sz="1050" b="1" spc="-53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Mewaldt</a:t>
            </a:r>
            <a:r>
              <a:rPr sz="1050" b="1" spc="-41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et</a:t>
            </a:r>
            <a:r>
              <a:rPr sz="1050" b="1" spc="-23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al.,</a:t>
            </a:r>
            <a:r>
              <a:rPr sz="1050" b="1" spc="-26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Radiat.</a:t>
            </a:r>
            <a:r>
              <a:rPr sz="1050" b="1" spc="-26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Risks.,</a:t>
            </a:r>
            <a:r>
              <a:rPr sz="1050" b="1" spc="-34" dirty="0">
                <a:latin typeface="Arial"/>
                <a:cs typeface="Arial"/>
              </a:rPr>
              <a:t> </a:t>
            </a:r>
            <a:r>
              <a:rPr sz="1050" b="1" spc="-15" dirty="0">
                <a:latin typeface="Arial"/>
                <a:cs typeface="Arial"/>
              </a:rPr>
              <a:t>2007</a:t>
            </a:r>
            <a:endParaRPr sz="10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11202" y="3118376"/>
            <a:ext cx="1645920" cy="0"/>
          </a:xfrm>
          <a:custGeom>
            <a:avLst/>
            <a:gdLst/>
            <a:ahLst/>
            <a:cxnLst/>
            <a:rect l="l" t="t" r="r" b="b"/>
            <a:pathLst>
              <a:path w="2194560">
                <a:moveTo>
                  <a:pt x="0" y="0"/>
                </a:moveTo>
                <a:lnTo>
                  <a:pt x="2194560" y="0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20935" y="1278997"/>
            <a:ext cx="3694742" cy="356684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4501" y="1306310"/>
            <a:ext cx="3366611" cy="2889894"/>
          </a:xfrm>
          <a:prstGeom prst="rect">
            <a:avLst/>
          </a:prstGeom>
        </p:spPr>
        <p:txBody>
          <a:bodyPr vert="horz" wrap="square" lIns="0" tIns="55245" rIns="0" bIns="0" rtlCol="0">
            <a:spAutoFit/>
          </a:bodyPr>
          <a:lstStyle/>
          <a:p>
            <a:pPr marL="181928" marR="3810" indent="-172878">
              <a:lnSpc>
                <a:spcPts val="1800"/>
              </a:lnSpc>
              <a:spcBef>
                <a:spcPts val="435"/>
              </a:spcBef>
              <a:buFont typeface="Arial"/>
              <a:buChar char="•"/>
              <a:tabLst>
                <a:tab pos="182880" algn="l"/>
              </a:tabLst>
            </a:pPr>
            <a:r>
              <a:rPr sz="1800" b="1" dirty="0">
                <a:latin typeface="Arial"/>
                <a:cs typeface="Arial"/>
              </a:rPr>
              <a:t>Standard</a:t>
            </a:r>
            <a:r>
              <a:rPr sz="1800" b="1" spc="-83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CREME96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model 	</a:t>
            </a:r>
            <a:r>
              <a:rPr sz="1800" b="1" dirty="0">
                <a:latin typeface="Arial"/>
                <a:cs typeface="Arial"/>
              </a:rPr>
              <a:t>based</a:t>
            </a:r>
            <a:r>
              <a:rPr sz="1800" b="1" spc="-38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on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October</a:t>
            </a:r>
            <a:r>
              <a:rPr sz="1800" b="1" spc="-41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1989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event</a:t>
            </a:r>
            <a:endParaRPr sz="1800">
              <a:latin typeface="Arial"/>
              <a:cs typeface="Arial"/>
            </a:endParaRPr>
          </a:p>
          <a:p>
            <a:pPr marL="182880">
              <a:spcBef>
                <a:spcPts val="300"/>
              </a:spcBef>
            </a:pPr>
            <a:r>
              <a:rPr sz="15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500" spc="9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Peak</a:t>
            </a:r>
            <a:r>
              <a:rPr sz="15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5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 minutes</a:t>
            </a:r>
            <a:endParaRPr sz="1500">
              <a:latin typeface="Arial"/>
              <a:cs typeface="Arial"/>
            </a:endParaRPr>
          </a:p>
          <a:p>
            <a:pPr marL="182880">
              <a:spcBef>
                <a:spcPts val="304"/>
              </a:spcBef>
            </a:pPr>
            <a:r>
              <a:rPr sz="15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500" spc="9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Worst</a:t>
            </a:r>
            <a:r>
              <a:rPr sz="1500" b="1" spc="-19" dirty="0">
                <a:solidFill>
                  <a:srgbClr val="0000FF"/>
                </a:solidFill>
                <a:latin typeface="Arial"/>
                <a:cs typeface="Arial"/>
              </a:rPr>
              <a:t> day</a:t>
            </a:r>
            <a:endParaRPr sz="1500">
              <a:latin typeface="Arial"/>
              <a:cs typeface="Arial"/>
            </a:endParaRPr>
          </a:p>
          <a:p>
            <a:pPr marL="182880">
              <a:spcBef>
                <a:spcPts val="296"/>
              </a:spcBef>
            </a:pPr>
            <a:r>
              <a:rPr sz="15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500" spc="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Worst</a:t>
            </a:r>
            <a:r>
              <a:rPr sz="1500" b="1" spc="-1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15" dirty="0">
                <a:solidFill>
                  <a:srgbClr val="0000FF"/>
                </a:solidFill>
                <a:latin typeface="Arial"/>
                <a:cs typeface="Arial"/>
              </a:rPr>
              <a:t>week</a:t>
            </a:r>
            <a:endParaRPr sz="1500">
              <a:latin typeface="Arial"/>
              <a:cs typeface="Arial"/>
            </a:endParaRPr>
          </a:p>
          <a:p>
            <a:pPr marL="181928" marR="424339" indent="-172878">
              <a:lnSpc>
                <a:spcPts val="1800"/>
              </a:lnSpc>
              <a:spcBef>
                <a:spcPts val="746"/>
              </a:spcBef>
              <a:buFont typeface="Arial"/>
              <a:buChar char="•"/>
              <a:tabLst>
                <a:tab pos="182880" algn="l"/>
              </a:tabLst>
            </a:pPr>
            <a:r>
              <a:rPr sz="1800" b="1" dirty="0">
                <a:latin typeface="Arial"/>
                <a:cs typeface="Arial"/>
              </a:rPr>
              <a:t>Incorporated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into</a:t>
            </a:r>
            <a:r>
              <a:rPr sz="1800" b="1" spc="-38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suite</a:t>
            </a:r>
            <a:r>
              <a:rPr sz="1800" b="1" spc="-26" dirty="0">
                <a:latin typeface="Arial"/>
                <a:cs typeface="Arial"/>
              </a:rPr>
              <a:t> </a:t>
            </a:r>
            <a:r>
              <a:rPr sz="1800" b="1" spc="-19" dirty="0">
                <a:latin typeface="Arial"/>
                <a:cs typeface="Arial"/>
              </a:rPr>
              <a:t>of 	</a:t>
            </a:r>
            <a:r>
              <a:rPr sz="1800" b="1" dirty="0">
                <a:latin typeface="Arial"/>
                <a:cs typeface="Arial"/>
              </a:rPr>
              <a:t>codes</a:t>
            </a:r>
            <a:r>
              <a:rPr sz="1800" b="1" spc="-41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including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spc="-15" dirty="0">
                <a:latin typeface="Arial"/>
                <a:cs typeface="Arial"/>
              </a:rPr>
              <a:t>orbit 	</a:t>
            </a:r>
            <a:r>
              <a:rPr sz="1800" b="1" dirty="0">
                <a:latin typeface="Arial"/>
                <a:cs typeface="Arial"/>
              </a:rPr>
              <a:t>generator,</a:t>
            </a:r>
            <a:r>
              <a:rPr sz="1800" b="1" spc="-68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magnetic</a:t>
            </a:r>
            <a:r>
              <a:rPr sz="1800" b="1" spc="-64" dirty="0">
                <a:latin typeface="Arial"/>
                <a:cs typeface="Arial"/>
              </a:rPr>
              <a:t> </a:t>
            </a:r>
            <a:r>
              <a:rPr sz="1800" b="1" spc="-19" dirty="0">
                <a:latin typeface="Arial"/>
                <a:cs typeface="Arial"/>
              </a:rPr>
              <a:t>and 	</a:t>
            </a:r>
            <a:r>
              <a:rPr sz="1800" b="1" dirty="0">
                <a:latin typeface="Arial"/>
                <a:cs typeface="Arial"/>
              </a:rPr>
              <a:t>material</a:t>
            </a:r>
            <a:r>
              <a:rPr sz="1800" b="1" spc="-64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shielding</a:t>
            </a:r>
            <a:endParaRPr sz="1800">
              <a:latin typeface="Arial"/>
              <a:cs typeface="Arial"/>
            </a:endParaRPr>
          </a:p>
          <a:p>
            <a:pPr marL="181928" marR="171450" indent="-172878">
              <a:lnSpc>
                <a:spcPts val="1800"/>
              </a:lnSpc>
              <a:spcBef>
                <a:spcPts val="746"/>
              </a:spcBef>
              <a:buFont typeface="Arial"/>
              <a:buChar char="•"/>
              <a:tabLst>
                <a:tab pos="182880" algn="l"/>
              </a:tabLst>
            </a:pPr>
            <a:r>
              <a:rPr sz="1800" b="1" dirty="0">
                <a:latin typeface="Arial"/>
                <a:cs typeface="Arial"/>
              </a:rPr>
              <a:t>Useful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for</a:t>
            </a:r>
            <a:r>
              <a:rPr sz="1800" b="1" spc="-26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both</a:t>
            </a:r>
            <a:r>
              <a:rPr sz="1800" b="1" spc="-41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protons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19" dirty="0">
                <a:latin typeface="Arial"/>
                <a:cs typeface="Arial"/>
              </a:rPr>
              <a:t>and 	</a:t>
            </a:r>
            <a:r>
              <a:rPr sz="1800" b="1" dirty="0">
                <a:latin typeface="Arial"/>
                <a:cs typeface="Arial"/>
              </a:rPr>
              <a:t>heavy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spc="-15" dirty="0">
                <a:latin typeface="Arial"/>
                <a:cs typeface="Arial"/>
              </a:rPr>
              <a:t>ions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63348" y="1521153"/>
            <a:ext cx="4248882" cy="250142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631093" y="4134208"/>
            <a:ext cx="2322195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dirty="0">
                <a:latin typeface="Arial"/>
                <a:cs typeface="Arial"/>
              </a:rPr>
              <a:t>C.S.</a:t>
            </a:r>
            <a:r>
              <a:rPr sz="1050" b="1" spc="-30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Dyer</a:t>
            </a:r>
            <a:r>
              <a:rPr sz="1050" b="1" spc="15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et</a:t>
            </a:r>
            <a:r>
              <a:rPr sz="1050" b="1" spc="-30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al.,</a:t>
            </a:r>
            <a:r>
              <a:rPr sz="1050" b="1" spc="-34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IEEE</a:t>
            </a:r>
            <a:r>
              <a:rPr sz="1050" b="1" spc="-26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TNS,</a:t>
            </a:r>
            <a:r>
              <a:rPr sz="1050" b="1" spc="-15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Dec.</a:t>
            </a:r>
            <a:r>
              <a:rPr sz="1050" b="1" spc="-26" dirty="0">
                <a:latin typeface="Arial"/>
                <a:cs typeface="Arial"/>
              </a:rPr>
              <a:t> </a:t>
            </a:r>
            <a:r>
              <a:rPr sz="1050" b="1" spc="-15" dirty="0">
                <a:latin typeface="Arial"/>
                <a:cs typeface="Arial"/>
              </a:rPr>
              <a:t>2002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92C86BE-9516-B58A-B689-F67C74BB51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ts val="2703"/>
              </a:lnSpc>
              <a:spcBef>
                <a:spcPts val="75"/>
              </a:spcBef>
            </a:pPr>
            <a:r>
              <a:rPr lang="en-US" sz="3600" dirty="0"/>
              <a:t>Worst</a:t>
            </a:r>
            <a:r>
              <a:rPr lang="en-US" sz="3600" spc="-34" dirty="0"/>
              <a:t> </a:t>
            </a:r>
            <a:r>
              <a:rPr lang="en-US" sz="3600" dirty="0"/>
              <a:t>Case</a:t>
            </a:r>
            <a:r>
              <a:rPr lang="en-US" sz="3600" spc="-26" dirty="0"/>
              <a:t> </a:t>
            </a:r>
            <a:r>
              <a:rPr lang="en-US" sz="3600" dirty="0"/>
              <a:t>Solar</a:t>
            </a:r>
            <a:r>
              <a:rPr lang="en-US" sz="3600" spc="-34" dirty="0"/>
              <a:t> </a:t>
            </a:r>
            <a:r>
              <a:rPr lang="en-US" sz="3600" dirty="0"/>
              <a:t>Particle</a:t>
            </a:r>
            <a:r>
              <a:rPr lang="en-US" sz="3600" spc="-30" dirty="0"/>
              <a:t> </a:t>
            </a:r>
            <a:r>
              <a:rPr lang="en-US" sz="3600" dirty="0"/>
              <a:t>Event</a:t>
            </a:r>
            <a:r>
              <a:rPr lang="en-US" sz="3600" spc="-30" dirty="0"/>
              <a:t> </a:t>
            </a:r>
            <a:r>
              <a:rPr lang="en-US" sz="3600" spc="-8" dirty="0"/>
              <a:t>Model</a:t>
            </a:r>
            <a:br>
              <a:rPr lang="en-US" dirty="0"/>
            </a:br>
            <a:r>
              <a:rPr lang="en-US" sz="1700" spc="-8" dirty="0">
                <a:solidFill>
                  <a:srgbClr val="8B8D8E"/>
                </a:solidFill>
              </a:rPr>
              <a:t>CREME96</a:t>
            </a:r>
            <a:endParaRPr lang="en-US" sz="1700" dirty="0">
              <a:solidFill>
                <a:srgbClr val="8B8D8E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FAFD9-469B-A646-FC90-AA97F55A1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9FC2D1CE-D55C-C9F8-5788-007857BED2A6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0" y="285750"/>
            <a:ext cx="0" cy="1317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069"/>
              </a:lnSpc>
            </a:pPr>
            <a:fld id="{81D60167-4931-47E6-BA6A-407CBD079E47}" type="slidenum">
              <a:rPr spc="-38" dirty="0">
                <a:solidFill>
                  <a:srgbClr val="FFFFFF"/>
                </a:solidFill>
              </a:rPr>
              <a:pPr marL="76200">
                <a:lnSpc>
                  <a:spcPts val="1069"/>
                </a:lnSpc>
              </a:pPr>
              <a:t>20</a:t>
            </a:fld>
            <a:endParaRPr spc="-38" dirty="0">
              <a:solidFill>
                <a:srgbClr val="FFFFFF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D73B70C-E569-5CFD-B755-5FE2A763D4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Section Topics/Outline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A7D0150B-8C1A-1DF2-5052-FA07A7924916}"/>
              </a:ext>
            </a:extLst>
          </p:cNvPr>
          <p:cNvSpPr txBox="1"/>
          <p:nvPr/>
        </p:nvSpPr>
        <p:spPr>
          <a:xfrm>
            <a:off x="744846" y="1058646"/>
            <a:ext cx="7328535" cy="1262044"/>
          </a:xfrm>
          <a:prstGeom prst="rect">
            <a:avLst/>
          </a:prstGeom>
        </p:spPr>
        <p:txBody>
          <a:bodyPr vert="horz" wrap="square" lIns="0" tIns="58579" rIns="0" bIns="0" rtlCol="0">
            <a:spAutoFit/>
          </a:bodyPr>
          <a:lstStyle/>
          <a:p>
            <a:pPr marL="182403" indent="-172878">
              <a:spcBef>
                <a:spcPts val="461"/>
              </a:spcBef>
              <a:buClr>
                <a:srgbClr val="E6E6E6"/>
              </a:buClr>
              <a:buFont typeface="Arial"/>
              <a:buChar char="•"/>
              <a:tabLst>
                <a:tab pos="182403" algn="l"/>
              </a:tabLst>
            </a:pP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What</a:t>
            </a:r>
            <a:r>
              <a:rPr sz="1800" b="1" spc="-30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are</a:t>
            </a:r>
            <a:r>
              <a:rPr sz="1800" b="1" spc="-26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the</a:t>
            </a:r>
            <a:r>
              <a:rPr sz="1800" b="1" spc="-30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sources</a:t>
            </a:r>
            <a:r>
              <a:rPr sz="1800" b="1" spc="-19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of</a:t>
            </a:r>
            <a:r>
              <a:rPr sz="1800" b="1" spc="-30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the</a:t>
            </a:r>
            <a:r>
              <a:rPr sz="1800" b="1" spc="-30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natural</a:t>
            </a:r>
            <a:r>
              <a:rPr sz="1800" b="1" spc="-30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space</a:t>
            </a:r>
            <a:r>
              <a:rPr sz="1800" b="1" spc="-15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radiation</a:t>
            </a:r>
            <a:r>
              <a:rPr sz="1800" b="1" spc="-45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spc="-8" dirty="0">
                <a:solidFill>
                  <a:srgbClr val="E6E6E6"/>
                </a:solidFill>
                <a:latin typeface="Arial"/>
                <a:cs typeface="Arial"/>
              </a:rPr>
              <a:t>environment?</a:t>
            </a:r>
            <a:endParaRPr sz="1800" dirty="0">
              <a:latin typeface="Arial"/>
              <a:cs typeface="Arial"/>
            </a:endParaRPr>
          </a:p>
          <a:p>
            <a:pPr marL="182403" indent="-172878">
              <a:spcBef>
                <a:spcPts val="386"/>
              </a:spcBef>
              <a:buFont typeface="Arial"/>
              <a:buChar char="•"/>
              <a:tabLst>
                <a:tab pos="182403" algn="l"/>
              </a:tabLst>
            </a:pPr>
            <a:r>
              <a:rPr sz="1800" b="1" dirty="0">
                <a:latin typeface="Arial"/>
                <a:cs typeface="Arial"/>
              </a:rPr>
              <a:t>What</a:t>
            </a:r>
            <a:r>
              <a:rPr sz="1800" b="1" spc="-23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role</a:t>
            </a:r>
            <a:r>
              <a:rPr sz="1800" b="1" spc="-26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does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26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Sun</a:t>
            </a:r>
            <a:r>
              <a:rPr sz="1800" b="1" spc="-26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play</a:t>
            </a:r>
            <a:r>
              <a:rPr sz="1800" b="1" spc="-23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on</a:t>
            </a:r>
            <a:r>
              <a:rPr sz="1800" b="1" spc="-26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these</a:t>
            </a:r>
            <a:r>
              <a:rPr sz="1800" b="1" spc="-19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environments?</a:t>
            </a:r>
            <a:endParaRPr sz="1800" dirty="0">
              <a:latin typeface="Arial"/>
              <a:cs typeface="Arial"/>
            </a:endParaRPr>
          </a:p>
          <a:p>
            <a:pPr marL="182880">
              <a:spcBef>
                <a:spcPts val="307"/>
              </a:spcBef>
            </a:pPr>
            <a:r>
              <a:rPr sz="15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500" spc="7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Quiet</a:t>
            </a:r>
            <a:r>
              <a:rPr sz="1500" b="1" spc="-4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Environments</a:t>
            </a:r>
            <a:r>
              <a:rPr sz="15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(Galactic</a:t>
            </a:r>
            <a:r>
              <a:rPr sz="1500" b="1" spc="-6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Cosmic</a:t>
            </a:r>
            <a:r>
              <a:rPr sz="1500" b="1" spc="-3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Rays)</a:t>
            </a:r>
            <a:endParaRPr sz="1500" dirty="0">
              <a:latin typeface="Arial"/>
              <a:cs typeface="Arial"/>
            </a:endParaRPr>
          </a:p>
          <a:p>
            <a:pPr marL="182403" indent="-172878">
              <a:spcBef>
                <a:spcPts val="386"/>
              </a:spcBef>
              <a:buFont typeface="Arial"/>
              <a:buChar char="•"/>
              <a:tabLst>
                <a:tab pos="182403" algn="l"/>
              </a:tabLst>
            </a:pP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Why</a:t>
            </a:r>
            <a:r>
              <a:rPr sz="1800" b="1" spc="-26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do</a:t>
            </a:r>
            <a:r>
              <a:rPr sz="1800" b="1" spc="-23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environments</a:t>
            </a:r>
            <a:r>
              <a:rPr sz="1800" b="1" spc="-15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spc="-8" dirty="0">
                <a:solidFill>
                  <a:srgbClr val="E6E6E6"/>
                </a:solidFill>
                <a:latin typeface="Arial"/>
                <a:cs typeface="Arial"/>
              </a:rPr>
              <a:t>matter?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9195A26-AE8B-0F14-6961-413EFC140C1F}"/>
              </a:ext>
            </a:extLst>
          </p:cNvPr>
          <p:cNvSpPr txBox="1"/>
          <p:nvPr/>
        </p:nvSpPr>
        <p:spPr>
          <a:xfrm>
            <a:off x="744847" y="2345664"/>
            <a:ext cx="1234916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82403" indent="-172878">
              <a:spcBef>
                <a:spcPts val="75"/>
              </a:spcBef>
              <a:buFont typeface="Arial"/>
              <a:buChar char="•"/>
              <a:tabLst>
                <a:tab pos="182403" algn="l"/>
              </a:tabLst>
            </a:pPr>
            <a:r>
              <a:rPr sz="1800" b="1" spc="-8" dirty="0">
                <a:solidFill>
                  <a:srgbClr val="E6E6E6"/>
                </a:solidFill>
                <a:latin typeface="Arial"/>
                <a:cs typeface="Arial"/>
              </a:rPr>
              <a:t>Summary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56D60ACD-E2A5-6E51-7AD0-F8142C4585C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7370" y="2503037"/>
            <a:ext cx="2270769" cy="2270769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A3C31077-A689-9680-3F0A-37C6EBAE2F51}"/>
              </a:ext>
            </a:extLst>
          </p:cNvPr>
          <p:cNvSpPr txBox="1"/>
          <p:nvPr/>
        </p:nvSpPr>
        <p:spPr>
          <a:xfrm>
            <a:off x="5223946" y="2222005"/>
            <a:ext cx="3154204" cy="2409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1500" b="1" dirty="0">
                <a:latin typeface="Arial"/>
                <a:cs typeface="Arial"/>
              </a:rPr>
              <a:t>Kepler’s</a:t>
            </a:r>
            <a:r>
              <a:rPr sz="1500" b="1" spc="-56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1604</a:t>
            </a:r>
            <a:r>
              <a:rPr sz="1500" b="1" spc="-4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Supernova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spc="-8" dirty="0">
                <a:latin typeface="Arial"/>
                <a:cs typeface="Arial"/>
              </a:rPr>
              <a:t>Remnant</a:t>
            </a:r>
            <a:endParaRPr sz="1500" dirty="0">
              <a:latin typeface="Arial"/>
              <a:cs typeface="Aria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6B30A48-9C80-FEC5-D069-26E50B242236}"/>
              </a:ext>
            </a:extLst>
          </p:cNvPr>
          <p:cNvSpPr txBox="1"/>
          <p:nvPr/>
        </p:nvSpPr>
        <p:spPr>
          <a:xfrm>
            <a:off x="4807406" y="4956920"/>
            <a:ext cx="3886200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dirty="0">
                <a:latin typeface="Arial"/>
                <a:cs typeface="Arial"/>
              </a:rPr>
              <a:t>Credit:</a:t>
            </a:r>
            <a:r>
              <a:rPr sz="1050" b="1" spc="-49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NASA,</a:t>
            </a:r>
            <a:r>
              <a:rPr sz="1050" b="1" spc="8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ESA</a:t>
            </a:r>
            <a:r>
              <a:rPr sz="1050" b="1" spc="-60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&amp;</a:t>
            </a:r>
            <a:r>
              <a:rPr sz="1050" b="1" spc="-38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JHU</a:t>
            </a:r>
            <a:r>
              <a:rPr sz="1050" b="1" spc="-56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APL</a:t>
            </a:r>
            <a:r>
              <a:rPr sz="1050" b="1" spc="-26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(Chandra,</a:t>
            </a:r>
            <a:r>
              <a:rPr sz="1050" b="1" spc="-41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Hubble</a:t>
            </a:r>
            <a:r>
              <a:rPr sz="1050" b="1" spc="-41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and</a:t>
            </a:r>
            <a:r>
              <a:rPr sz="1050" b="1" spc="-34" dirty="0">
                <a:latin typeface="Arial"/>
                <a:cs typeface="Arial"/>
              </a:rPr>
              <a:t> </a:t>
            </a:r>
            <a:r>
              <a:rPr sz="1050" b="1" spc="-8" dirty="0">
                <a:latin typeface="Arial"/>
                <a:cs typeface="Arial"/>
              </a:rPr>
              <a:t>Spitzer)</a:t>
            </a:r>
            <a:endParaRPr sz="1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62244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3380" y="1186997"/>
            <a:ext cx="4790599" cy="3405708"/>
          </a:xfrm>
          <a:prstGeom prst="rect">
            <a:avLst/>
          </a:prstGeom>
        </p:spPr>
        <p:txBody>
          <a:bodyPr vert="horz" wrap="square" lIns="0" tIns="49054" rIns="0" bIns="0" rtlCol="0">
            <a:spAutoFit/>
          </a:bodyPr>
          <a:lstStyle/>
          <a:p>
            <a:pPr marL="201930" indent="-173355">
              <a:spcBef>
                <a:spcPts val="386"/>
              </a:spcBef>
              <a:buFont typeface="Arial"/>
              <a:buChar char="•"/>
              <a:tabLst>
                <a:tab pos="201930" algn="l"/>
              </a:tabLst>
            </a:pPr>
            <a:r>
              <a:rPr sz="1650" b="1" dirty="0">
                <a:latin typeface="Arial"/>
                <a:cs typeface="Arial"/>
              </a:rPr>
              <a:t>Composed</a:t>
            </a:r>
            <a:r>
              <a:rPr sz="1650" b="1" spc="-38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of</a:t>
            </a:r>
            <a:r>
              <a:rPr sz="1650" b="1" spc="-49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all</a:t>
            </a:r>
            <a:r>
              <a:rPr sz="1650" b="1" spc="-53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naturally</a:t>
            </a:r>
            <a:r>
              <a:rPr sz="1650" b="1" spc="-38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occurring</a:t>
            </a:r>
            <a:r>
              <a:rPr sz="1650" b="1" spc="-34" dirty="0">
                <a:latin typeface="Arial"/>
                <a:cs typeface="Arial"/>
              </a:rPr>
              <a:t> </a:t>
            </a:r>
            <a:r>
              <a:rPr sz="1650" b="1" spc="-8" dirty="0">
                <a:latin typeface="Arial"/>
                <a:cs typeface="Arial"/>
              </a:rPr>
              <a:t>elements</a:t>
            </a:r>
            <a:endParaRPr sz="1650">
              <a:latin typeface="Arial"/>
              <a:cs typeface="Arial"/>
            </a:endParaRPr>
          </a:p>
          <a:p>
            <a:pPr marL="286703">
              <a:spcBef>
                <a:spcPts val="270"/>
              </a:spcBef>
            </a:pPr>
            <a:r>
              <a:rPr sz="1425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425" spc="14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90%</a:t>
            </a:r>
            <a:r>
              <a:rPr sz="1425" b="1" spc="-1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spc="-8" dirty="0">
                <a:solidFill>
                  <a:srgbClr val="0000FF"/>
                </a:solidFill>
                <a:latin typeface="Arial"/>
                <a:cs typeface="Arial"/>
              </a:rPr>
              <a:t>hydrogen</a:t>
            </a:r>
            <a:endParaRPr sz="1425">
              <a:latin typeface="Arial"/>
              <a:cs typeface="Arial"/>
            </a:endParaRPr>
          </a:p>
          <a:p>
            <a:pPr marL="286703">
              <a:spcBef>
                <a:spcPts val="398"/>
              </a:spcBef>
            </a:pPr>
            <a:r>
              <a:rPr sz="1425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425" spc="1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9%</a:t>
            </a:r>
            <a:r>
              <a:rPr sz="1425" b="1" spc="-8" dirty="0">
                <a:solidFill>
                  <a:srgbClr val="0000FF"/>
                </a:solidFill>
                <a:latin typeface="Arial"/>
                <a:cs typeface="Arial"/>
              </a:rPr>
              <a:t> helium</a:t>
            </a:r>
            <a:endParaRPr sz="1425">
              <a:latin typeface="Arial"/>
              <a:cs typeface="Arial"/>
            </a:endParaRPr>
          </a:p>
          <a:p>
            <a:pPr marL="286703">
              <a:spcBef>
                <a:spcPts val="386"/>
              </a:spcBef>
            </a:pPr>
            <a:r>
              <a:rPr sz="1425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425" spc="127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1%</a:t>
            </a:r>
            <a:r>
              <a:rPr sz="1425" b="1" spc="-2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heavier</a:t>
            </a:r>
            <a:r>
              <a:rPr sz="1425" b="1" spc="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spc="-15" dirty="0">
                <a:solidFill>
                  <a:srgbClr val="0000FF"/>
                </a:solidFill>
                <a:latin typeface="Arial"/>
                <a:cs typeface="Arial"/>
              </a:rPr>
              <a:t>ions</a:t>
            </a:r>
            <a:endParaRPr sz="1425">
              <a:latin typeface="Arial"/>
              <a:cs typeface="Arial"/>
            </a:endParaRPr>
          </a:p>
          <a:p>
            <a:pPr marL="201930" indent="-173355">
              <a:spcBef>
                <a:spcPts val="694"/>
              </a:spcBef>
              <a:buFont typeface="Arial"/>
              <a:buChar char="•"/>
              <a:tabLst>
                <a:tab pos="201930" algn="l"/>
              </a:tabLst>
            </a:pPr>
            <a:r>
              <a:rPr sz="1650" b="1" dirty="0">
                <a:latin typeface="Arial"/>
                <a:cs typeface="Arial"/>
              </a:rPr>
              <a:t>For</a:t>
            </a:r>
            <a:r>
              <a:rPr sz="1650" b="1" spc="-41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GCR</a:t>
            </a:r>
            <a:r>
              <a:rPr sz="1650" b="1" spc="-34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energies</a:t>
            </a:r>
            <a:r>
              <a:rPr sz="1650" b="1" spc="-34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&lt;</a:t>
            </a:r>
            <a:r>
              <a:rPr sz="1650" b="1" spc="-38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10</a:t>
            </a:r>
            <a:r>
              <a:rPr sz="1631" b="1" baseline="24904" dirty="0">
                <a:latin typeface="Arial"/>
                <a:cs typeface="Arial"/>
              </a:rPr>
              <a:t>15</a:t>
            </a:r>
            <a:r>
              <a:rPr sz="1631" b="1" spc="163" baseline="24904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electronvolt</a:t>
            </a:r>
            <a:r>
              <a:rPr sz="1650" b="1" spc="-15" dirty="0">
                <a:latin typeface="Arial"/>
                <a:cs typeface="Arial"/>
              </a:rPr>
              <a:t> </a:t>
            </a:r>
            <a:r>
              <a:rPr sz="1650" b="1" spc="-8" dirty="0">
                <a:latin typeface="Arial"/>
                <a:cs typeface="Arial"/>
              </a:rPr>
              <a:t>(eV):</a:t>
            </a:r>
            <a:endParaRPr sz="1650">
              <a:latin typeface="Arial"/>
              <a:cs typeface="Arial"/>
            </a:endParaRPr>
          </a:p>
          <a:p>
            <a:pPr marL="459105" marR="92392" indent="-172878">
              <a:lnSpc>
                <a:spcPct val="105300"/>
              </a:lnSpc>
              <a:spcBef>
                <a:spcPts val="180"/>
              </a:spcBef>
            </a:pPr>
            <a:r>
              <a:rPr sz="1425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425" spc="12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Mainly</a:t>
            </a:r>
            <a:r>
              <a:rPr sz="1425" b="1" spc="-3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attributed</a:t>
            </a:r>
            <a:r>
              <a:rPr sz="1425" b="1" spc="-1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to</a:t>
            </a:r>
            <a:r>
              <a:rPr sz="1425" b="1" spc="-4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supernovae</a:t>
            </a:r>
            <a:r>
              <a:rPr sz="1425" b="1" spc="-1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within</a:t>
            </a:r>
            <a:r>
              <a:rPr sz="1425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Milky</a:t>
            </a:r>
            <a:r>
              <a:rPr sz="1425" b="1" spc="-3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spc="-19" dirty="0">
                <a:solidFill>
                  <a:srgbClr val="0000FF"/>
                </a:solidFill>
                <a:latin typeface="Arial"/>
                <a:cs typeface="Arial"/>
              </a:rPr>
              <a:t>Way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galaxy</a:t>
            </a:r>
            <a:r>
              <a:rPr sz="1425" b="1" spc="-1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sz="1425" b="1" spc="-2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neutron</a:t>
            </a:r>
            <a:r>
              <a:rPr sz="1425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star</a:t>
            </a:r>
            <a:r>
              <a:rPr sz="1425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spc="-8" dirty="0">
                <a:solidFill>
                  <a:srgbClr val="0000FF"/>
                </a:solidFill>
                <a:latin typeface="Arial"/>
                <a:cs typeface="Arial"/>
              </a:rPr>
              <a:t>collisions</a:t>
            </a:r>
            <a:endParaRPr sz="1425">
              <a:latin typeface="Arial"/>
              <a:cs typeface="Arial"/>
            </a:endParaRPr>
          </a:p>
          <a:p>
            <a:pPr marL="286703">
              <a:spcBef>
                <a:spcPts val="386"/>
              </a:spcBef>
            </a:pPr>
            <a:r>
              <a:rPr sz="1425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425" spc="13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Most</a:t>
            </a:r>
            <a:r>
              <a:rPr sz="1425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significant</a:t>
            </a:r>
            <a:r>
              <a:rPr sz="1425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for</a:t>
            </a:r>
            <a:r>
              <a:rPr sz="1425" b="1" spc="-3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effects on</a:t>
            </a:r>
            <a:r>
              <a:rPr sz="1425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spc="-8" dirty="0">
                <a:solidFill>
                  <a:srgbClr val="0000FF"/>
                </a:solidFill>
                <a:latin typeface="Arial"/>
                <a:cs typeface="Arial"/>
              </a:rPr>
              <a:t>electronics</a:t>
            </a:r>
            <a:endParaRPr sz="1425">
              <a:latin typeface="Arial"/>
              <a:cs typeface="Arial"/>
            </a:endParaRPr>
          </a:p>
          <a:p>
            <a:pPr marL="201930" indent="-173355">
              <a:spcBef>
                <a:spcPts val="694"/>
              </a:spcBef>
              <a:buFont typeface="Arial"/>
              <a:buChar char="•"/>
              <a:tabLst>
                <a:tab pos="201930" algn="l"/>
              </a:tabLst>
            </a:pPr>
            <a:r>
              <a:rPr sz="1650" b="1" dirty="0">
                <a:latin typeface="Arial"/>
                <a:cs typeface="Arial"/>
              </a:rPr>
              <a:t>For</a:t>
            </a:r>
            <a:r>
              <a:rPr sz="1650" b="1" spc="-30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GCR</a:t>
            </a:r>
            <a:r>
              <a:rPr sz="1650" b="1" spc="-26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energies</a:t>
            </a:r>
            <a:r>
              <a:rPr sz="1650" b="1" spc="-26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&gt;</a:t>
            </a:r>
            <a:r>
              <a:rPr sz="1650" b="1" spc="-26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10</a:t>
            </a:r>
            <a:r>
              <a:rPr sz="1631" b="1" baseline="24904" dirty="0">
                <a:latin typeface="Arial"/>
                <a:cs typeface="Arial"/>
              </a:rPr>
              <a:t>15</a:t>
            </a:r>
            <a:r>
              <a:rPr sz="1631" b="1" spc="174" baseline="24904" dirty="0">
                <a:latin typeface="Arial"/>
                <a:cs typeface="Arial"/>
              </a:rPr>
              <a:t> </a:t>
            </a:r>
            <a:r>
              <a:rPr sz="1650" b="1" spc="-19" dirty="0">
                <a:latin typeface="Arial"/>
                <a:cs typeface="Arial"/>
              </a:rPr>
              <a:t>eV:</a:t>
            </a:r>
            <a:endParaRPr sz="1650">
              <a:latin typeface="Arial"/>
              <a:cs typeface="Arial"/>
            </a:endParaRPr>
          </a:p>
          <a:p>
            <a:pPr marL="286703">
              <a:spcBef>
                <a:spcPts val="270"/>
              </a:spcBef>
            </a:pPr>
            <a:r>
              <a:rPr sz="1425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425" spc="127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Unknown</a:t>
            </a:r>
            <a:r>
              <a:rPr sz="1425" b="1" spc="-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origin,</a:t>
            </a:r>
            <a:r>
              <a:rPr sz="1425" b="1" spc="-3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especially</a:t>
            </a:r>
            <a:r>
              <a:rPr sz="1425" b="1" spc="-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highest</a:t>
            </a:r>
            <a:r>
              <a:rPr sz="1425" b="1" spc="-2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spc="-8" dirty="0">
                <a:solidFill>
                  <a:srgbClr val="0000FF"/>
                </a:solidFill>
                <a:latin typeface="Arial"/>
                <a:cs typeface="Arial"/>
              </a:rPr>
              <a:t>energies</a:t>
            </a:r>
            <a:endParaRPr sz="1425">
              <a:latin typeface="Arial"/>
              <a:cs typeface="Arial"/>
            </a:endParaRPr>
          </a:p>
          <a:p>
            <a:pPr marL="201930" indent="-173355">
              <a:spcBef>
                <a:spcPts val="683"/>
              </a:spcBef>
              <a:buFont typeface="Arial"/>
              <a:buChar char="•"/>
              <a:tabLst>
                <a:tab pos="201930" algn="l"/>
              </a:tabLst>
            </a:pPr>
            <a:r>
              <a:rPr sz="1650" b="1" dirty="0">
                <a:latin typeface="Arial"/>
                <a:cs typeface="Arial"/>
              </a:rPr>
              <a:t>High</a:t>
            </a:r>
            <a:r>
              <a:rPr sz="1650" b="1" spc="-26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energy</a:t>
            </a:r>
            <a:r>
              <a:rPr sz="1650" b="1" spc="-19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≠</a:t>
            </a:r>
            <a:r>
              <a:rPr sz="1650" b="1" spc="-30" dirty="0">
                <a:latin typeface="Arial"/>
                <a:cs typeface="Arial"/>
              </a:rPr>
              <a:t> </a:t>
            </a:r>
            <a:r>
              <a:rPr sz="1650" b="1" spc="-19" dirty="0">
                <a:latin typeface="Arial"/>
                <a:cs typeface="Arial"/>
              </a:rPr>
              <a:t>bad</a:t>
            </a:r>
            <a:endParaRPr sz="1650">
              <a:latin typeface="Arial"/>
              <a:cs typeface="Arial"/>
            </a:endParaRPr>
          </a:p>
          <a:p>
            <a:pPr marL="286703">
              <a:spcBef>
                <a:spcPts val="270"/>
              </a:spcBef>
            </a:pPr>
            <a:r>
              <a:rPr sz="1425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425" spc="1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Energy</a:t>
            </a:r>
            <a:r>
              <a:rPr sz="1425" b="1" spc="-1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loss</a:t>
            </a:r>
            <a:r>
              <a:rPr sz="1425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by</a:t>
            </a:r>
            <a:r>
              <a:rPr sz="1425" b="1" spc="-2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425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particle</a:t>
            </a:r>
            <a:r>
              <a:rPr sz="1425" b="1" spc="-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in</a:t>
            </a:r>
            <a:r>
              <a:rPr sz="1425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material</a:t>
            </a:r>
            <a:r>
              <a:rPr sz="1425" b="1" spc="-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is</a:t>
            </a:r>
            <a:r>
              <a:rPr sz="1425" b="1" spc="-2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key</a:t>
            </a:r>
            <a:r>
              <a:rPr sz="1425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spc="-8" dirty="0">
                <a:solidFill>
                  <a:srgbClr val="0000FF"/>
                </a:solidFill>
                <a:latin typeface="Arial"/>
                <a:cs typeface="Arial"/>
              </a:rPr>
              <a:t>metric</a:t>
            </a:r>
            <a:endParaRPr sz="1425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3341" y="4541973"/>
            <a:ext cx="1871186" cy="228428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not</a:t>
            </a:r>
            <a:r>
              <a:rPr sz="1425" b="1" spc="-2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amount</a:t>
            </a:r>
            <a:r>
              <a:rPr sz="1425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1425" b="1" spc="-2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spc="-8" dirty="0">
                <a:solidFill>
                  <a:srgbClr val="0000FF"/>
                </a:solidFill>
                <a:latin typeface="Arial"/>
                <a:cs typeface="Arial"/>
              </a:rPr>
              <a:t>energy</a:t>
            </a:r>
            <a:endParaRPr sz="1425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71170" y="5021990"/>
            <a:ext cx="3025140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dirty="0">
                <a:latin typeface="Arial"/>
                <a:cs typeface="Arial"/>
              </a:rPr>
              <a:t>Data</a:t>
            </a:r>
            <a:r>
              <a:rPr sz="1050" b="1" spc="-38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from</a:t>
            </a:r>
            <a:r>
              <a:rPr sz="1050" b="1" spc="-26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S.</a:t>
            </a:r>
            <a:r>
              <a:rPr sz="1050" b="1" spc="-19" dirty="0">
                <a:latin typeface="Arial"/>
                <a:cs typeface="Arial"/>
              </a:rPr>
              <a:t> </a:t>
            </a:r>
            <a:r>
              <a:rPr sz="1050" b="1" spc="-15" dirty="0">
                <a:latin typeface="Arial"/>
                <a:cs typeface="Arial"/>
              </a:rPr>
              <a:t>Swordy,</a:t>
            </a:r>
            <a:r>
              <a:rPr sz="1050" b="1" spc="-11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Space</a:t>
            </a:r>
            <a:r>
              <a:rPr sz="1050" b="1" spc="-34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Sci.</a:t>
            </a:r>
            <a:r>
              <a:rPr sz="1050" b="1" spc="-38" dirty="0">
                <a:latin typeface="Arial"/>
                <a:cs typeface="Arial"/>
              </a:rPr>
              <a:t> </a:t>
            </a:r>
            <a:r>
              <a:rPr sz="1050" b="1" spc="-8" dirty="0">
                <a:latin typeface="Arial"/>
                <a:cs typeface="Arial"/>
              </a:rPr>
              <a:t>Rev.,</a:t>
            </a:r>
            <a:r>
              <a:rPr sz="1050" b="1" spc="-23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Oct.</a:t>
            </a:r>
            <a:r>
              <a:rPr sz="1050" b="1" spc="-38" dirty="0">
                <a:latin typeface="Arial"/>
                <a:cs typeface="Arial"/>
              </a:rPr>
              <a:t> </a:t>
            </a:r>
            <a:r>
              <a:rPr sz="1050" b="1" spc="-15" dirty="0">
                <a:latin typeface="Arial"/>
                <a:cs typeface="Arial"/>
              </a:rPr>
              <a:t>2001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387217" y="1082068"/>
            <a:ext cx="3428048" cy="3871913"/>
            <a:chOff x="7182956" y="1061758"/>
            <a:chExt cx="4570730" cy="516255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82956" y="1061758"/>
              <a:ext cx="4570384" cy="516206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131147" y="5572442"/>
              <a:ext cx="123825" cy="111760"/>
            </a:xfrm>
            <a:custGeom>
              <a:avLst/>
              <a:gdLst/>
              <a:ahLst/>
              <a:cxnLst/>
              <a:rect l="l" t="t" r="r" b="b"/>
              <a:pathLst>
                <a:path w="123825" h="111760">
                  <a:moveTo>
                    <a:pt x="0" y="0"/>
                  </a:moveTo>
                  <a:lnTo>
                    <a:pt x="123558" y="0"/>
                  </a:lnTo>
                  <a:lnTo>
                    <a:pt x="123558" y="111620"/>
                  </a:lnTo>
                  <a:lnTo>
                    <a:pt x="0" y="11162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9" name="object 9"/>
            <p:cNvSpPr/>
            <p:nvPr/>
          </p:nvSpPr>
          <p:spPr>
            <a:xfrm>
              <a:off x="9069412" y="5585243"/>
              <a:ext cx="123825" cy="107314"/>
            </a:xfrm>
            <a:custGeom>
              <a:avLst/>
              <a:gdLst/>
              <a:ahLst/>
              <a:cxnLst/>
              <a:rect l="l" t="t" r="r" b="b"/>
              <a:pathLst>
                <a:path w="123825" h="107314">
                  <a:moveTo>
                    <a:pt x="123571" y="0"/>
                  </a:moveTo>
                  <a:lnTo>
                    <a:pt x="0" y="0"/>
                  </a:lnTo>
                  <a:lnTo>
                    <a:pt x="0" y="107086"/>
                  </a:lnTo>
                  <a:lnTo>
                    <a:pt x="123571" y="107086"/>
                  </a:lnTo>
                  <a:lnTo>
                    <a:pt x="1235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9069412" y="5585243"/>
              <a:ext cx="123825" cy="107314"/>
            </a:xfrm>
            <a:custGeom>
              <a:avLst/>
              <a:gdLst/>
              <a:ahLst/>
              <a:cxnLst/>
              <a:rect l="l" t="t" r="r" b="b"/>
              <a:pathLst>
                <a:path w="123825" h="107314">
                  <a:moveTo>
                    <a:pt x="0" y="0"/>
                  </a:moveTo>
                  <a:lnTo>
                    <a:pt x="123571" y="0"/>
                  </a:lnTo>
                  <a:lnTo>
                    <a:pt x="123571" y="107086"/>
                  </a:lnTo>
                  <a:lnTo>
                    <a:pt x="0" y="107086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790154" y="4441558"/>
            <a:ext cx="67151" cy="11349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675" spc="-38" dirty="0">
                <a:latin typeface="Arial"/>
                <a:cs typeface="Arial"/>
              </a:rPr>
              <a:t>1</a:t>
            </a:r>
            <a:endParaRPr sz="675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647587" y="4057390"/>
            <a:ext cx="1311592" cy="917734"/>
            <a:chOff x="7530115" y="5028853"/>
            <a:chExt cx="1748789" cy="1223645"/>
          </a:xfrm>
        </p:grpSpPr>
        <p:sp>
          <p:nvSpPr>
            <p:cNvPr id="13" name="object 13"/>
            <p:cNvSpPr/>
            <p:nvPr/>
          </p:nvSpPr>
          <p:spPr>
            <a:xfrm>
              <a:off x="7749487" y="5057428"/>
              <a:ext cx="1443990" cy="292100"/>
            </a:xfrm>
            <a:custGeom>
              <a:avLst/>
              <a:gdLst/>
              <a:ahLst/>
              <a:cxnLst/>
              <a:rect l="l" t="t" r="r" b="b"/>
              <a:pathLst>
                <a:path w="1443990" h="292100">
                  <a:moveTo>
                    <a:pt x="0" y="0"/>
                  </a:moveTo>
                  <a:lnTo>
                    <a:pt x="1443609" y="0"/>
                  </a:lnTo>
                  <a:lnTo>
                    <a:pt x="1443609" y="291477"/>
                  </a:lnTo>
                </a:path>
              </a:pathLst>
            </a:custGeom>
            <a:ln w="5714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4" name="object 14"/>
            <p:cNvSpPr/>
            <p:nvPr/>
          </p:nvSpPr>
          <p:spPr>
            <a:xfrm>
              <a:off x="9107402" y="5320229"/>
              <a:ext cx="171450" cy="172085"/>
            </a:xfrm>
            <a:custGeom>
              <a:avLst/>
              <a:gdLst/>
              <a:ahLst/>
              <a:cxnLst/>
              <a:rect l="l" t="t" r="r" b="b"/>
              <a:pathLst>
                <a:path w="171450" h="172085">
                  <a:moveTo>
                    <a:pt x="0" y="0"/>
                  </a:moveTo>
                  <a:lnTo>
                    <a:pt x="85521" y="171551"/>
                  </a:lnTo>
                  <a:lnTo>
                    <a:pt x="171450" y="2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5" name="object 15"/>
            <p:cNvSpPr/>
            <p:nvPr/>
          </p:nvSpPr>
          <p:spPr>
            <a:xfrm>
              <a:off x="7558690" y="5932350"/>
              <a:ext cx="866140" cy="291465"/>
            </a:xfrm>
            <a:custGeom>
              <a:avLst/>
              <a:gdLst/>
              <a:ahLst/>
              <a:cxnLst/>
              <a:rect l="l" t="t" r="r" b="b"/>
              <a:pathLst>
                <a:path w="866140" h="291464">
                  <a:moveTo>
                    <a:pt x="0" y="291084"/>
                  </a:moveTo>
                  <a:lnTo>
                    <a:pt x="865822" y="291084"/>
                  </a:lnTo>
                  <a:lnTo>
                    <a:pt x="865822" y="0"/>
                  </a:lnTo>
                </a:path>
              </a:pathLst>
            </a:custGeom>
            <a:ln w="5715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8338870" y="5789468"/>
              <a:ext cx="171450" cy="172085"/>
            </a:xfrm>
            <a:custGeom>
              <a:avLst/>
              <a:gdLst/>
              <a:ahLst/>
              <a:cxnLst/>
              <a:rect l="l" t="t" r="r" b="b"/>
              <a:pathLst>
                <a:path w="171450" h="172085">
                  <a:moveTo>
                    <a:pt x="85178" y="0"/>
                  </a:moveTo>
                  <a:lnTo>
                    <a:pt x="0" y="171729"/>
                  </a:lnTo>
                  <a:lnTo>
                    <a:pt x="171450" y="171183"/>
                  </a:lnTo>
                  <a:lnTo>
                    <a:pt x="85178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206787" y="3960514"/>
            <a:ext cx="503873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b="1" spc="-15" dirty="0">
                <a:solidFill>
                  <a:srgbClr val="0000FF"/>
                </a:solidFill>
                <a:latin typeface="Arial"/>
                <a:cs typeface="Arial"/>
              </a:rPr>
              <a:t>CERN</a:t>
            </a:r>
            <a:endParaRPr sz="13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65980" y="4732159"/>
            <a:ext cx="1050131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b="1" dirty="0">
                <a:solidFill>
                  <a:srgbClr val="0000FF"/>
                </a:solidFill>
                <a:latin typeface="Arial"/>
                <a:cs typeface="Arial"/>
              </a:rPr>
              <a:t>NASA</a:t>
            </a:r>
            <a:r>
              <a:rPr sz="1350" b="1" spc="-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350" b="1" spc="-15" dirty="0">
                <a:solidFill>
                  <a:srgbClr val="0000FF"/>
                </a:solidFill>
                <a:latin typeface="Arial"/>
                <a:cs typeface="Arial"/>
              </a:rPr>
              <a:t>Space</a:t>
            </a:r>
            <a:endParaRPr sz="13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65979" y="4937899"/>
            <a:ext cx="1152525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b="1" dirty="0">
                <a:solidFill>
                  <a:srgbClr val="0000FF"/>
                </a:solidFill>
                <a:latin typeface="Arial"/>
                <a:cs typeface="Arial"/>
              </a:rPr>
              <a:t>Radiation</a:t>
            </a:r>
            <a:r>
              <a:rPr sz="1350" b="1" spc="-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350" b="1" spc="-19" dirty="0">
                <a:solidFill>
                  <a:srgbClr val="0000FF"/>
                </a:solidFill>
                <a:latin typeface="Arial"/>
                <a:cs typeface="Arial"/>
              </a:rPr>
              <a:t>Lab</a:t>
            </a:r>
            <a:endParaRPr sz="13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074" y="5033397"/>
            <a:ext cx="1572101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b="1" dirty="0">
                <a:solidFill>
                  <a:srgbClr val="0000FF"/>
                </a:solidFill>
                <a:latin typeface="Arial"/>
                <a:cs typeface="Arial"/>
              </a:rPr>
              <a:t>Ground</a:t>
            </a:r>
            <a:r>
              <a:rPr sz="1350" b="1" spc="-4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350" b="1" spc="-8" dirty="0">
                <a:solidFill>
                  <a:srgbClr val="0000FF"/>
                </a:solidFill>
                <a:latin typeface="Arial"/>
                <a:cs typeface="Arial"/>
              </a:rPr>
              <a:t>Simulators</a:t>
            </a:r>
            <a:endParaRPr sz="1350">
              <a:latin typeface="Arial"/>
              <a:cs typeface="Arial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E253651B-512E-D4D5-6134-8344DCAD35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Galactic</a:t>
            </a:r>
            <a:r>
              <a:rPr lang="en-US" spc="-30" dirty="0"/>
              <a:t> </a:t>
            </a:r>
            <a:r>
              <a:rPr lang="en-US" dirty="0"/>
              <a:t>Cosmic</a:t>
            </a:r>
            <a:r>
              <a:rPr lang="en-US" spc="-26" dirty="0"/>
              <a:t> </a:t>
            </a:r>
            <a:r>
              <a:rPr lang="en-US" spc="-15" dirty="0"/>
              <a:t>Rays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2407" y="1374682"/>
            <a:ext cx="2779871" cy="2122536"/>
          </a:xfrm>
          <a:prstGeom prst="rect">
            <a:avLst/>
          </a:prstGeom>
        </p:spPr>
        <p:txBody>
          <a:bodyPr vert="horz" wrap="square" lIns="0" tIns="54769" rIns="0" bIns="0" rtlCol="0">
            <a:spAutoFit/>
          </a:bodyPr>
          <a:lstStyle/>
          <a:p>
            <a:pPr marL="182403" indent="-172878">
              <a:spcBef>
                <a:spcPts val="431"/>
              </a:spcBef>
              <a:buFont typeface="Arial"/>
              <a:buChar char="•"/>
              <a:tabLst>
                <a:tab pos="182403" algn="l"/>
              </a:tabLst>
            </a:pPr>
            <a:r>
              <a:rPr sz="1800" b="1" dirty="0">
                <a:latin typeface="Arial"/>
                <a:cs typeface="Arial"/>
              </a:rPr>
              <a:t>Solar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Maximum</a:t>
            </a:r>
            <a:endParaRPr sz="1800" dirty="0">
              <a:latin typeface="Arial"/>
              <a:cs typeface="Arial"/>
            </a:endParaRPr>
          </a:p>
          <a:p>
            <a:pPr marL="440055" marR="3810" indent="-172878">
              <a:spcBef>
                <a:spcPts val="300"/>
              </a:spcBef>
            </a:pPr>
            <a:r>
              <a:rPr sz="15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500" spc="9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Background</a:t>
            </a:r>
            <a:r>
              <a:rPr sz="1500" b="1" spc="-1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(includes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solar</a:t>
            </a:r>
            <a:r>
              <a:rPr sz="15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wind</a:t>
            </a:r>
            <a:r>
              <a:rPr sz="1500" b="1" spc="-3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+</a:t>
            </a:r>
            <a:r>
              <a:rPr sz="1500" b="1" spc="-2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GCRs)</a:t>
            </a:r>
            <a:r>
              <a:rPr sz="1500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levels lower</a:t>
            </a:r>
            <a:endParaRPr sz="1500" dirty="0">
              <a:latin typeface="Arial"/>
              <a:cs typeface="Arial"/>
            </a:endParaRPr>
          </a:p>
          <a:p>
            <a:pPr marL="182403" indent="-172878">
              <a:spcBef>
                <a:spcPts val="382"/>
              </a:spcBef>
              <a:buFont typeface="Arial"/>
              <a:buChar char="•"/>
              <a:tabLst>
                <a:tab pos="182403" algn="l"/>
              </a:tabLst>
            </a:pPr>
            <a:r>
              <a:rPr sz="1800" b="1" dirty="0">
                <a:latin typeface="Arial"/>
                <a:cs typeface="Arial"/>
              </a:rPr>
              <a:t>Solar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Minimum</a:t>
            </a:r>
            <a:endParaRPr sz="1800" dirty="0">
              <a:latin typeface="Arial"/>
              <a:cs typeface="Arial"/>
            </a:endParaRPr>
          </a:p>
          <a:p>
            <a:pPr marL="440055" marR="3810" indent="-172878">
              <a:spcBef>
                <a:spcPts val="307"/>
              </a:spcBef>
            </a:pPr>
            <a:r>
              <a:rPr sz="15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500" spc="9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Background</a:t>
            </a:r>
            <a:r>
              <a:rPr sz="1500" b="1" spc="-1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(includes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solar</a:t>
            </a:r>
            <a:r>
              <a:rPr sz="15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wind</a:t>
            </a:r>
            <a:r>
              <a:rPr sz="1500" b="1" spc="-3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+</a:t>
            </a:r>
            <a:r>
              <a:rPr sz="1500" b="1" spc="-2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GCRs)</a:t>
            </a:r>
            <a:r>
              <a:rPr sz="1500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levels higher</a:t>
            </a:r>
            <a:endParaRPr sz="15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93797" y="4876219"/>
            <a:ext cx="6121718" cy="282289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28099" rIns="0" bIns="0" rtlCol="0">
            <a:spAutoFit/>
          </a:bodyPr>
          <a:lstStyle/>
          <a:p>
            <a:pPr marL="688181">
              <a:spcBef>
                <a:spcPts val="221"/>
              </a:spcBef>
            </a:pPr>
            <a:r>
              <a:rPr sz="1650" b="1" dirty="0">
                <a:latin typeface="Arial"/>
                <a:cs typeface="Arial"/>
              </a:rPr>
              <a:t>Sun</a:t>
            </a:r>
            <a:r>
              <a:rPr sz="1650" b="1" spc="-34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modulates</a:t>
            </a:r>
            <a:r>
              <a:rPr sz="1650" b="1" spc="-26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GCRs</a:t>
            </a:r>
            <a:r>
              <a:rPr sz="1650" b="1" spc="-38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entering</a:t>
            </a:r>
            <a:r>
              <a:rPr sz="1650" b="1" spc="-26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the</a:t>
            </a:r>
            <a:r>
              <a:rPr sz="1650" b="1" spc="-38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solar</a:t>
            </a:r>
            <a:r>
              <a:rPr sz="1650" b="1" spc="-41" dirty="0">
                <a:latin typeface="Arial"/>
                <a:cs typeface="Arial"/>
              </a:rPr>
              <a:t> </a:t>
            </a:r>
            <a:r>
              <a:rPr sz="1650" b="1" spc="-8" dirty="0">
                <a:latin typeface="Arial"/>
                <a:cs typeface="Arial"/>
              </a:rPr>
              <a:t>system</a:t>
            </a:r>
            <a:endParaRPr sz="1650" dirty="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27350" y="1446533"/>
            <a:ext cx="5233737" cy="3277211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47AC01ED-32DF-3E9B-7F3F-E9888DA9A8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Solar</a:t>
            </a:r>
            <a:r>
              <a:rPr lang="en-US" spc="-19" dirty="0"/>
              <a:t> </a:t>
            </a:r>
            <a:r>
              <a:rPr lang="en-US" dirty="0"/>
              <a:t>Cycle</a:t>
            </a:r>
            <a:r>
              <a:rPr lang="en-US" spc="-15" dirty="0"/>
              <a:t> </a:t>
            </a:r>
            <a:r>
              <a:rPr lang="en-US" spc="-8" dirty="0"/>
              <a:t>Dependence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8916" y="1711985"/>
            <a:ext cx="3682365" cy="3006625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182880" marR="65723" indent="-173831">
              <a:spcBef>
                <a:spcPts val="79"/>
              </a:spcBef>
              <a:buFont typeface="Arial"/>
              <a:buChar char="•"/>
              <a:tabLst>
                <a:tab pos="182880" algn="l"/>
              </a:tabLst>
            </a:pPr>
            <a:r>
              <a:rPr sz="1500" b="1" dirty="0">
                <a:latin typeface="Arial"/>
                <a:cs typeface="Arial"/>
              </a:rPr>
              <a:t>Two</a:t>
            </a:r>
            <a:r>
              <a:rPr sz="1500" b="1" spc="-38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popular</a:t>
            </a:r>
            <a:r>
              <a:rPr sz="1500" b="1" spc="-23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models</a:t>
            </a:r>
            <a:r>
              <a:rPr sz="1500" b="1" spc="-11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are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used</a:t>
            </a:r>
            <a:r>
              <a:rPr sz="1500" b="1" spc="-11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for</a:t>
            </a:r>
            <a:r>
              <a:rPr sz="1500" b="1" spc="-23" dirty="0">
                <a:latin typeface="Arial"/>
                <a:cs typeface="Arial"/>
              </a:rPr>
              <a:t> </a:t>
            </a:r>
            <a:r>
              <a:rPr sz="1500" b="1" spc="-19" dirty="0">
                <a:latin typeface="Arial"/>
                <a:cs typeface="Arial"/>
              </a:rPr>
              <a:t>SEE </a:t>
            </a:r>
            <a:r>
              <a:rPr sz="1500" b="1" dirty="0">
                <a:latin typeface="Arial"/>
                <a:cs typeface="Arial"/>
              </a:rPr>
              <a:t>that</a:t>
            </a:r>
            <a:r>
              <a:rPr sz="1500" b="1" spc="-41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parameterize</a:t>
            </a:r>
            <a:r>
              <a:rPr sz="1500" b="1" spc="-38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solar</a:t>
            </a:r>
            <a:r>
              <a:rPr sz="1500" b="1" spc="-26" dirty="0">
                <a:latin typeface="Arial"/>
                <a:cs typeface="Arial"/>
              </a:rPr>
              <a:t> </a:t>
            </a:r>
            <a:r>
              <a:rPr sz="1500" b="1" spc="-8" dirty="0">
                <a:latin typeface="Arial"/>
                <a:cs typeface="Arial"/>
              </a:rPr>
              <a:t>modulation </a:t>
            </a:r>
            <a:r>
              <a:rPr sz="1500" b="1" dirty="0">
                <a:latin typeface="Arial"/>
                <a:cs typeface="Arial"/>
              </a:rPr>
              <a:t>using</a:t>
            </a:r>
            <a:r>
              <a:rPr sz="1500" b="1" spc="-19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sunspot</a:t>
            </a:r>
            <a:r>
              <a:rPr sz="1500" b="1" spc="-34" dirty="0">
                <a:latin typeface="Arial"/>
                <a:cs typeface="Arial"/>
              </a:rPr>
              <a:t> </a:t>
            </a:r>
            <a:r>
              <a:rPr sz="1500" b="1" spc="-8" dirty="0">
                <a:latin typeface="Arial"/>
                <a:cs typeface="Arial"/>
              </a:rPr>
              <a:t>numbers</a:t>
            </a:r>
            <a:endParaRPr sz="1500">
              <a:latin typeface="Arial"/>
              <a:cs typeface="Arial"/>
            </a:endParaRPr>
          </a:p>
          <a:p>
            <a:pPr marL="182880" marR="76676" indent="-173831">
              <a:spcBef>
                <a:spcPts val="746"/>
              </a:spcBef>
              <a:buFont typeface="Arial"/>
              <a:buChar char="•"/>
              <a:tabLst>
                <a:tab pos="182880" algn="l"/>
              </a:tabLst>
            </a:pPr>
            <a:r>
              <a:rPr sz="1500" b="1" dirty="0">
                <a:latin typeface="Arial"/>
                <a:cs typeface="Arial"/>
              </a:rPr>
              <a:t>MSU</a:t>
            </a:r>
            <a:r>
              <a:rPr sz="1500" b="1" spc="-26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(Nymmik)</a:t>
            </a:r>
            <a:r>
              <a:rPr sz="1500" b="1" spc="-26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model</a:t>
            </a:r>
            <a:r>
              <a:rPr sz="1500" b="1" spc="-41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used</a:t>
            </a:r>
            <a:r>
              <a:rPr sz="1500" b="1" spc="-26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in</a:t>
            </a:r>
            <a:r>
              <a:rPr sz="1500" b="1" spc="-41" dirty="0">
                <a:latin typeface="Arial"/>
                <a:cs typeface="Arial"/>
              </a:rPr>
              <a:t> </a:t>
            </a:r>
            <a:r>
              <a:rPr sz="1500" b="1" spc="-8" dirty="0">
                <a:latin typeface="Arial"/>
                <a:cs typeface="Arial"/>
              </a:rPr>
              <a:t>Cosmic </a:t>
            </a:r>
            <a:r>
              <a:rPr sz="1500" b="1" dirty="0">
                <a:latin typeface="Arial"/>
                <a:cs typeface="Arial"/>
              </a:rPr>
              <a:t>Ray</a:t>
            </a:r>
            <a:r>
              <a:rPr sz="1500" b="1" spc="-4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Effects</a:t>
            </a:r>
            <a:r>
              <a:rPr sz="1500" b="1" spc="-19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in</a:t>
            </a:r>
            <a:r>
              <a:rPr sz="1500" b="1" spc="8" dirty="0">
                <a:latin typeface="Arial"/>
                <a:cs typeface="Arial"/>
              </a:rPr>
              <a:t> </a:t>
            </a:r>
            <a:r>
              <a:rPr sz="1500" b="1" spc="-8" dirty="0">
                <a:latin typeface="Arial"/>
                <a:cs typeface="Arial"/>
              </a:rPr>
              <a:t>MicroElectronics-</a:t>
            </a:r>
            <a:r>
              <a:rPr sz="1500" b="1" spc="-15" dirty="0">
                <a:latin typeface="Arial"/>
                <a:cs typeface="Arial"/>
              </a:rPr>
              <a:t>1996 </a:t>
            </a:r>
            <a:r>
              <a:rPr sz="1500" b="1" spc="-8" dirty="0">
                <a:latin typeface="Arial"/>
                <a:cs typeface="Arial"/>
              </a:rPr>
              <a:t>(CREME96)</a:t>
            </a:r>
            <a:endParaRPr sz="1500">
              <a:latin typeface="Arial"/>
              <a:cs typeface="Arial"/>
            </a:endParaRPr>
          </a:p>
          <a:p>
            <a:pPr marL="355759" marR="55721" indent="-172878">
              <a:lnSpc>
                <a:spcPct val="117600"/>
              </a:lnSpc>
              <a:spcBef>
                <a:spcPts val="153"/>
              </a:spcBef>
            </a:pPr>
            <a:r>
              <a:rPr sz="1275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275" spc="2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Integrated</a:t>
            </a:r>
            <a:r>
              <a:rPr sz="1275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with</a:t>
            </a:r>
            <a:r>
              <a:rPr sz="1275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suite</a:t>
            </a:r>
            <a:r>
              <a:rPr sz="1275" b="1" spc="-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1275" b="1" spc="-1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programs</a:t>
            </a:r>
            <a:r>
              <a:rPr sz="1275" b="1" spc="-2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for</a:t>
            </a:r>
            <a:r>
              <a:rPr sz="1275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spc="-19" dirty="0">
                <a:solidFill>
                  <a:srgbClr val="0000FF"/>
                </a:solidFill>
                <a:latin typeface="Arial"/>
                <a:cs typeface="Arial"/>
              </a:rPr>
              <a:t>SEE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rate</a:t>
            </a:r>
            <a:r>
              <a:rPr sz="1275" b="1" spc="-4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calculation,</a:t>
            </a:r>
            <a:r>
              <a:rPr sz="1275" b="1" spc="-3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including</a:t>
            </a:r>
            <a:r>
              <a:rPr sz="1275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spacecraft</a:t>
            </a:r>
            <a:r>
              <a:rPr sz="1275" b="1" spc="-4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spc="-8" dirty="0">
                <a:solidFill>
                  <a:srgbClr val="0000FF"/>
                </a:solidFill>
                <a:latin typeface="Arial"/>
                <a:cs typeface="Arial"/>
              </a:rPr>
              <a:t>orbit dependence</a:t>
            </a:r>
            <a:endParaRPr sz="1275">
              <a:latin typeface="Arial"/>
              <a:cs typeface="Arial"/>
            </a:endParaRPr>
          </a:p>
          <a:p>
            <a:pPr marL="182880" indent="-173355">
              <a:spcBef>
                <a:spcPts val="900"/>
              </a:spcBef>
              <a:buFont typeface="Arial"/>
              <a:buChar char="•"/>
              <a:tabLst>
                <a:tab pos="182880" algn="l"/>
              </a:tabLst>
            </a:pPr>
            <a:r>
              <a:rPr sz="1500" b="1" dirty="0">
                <a:latin typeface="Arial"/>
                <a:cs typeface="Arial"/>
              </a:rPr>
              <a:t>Badhwar</a:t>
            </a:r>
            <a:r>
              <a:rPr sz="1500" b="1" spc="-49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–</a:t>
            </a:r>
            <a:r>
              <a:rPr sz="1500" b="1" spc="-8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O’Neill</a:t>
            </a:r>
            <a:r>
              <a:rPr sz="1500" b="1" spc="-38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2020</a:t>
            </a:r>
            <a:r>
              <a:rPr sz="1500" b="1" spc="-15" dirty="0">
                <a:latin typeface="Arial"/>
                <a:cs typeface="Arial"/>
              </a:rPr>
              <a:t> </a:t>
            </a:r>
            <a:r>
              <a:rPr sz="1500" b="1" spc="-8" dirty="0">
                <a:latin typeface="Arial"/>
                <a:cs typeface="Arial"/>
              </a:rPr>
              <a:t>Model</a:t>
            </a:r>
            <a:endParaRPr sz="1500">
              <a:latin typeface="Arial"/>
              <a:cs typeface="Arial"/>
            </a:endParaRPr>
          </a:p>
          <a:p>
            <a:pPr marL="355759" marR="3810" indent="-172878">
              <a:lnSpc>
                <a:spcPct val="117600"/>
              </a:lnSpc>
              <a:spcBef>
                <a:spcPts val="146"/>
              </a:spcBef>
            </a:pPr>
            <a:r>
              <a:rPr sz="1275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275" spc="25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Incorporates</a:t>
            </a:r>
            <a:r>
              <a:rPr sz="1275" b="1" spc="-1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broader</a:t>
            </a:r>
            <a:r>
              <a:rPr sz="1275" b="1" spc="-2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sz="1275" b="1" spc="-2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more</a:t>
            </a:r>
            <a:r>
              <a:rPr sz="1275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dirty="0">
                <a:solidFill>
                  <a:srgbClr val="0000FF"/>
                </a:solidFill>
                <a:latin typeface="Arial"/>
                <a:cs typeface="Arial"/>
              </a:rPr>
              <a:t>recent</a:t>
            </a:r>
            <a:r>
              <a:rPr sz="1275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275" b="1" spc="-15" dirty="0">
                <a:solidFill>
                  <a:srgbClr val="0000FF"/>
                </a:solidFill>
                <a:latin typeface="Arial"/>
                <a:cs typeface="Arial"/>
              </a:rPr>
              <a:t>data base</a:t>
            </a:r>
            <a:endParaRPr sz="1275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50735" y="4862239"/>
            <a:ext cx="4305300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spc="-34" dirty="0">
                <a:latin typeface="Arial"/>
                <a:cs typeface="Arial"/>
              </a:rPr>
              <a:t>P.M.</a:t>
            </a:r>
            <a:r>
              <a:rPr sz="1050" b="1" spc="-41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O’Neill,</a:t>
            </a:r>
            <a:r>
              <a:rPr sz="1050" b="1" spc="-56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S.</a:t>
            </a:r>
            <a:r>
              <a:rPr sz="1050" b="1" spc="-19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Golge</a:t>
            </a:r>
            <a:r>
              <a:rPr sz="1050" b="1" spc="-41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and</a:t>
            </a:r>
            <a:r>
              <a:rPr sz="1050" b="1" spc="-30" dirty="0">
                <a:latin typeface="Arial"/>
                <a:cs typeface="Arial"/>
              </a:rPr>
              <a:t> </a:t>
            </a:r>
            <a:r>
              <a:rPr sz="1050" b="1" spc="-23" dirty="0">
                <a:latin typeface="Arial"/>
                <a:cs typeface="Arial"/>
              </a:rPr>
              <a:t>T.C.</a:t>
            </a:r>
            <a:r>
              <a:rPr sz="1050" b="1" spc="-30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Slaba,</a:t>
            </a:r>
            <a:r>
              <a:rPr sz="1050" b="1" spc="-34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NASA</a:t>
            </a:r>
            <a:r>
              <a:rPr sz="1050" b="1" spc="-38" dirty="0">
                <a:latin typeface="Arial"/>
                <a:cs typeface="Arial"/>
              </a:rPr>
              <a:t> </a:t>
            </a:r>
            <a:r>
              <a:rPr sz="1050" b="1" spc="-15" dirty="0">
                <a:latin typeface="Arial"/>
                <a:cs typeface="Arial"/>
              </a:rPr>
              <a:t>Tech.</a:t>
            </a:r>
            <a:r>
              <a:rPr sz="1050" b="1" spc="-26" dirty="0">
                <a:latin typeface="Arial"/>
                <a:cs typeface="Arial"/>
              </a:rPr>
              <a:t> </a:t>
            </a:r>
            <a:r>
              <a:rPr sz="1050" b="1" spc="-8" dirty="0">
                <a:latin typeface="Arial"/>
                <a:cs typeface="Arial"/>
              </a:rPr>
              <a:t>Paper,</a:t>
            </a:r>
            <a:r>
              <a:rPr sz="1050" b="1" spc="-38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March</a:t>
            </a:r>
            <a:r>
              <a:rPr sz="1050" b="1" spc="-53" dirty="0">
                <a:latin typeface="Arial"/>
                <a:cs typeface="Arial"/>
              </a:rPr>
              <a:t> </a:t>
            </a:r>
            <a:r>
              <a:rPr sz="1050" b="1" spc="-15" dirty="0">
                <a:latin typeface="Arial"/>
                <a:cs typeface="Arial"/>
              </a:rPr>
              <a:t>2015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186142" y="1654478"/>
            <a:ext cx="4678204" cy="3169444"/>
            <a:chOff x="5581522" y="1824970"/>
            <a:chExt cx="6237605" cy="422592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81522" y="1824970"/>
              <a:ext cx="6237439" cy="422579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675871" y="2133600"/>
              <a:ext cx="231140" cy="408305"/>
            </a:xfrm>
            <a:custGeom>
              <a:avLst/>
              <a:gdLst/>
              <a:ahLst/>
              <a:cxnLst/>
              <a:rect l="l" t="t" r="r" b="b"/>
              <a:pathLst>
                <a:path w="231139" h="408305">
                  <a:moveTo>
                    <a:pt x="230657" y="0"/>
                  </a:moveTo>
                  <a:lnTo>
                    <a:pt x="0" y="0"/>
                  </a:lnTo>
                  <a:lnTo>
                    <a:pt x="0" y="408076"/>
                  </a:lnTo>
                  <a:lnTo>
                    <a:pt x="230657" y="408076"/>
                  </a:lnTo>
                  <a:lnTo>
                    <a:pt x="2306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8" name="object 8"/>
            <p:cNvSpPr/>
            <p:nvPr/>
          </p:nvSpPr>
          <p:spPr>
            <a:xfrm>
              <a:off x="5675871" y="2133600"/>
              <a:ext cx="231140" cy="408305"/>
            </a:xfrm>
            <a:custGeom>
              <a:avLst/>
              <a:gdLst/>
              <a:ahLst/>
              <a:cxnLst/>
              <a:rect l="l" t="t" r="r" b="b"/>
              <a:pathLst>
                <a:path w="231139" h="408305">
                  <a:moveTo>
                    <a:pt x="0" y="0"/>
                  </a:moveTo>
                  <a:lnTo>
                    <a:pt x="230657" y="0"/>
                  </a:lnTo>
                  <a:lnTo>
                    <a:pt x="230657" y="408076"/>
                  </a:lnTo>
                  <a:lnTo>
                    <a:pt x="0" y="408076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163689" y="1876425"/>
            <a:ext cx="207749" cy="352901"/>
          </a:xfrm>
          <a:prstGeom prst="rect">
            <a:avLst/>
          </a:prstGeom>
        </p:spPr>
        <p:txBody>
          <a:bodyPr vert="vert270" wrap="square" lIns="0" tIns="9525" rIns="0" bIns="0" rtlCol="0">
            <a:spAutoFit/>
          </a:bodyPr>
          <a:lstStyle/>
          <a:p>
            <a:pPr marL="19050">
              <a:spcBef>
                <a:spcPts val="75"/>
              </a:spcBef>
            </a:pPr>
            <a:r>
              <a:rPr sz="2025" spc="-11" baseline="-16975" dirty="0">
                <a:latin typeface="Arial"/>
                <a:cs typeface="Arial"/>
              </a:rPr>
              <a:t>)</a:t>
            </a:r>
            <a:r>
              <a:rPr sz="900" spc="-8" dirty="0">
                <a:latin typeface="Arial"/>
                <a:cs typeface="Arial"/>
              </a:rPr>
              <a:t>-</a:t>
            </a:r>
            <a:r>
              <a:rPr sz="900" spc="-38" dirty="0"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38826" y="2950286"/>
            <a:ext cx="108585" cy="17168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1050" b="1" spc="-38" dirty="0">
                <a:latin typeface="Arial"/>
                <a:cs typeface="Arial"/>
              </a:rPr>
              <a:t>P</a:t>
            </a:r>
            <a:endParaRPr sz="1050">
              <a:latin typeface="Arial"/>
              <a:cs typeface="Arial"/>
            </a:endParaRP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09BC56F1-C0DB-F301-EBF6-3BC50CEA74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pc="-8" dirty="0"/>
              <a:t>Models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278CE-2DCF-DCAC-5695-F951747B1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31AEBC08-CE85-9999-FD5C-8EE982A2283B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0" y="285750"/>
            <a:ext cx="0" cy="1317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069"/>
              </a:lnSpc>
            </a:pPr>
            <a:fld id="{81D60167-4931-47E6-BA6A-407CBD079E47}" type="slidenum">
              <a:rPr spc="-38" dirty="0">
                <a:solidFill>
                  <a:srgbClr val="FFFFFF"/>
                </a:solidFill>
              </a:rPr>
              <a:pPr marL="76200">
                <a:lnSpc>
                  <a:spcPts val="1069"/>
                </a:lnSpc>
              </a:pPr>
              <a:t>24</a:t>
            </a:fld>
            <a:endParaRPr spc="-38" dirty="0">
              <a:solidFill>
                <a:srgbClr val="FFFFFF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80D4836D-24A3-31BA-1B0D-49E6DA18EE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Section Topics/Outline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4DA7A805-EE22-1BE7-B86D-66026632A4DE}"/>
              </a:ext>
            </a:extLst>
          </p:cNvPr>
          <p:cNvSpPr txBox="1"/>
          <p:nvPr/>
        </p:nvSpPr>
        <p:spPr>
          <a:xfrm>
            <a:off x="744846" y="1058646"/>
            <a:ext cx="7328535" cy="1262044"/>
          </a:xfrm>
          <a:prstGeom prst="rect">
            <a:avLst/>
          </a:prstGeom>
        </p:spPr>
        <p:txBody>
          <a:bodyPr vert="horz" wrap="square" lIns="0" tIns="58579" rIns="0" bIns="0" rtlCol="0">
            <a:spAutoFit/>
          </a:bodyPr>
          <a:lstStyle/>
          <a:p>
            <a:pPr marL="182403" indent="-172878">
              <a:spcBef>
                <a:spcPts val="461"/>
              </a:spcBef>
              <a:buClr>
                <a:srgbClr val="E6E6E6"/>
              </a:buClr>
              <a:buFont typeface="Arial"/>
              <a:buChar char="•"/>
              <a:tabLst>
                <a:tab pos="182403" algn="l"/>
              </a:tabLst>
            </a:pP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What</a:t>
            </a:r>
            <a:r>
              <a:rPr sz="1800" b="1" spc="-30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are</a:t>
            </a:r>
            <a:r>
              <a:rPr sz="1800" b="1" spc="-26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the</a:t>
            </a:r>
            <a:r>
              <a:rPr sz="1800" b="1" spc="-30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sources</a:t>
            </a:r>
            <a:r>
              <a:rPr sz="1800" b="1" spc="-19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of</a:t>
            </a:r>
            <a:r>
              <a:rPr sz="1800" b="1" spc="-30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the</a:t>
            </a:r>
            <a:r>
              <a:rPr sz="1800" b="1" spc="-30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natural</a:t>
            </a:r>
            <a:r>
              <a:rPr sz="1800" b="1" spc="-30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space</a:t>
            </a:r>
            <a:r>
              <a:rPr sz="1800" b="1" spc="-15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radiation</a:t>
            </a:r>
            <a:r>
              <a:rPr sz="1800" b="1" spc="-45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spc="-8" dirty="0">
                <a:solidFill>
                  <a:srgbClr val="E6E6E6"/>
                </a:solidFill>
                <a:latin typeface="Arial"/>
                <a:cs typeface="Arial"/>
              </a:rPr>
              <a:t>environment?</a:t>
            </a:r>
            <a:endParaRPr sz="1800" dirty="0">
              <a:latin typeface="Arial"/>
              <a:cs typeface="Arial"/>
            </a:endParaRPr>
          </a:p>
          <a:p>
            <a:pPr marL="182403" indent="-172878">
              <a:spcBef>
                <a:spcPts val="386"/>
              </a:spcBef>
              <a:buFont typeface="Arial"/>
              <a:buChar char="•"/>
              <a:tabLst>
                <a:tab pos="182403" algn="l"/>
              </a:tabLst>
            </a:pPr>
            <a:r>
              <a:rPr sz="1800" b="1" dirty="0">
                <a:latin typeface="Arial"/>
                <a:cs typeface="Arial"/>
              </a:rPr>
              <a:t>What</a:t>
            </a:r>
            <a:r>
              <a:rPr sz="1800" b="1" spc="-23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role</a:t>
            </a:r>
            <a:r>
              <a:rPr sz="1800" b="1" spc="-26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does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26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Sun</a:t>
            </a:r>
            <a:r>
              <a:rPr sz="1800" b="1" spc="-26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play</a:t>
            </a:r>
            <a:r>
              <a:rPr sz="1800" b="1" spc="-23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on</a:t>
            </a:r>
            <a:r>
              <a:rPr sz="1800" b="1" spc="-26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these</a:t>
            </a:r>
            <a:r>
              <a:rPr sz="1800" b="1" spc="-19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environments?</a:t>
            </a:r>
            <a:endParaRPr sz="1800" dirty="0">
              <a:latin typeface="Arial"/>
              <a:cs typeface="Arial"/>
            </a:endParaRPr>
          </a:p>
          <a:p>
            <a:pPr marL="182880">
              <a:spcBef>
                <a:spcPts val="307"/>
              </a:spcBef>
            </a:pPr>
            <a:r>
              <a:rPr lang="en-US" sz="15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lang="en-US" sz="1500" spc="7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1500" b="1" dirty="0">
                <a:solidFill>
                  <a:srgbClr val="0000FF"/>
                </a:solidFill>
                <a:latin typeface="Arial"/>
                <a:cs typeface="Arial"/>
              </a:rPr>
              <a:t>Quiet</a:t>
            </a:r>
            <a:r>
              <a:rPr lang="en-US" sz="1500" b="1" spc="-3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1500" b="1" dirty="0">
                <a:solidFill>
                  <a:srgbClr val="0000FF"/>
                </a:solidFill>
                <a:latin typeface="Arial"/>
                <a:cs typeface="Arial"/>
              </a:rPr>
              <a:t>Environments</a:t>
            </a:r>
            <a:r>
              <a:rPr lang="en-US" sz="1500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1500" b="1" dirty="0">
                <a:solidFill>
                  <a:srgbClr val="0000FF"/>
                </a:solidFill>
                <a:latin typeface="Arial"/>
                <a:cs typeface="Arial"/>
              </a:rPr>
              <a:t>(Trapped</a:t>
            </a:r>
            <a:r>
              <a:rPr lang="en-US" sz="1500" b="1" spc="-3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1500" b="1" spc="-8" dirty="0">
                <a:solidFill>
                  <a:srgbClr val="0000FF"/>
                </a:solidFill>
                <a:latin typeface="Arial"/>
                <a:cs typeface="Arial"/>
              </a:rPr>
              <a:t>Radiation)</a:t>
            </a:r>
            <a:endParaRPr lang="en-US" sz="1500" dirty="0">
              <a:latin typeface="Arial"/>
              <a:cs typeface="Arial"/>
            </a:endParaRPr>
          </a:p>
          <a:p>
            <a:pPr marL="182403" indent="-172878">
              <a:spcBef>
                <a:spcPts val="386"/>
              </a:spcBef>
              <a:buFont typeface="Arial"/>
              <a:buChar char="•"/>
              <a:tabLst>
                <a:tab pos="182403" algn="l"/>
              </a:tabLst>
            </a:pP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Why</a:t>
            </a:r>
            <a:r>
              <a:rPr sz="1800" b="1" spc="-26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do</a:t>
            </a:r>
            <a:r>
              <a:rPr sz="1800" b="1" spc="-23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environments</a:t>
            </a:r>
            <a:r>
              <a:rPr sz="1800" b="1" spc="-15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spc="-8" dirty="0">
                <a:solidFill>
                  <a:srgbClr val="E6E6E6"/>
                </a:solidFill>
                <a:latin typeface="Arial"/>
                <a:cs typeface="Arial"/>
              </a:rPr>
              <a:t>matter?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6490E45-B9F3-7947-10F8-E5CA46FD7406}"/>
              </a:ext>
            </a:extLst>
          </p:cNvPr>
          <p:cNvSpPr txBox="1"/>
          <p:nvPr/>
        </p:nvSpPr>
        <p:spPr>
          <a:xfrm>
            <a:off x="744847" y="2345664"/>
            <a:ext cx="1234916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82403" indent="-172878">
              <a:spcBef>
                <a:spcPts val="75"/>
              </a:spcBef>
              <a:buFont typeface="Arial"/>
              <a:buChar char="•"/>
              <a:tabLst>
                <a:tab pos="182403" algn="l"/>
              </a:tabLst>
            </a:pPr>
            <a:r>
              <a:rPr sz="1800" b="1" spc="-8" dirty="0">
                <a:solidFill>
                  <a:srgbClr val="E6E6E6"/>
                </a:solidFill>
                <a:latin typeface="Arial"/>
                <a:cs typeface="Arial"/>
              </a:rPr>
              <a:t>Summary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BC2E9BA8-3A81-87E9-B945-8DB004F24D5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83800" y="2303535"/>
            <a:ext cx="5188353" cy="2812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0451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9112" y="1238699"/>
            <a:ext cx="3938588" cy="3402855"/>
          </a:xfrm>
          <a:prstGeom prst="rect">
            <a:avLst/>
          </a:prstGeom>
        </p:spPr>
        <p:txBody>
          <a:bodyPr vert="horz" wrap="square" lIns="0" tIns="55245" rIns="0" bIns="0" rtlCol="0">
            <a:spAutoFit/>
          </a:bodyPr>
          <a:lstStyle/>
          <a:p>
            <a:pPr marL="181928" marR="16193" indent="-172878">
              <a:lnSpc>
                <a:spcPts val="1800"/>
              </a:lnSpc>
              <a:spcBef>
                <a:spcPts val="435"/>
              </a:spcBef>
              <a:buFont typeface="Arial"/>
              <a:buChar char="•"/>
              <a:tabLst>
                <a:tab pos="182880" algn="l"/>
              </a:tabLst>
            </a:pP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Earth</a:t>
            </a:r>
            <a:r>
              <a:rPr sz="1800" b="1" spc="-26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has</a:t>
            </a:r>
            <a:r>
              <a:rPr sz="1800" b="1" spc="-23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both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internal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19" dirty="0">
                <a:latin typeface="Arial"/>
                <a:cs typeface="Arial"/>
              </a:rPr>
              <a:t>and 	</a:t>
            </a:r>
            <a:r>
              <a:rPr sz="1800" b="1" dirty="0">
                <a:latin typeface="Arial"/>
                <a:cs typeface="Arial"/>
              </a:rPr>
              <a:t>external</a:t>
            </a:r>
            <a:r>
              <a:rPr sz="1800" b="1" spc="-26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magnetic</a:t>
            </a:r>
            <a:r>
              <a:rPr sz="1800" b="1" spc="-3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fields</a:t>
            </a:r>
            <a:r>
              <a:rPr sz="1800" b="1" spc="-49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that</a:t>
            </a:r>
            <a:r>
              <a:rPr sz="1800" b="1" spc="-34" dirty="0">
                <a:latin typeface="Arial"/>
                <a:cs typeface="Arial"/>
              </a:rPr>
              <a:t> </a:t>
            </a:r>
            <a:r>
              <a:rPr sz="1800" b="1" spc="-15" dirty="0">
                <a:latin typeface="Arial"/>
                <a:cs typeface="Arial"/>
              </a:rPr>
              <a:t>make 	</a:t>
            </a:r>
            <a:r>
              <a:rPr sz="1800" b="1" dirty="0">
                <a:latin typeface="Arial"/>
                <a:cs typeface="Arial"/>
              </a:rPr>
              <a:t>up</a:t>
            </a:r>
            <a:r>
              <a:rPr sz="1800" b="1" spc="-19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its</a:t>
            </a:r>
            <a:r>
              <a:rPr sz="1800" b="1" spc="-26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magnetosphere</a:t>
            </a:r>
            <a:endParaRPr sz="1800" dirty="0">
              <a:latin typeface="Arial"/>
              <a:cs typeface="Arial"/>
            </a:endParaRPr>
          </a:p>
          <a:p>
            <a:pPr marL="181928" marR="3810" indent="-172878">
              <a:lnSpc>
                <a:spcPts val="1800"/>
              </a:lnSpc>
              <a:spcBef>
                <a:spcPts val="746"/>
              </a:spcBef>
              <a:buFont typeface="Arial"/>
              <a:buChar char="•"/>
              <a:tabLst>
                <a:tab pos="182880" algn="l"/>
              </a:tabLst>
            </a:pPr>
            <a:r>
              <a:rPr sz="1800" b="1" dirty="0">
                <a:latin typeface="Arial"/>
                <a:cs typeface="Arial"/>
              </a:rPr>
              <a:t>Internal</a:t>
            </a:r>
            <a:r>
              <a:rPr sz="1800" b="1" spc="-3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geomagnetic</a:t>
            </a:r>
            <a:r>
              <a:rPr sz="1800" b="1" spc="-23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field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19" dirty="0">
                <a:latin typeface="Arial"/>
                <a:cs typeface="Arial"/>
              </a:rPr>
              <a:t>is 	</a:t>
            </a:r>
            <a:r>
              <a:rPr sz="1800" b="1" dirty="0">
                <a:latin typeface="Arial"/>
                <a:cs typeface="Arial"/>
              </a:rPr>
              <a:t>approximately</a:t>
            </a:r>
            <a:r>
              <a:rPr sz="1800" b="1" spc="-41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dipolar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for</a:t>
            </a:r>
            <a:r>
              <a:rPr sz="1800" b="1" spc="-38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altitudes 	</a:t>
            </a:r>
            <a:r>
              <a:rPr sz="1800" b="1" dirty="0">
                <a:latin typeface="Arial"/>
                <a:cs typeface="Arial"/>
              </a:rPr>
              <a:t>up</a:t>
            </a:r>
            <a:r>
              <a:rPr sz="1800" b="1" spc="-23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-19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about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4</a:t>
            </a:r>
            <a:r>
              <a:rPr sz="1800" b="1" spc="-19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-19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5</a:t>
            </a:r>
            <a:r>
              <a:rPr sz="1800" b="1" spc="-11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Earth</a:t>
            </a:r>
            <a:r>
              <a:rPr sz="1800" b="1" spc="-19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radii</a:t>
            </a:r>
            <a:endParaRPr sz="1800" dirty="0">
              <a:latin typeface="Arial"/>
              <a:cs typeface="Arial"/>
            </a:endParaRPr>
          </a:p>
          <a:p>
            <a:pPr marL="181928" marR="614839" indent="-172878">
              <a:lnSpc>
                <a:spcPts val="1800"/>
              </a:lnSpc>
              <a:spcBef>
                <a:spcPts val="746"/>
              </a:spcBef>
              <a:buFont typeface="Arial"/>
              <a:buChar char="•"/>
              <a:tabLst>
                <a:tab pos="182880" algn="l"/>
              </a:tabLst>
            </a:pPr>
            <a:r>
              <a:rPr sz="1800" b="1" dirty="0">
                <a:latin typeface="Arial"/>
                <a:cs typeface="Arial"/>
              </a:rPr>
              <a:t>Dipole</a:t>
            </a:r>
            <a:r>
              <a:rPr sz="1800" b="1" spc="-38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axis</a:t>
            </a:r>
            <a:r>
              <a:rPr sz="1800" b="1" spc="-3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is</a:t>
            </a:r>
            <a:r>
              <a:rPr sz="1800" b="1" spc="-3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not</a:t>
            </a:r>
            <a:r>
              <a:rPr sz="1800" b="1" spc="-3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same</a:t>
            </a:r>
            <a:r>
              <a:rPr sz="1800" b="1" spc="-19" dirty="0">
                <a:latin typeface="Arial"/>
                <a:cs typeface="Arial"/>
              </a:rPr>
              <a:t> as 	</a:t>
            </a:r>
            <a:r>
              <a:rPr sz="1800" b="1" dirty="0">
                <a:latin typeface="Arial"/>
                <a:cs typeface="Arial"/>
              </a:rPr>
              <a:t>geographic</a:t>
            </a:r>
            <a:r>
              <a:rPr sz="1800" b="1" spc="-26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North-</a:t>
            </a:r>
            <a:r>
              <a:rPr sz="1800" b="1" dirty="0">
                <a:latin typeface="Arial"/>
                <a:cs typeface="Arial"/>
              </a:rPr>
              <a:t>South</a:t>
            </a:r>
            <a:r>
              <a:rPr sz="1800" b="1" spc="-26" dirty="0">
                <a:latin typeface="Arial"/>
                <a:cs typeface="Arial"/>
              </a:rPr>
              <a:t> </a:t>
            </a:r>
            <a:r>
              <a:rPr sz="1800" b="1" spc="-15" dirty="0">
                <a:latin typeface="Arial"/>
                <a:cs typeface="Arial"/>
              </a:rPr>
              <a:t>axis</a:t>
            </a:r>
            <a:endParaRPr sz="1800" dirty="0">
              <a:latin typeface="Arial"/>
              <a:cs typeface="Arial"/>
            </a:endParaRPr>
          </a:p>
          <a:p>
            <a:pPr marL="182880">
              <a:spcBef>
                <a:spcPts val="310"/>
              </a:spcBef>
            </a:pPr>
            <a:r>
              <a:rPr sz="15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500" spc="9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11.5</a:t>
            </a:r>
            <a:r>
              <a:rPr sz="15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degree</a:t>
            </a:r>
            <a:r>
              <a:rPr sz="15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15" dirty="0">
                <a:solidFill>
                  <a:srgbClr val="0000FF"/>
                </a:solidFill>
                <a:latin typeface="Arial"/>
                <a:cs typeface="Arial"/>
              </a:rPr>
              <a:t>tilt</a:t>
            </a:r>
            <a:endParaRPr sz="1500" dirty="0">
              <a:latin typeface="Arial"/>
              <a:cs typeface="Arial"/>
            </a:endParaRPr>
          </a:p>
          <a:p>
            <a:pPr marL="182880">
              <a:spcBef>
                <a:spcPts val="296"/>
              </a:spcBef>
            </a:pPr>
            <a:r>
              <a:rPr sz="15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500" spc="10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~500</a:t>
            </a:r>
            <a:r>
              <a:rPr sz="1500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km</a:t>
            </a:r>
            <a:r>
              <a:rPr sz="15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displacement</a:t>
            </a:r>
            <a:endParaRPr sz="1500" dirty="0">
              <a:latin typeface="Arial"/>
              <a:cs typeface="Arial"/>
            </a:endParaRPr>
          </a:p>
          <a:p>
            <a:pPr marL="181928" marR="411004" indent="-172878">
              <a:lnSpc>
                <a:spcPts val="1800"/>
              </a:lnSpc>
              <a:spcBef>
                <a:spcPts val="743"/>
              </a:spcBef>
              <a:buFont typeface="Arial"/>
              <a:buChar char="•"/>
              <a:tabLst>
                <a:tab pos="182880" algn="l"/>
              </a:tabLst>
            </a:pPr>
            <a:r>
              <a:rPr sz="1800" b="1" dirty="0">
                <a:latin typeface="Arial"/>
                <a:cs typeface="Arial"/>
              </a:rPr>
              <a:t>Trapped</a:t>
            </a:r>
            <a:r>
              <a:rPr sz="1800" b="1" spc="-38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particle</a:t>
            </a:r>
            <a:r>
              <a:rPr sz="1800" b="1" spc="-49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populations 	</a:t>
            </a:r>
            <a:r>
              <a:rPr sz="1800" b="1" dirty="0">
                <a:latin typeface="Arial"/>
                <a:cs typeface="Arial"/>
              </a:rPr>
              <a:t>conveniently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mapped</a:t>
            </a:r>
            <a:r>
              <a:rPr sz="1800" b="1" spc="-19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-38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dipole 	</a:t>
            </a:r>
            <a:r>
              <a:rPr sz="1800" b="1" dirty="0">
                <a:latin typeface="Arial"/>
                <a:cs typeface="Arial"/>
              </a:rPr>
              <a:t>coordinate</a:t>
            </a:r>
            <a:r>
              <a:rPr sz="1800" b="1" spc="-38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systems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529830" y="141892"/>
            <a:ext cx="8004391" cy="642988"/>
          </a:xfrm>
          <a:prstGeom prst="rect">
            <a:avLst/>
          </a:prstGeom>
        </p:spPr>
        <p:txBody>
          <a:bodyPr vert="horz" wrap="square" lIns="0" tIns="14909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7938">
              <a:spcBef>
                <a:spcPts val="75"/>
              </a:spcBef>
            </a:pPr>
            <a:r>
              <a:rPr dirty="0"/>
              <a:t>Earth’s</a:t>
            </a:r>
            <a:r>
              <a:rPr spc="-41" dirty="0"/>
              <a:t> </a:t>
            </a:r>
            <a:r>
              <a:rPr dirty="0"/>
              <a:t>Internal</a:t>
            </a:r>
            <a:r>
              <a:rPr spc="-38" dirty="0"/>
              <a:t> </a:t>
            </a:r>
            <a:r>
              <a:rPr dirty="0"/>
              <a:t>Magnetic</a:t>
            </a:r>
            <a:r>
              <a:rPr spc="-38" dirty="0"/>
              <a:t> </a:t>
            </a:r>
            <a:r>
              <a:rPr spc="-8" dirty="0"/>
              <a:t>Field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58912" y="1265377"/>
            <a:ext cx="4393661" cy="312539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731105" y="4464307"/>
            <a:ext cx="3673316" cy="3327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05251" marR="3810" indent="-96203">
              <a:spcBef>
                <a:spcPts val="75"/>
              </a:spcBef>
            </a:pPr>
            <a:r>
              <a:rPr sz="1050" b="1" dirty="0">
                <a:latin typeface="Arial"/>
                <a:cs typeface="Arial"/>
              </a:rPr>
              <a:t>The</a:t>
            </a:r>
            <a:r>
              <a:rPr sz="1050" b="1" spc="-11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internal</a:t>
            </a:r>
            <a:r>
              <a:rPr sz="1050" b="1" spc="-34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magnetic</a:t>
            </a:r>
            <a:r>
              <a:rPr sz="1050" b="1" spc="-38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field</a:t>
            </a:r>
            <a:r>
              <a:rPr sz="1050" b="1" spc="-26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of</a:t>
            </a:r>
            <a:r>
              <a:rPr sz="1050" b="1" spc="-8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the</a:t>
            </a:r>
            <a:r>
              <a:rPr sz="1050" b="1" spc="-19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Earth</a:t>
            </a:r>
            <a:r>
              <a:rPr sz="1050" b="1" spc="-23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is</a:t>
            </a:r>
            <a:r>
              <a:rPr sz="1050" b="1" spc="-15" dirty="0">
                <a:latin typeface="Arial"/>
                <a:cs typeface="Arial"/>
              </a:rPr>
              <a:t> </a:t>
            </a:r>
            <a:r>
              <a:rPr sz="1050" b="1" spc="-8" dirty="0">
                <a:latin typeface="Arial"/>
                <a:cs typeface="Arial"/>
              </a:rPr>
              <a:t>approximately</a:t>
            </a:r>
            <a:r>
              <a:rPr sz="1050" b="1" spc="-38" dirty="0">
                <a:latin typeface="Arial"/>
                <a:cs typeface="Arial"/>
              </a:rPr>
              <a:t> a </a:t>
            </a:r>
            <a:r>
              <a:rPr sz="1050" b="1" dirty="0">
                <a:latin typeface="Arial"/>
                <a:cs typeface="Arial"/>
              </a:rPr>
              <a:t>dipole</a:t>
            </a:r>
            <a:r>
              <a:rPr sz="1050" b="1" spc="-34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field,</a:t>
            </a:r>
            <a:r>
              <a:rPr sz="1050" b="1" spc="-38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which</a:t>
            </a:r>
            <a:r>
              <a:rPr sz="1050" b="1" spc="-38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can</a:t>
            </a:r>
            <a:r>
              <a:rPr sz="1050" b="1" spc="-26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trap</a:t>
            </a:r>
            <a:r>
              <a:rPr sz="1050" b="1" spc="-30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both</a:t>
            </a:r>
            <a:r>
              <a:rPr sz="1050" b="1" spc="-30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protons</a:t>
            </a:r>
            <a:r>
              <a:rPr sz="1050" b="1" spc="-23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and</a:t>
            </a:r>
            <a:r>
              <a:rPr sz="1050" b="1" spc="-30" dirty="0">
                <a:latin typeface="Arial"/>
                <a:cs typeface="Arial"/>
              </a:rPr>
              <a:t> </a:t>
            </a:r>
            <a:r>
              <a:rPr sz="1050" b="1" spc="-8" dirty="0">
                <a:latin typeface="Arial"/>
                <a:cs typeface="Arial"/>
              </a:rPr>
              <a:t>electrons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1709" y="1209569"/>
            <a:ext cx="4848225" cy="2261517"/>
          </a:xfrm>
          <a:prstGeom prst="rect">
            <a:avLst/>
          </a:prstGeom>
        </p:spPr>
        <p:txBody>
          <a:bodyPr vert="horz" wrap="square" lIns="0" tIns="55245" rIns="0" bIns="0" rtlCol="0">
            <a:spAutoFit/>
          </a:bodyPr>
          <a:lstStyle/>
          <a:p>
            <a:pPr marL="181928" marR="141446" indent="-172878">
              <a:lnSpc>
                <a:spcPts val="1800"/>
              </a:lnSpc>
              <a:spcBef>
                <a:spcPts val="435"/>
              </a:spcBef>
              <a:buFont typeface="Arial"/>
              <a:buChar char="•"/>
              <a:tabLst>
                <a:tab pos="182880" algn="l"/>
              </a:tabLst>
            </a:pPr>
            <a:r>
              <a:rPr sz="1800" b="1" dirty="0">
                <a:latin typeface="Arial"/>
                <a:cs typeface="Arial"/>
              </a:rPr>
              <a:t>Protons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19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electrons</a:t>
            </a:r>
            <a:r>
              <a:rPr sz="1800" b="1" spc="-23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trapped</a:t>
            </a:r>
            <a:r>
              <a:rPr sz="1800" b="1" spc="-26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-41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these 	</a:t>
            </a:r>
            <a:r>
              <a:rPr sz="1800" b="1" dirty="0">
                <a:latin typeface="Arial"/>
                <a:cs typeface="Arial"/>
              </a:rPr>
              <a:t>magnetic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field</a:t>
            </a:r>
            <a:r>
              <a:rPr sz="1800" b="1" spc="-38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lines</a:t>
            </a:r>
            <a:r>
              <a:rPr sz="1800" b="1" spc="-41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drift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around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23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Earth 	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26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spiral</a:t>
            </a:r>
            <a:r>
              <a:rPr sz="1800" b="1" spc="-23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along</a:t>
            </a:r>
            <a:r>
              <a:rPr sz="1800" b="1" spc="-38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these</a:t>
            </a:r>
            <a:r>
              <a:rPr sz="1800" b="1" spc="-11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field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lines</a:t>
            </a:r>
            <a:endParaRPr sz="1800">
              <a:latin typeface="Arial"/>
              <a:cs typeface="Arial"/>
            </a:endParaRPr>
          </a:p>
          <a:p>
            <a:pPr marL="355759" marR="3810" indent="-172878">
              <a:spcBef>
                <a:spcPts val="300"/>
              </a:spcBef>
            </a:pPr>
            <a:r>
              <a:rPr sz="15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500" spc="8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5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complete</a:t>
            </a:r>
            <a:r>
              <a:rPr sz="1500" b="1" spc="-3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azimuthal</a:t>
            </a:r>
            <a:r>
              <a:rPr sz="1500" b="1" spc="-4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rotation</a:t>
            </a:r>
            <a:r>
              <a:rPr sz="1500" b="1" spc="-3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1500" b="1" spc="-2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particle</a:t>
            </a:r>
            <a:r>
              <a:rPr sz="1500" b="1" spc="-3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is</a:t>
            </a:r>
            <a:r>
              <a:rPr sz="1500" b="1" spc="-2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called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drift</a:t>
            </a:r>
            <a:r>
              <a:rPr sz="1500" b="1" spc="-2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shell</a:t>
            </a:r>
            <a:r>
              <a:rPr sz="1500" b="1" spc="-1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or</a:t>
            </a:r>
            <a:r>
              <a:rPr sz="1500" b="1" spc="-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L-</a:t>
            </a:r>
            <a:r>
              <a:rPr sz="1500" b="1" spc="-15" dirty="0">
                <a:solidFill>
                  <a:srgbClr val="0000FF"/>
                </a:solidFill>
                <a:latin typeface="Arial"/>
                <a:cs typeface="Arial"/>
              </a:rPr>
              <a:t>shell</a:t>
            </a:r>
            <a:endParaRPr sz="1500">
              <a:latin typeface="Arial"/>
              <a:cs typeface="Arial"/>
            </a:endParaRPr>
          </a:p>
          <a:p>
            <a:pPr marL="181928" marR="149543" indent="-172878">
              <a:lnSpc>
                <a:spcPts val="1800"/>
              </a:lnSpc>
              <a:spcBef>
                <a:spcPts val="743"/>
              </a:spcBef>
              <a:buFont typeface="Arial"/>
              <a:buChar char="•"/>
              <a:tabLst>
                <a:tab pos="182880" algn="l"/>
              </a:tabLst>
            </a:pPr>
            <a:r>
              <a:rPr sz="1800" b="1" spc="-8" dirty="0">
                <a:latin typeface="Arial"/>
                <a:cs typeface="Arial"/>
              </a:rPr>
              <a:t>L-</a:t>
            </a:r>
            <a:r>
              <a:rPr sz="1800" b="1" dirty="0">
                <a:latin typeface="Arial"/>
                <a:cs typeface="Arial"/>
              </a:rPr>
              <a:t>shell</a:t>
            </a:r>
            <a:r>
              <a:rPr sz="1800" b="1" spc="-68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parameter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indicates</a:t>
            </a:r>
            <a:r>
              <a:rPr sz="1800" b="1" spc="-64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magnetic 	</a:t>
            </a:r>
            <a:r>
              <a:rPr sz="1800" b="1" dirty="0">
                <a:latin typeface="Arial"/>
                <a:cs typeface="Arial"/>
              </a:rPr>
              <a:t>equatorial</a:t>
            </a:r>
            <a:r>
              <a:rPr sz="1800" b="1" spc="-56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distance</a:t>
            </a:r>
            <a:r>
              <a:rPr sz="1800" b="1" spc="-41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from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Earth’s</a:t>
            </a:r>
            <a:r>
              <a:rPr sz="1800" b="1" spc="-53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center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19" dirty="0">
                <a:latin typeface="Arial"/>
                <a:cs typeface="Arial"/>
              </a:rPr>
              <a:t>in 	</a:t>
            </a:r>
            <a:r>
              <a:rPr sz="1800" b="1" dirty="0">
                <a:latin typeface="Arial"/>
                <a:cs typeface="Arial"/>
              </a:rPr>
              <a:t>number</a:t>
            </a:r>
            <a:r>
              <a:rPr sz="1800" b="1" spc="-26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41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Earth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radii</a:t>
            </a:r>
            <a:r>
              <a:rPr sz="1800" b="1" spc="-41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(6371</a:t>
            </a:r>
            <a:r>
              <a:rPr sz="1800" b="1" spc="-23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km)</a:t>
            </a:r>
            <a:r>
              <a:rPr sz="1800" b="1" spc="-34" dirty="0">
                <a:latin typeface="Arial"/>
                <a:cs typeface="Arial"/>
              </a:rPr>
              <a:t> </a:t>
            </a:r>
            <a:r>
              <a:rPr sz="1800" b="1" spc="-19" dirty="0">
                <a:latin typeface="Arial"/>
                <a:cs typeface="Arial"/>
              </a:rPr>
              <a:t>and 	</a:t>
            </a:r>
            <a:r>
              <a:rPr sz="1800" b="1" dirty="0">
                <a:solidFill>
                  <a:srgbClr val="0000FF"/>
                </a:solidFill>
                <a:latin typeface="Arial"/>
                <a:cs typeface="Arial"/>
              </a:rPr>
              <a:t>represents</a:t>
            </a:r>
            <a:r>
              <a:rPr sz="1800" b="1" spc="-3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1800" b="1" spc="-4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00FF"/>
                </a:solidFill>
                <a:latin typeface="Arial"/>
                <a:cs typeface="Arial"/>
              </a:rPr>
              <a:t>entire</a:t>
            </a:r>
            <a:r>
              <a:rPr sz="18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00FF"/>
                </a:solidFill>
                <a:latin typeface="Arial"/>
                <a:cs typeface="Arial"/>
              </a:rPr>
              <a:t>drift</a:t>
            </a:r>
            <a:r>
              <a:rPr sz="1800" b="1" spc="-4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8" dirty="0">
                <a:solidFill>
                  <a:srgbClr val="0000FF"/>
                </a:solidFill>
                <a:latin typeface="Arial"/>
                <a:cs typeface="Arial"/>
              </a:rPr>
              <a:t>shell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529830" y="-33866"/>
            <a:ext cx="8004391" cy="994503"/>
          </a:xfrm>
          <a:prstGeom prst="rect">
            <a:avLst/>
          </a:prstGeom>
        </p:spPr>
        <p:txBody>
          <a:bodyPr vert="horz" wrap="square" lIns="0" tIns="952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75"/>
              </a:spcBef>
            </a:pPr>
            <a:r>
              <a:rPr dirty="0"/>
              <a:t>Trapped</a:t>
            </a:r>
            <a:r>
              <a:rPr spc="-41" dirty="0"/>
              <a:t> </a:t>
            </a:r>
            <a:r>
              <a:rPr dirty="0"/>
              <a:t>Charged</a:t>
            </a:r>
            <a:r>
              <a:rPr spc="-49" dirty="0"/>
              <a:t> </a:t>
            </a:r>
            <a:r>
              <a:rPr dirty="0"/>
              <a:t>Particle</a:t>
            </a:r>
            <a:r>
              <a:rPr spc="-49" dirty="0"/>
              <a:t> </a:t>
            </a:r>
            <a:r>
              <a:rPr dirty="0"/>
              <a:t>Motion</a:t>
            </a:r>
            <a:r>
              <a:rPr spc="-30" dirty="0"/>
              <a:t> </a:t>
            </a:r>
            <a:r>
              <a:rPr dirty="0"/>
              <a:t>and</a:t>
            </a:r>
            <a:r>
              <a:rPr spc="-41" dirty="0"/>
              <a:t> </a:t>
            </a:r>
            <a:br>
              <a:rPr lang="en-US" spc="-41" dirty="0"/>
            </a:br>
            <a:r>
              <a:rPr spc="-19" dirty="0"/>
              <a:t>L-</a:t>
            </a:r>
            <a:r>
              <a:rPr spc="-8" dirty="0"/>
              <a:t>Shells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90420" y="1104572"/>
            <a:ext cx="3545528" cy="185808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404578" y="2076645"/>
            <a:ext cx="467201" cy="264014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116681" marR="3810" indent="-107633">
              <a:spcBef>
                <a:spcPts val="79"/>
              </a:spcBef>
            </a:pPr>
            <a:r>
              <a:rPr sz="825" dirty="0">
                <a:solidFill>
                  <a:srgbClr val="00FF00"/>
                </a:solidFill>
                <a:latin typeface="Arial"/>
                <a:cs typeface="Arial"/>
              </a:rPr>
              <a:t>Van</a:t>
            </a:r>
            <a:r>
              <a:rPr sz="825" spc="-15" dirty="0">
                <a:solidFill>
                  <a:srgbClr val="00FF00"/>
                </a:solidFill>
                <a:latin typeface="Arial"/>
                <a:cs typeface="Arial"/>
              </a:rPr>
              <a:t> </a:t>
            </a:r>
            <a:r>
              <a:rPr sz="825" spc="-8" dirty="0">
                <a:solidFill>
                  <a:srgbClr val="00FF00"/>
                </a:solidFill>
                <a:latin typeface="Arial"/>
                <a:cs typeface="Arial"/>
              </a:rPr>
              <a:t>Allen Belts</a:t>
            </a:r>
            <a:endParaRPr sz="825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866988" y="2187061"/>
            <a:ext cx="3007995" cy="3054668"/>
            <a:chOff x="7822651" y="2535081"/>
            <a:chExt cx="4010660" cy="4072890"/>
          </a:xfrm>
        </p:grpSpPr>
        <p:sp>
          <p:nvSpPr>
            <p:cNvPr id="7" name="object 7"/>
            <p:cNvSpPr/>
            <p:nvPr/>
          </p:nvSpPr>
          <p:spPr>
            <a:xfrm>
              <a:off x="10532123" y="2577946"/>
              <a:ext cx="391795" cy="0"/>
            </a:xfrm>
            <a:custGeom>
              <a:avLst/>
              <a:gdLst/>
              <a:ahLst/>
              <a:cxnLst/>
              <a:rect l="l" t="t" r="r" b="b"/>
              <a:pathLst>
                <a:path w="391795">
                  <a:moveTo>
                    <a:pt x="0" y="0"/>
                  </a:moveTo>
                  <a:lnTo>
                    <a:pt x="391274" y="0"/>
                  </a:lnTo>
                </a:path>
              </a:pathLst>
            </a:custGeom>
            <a:ln w="28575">
              <a:solidFill>
                <a:srgbClr val="00FF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8" name="object 8"/>
            <p:cNvSpPr/>
            <p:nvPr/>
          </p:nvSpPr>
          <p:spPr>
            <a:xfrm>
              <a:off x="10909112" y="2535081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9" name="object 9"/>
            <p:cNvSpPr/>
            <p:nvPr/>
          </p:nvSpPr>
          <p:spPr>
            <a:xfrm>
              <a:off x="9144596" y="4768164"/>
              <a:ext cx="704215" cy="641350"/>
            </a:xfrm>
            <a:custGeom>
              <a:avLst/>
              <a:gdLst/>
              <a:ahLst/>
              <a:cxnLst/>
              <a:rect l="l" t="t" r="r" b="b"/>
              <a:pathLst>
                <a:path w="704215" h="641350">
                  <a:moveTo>
                    <a:pt x="704176" y="0"/>
                  </a:moveTo>
                  <a:lnTo>
                    <a:pt x="0" y="640803"/>
                  </a:lnTo>
                </a:path>
              </a:pathLst>
            </a:custGeom>
            <a:ln w="23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22651" y="3593216"/>
              <a:ext cx="4010496" cy="301470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7346" y="1209569"/>
            <a:ext cx="4469130" cy="2030684"/>
          </a:xfrm>
          <a:prstGeom prst="rect">
            <a:avLst/>
          </a:prstGeom>
        </p:spPr>
        <p:txBody>
          <a:bodyPr vert="horz" wrap="square" lIns="0" tIns="55245" rIns="0" bIns="0" rtlCol="0">
            <a:spAutoFit/>
          </a:bodyPr>
          <a:lstStyle/>
          <a:p>
            <a:pPr marL="181928" marR="3810" indent="-172878">
              <a:lnSpc>
                <a:spcPts val="1800"/>
              </a:lnSpc>
              <a:spcBef>
                <a:spcPts val="435"/>
              </a:spcBef>
              <a:buFont typeface="Arial"/>
              <a:buChar char="•"/>
              <a:tabLst>
                <a:tab pos="182880" algn="l"/>
              </a:tabLst>
            </a:pPr>
            <a:r>
              <a:rPr sz="1800" b="1" dirty="0">
                <a:latin typeface="Arial"/>
                <a:cs typeface="Arial"/>
              </a:rPr>
              <a:t>An</a:t>
            </a:r>
            <a:r>
              <a:rPr sz="1800" b="1" spc="-26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L-</a:t>
            </a:r>
            <a:r>
              <a:rPr sz="1800" b="1" dirty="0">
                <a:latin typeface="Arial"/>
                <a:cs typeface="Arial"/>
              </a:rPr>
              <a:t>shell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contains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26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subset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4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trapped 	</a:t>
            </a:r>
            <a:r>
              <a:rPr sz="1800" b="1" dirty="0">
                <a:latin typeface="Arial"/>
                <a:cs typeface="Arial"/>
              </a:rPr>
              <a:t>particles</a:t>
            </a:r>
            <a:r>
              <a:rPr sz="1800" b="1" spc="-53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peaked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at</a:t>
            </a:r>
            <a:r>
              <a:rPr sz="1800" b="1" spc="-49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41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certain</a:t>
            </a:r>
            <a:r>
              <a:rPr sz="1800" b="1" spc="-49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energy 	</a:t>
            </a:r>
            <a:r>
              <a:rPr sz="1800" b="1" dirty="0">
                <a:latin typeface="Arial"/>
                <a:cs typeface="Arial"/>
              </a:rPr>
              <a:t>moving</a:t>
            </a:r>
            <a:r>
              <a:rPr sz="1800" b="1" spc="-3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throughout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this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shell</a:t>
            </a:r>
            <a:endParaRPr sz="1800" dirty="0">
              <a:latin typeface="Arial"/>
              <a:cs typeface="Arial"/>
            </a:endParaRPr>
          </a:p>
          <a:p>
            <a:pPr marL="355759" marR="51911" indent="-172878">
              <a:spcBef>
                <a:spcPts val="300"/>
              </a:spcBef>
            </a:pPr>
            <a:r>
              <a:rPr sz="15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500" spc="7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Provides</a:t>
            </a:r>
            <a:r>
              <a:rPr sz="15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convenient</a:t>
            </a:r>
            <a:r>
              <a:rPr sz="1500" b="1" spc="-1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global</a:t>
            </a:r>
            <a:r>
              <a:rPr sz="1500" b="1" spc="-2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parameterization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for</a:t>
            </a:r>
            <a:r>
              <a:rPr sz="1500" b="1" spc="-2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500" b="1" spc="-1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complex</a:t>
            </a:r>
            <a:r>
              <a:rPr sz="1500" b="1" spc="-1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population</a:t>
            </a:r>
            <a:r>
              <a:rPr sz="1500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1500" b="1" spc="-1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particles</a:t>
            </a:r>
            <a:endParaRPr sz="1500" dirty="0">
              <a:latin typeface="Arial"/>
              <a:cs typeface="Arial"/>
            </a:endParaRPr>
          </a:p>
          <a:p>
            <a:pPr marL="181928" marR="42386" indent="-172878">
              <a:lnSpc>
                <a:spcPts val="1800"/>
              </a:lnSpc>
              <a:spcBef>
                <a:spcPts val="743"/>
              </a:spcBef>
              <a:buFont typeface="Arial"/>
              <a:buChar char="•"/>
              <a:tabLst>
                <a:tab pos="182880" algn="l"/>
              </a:tabLst>
            </a:pPr>
            <a:r>
              <a:rPr sz="1800" b="1" dirty="0">
                <a:latin typeface="Arial"/>
                <a:cs typeface="Arial"/>
              </a:rPr>
              <a:t>Each</a:t>
            </a:r>
            <a:r>
              <a:rPr sz="1800" b="1" spc="-23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L-</a:t>
            </a:r>
            <a:r>
              <a:rPr sz="1800" b="1" dirty="0">
                <a:latin typeface="Arial"/>
                <a:cs typeface="Arial"/>
              </a:rPr>
              <a:t>shell</a:t>
            </a:r>
            <a:r>
              <a:rPr sz="1800" b="1" spc="-3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has</a:t>
            </a:r>
            <a:r>
              <a:rPr sz="1800" b="1" spc="-19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23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unique</a:t>
            </a:r>
            <a:r>
              <a:rPr sz="1800" b="1" spc="-38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environment 	</a:t>
            </a:r>
            <a:r>
              <a:rPr sz="1800" b="1" dirty="0">
                <a:latin typeface="Arial"/>
                <a:cs typeface="Arial"/>
              </a:rPr>
              <a:t>that</a:t>
            </a:r>
            <a:r>
              <a:rPr sz="1800" b="1" spc="-19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must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be</a:t>
            </a:r>
            <a:r>
              <a:rPr sz="1800" b="1" spc="-11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accounted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for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19" dirty="0">
                <a:latin typeface="Arial"/>
                <a:cs typeface="Arial"/>
              </a:rPr>
              <a:t>the 	</a:t>
            </a:r>
            <a:r>
              <a:rPr sz="1800" b="1" dirty="0">
                <a:latin typeface="Arial"/>
                <a:cs typeface="Arial"/>
              </a:rPr>
              <a:t>design</a:t>
            </a:r>
            <a:r>
              <a:rPr sz="1800" b="1" spc="-19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11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system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529830" y="141892"/>
            <a:ext cx="8004391" cy="642988"/>
          </a:xfrm>
          <a:prstGeom prst="rect">
            <a:avLst/>
          </a:prstGeom>
        </p:spPr>
        <p:txBody>
          <a:bodyPr vert="horz" wrap="square" lIns="0" tIns="14909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7938">
              <a:spcBef>
                <a:spcPts val="75"/>
              </a:spcBef>
            </a:pPr>
            <a:r>
              <a:rPr dirty="0"/>
              <a:t>Charged</a:t>
            </a:r>
            <a:r>
              <a:rPr spc="-49" dirty="0"/>
              <a:t> </a:t>
            </a:r>
            <a:r>
              <a:rPr dirty="0"/>
              <a:t>Particle</a:t>
            </a:r>
            <a:r>
              <a:rPr spc="-34" dirty="0"/>
              <a:t> </a:t>
            </a:r>
            <a:r>
              <a:rPr spc="-8" dirty="0"/>
              <a:t>Distribution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008736" y="1236243"/>
            <a:ext cx="3985260" cy="3359944"/>
            <a:chOff x="6678314" y="1267324"/>
            <a:chExt cx="5313680" cy="4479925"/>
          </a:xfrm>
        </p:grpSpPr>
        <p:sp>
          <p:nvSpPr>
            <p:cNvPr id="5" name="object 5"/>
            <p:cNvSpPr/>
            <p:nvPr/>
          </p:nvSpPr>
          <p:spPr>
            <a:xfrm>
              <a:off x="9144596" y="4768164"/>
              <a:ext cx="704215" cy="641350"/>
            </a:xfrm>
            <a:custGeom>
              <a:avLst/>
              <a:gdLst/>
              <a:ahLst/>
              <a:cxnLst/>
              <a:rect l="l" t="t" r="r" b="b"/>
              <a:pathLst>
                <a:path w="704215" h="641350">
                  <a:moveTo>
                    <a:pt x="704176" y="0"/>
                  </a:moveTo>
                  <a:lnTo>
                    <a:pt x="0" y="640803"/>
                  </a:lnTo>
                </a:path>
              </a:pathLst>
            </a:custGeom>
            <a:ln w="23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78314" y="1267324"/>
              <a:ext cx="5313305" cy="44793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231674" y="4653034"/>
            <a:ext cx="3547586" cy="49436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3810" algn="ctr">
              <a:spcBef>
                <a:spcPts val="75"/>
              </a:spcBef>
            </a:pPr>
            <a:r>
              <a:rPr sz="1050" b="1" dirty="0">
                <a:latin typeface="Arial"/>
                <a:cs typeface="Arial"/>
              </a:rPr>
              <a:t>Charged</a:t>
            </a:r>
            <a:r>
              <a:rPr sz="1050" b="1" spc="-26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particle</a:t>
            </a:r>
            <a:r>
              <a:rPr sz="1050" b="1" spc="-38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distribution</a:t>
            </a:r>
            <a:r>
              <a:rPr sz="1050" b="1" spc="-41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in</a:t>
            </a:r>
            <a:r>
              <a:rPr sz="1050" b="1" spc="-26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the</a:t>
            </a:r>
            <a:r>
              <a:rPr sz="1050" b="1" spc="-11" dirty="0">
                <a:latin typeface="Arial"/>
                <a:cs typeface="Arial"/>
              </a:rPr>
              <a:t> </a:t>
            </a:r>
            <a:r>
              <a:rPr sz="1050" b="1" spc="-8" dirty="0">
                <a:latin typeface="Arial"/>
                <a:cs typeface="Arial"/>
              </a:rPr>
              <a:t>magnetosphere</a:t>
            </a:r>
            <a:r>
              <a:rPr sz="1050" b="1" spc="-45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as</a:t>
            </a:r>
            <a:r>
              <a:rPr sz="1050" b="1" spc="-15" dirty="0">
                <a:latin typeface="Arial"/>
                <a:cs typeface="Arial"/>
              </a:rPr>
              <a:t> </a:t>
            </a:r>
            <a:r>
              <a:rPr sz="1050" b="1" spc="-38" dirty="0">
                <a:latin typeface="Arial"/>
                <a:cs typeface="Arial"/>
              </a:rPr>
              <a:t>a </a:t>
            </a:r>
            <a:r>
              <a:rPr sz="1050" b="1" dirty="0">
                <a:latin typeface="Arial"/>
                <a:cs typeface="Arial"/>
              </a:rPr>
              <a:t>function</a:t>
            </a:r>
            <a:r>
              <a:rPr sz="1050" b="1" spc="-34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of</a:t>
            </a:r>
            <a:r>
              <a:rPr sz="1050" b="1" spc="-26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Earth</a:t>
            </a:r>
            <a:r>
              <a:rPr sz="1050" b="1" spc="-26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radii.</a:t>
            </a:r>
            <a:r>
              <a:rPr sz="1050" b="1" spc="-26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This</a:t>
            </a:r>
            <a:r>
              <a:rPr sz="1050" b="1" spc="-23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figure</a:t>
            </a:r>
            <a:r>
              <a:rPr sz="1050" b="1" spc="-30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was</a:t>
            </a:r>
            <a:r>
              <a:rPr sz="1050" b="1" spc="-41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adapted</a:t>
            </a:r>
            <a:r>
              <a:rPr sz="1050" b="1" spc="-34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by</a:t>
            </a:r>
            <a:r>
              <a:rPr sz="1050" b="1" spc="-15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J.</a:t>
            </a:r>
            <a:r>
              <a:rPr sz="1050" b="1" spc="-19" dirty="0">
                <a:latin typeface="Arial"/>
                <a:cs typeface="Arial"/>
              </a:rPr>
              <a:t> R. </a:t>
            </a:r>
            <a:r>
              <a:rPr sz="1050" b="1" dirty="0">
                <a:latin typeface="Arial"/>
                <a:cs typeface="Arial"/>
              </a:rPr>
              <a:t>Schwank</a:t>
            </a:r>
            <a:r>
              <a:rPr sz="1050" b="1" spc="-56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and</a:t>
            </a:r>
            <a:r>
              <a:rPr sz="1050" b="1" spc="-26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colleagues</a:t>
            </a:r>
            <a:r>
              <a:rPr sz="1050" b="1" spc="-49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after</a:t>
            </a:r>
            <a:r>
              <a:rPr sz="1050" b="1" spc="-30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the</a:t>
            </a:r>
            <a:r>
              <a:rPr sz="1050" b="1" spc="-30" dirty="0">
                <a:latin typeface="Arial"/>
                <a:cs typeface="Arial"/>
              </a:rPr>
              <a:t> </a:t>
            </a:r>
            <a:r>
              <a:rPr sz="1050" b="1" spc="-8" dirty="0">
                <a:latin typeface="Arial"/>
                <a:cs typeface="Arial"/>
              </a:rPr>
              <a:t>original</a:t>
            </a:r>
            <a:endParaRPr sz="1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05168" y="1232668"/>
            <a:ext cx="4002405" cy="2657138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spcBef>
                <a:spcPts val="233"/>
              </a:spcBef>
            </a:pPr>
            <a:endParaRPr sz="900">
              <a:latin typeface="Times New Roman"/>
              <a:cs typeface="Times New Roman"/>
            </a:endParaRPr>
          </a:p>
          <a:p>
            <a:pPr marL="232886" algn="ctr"/>
            <a:r>
              <a:rPr sz="900" b="1" dirty="0">
                <a:latin typeface="Arial"/>
                <a:cs typeface="Arial"/>
              </a:rPr>
              <a:t>Earth</a:t>
            </a:r>
            <a:r>
              <a:rPr sz="900" b="1" spc="-23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Radii</a:t>
            </a:r>
            <a:r>
              <a:rPr sz="900" b="1" spc="-4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(R</a:t>
            </a:r>
            <a:r>
              <a:rPr sz="525" b="1" dirty="0">
                <a:latin typeface="Arial"/>
                <a:cs typeface="Arial"/>
              </a:rPr>
              <a:t>E</a:t>
            </a:r>
            <a:r>
              <a:rPr sz="900" b="1" dirty="0">
                <a:latin typeface="Arial"/>
                <a:cs typeface="Arial"/>
              </a:rPr>
              <a:t>)</a:t>
            </a:r>
            <a:r>
              <a:rPr sz="900" b="1" spc="-1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=</a:t>
            </a:r>
            <a:r>
              <a:rPr sz="900" b="1" spc="-4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6371</a:t>
            </a:r>
            <a:r>
              <a:rPr sz="900" b="1" spc="-34" dirty="0">
                <a:latin typeface="Arial"/>
                <a:cs typeface="Arial"/>
              </a:rPr>
              <a:t> </a:t>
            </a:r>
            <a:r>
              <a:rPr sz="900" b="1" spc="-19" dirty="0">
                <a:latin typeface="Arial"/>
                <a:cs typeface="Arial"/>
              </a:rPr>
              <a:t>km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529830" y="141892"/>
            <a:ext cx="8004391" cy="642988"/>
          </a:xfrm>
          <a:prstGeom prst="rect">
            <a:avLst/>
          </a:prstGeom>
        </p:spPr>
        <p:txBody>
          <a:bodyPr vert="horz" wrap="square" lIns="0" tIns="14909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7938">
              <a:spcBef>
                <a:spcPts val="75"/>
              </a:spcBef>
            </a:pPr>
            <a:r>
              <a:rPr dirty="0"/>
              <a:t>Solar</a:t>
            </a:r>
            <a:r>
              <a:rPr spc="-19" dirty="0"/>
              <a:t> </a:t>
            </a:r>
            <a:r>
              <a:rPr dirty="0"/>
              <a:t>Cycle</a:t>
            </a:r>
            <a:r>
              <a:rPr spc="-15" dirty="0"/>
              <a:t> </a:t>
            </a:r>
            <a:r>
              <a:rPr spc="-8" dirty="0"/>
              <a:t>Dependence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29392" y="1828801"/>
            <a:ext cx="4202992" cy="295056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57512" y="1802124"/>
            <a:ext cx="7230428" cy="3277179"/>
          </a:xfrm>
          <a:prstGeom prst="rect">
            <a:avLst/>
          </a:prstGeom>
        </p:spPr>
        <p:txBody>
          <a:bodyPr vert="horz" wrap="square" lIns="0" tIns="55245" rIns="0" bIns="0" rtlCol="0">
            <a:spAutoFit/>
          </a:bodyPr>
          <a:lstStyle/>
          <a:p>
            <a:pPr marL="181928" marR="3968115" indent="-172878">
              <a:lnSpc>
                <a:spcPts val="1800"/>
              </a:lnSpc>
              <a:spcBef>
                <a:spcPts val="435"/>
              </a:spcBef>
              <a:buFont typeface="Arial"/>
              <a:buChar char="•"/>
              <a:tabLst>
                <a:tab pos="182880" algn="l"/>
              </a:tabLst>
            </a:pPr>
            <a:r>
              <a:rPr sz="1800" b="1" dirty="0">
                <a:latin typeface="Arial"/>
                <a:cs typeface="Arial"/>
              </a:rPr>
              <a:t>Proton</a:t>
            </a:r>
            <a:r>
              <a:rPr sz="1800" b="1" spc="-56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fluxes</a:t>
            </a:r>
            <a:r>
              <a:rPr sz="1800" b="1" spc="-56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generally</a:t>
            </a:r>
            <a:r>
              <a:rPr sz="1800" b="1" spc="-49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anti- 	</a:t>
            </a:r>
            <a:r>
              <a:rPr sz="1800" b="1" dirty="0">
                <a:latin typeface="Arial"/>
                <a:cs typeface="Arial"/>
              </a:rPr>
              <a:t>correlated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with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solar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cycle 	activity</a:t>
            </a:r>
            <a:endParaRPr sz="1800" dirty="0">
              <a:latin typeface="Arial"/>
              <a:cs typeface="Arial"/>
            </a:endParaRPr>
          </a:p>
          <a:p>
            <a:pPr marL="355759" marR="4263866" indent="-172878">
              <a:spcBef>
                <a:spcPts val="300"/>
              </a:spcBef>
            </a:pPr>
            <a:r>
              <a:rPr sz="15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500" spc="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Most</a:t>
            </a:r>
            <a:r>
              <a:rPr sz="15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pronounced</a:t>
            </a:r>
            <a:r>
              <a:rPr sz="15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near</a:t>
            </a:r>
            <a:r>
              <a:rPr sz="1500" b="1" spc="-2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belt’s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inner</a:t>
            </a:r>
            <a:r>
              <a:rPr sz="1500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15" dirty="0">
                <a:solidFill>
                  <a:srgbClr val="0000FF"/>
                </a:solidFill>
                <a:latin typeface="Arial"/>
                <a:cs typeface="Arial"/>
              </a:rPr>
              <a:t>edge</a:t>
            </a:r>
            <a:endParaRPr sz="1500" dirty="0">
              <a:latin typeface="Arial"/>
              <a:cs typeface="Arial"/>
            </a:endParaRPr>
          </a:p>
          <a:p>
            <a:pPr marL="182403" indent="-172878">
              <a:spcBef>
                <a:spcPts val="382"/>
              </a:spcBef>
              <a:buFont typeface="Arial"/>
              <a:buChar char="•"/>
              <a:tabLst>
                <a:tab pos="182403" algn="l"/>
              </a:tabLst>
            </a:pPr>
            <a:r>
              <a:rPr sz="1800" b="1" dirty="0">
                <a:latin typeface="Arial"/>
                <a:cs typeface="Arial"/>
              </a:rPr>
              <a:t>During</a:t>
            </a:r>
            <a:r>
              <a:rPr sz="1800" b="1" spc="-3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solar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maximum</a:t>
            </a:r>
            <a:endParaRPr sz="1800" dirty="0">
              <a:latin typeface="Arial"/>
              <a:cs typeface="Arial"/>
            </a:endParaRPr>
          </a:p>
          <a:p>
            <a:pPr marL="355759" marR="4330065" indent="-172878">
              <a:spcBef>
                <a:spcPts val="307"/>
              </a:spcBef>
            </a:pPr>
            <a:r>
              <a:rPr sz="15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500" spc="9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Increased</a:t>
            </a:r>
            <a:r>
              <a:rPr sz="15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loss</a:t>
            </a:r>
            <a:r>
              <a:rPr sz="15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15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protons</a:t>
            </a:r>
            <a:r>
              <a:rPr sz="1500" b="1" spc="-19" dirty="0">
                <a:solidFill>
                  <a:srgbClr val="0000FF"/>
                </a:solidFill>
                <a:latin typeface="Arial"/>
                <a:cs typeface="Arial"/>
              </a:rPr>
              <a:t> in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upper</a:t>
            </a:r>
            <a:r>
              <a:rPr sz="1500" b="1" spc="-6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atmosphere</a:t>
            </a:r>
            <a:endParaRPr sz="1500" dirty="0">
              <a:latin typeface="Arial"/>
              <a:cs typeface="Arial"/>
            </a:endParaRPr>
          </a:p>
          <a:p>
            <a:pPr marL="355759" marR="3819049" indent="-172878" algn="just">
              <a:spcBef>
                <a:spcPts val="300"/>
              </a:spcBef>
            </a:pPr>
            <a:r>
              <a:rPr sz="15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500" spc="8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Decreased</a:t>
            </a:r>
            <a:r>
              <a:rPr sz="1500" b="1" spc="-3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production</a:t>
            </a:r>
            <a:r>
              <a:rPr sz="1500" b="1" spc="-3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1500" b="1" spc="-2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protons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from</a:t>
            </a:r>
            <a:r>
              <a:rPr sz="1500" b="1" spc="-3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Cosmic</a:t>
            </a:r>
            <a:r>
              <a:rPr sz="15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Ray</a:t>
            </a:r>
            <a:r>
              <a:rPr sz="15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Albedo</a:t>
            </a:r>
            <a:r>
              <a:rPr sz="1500" b="1" spc="-3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Neutron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Decay</a:t>
            </a:r>
            <a:r>
              <a:rPr sz="1500" b="1" spc="-5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(CRAND)</a:t>
            </a:r>
            <a:r>
              <a:rPr sz="15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process</a:t>
            </a:r>
            <a:endParaRPr sz="1500" dirty="0">
              <a:latin typeface="Arial"/>
              <a:cs typeface="Arial"/>
            </a:endParaRPr>
          </a:p>
          <a:p>
            <a:pPr>
              <a:spcBef>
                <a:spcPts val="596"/>
              </a:spcBef>
            </a:pPr>
            <a:endParaRPr sz="1500" dirty="0">
              <a:latin typeface="Arial"/>
              <a:cs typeface="Arial"/>
            </a:endParaRPr>
          </a:p>
          <a:p>
            <a:pPr marL="4097655"/>
            <a:r>
              <a:rPr sz="1050" b="1" dirty="0">
                <a:latin typeface="Arial"/>
                <a:cs typeface="Arial"/>
              </a:rPr>
              <a:t>S.L.</a:t>
            </a:r>
            <a:r>
              <a:rPr sz="1050" b="1" spc="-30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Huston</a:t>
            </a:r>
            <a:r>
              <a:rPr sz="1050" b="1" spc="-38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and</a:t>
            </a:r>
            <a:r>
              <a:rPr sz="1050" b="1" spc="-30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K.A.</a:t>
            </a:r>
            <a:r>
              <a:rPr sz="1050" b="1" spc="-4" dirty="0">
                <a:latin typeface="Arial"/>
                <a:cs typeface="Arial"/>
              </a:rPr>
              <a:t> </a:t>
            </a:r>
            <a:r>
              <a:rPr sz="1050" b="1" spc="-8" dirty="0">
                <a:latin typeface="Arial"/>
                <a:cs typeface="Arial"/>
              </a:rPr>
              <a:t>Pfitzer,</a:t>
            </a:r>
            <a:r>
              <a:rPr sz="1050" b="1" spc="-45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IEEE</a:t>
            </a:r>
            <a:r>
              <a:rPr sz="1050" b="1" spc="-26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TNS,</a:t>
            </a:r>
            <a:r>
              <a:rPr sz="1050" b="1" spc="-19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Dec.</a:t>
            </a:r>
            <a:r>
              <a:rPr sz="1050" b="1" spc="-30" dirty="0">
                <a:latin typeface="Arial"/>
                <a:cs typeface="Arial"/>
              </a:rPr>
              <a:t> </a:t>
            </a:r>
            <a:r>
              <a:rPr sz="1050" b="1" spc="-15" dirty="0">
                <a:latin typeface="Arial"/>
                <a:cs typeface="Arial"/>
              </a:rPr>
              <a:t>1998</a:t>
            </a:r>
            <a:endParaRPr sz="10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3844" y="3556905"/>
            <a:ext cx="3810000" cy="147155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81928" marR="59531" indent="-172878">
              <a:spcBef>
                <a:spcPts val="75"/>
              </a:spcBef>
            </a:pPr>
            <a:r>
              <a:rPr sz="15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500" spc="9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&gt;</a:t>
            </a:r>
            <a:r>
              <a:rPr sz="1500" b="1" spc="-1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10</a:t>
            </a:r>
            <a:r>
              <a:rPr sz="1500" b="1" spc="-1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MeV</a:t>
            </a:r>
            <a:r>
              <a:rPr sz="1500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flux</a:t>
            </a:r>
            <a:r>
              <a:rPr sz="15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peaks</a:t>
            </a:r>
            <a:r>
              <a:rPr sz="15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at</a:t>
            </a:r>
            <a:r>
              <a:rPr sz="15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L-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shell</a:t>
            </a:r>
            <a:r>
              <a:rPr sz="15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500" b="1" spc="-1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1.8</a:t>
            </a:r>
            <a:r>
              <a:rPr sz="15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19" dirty="0">
                <a:solidFill>
                  <a:srgbClr val="0000FF"/>
                </a:solidFill>
                <a:latin typeface="Arial"/>
                <a:cs typeface="Arial"/>
              </a:rPr>
              <a:t>and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extends</a:t>
            </a:r>
            <a:r>
              <a:rPr sz="15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to</a:t>
            </a:r>
            <a:r>
              <a:rPr sz="1500" b="1" spc="-1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about</a:t>
            </a:r>
            <a:r>
              <a:rPr sz="1500" b="1" spc="-19" dirty="0">
                <a:solidFill>
                  <a:srgbClr val="0000FF"/>
                </a:solidFill>
                <a:latin typeface="Arial"/>
                <a:cs typeface="Arial"/>
              </a:rPr>
              <a:t> 4.</a:t>
            </a:r>
            <a:endParaRPr sz="1500">
              <a:latin typeface="Arial"/>
              <a:cs typeface="Arial"/>
            </a:endParaRPr>
          </a:p>
          <a:p>
            <a:pPr marL="9525">
              <a:spcBef>
                <a:spcPts val="300"/>
              </a:spcBef>
            </a:pPr>
            <a:r>
              <a:rPr sz="15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500" spc="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Energies</a:t>
            </a:r>
            <a:r>
              <a:rPr sz="1500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up</a:t>
            </a:r>
            <a:r>
              <a:rPr sz="1500" b="1" spc="-1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to</a:t>
            </a:r>
            <a:r>
              <a:rPr sz="1500" b="1" spc="-2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15" dirty="0">
                <a:solidFill>
                  <a:srgbClr val="0000FF"/>
                </a:solidFill>
                <a:latin typeface="Arial"/>
                <a:cs typeface="Arial"/>
              </a:rPr>
              <a:t>~GeV</a:t>
            </a:r>
            <a:endParaRPr sz="1500">
              <a:latin typeface="Arial"/>
              <a:cs typeface="Arial"/>
            </a:endParaRPr>
          </a:p>
          <a:p>
            <a:pPr marL="181928" marR="3810" indent="-172878">
              <a:spcBef>
                <a:spcPts val="304"/>
              </a:spcBef>
            </a:pPr>
            <a:r>
              <a:rPr sz="15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500" spc="8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Nuclear</a:t>
            </a:r>
            <a:r>
              <a:rPr sz="1500" b="1" spc="-3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reaction</a:t>
            </a:r>
            <a:r>
              <a:rPr sz="1500" b="1" spc="-3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products</a:t>
            </a:r>
            <a:r>
              <a:rPr sz="1500" b="1" spc="-3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from</a:t>
            </a:r>
            <a:r>
              <a:rPr sz="15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incident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protons</a:t>
            </a:r>
            <a:r>
              <a:rPr sz="15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can</a:t>
            </a:r>
            <a:r>
              <a:rPr sz="1500" b="1" spc="-3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have</a:t>
            </a:r>
            <a:r>
              <a:rPr sz="1500" b="1" spc="-1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LET</a:t>
            </a:r>
            <a:r>
              <a:rPr sz="15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values</a:t>
            </a:r>
            <a:r>
              <a:rPr sz="1500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up</a:t>
            </a:r>
            <a:r>
              <a:rPr sz="1500" b="1" spc="-1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to</a:t>
            </a:r>
            <a:r>
              <a:rPr sz="1500" b="1" spc="-3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19" dirty="0">
                <a:solidFill>
                  <a:srgbClr val="0000FF"/>
                </a:solidFill>
                <a:latin typeface="Arial"/>
                <a:cs typeface="Arial"/>
              </a:rPr>
              <a:t>20 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MeV-cm2/mg.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952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75"/>
              </a:spcBef>
            </a:pPr>
            <a:r>
              <a:rPr dirty="0"/>
              <a:t>Trapped</a:t>
            </a:r>
            <a:r>
              <a:rPr spc="-56" dirty="0"/>
              <a:t> </a:t>
            </a:r>
            <a:r>
              <a:rPr dirty="0"/>
              <a:t>Proton</a:t>
            </a:r>
            <a:r>
              <a:rPr spc="-49" dirty="0"/>
              <a:t> </a:t>
            </a:r>
            <a:r>
              <a:rPr dirty="0"/>
              <a:t>and</a:t>
            </a:r>
            <a:r>
              <a:rPr spc="-53" dirty="0"/>
              <a:t> </a:t>
            </a:r>
            <a:r>
              <a:rPr dirty="0"/>
              <a:t>Electron</a:t>
            </a:r>
            <a:r>
              <a:rPr spc="-45" dirty="0"/>
              <a:t> </a:t>
            </a:r>
            <a:r>
              <a:rPr spc="-8" dirty="0"/>
              <a:t>Properties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47318" y="1547029"/>
            <a:ext cx="4649361" cy="197721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13844" y="1076720"/>
            <a:ext cx="1737360" cy="2486739"/>
          </a:xfrm>
          <a:prstGeom prst="rect">
            <a:avLst/>
          </a:prstGeom>
        </p:spPr>
        <p:txBody>
          <a:bodyPr vert="horz" wrap="square" lIns="0" tIns="54769" rIns="0" bIns="0" rtlCol="0">
            <a:spAutoFit/>
          </a:bodyPr>
          <a:lstStyle/>
          <a:p>
            <a:pPr marL="385286">
              <a:spcBef>
                <a:spcPts val="431"/>
              </a:spcBef>
            </a:pPr>
            <a:r>
              <a:rPr sz="1800" b="1" u="sng" spc="-8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Protons</a:t>
            </a:r>
            <a:endParaRPr sz="1800">
              <a:latin typeface="Arial"/>
              <a:cs typeface="Arial"/>
            </a:endParaRPr>
          </a:p>
          <a:p>
            <a:pPr marL="181928" marR="3810" indent="-172878">
              <a:spcBef>
                <a:spcPts val="300"/>
              </a:spcBef>
            </a:pPr>
            <a:r>
              <a:rPr sz="15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500" spc="9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Single</a:t>
            </a:r>
            <a:r>
              <a:rPr sz="1500" b="1" spc="-1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trapped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proton</a:t>
            </a:r>
            <a:r>
              <a:rPr sz="1500" b="1" spc="-3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region</a:t>
            </a:r>
            <a:r>
              <a:rPr sz="1500" b="1" spc="-3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19" dirty="0">
                <a:solidFill>
                  <a:srgbClr val="0000FF"/>
                </a:solidFill>
                <a:latin typeface="Arial"/>
                <a:cs typeface="Arial"/>
              </a:rPr>
              <a:t>for 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“quiet” conditions</a:t>
            </a:r>
            <a:endParaRPr sz="1500">
              <a:latin typeface="Arial"/>
              <a:cs typeface="Arial"/>
            </a:endParaRPr>
          </a:p>
          <a:p>
            <a:pPr marL="181928" marR="164783" indent="-172878">
              <a:spcBef>
                <a:spcPts val="307"/>
              </a:spcBef>
            </a:pPr>
            <a:r>
              <a:rPr sz="15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500" spc="10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Earth’s atmosphere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limits</a:t>
            </a:r>
            <a:r>
              <a:rPr sz="1500" b="1" spc="-3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belt</a:t>
            </a:r>
            <a:r>
              <a:rPr sz="1500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19" dirty="0">
                <a:solidFill>
                  <a:srgbClr val="0000FF"/>
                </a:solidFill>
                <a:latin typeface="Arial"/>
                <a:cs typeface="Arial"/>
              </a:rPr>
              <a:t>to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altitudes</a:t>
            </a:r>
            <a:r>
              <a:rPr sz="1500" b="1" spc="-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above</a:t>
            </a:r>
            <a:endParaRPr sz="1500">
              <a:latin typeface="Arial"/>
              <a:cs typeface="Arial"/>
            </a:endParaRPr>
          </a:p>
          <a:p>
            <a:pPr marL="181928"/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~200</a:t>
            </a:r>
            <a:r>
              <a:rPr sz="1500" b="1" spc="-19" dirty="0">
                <a:solidFill>
                  <a:srgbClr val="0000FF"/>
                </a:solidFill>
                <a:latin typeface="Arial"/>
                <a:cs typeface="Arial"/>
              </a:rPr>
              <a:t> km</a:t>
            </a:r>
            <a:endParaRPr sz="1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31446" y="3557483"/>
            <a:ext cx="3810000" cy="147155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81928" marR="59531" indent="-172878">
              <a:spcBef>
                <a:spcPts val="75"/>
              </a:spcBef>
            </a:pPr>
            <a:r>
              <a:rPr sz="15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500" spc="9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&gt;</a:t>
            </a:r>
            <a:r>
              <a:rPr sz="1500" b="1" spc="-1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10</a:t>
            </a:r>
            <a:r>
              <a:rPr sz="1500" b="1" spc="-1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MeV</a:t>
            </a:r>
            <a:r>
              <a:rPr sz="1500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flux</a:t>
            </a:r>
            <a:r>
              <a:rPr sz="15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peaks</a:t>
            </a:r>
            <a:r>
              <a:rPr sz="15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at</a:t>
            </a:r>
            <a:r>
              <a:rPr sz="15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L-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shell</a:t>
            </a:r>
            <a:r>
              <a:rPr sz="15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1500" b="1" spc="-1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1.8</a:t>
            </a:r>
            <a:r>
              <a:rPr sz="15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19" dirty="0">
                <a:solidFill>
                  <a:srgbClr val="0000FF"/>
                </a:solidFill>
                <a:latin typeface="Arial"/>
                <a:cs typeface="Arial"/>
              </a:rPr>
              <a:t>and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extends</a:t>
            </a:r>
            <a:r>
              <a:rPr sz="15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to</a:t>
            </a:r>
            <a:r>
              <a:rPr sz="1500" b="1" spc="-1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about</a:t>
            </a:r>
            <a:r>
              <a:rPr sz="1500" b="1" spc="-19" dirty="0">
                <a:solidFill>
                  <a:srgbClr val="0000FF"/>
                </a:solidFill>
                <a:latin typeface="Arial"/>
                <a:cs typeface="Arial"/>
              </a:rPr>
              <a:t> 4.</a:t>
            </a:r>
            <a:endParaRPr sz="1500">
              <a:latin typeface="Arial"/>
              <a:cs typeface="Arial"/>
            </a:endParaRPr>
          </a:p>
          <a:p>
            <a:pPr marL="9525">
              <a:spcBef>
                <a:spcPts val="300"/>
              </a:spcBef>
            </a:pPr>
            <a:r>
              <a:rPr sz="15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500" spc="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Energies</a:t>
            </a:r>
            <a:r>
              <a:rPr sz="1500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up</a:t>
            </a:r>
            <a:r>
              <a:rPr sz="1500" b="1" spc="-1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to</a:t>
            </a:r>
            <a:r>
              <a:rPr sz="1500" b="1" spc="-2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15" dirty="0">
                <a:solidFill>
                  <a:srgbClr val="0000FF"/>
                </a:solidFill>
                <a:latin typeface="Arial"/>
                <a:cs typeface="Arial"/>
              </a:rPr>
              <a:t>~GeV</a:t>
            </a:r>
            <a:endParaRPr sz="1500">
              <a:latin typeface="Arial"/>
              <a:cs typeface="Arial"/>
            </a:endParaRPr>
          </a:p>
          <a:p>
            <a:pPr marL="181928" marR="3810" indent="-172878">
              <a:spcBef>
                <a:spcPts val="304"/>
              </a:spcBef>
            </a:pPr>
            <a:r>
              <a:rPr sz="15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500" spc="8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Nuclear</a:t>
            </a:r>
            <a:r>
              <a:rPr sz="1500" b="1" spc="-3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reaction</a:t>
            </a:r>
            <a:r>
              <a:rPr sz="1500" b="1" spc="-3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products</a:t>
            </a:r>
            <a:r>
              <a:rPr sz="1500" b="1" spc="-3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from</a:t>
            </a:r>
            <a:r>
              <a:rPr sz="15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incident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protons</a:t>
            </a:r>
            <a:r>
              <a:rPr sz="15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can</a:t>
            </a:r>
            <a:r>
              <a:rPr sz="1500" b="1" spc="-3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have</a:t>
            </a:r>
            <a:r>
              <a:rPr sz="1500" b="1" spc="-1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LET</a:t>
            </a:r>
            <a:r>
              <a:rPr sz="15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values</a:t>
            </a:r>
            <a:r>
              <a:rPr sz="1500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up</a:t>
            </a:r>
            <a:r>
              <a:rPr sz="1500" b="1" spc="-1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to</a:t>
            </a:r>
            <a:r>
              <a:rPr sz="1500" b="1" spc="-3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19" dirty="0">
                <a:solidFill>
                  <a:srgbClr val="0000FF"/>
                </a:solidFill>
                <a:latin typeface="Arial"/>
                <a:cs typeface="Arial"/>
              </a:rPr>
              <a:t>20 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MeV-cm2/mg.</a:t>
            </a:r>
            <a:endParaRPr sz="15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29463" y="1076720"/>
            <a:ext cx="1737360" cy="2486739"/>
          </a:xfrm>
          <a:prstGeom prst="rect">
            <a:avLst/>
          </a:prstGeom>
        </p:spPr>
        <p:txBody>
          <a:bodyPr vert="horz" wrap="square" lIns="0" tIns="54769" rIns="0" bIns="0" rtlCol="0">
            <a:spAutoFit/>
          </a:bodyPr>
          <a:lstStyle/>
          <a:p>
            <a:pPr marL="296228">
              <a:spcBef>
                <a:spcPts val="431"/>
              </a:spcBef>
            </a:pPr>
            <a:r>
              <a:rPr sz="1800" b="1" u="sng" spc="-8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Electrons</a:t>
            </a:r>
            <a:endParaRPr sz="1800">
              <a:latin typeface="Arial"/>
              <a:cs typeface="Arial"/>
            </a:endParaRPr>
          </a:p>
          <a:p>
            <a:pPr marL="181928" marR="3810" indent="-172878">
              <a:spcBef>
                <a:spcPts val="300"/>
              </a:spcBef>
            </a:pPr>
            <a:r>
              <a:rPr sz="15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500" spc="9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Single</a:t>
            </a:r>
            <a:r>
              <a:rPr sz="1500" b="1" spc="-1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trapped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proton</a:t>
            </a:r>
            <a:r>
              <a:rPr sz="1500" b="1" spc="-3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region</a:t>
            </a:r>
            <a:r>
              <a:rPr sz="1500" b="1" spc="-3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19" dirty="0">
                <a:solidFill>
                  <a:srgbClr val="0000FF"/>
                </a:solidFill>
                <a:latin typeface="Arial"/>
                <a:cs typeface="Arial"/>
              </a:rPr>
              <a:t>for 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“quiet” conditions</a:t>
            </a:r>
            <a:endParaRPr sz="1500">
              <a:latin typeface="Arial"/>
              <a:cs typeface="Arial"/>
            </a:endParaRPr>
          </a:p>
          <a:p>
            <a:pPr marL="181928" marR="164783" indent="-172878">
              <a:spcBef>
                <a:spcPts val="307"/>
              </a:spcBef>
            </a:pPr>
            <a:r>
              <a:rPr sz="15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500" spc="10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Earth’s atmosphere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limits</a:t>
            </a:r>
            <a:r>
              <a:rPr sz="1500" b="1" spc="-3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belt</a:t>
            </a:r>
            <a:r>
              <a:rPr sz="1500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19" dirty="0">
                <a:solidFill>
                  <a:srgbClr val="0000FF"/>
                </a:solidFill>
                <a:latin typeface="Arial"/>
                <a:cs typeface="Arial"/>
              </a:rPr>
              <a:t>to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altitudes</a:t>
            </a:r>
            <a:r>
              <a:rPr sz="1500" b="1" spc="-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above</a:t>
            </a:r>
            <a:endParaRPr sz="1500">
              <a:latin typeface="Arial"/>
              <a:cs typeface="Arial"/>
            </a:endParaRPr>
          </a:p>
          <a:p>
            <a:pPr marL="181928"/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~200</a:t>
            </a:r>
            <a:r>
              <a:rPr sz="1500" b="1" spc="-19" dirty="0">
                <a:solidFill>
                  <a:srgbClr val="0000FF"/>
                </a:solidFill>
                <a:latin typeface="Arial"/>
                <a:cs typeface="Arial"/>
              </a:rPr>
              <a:t> km</a:t>
            </a:r>
            <a:endParaRPr sz="15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81340" y="1148572"/>
            <a:ext cx="4715351" cy="318036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5723" algn="ctr">
              <a:lnSpc>
                <a:spcPts val="1421"/>
              </a:lnSpc>
            </a:pPr>
            <a:r>
              <a:rPr sz="1200" b="1" dirty="0">
                <a:latin typeface="Arial"/>
                <a:cs typeface="Arial"/>
              </a:rPr>
              <a:t>Radiation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belt</a:t>
            </a:r>
            <a:r>
              <a:rPr sz="1200" b="1" spc="-23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fluxes</a:t>
            </a:r>
            <a:r>
              <a:rPr sz="1200" b="1" spc="-23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during</a:t>
            </a:r>
            <a:r>
              <a:rPr sz="1200" b="1" spc="-19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solar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-8" dirty="0">
                <a:latin typeface="Arial"/>
                <a:cs typeface="Arial"/>
              </a:rPr>
              <a:t>maximum</a:t>
            </a:r>
            <a:endParaRPr sz="1200">
              <a:latin typeface="Arial"/>
              <a:cs typeface="Arial"/>
            </a:endParaRPr>
          </a:p>
          <a:p>
            <a:pPr marL="66199" algn="ctr"/>
            <a:r>
              <a:rPr sz="900" b="1" dirty="0">
                <a:latin typeface="Arial"/>
                <a:cs typeface="Arial"/>
              </a:rPr>
              <a:t>Equatorial</a:t>
            </a:r>
            <a:r>
              <a:rPr sz="900" b="1" spc="-11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Distance</a:t>
            </a:r>
            <a:r>
              <a:rPr sz="900" b="1" spc="-34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(Earth</a:t>
            </a:r>
            <a:r>
              <a:rPr sz="900" b="1" spc="-11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Radii)</a:t>
            </a:r>
            <a:r>
              <a:rPr sz="900" b="1" spc="-1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R</a:t>
            </a:r>
            <a:r>
              <a:rPr sz="525" b="1" dirty="0">
                <a:latin typeface="Arial"/>
                <a:cs typeface="Arial"/>
              </a:rPr>
              <a:t>E</a:t>
            </a:r>
            <a:r>
              <a:rPr sz="525" b="1" spc="98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=</a:t>
            </a:r>
            <a:r>
              <a:rPr sz="900" b="1" spc="-1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6371</a:t>
            </a:r>
            <a:r>
              <a:rPr sz="900" b="1" spc="-34" dirty="0">
                <a:latin typeface="Arial"/>
                <a:cs typeface="Arial"/>
              </a:rPr>
              <a:t> </a:t>
            </a:r>
            <a:r>
              <a:rPr sz="900" b="1" spc="-26" dirty="0">
                <a:latin typeface="Arial"/>
                <a:cs typeface="Arial"/>
              </a:rPr>
              <a:t>km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25170" y="1516570"/>
            <a:ext cx="3441383" cy="2543645"/>
          </a:xfrm>
          <a:prstGeom prst="rect">
            <a:avLst/>
          </a:prstGeom>
        </p:spPr>
        <p:txBody>
          <a:bodyPr vert="horz" wrap="square" lIns="0" tIns="55245" rIns="0" bIns="0" rtlCol="0">
            <a:spAutoFit/>
          </a:bodyPr>
          <a:lstStyle/>
          <a:p>
            <a:pPr marL="181928" marR="40958" indent="-172878">
              <a:lnSpc>
                <a:spcPts val="1800"/>
              </a:lnSpc>
              <a:spcBef>
                <a:spcPts val="435"/>
              </a:spcBef>
              <a:buFont typeface="Arial"/>
              <a:buChar char="•"/>
              <a:tabLst>
                <a:tab pos="182880" algn="l"/>
              </a:tabLst>
            </a:pPr>
            <a:r>
              <a:rPr sz="1800" b="1" dirty="0">
                <a:latin typeface="Arial"/>
                <a:cs typeface="Arial"/>
              </a:rPr>
              <a:t>Phenomenon</a:t>
            </a:r>
            <a:r>
              <a:rPr sz="1800" b="1" spc="-41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caused</a:t>
            </a:r>
            <a:r>
              <a:rPr sz="1800" b="1" spc="-26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by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15" dirty="0">
                <a:latin typeface="Arial"/>
                <a:cs typeface="Arial"/>
              </a:rPr>
              <a:t>tilt 	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23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shift</a:t>
            </a:r>
            <a:r>
              <a:rPr sz="1800" b="1" spc="-26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19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geomagnetic</a:t>
            </a:r>
            <a:r>
              <a:rPr sz="1800" b="1" spc="-11" dirty="0">
                <a:latin typeface="Arial"/>
                <a:cs typeface="Arial"/>
              </a:rPr>
              <a:t> </a:t>
            </a:r>
            <a:r>
              <a:rPr sz="1800" b="1" spc="-15" dirty="0">
                <a:latin typeface="Arial"/>
                <a:cs typeface="Arial"/>
              </a:rPr>
              <a:t>axis 	</a:t>
            </a:r>
            <a:r>
              <a:rPr sz="1800" b="1" dirty="0">
                <a:latin typeface="Arial"/>
                <a:cs typeface="Arial"/>
              </a:rPr>
              <a:t>relative</a:t>
            </a:r>
            <a:r>
              <a:rPr sz="1800" b="1" spc="-41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-38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rotational</a:t>
            </a:r>
            <a:r>
              <a:rPr sz="1800" b="1" spc="-41" dirty="0">
                <a:latin typeface="Arial"/>
                <a:cs typeface="Arial"/>
              </a:rPr>
              <a:t> </a:t>
            </a:r>
            <a:r>
              <a:rPr sz="1800" b="1" spc="-15" dirty="0">
                <a:latin typeface="Arial"/>
                <a:cs typeface="Arial"/>
              </a:rPr>
              <a:t>axis</a:t>
            </a:r>
            <a:endParaRPr sz="1800">
              <a:latin typeface="Arial"/>
              <a:cs typeface="Arial"/>
            </a:endParaRPr>
          </a:p>
          <a:p>
            <a:pPr marL="181928" marR="44291" indent="-172878">
              <a:lnSpc>
                <a:spcPts val="1800"/>
              </a:lnSpc>
              <a:spcBef>
                <a:spcPts val="746"/>
              </a:spcBef>
              <a:buFont typeface="Arial"/>
              <a:buChar char="•"/>
              <a:tabLst>
                <a:tab pos="182880" algn="l"/>
              </a:tabLst>
            </a:pPr>
            <a:r>
              <a:rPr sz="1800" b="1" dirty="0">
                <a:latin typeface="Arial"/>
                <a:cs typeface="Arial"/>
              </a:rPr>
              <a:t>Inner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edge</a:t>
            </a:r>
            <a:r>
              <a:rPr sz="1800" b="1" spc="-8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19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proton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belt</a:t>
            </a:r>
            <a:r>
              <a:rPr sz="1800" b="1" spc="-23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is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19" dirty="0">
                <a:latin typeface="Arial"/>
                <a:cs typeface="Arial"/>
              </a:rPr>
              <a:t>at 	</a:t>
            </a:r>
            <a:r>
              <a:rPr sz="1800" b="1" dirty="0">
                <a:latin typeface="Arial"/>
                <a:cs typeface="Arial"/>
              </a:rPr>
              <a:t>lower</a:t>
            </a:r>
            <a:r>
              <a:rPr sz="1800" b="1" spc="-3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altitudes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vicinity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19" dirty="0">
                <a:latin typeface="Arial"/>
                <a:cs typeface="Arial"/>
              </a:rPr>
              <a:t>of 	</a:t>
            </a:r>
            <a:r>
              <a:rPr sz="1800" b="1" dirty="0">
                <a:latin typeface="Arial"/>
                <a:cs typeface="Arial"/>
              </a:rPr>
              <a:t>South</a:t>
            </a:r>
            <a:r>
              <a:rPr sz="1800" b="1" spc="-19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America</a:t>
            </a:r>
            <a:endParaRPr sz="1800">
              <a:latin typeface="Arial"/>
              <a:cs typeface="Arial"/>
            </a:endParaRPr>
          </a:p>
          <a:p>
            <a:pPr marL="181928" marR="3810" indent="-172878">
              <a:lnSpc>
                <a:spcPts val="1800"/>
              </a:lnSpc>
              <a:spcBef>
                <a:spcPts val="746"/>
              </a:spcBef>
              <a:buFont typeface="Arial"/>
              <a:buChar char="•"/>
              <a:tabLst>
                <a:tab pos="182880" algn="l"/>
              </a:tabLst>
            </a:pPr>
            <a:r>
              <a:rPr sz="1800" b="1" dirty="0">
                <a:latin typeface="Arial"/>
                <a:cs typeface="Arial"/>
              </a:rPr>
              <a:t>Generally</a:t>
            </a:r>
            <a:r>
              <a:rPr sz="1800" b="1" spc="-53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dominates</a:t>
            </a:r>
            <a:r>
              <a:rPr sz="1800" b="1" spc="-53" dirty="0">
                <a:latin typeface="Arial"/>
                <a:cs typeface="Arial"/>
              </a:rPr>
              <a:t> </a:t>
            </a:r>
            <a:r>
              <a:rPr sz="1800" b="1" spc="-19" dirty="0">
                <a:latin typeface="Arial"/>
                <a:cs typeface="Arial"/>
              </a:rPr>
              <a:t>the 	</a:t>
            </a:r>
            <a:r>
              <a:rPr sz="1800" b="1" dirty="0">
                <a:latin typeface="Arial"/>
                <a:cs typeface="Arial"/>
              </a:rPr>
              <a:t>radiation</a:t>
            </a:r>
            <a:r>
              <a:rPr sz="1800" b="1" spc="-49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environment</a:t>
            </a:r>
            <a:r>
              <a:rPr sz="1800" b="1" spc="-38" dirty="0">
                <a:latin typeface="Arial"/>
                <a:cs typeface="Arial"/>
              </a:rPr>
              <a:t> </a:t>
            </a:r>
            <a:r>
              <a:rPr sz="1800" b="1" spc="-19" dirty="0">
                <a:latin typeface="Arial"/>
                <a:cs typeface="Arial"/>
              </a:rPr>
              <a:t>for 	</a:t>
            </a:r>
            <a:r>
              <a:rPr sz="1800" b="1" dirty="0">
                <a:latin typeface="Arial"/>
                <a:cs typeface="Arial"/>
              </a:rPr>
              <a:t>altitudes</a:t>
            </a:r>
            <a:r>
              <a:rPr sz="1800" b="1" spc="-41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less</a:t>
            </a:r>
            <a:r>
              <a:rPr sz="1800" b="1" spc="-19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than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about</a:t>
            </a:r>
            <a:r>
              <a:rPr sz="1800" b="1" spc="-23" dirty="0">
                <a:latin typeface="Arial"/>
                <a:cs typeface="Arial"/>
              </a:rPr>
              <a:t> </a:t>
            </a:r>
            <a:r>
              <a:rPr sz="1800" b="1" spc="-15" dirty="0">
                <a:latin typeface="Arial"/>
                <a:cs typeface="Arial"/>
              </a:rPr>
              <a:t>1000 	</a:t>
            </a:r>
            <a:r>
              <a:rPr sz="1800" b="1" spc="-19" dirty="0">
                <a:latin typeface="Arial"/>
                <a:cs typeface="Arial"/>
              </a:rPr>
              <a:t>km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529830" y="125313"/>
            <a:ext cx="8004391" cy="676146"/>
          </a:xfrm>
          <a:prstGeom prst="rect">
            <a:avLst/>
          </a:prstGeom>
        </p:spPr>
        <p:txBody>
          <a:bodyPr vert="horz" wrap="square" lIns="0" tIns="48386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7938">
              <a:lnSpc>
                <a:spcPts val="2565"/>
              </a:lnSpc>
              <a:spcBef>
                <a:spcPts val="75"/>
              </a:spcBef>
            </a:pPr>
            <a:r>
              <a:rPr dirty="0"/>
              <a:t>Trapped</a:t>
            </a:r>
            <a:r>
              <a:rPr spc="-49" dirty="0"/>
              <a:t> </a:t>
            </a:r>
            <a:r>
              <a:rPr dirty="0"/>
              <a:t>Proton</a:t>
            </a:r>
            <a:r>
              <a:rPr spc="-41" dirty="0"/>
              <a:t> </a:t>
            </a:r>
            <a:r>
              <a:rPr spc="-8" dirty="0"/>
              <a:t>Propertie</a:t>
            </a:r>
            <a:r>
              <a:rPr lang="en-US" spc="-8" dirty="0"/>
              <a:t>s</a:t>
            </a:r>
            <a:br>
              <a:rPr lang="en-US" sz="2400" spc="-8" dirty="0"/>
            </a:br>
            <a:r>
              <a:rPr sz="1500" dirty="0">
                <a:solidFill>
                  <a:srgbClr val="8B8D8E"/>
                </a:solidFill>
              </a:rPr>
              <a:t>South</a:t>
            </a:r>
            <a:r>
              <a:rPr sz="1500" spc="-30" dirty="0">
                <a:solidFill>
                  <a:srgbClr val="8B8D8E"/>
                </a:solidFill>
              </a:rPr>
              <a:t> </a:t>
            </a:r>
            <a:r>
              <a:rPr sz="1500" dirty="0">
                <a:solidFill>
                  <a:srgbClr val="8B8D8E"/>
                </a:solidFill>
              </a:rPr>
              <a:t>Atlantic</a:t>
            </a:r>
            <a:r>
              <a:rPr sz="1500" spc="-41" dirty="0">
                <a:solidFill>
                  <a:srgbClr val="8B8D8E"/>
                </a:solidFill>
              </a:rPr>
              <a:t> </a:t>
            </a:r>
            <a:r>
              <a:rPr sz="1500" dirty="0">
                <a:solidFill>
                  <a:srgbClr val="8B8D8E"/>
                </a:solidFill>
              </a:rPr>
              <a:t>Anomaly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67114" y="4344232"/>
            <a:ext cx="2652713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spc="-8" dirty="0">
                <a:latin typeface="Arial"/>
                <a:cs typeface="Arial"/>
              </a:rPr>
              <a:t>W.R.</a:t>
            </a:r>
            <a:r>
              <a:rPr sz="1050" b="1" spc="-30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Johnston</a:t>
            </a:r>
            <a:r>
              <a:rPr sz="1050" b="1" spc="-45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et</a:t>
            </a:r>
            <a:r>
              <a:rPr sz="1050" b="1" spc="-19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al.,</a:t>
            </a:r>
            <a:r>
              <a:rPr sz="1050" b="1" spc="-38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IEEE</a:t>
            </a:r>
            <a:r>
              <a:rPr sz="1050" b="1" spc="-26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TNS,</a:t>
            </a:r>
            <a:r>
              <a:rPr sz="1050" b="1" spc="-26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Dec.</a:t>
            </a:r>
            <a:r>
              <a:rPr sz="1050" b="1" spc="-19" dirty="0">
                <a:latin typeface="Arial"/>
                <a:cs typeface="Arial"/>
              </a:rPr>
              <a:t> </a:t>
            </a:r>
            <a:r>
              <a:rPr sz="1050" b="1" spc="-15" dirty="0">
                <a:latin typeface="Arial"/>
                <a:cs typeface="Arial"/>
              </a:rPr>
              <a:t>2015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072" y="1244221"/>
            <a:ext cx="1770448" cy="361556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28977" y="1543243"/>
            <a:ext cx="3553444" cy="278079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194052" y="1865529"/>
            <a:ext cx="491966" cy="21544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88583">
              <a:spcBef>
                <a:spcPts val="240"/>
              </a:spcBef>
            </a:pPr>
            <a:r>
              <a:rPr sz="1200" b="1" spc="-19" dirty="0">
                <a:latin typeface="Arial"/>
                <a:cs typeface="Arial"/>
              </a:rPr>
              <a:t>SAA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008205" y="2098013"/>
            <a:ext cx="453390" cy="636746"/>
            <a:chOff x="9344273" y="2416351"/>
            <a:chExt cx="604520" cy="848994"/>
          </a:xfrm>
        </p:grpSpPr>
        <p:sp>
          <p:nvSpPr>
            <p:cNvPr id="9" name="object 9"/>
            <p:cNvSpPr/>
            <p:nvPr/>
          </p:nvSpPr>
          <p:spPr>
            <a:xfrm>
              <a:off x="9426370" y="2444926"/>
              <a:ext cx="494030" cy="703580"/>
            </a:xfrm>
            <a:custGeom>
              <a:avLst/>
              <a:gdLst/>
              <a:ahLst/>
              <a:cxnLst/>
              <a:rect l="l" t="t" r="r" b="b"/>
              <a:pathLst>
                <a:path w="494029" h="703580">
                  <a:moveTo>
                    <a:pt x="493661" y="0"/>
                  </a:moveTo>
                  <a:lnTo>
                    <a:pt x="0" y="703008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9344273" y="3075288"/>
              <a:ext cx="168910" cy="189865"/>
            </a:xfrm>
            <a:custGeom>
              <a:avLst/>
              <a:gdLst/>
              <a:ahLst/>
              <a:cxnLst/>
              <a:rect l="l" t="t" r="r" b="b"/>
              <a:pathLst>
                <a:path w="168909" h="189864">
                  <a:moveTo>
                    <a:pt x="28359" y="0"/>
                  </a:moveTo>
                  <a:lnTo>
                    <a:pt x="0" y="189572"/>
                  </a:lnTo>
                  <a:lnTo>
                    <a:pt x="168681" y="98526"/>
                  </a:lnTo>
                  <a:lnTo>
                    <a:pt x="283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952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>
              <a:spcBef>
                <a:spcPts val="75"/>
              </a:spcBef>
            </a:pPr>
            <a:r>
              <a:rPr dirty="0"/>
              <a:t>Trapped</a:t>
            </a:r>
            <a:r>
              <a:rPr spc="-56" dirty="0"/>
              <a:t> </a:t>
            </a:r>
            <a:r>
              <a:rPr dirty="0"/>
              <a:t>Proton</a:t>
            </a:r>
            <a:r>
              <a:rPr spc="-49" dirty="0"/>
              <a:t> </a:t>
            </a:r>
            <a:r>
              <a:rPr dirty="0"/>
              <a:t>and</a:t>
            </a:r>
            <a:r>
              <a:rPr spc="-53" dirty="0"/>
              <a:t> </a:t>
            </a:r>
            <a:r>
              <a:rPr dirty="0"/>
              <a:t>Electron</a:t>
            </a:r>
            <a:r>
              <a:rPr spc="-45" dirty="0"/>
              <a:t> </a:t>
            </a:r>
            <a:r>
              <a:rPr spc="-8" dirty="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84387" y="1015174"/>
            <a:ext cx="4183856" cy="4091665"/>
          </a:xfrm>
          <a:prstGeom prst="rect">
            <a:avLst/>
          </a:prstGeom>
        </p:spPr>
        <p:txBody>
          <a:bodyPr vert="horz" wrap="square" lIns="0" tIns="71914" rIns="0" bIns="0" rtlCol="0">
            <a:spAutoFit/>
          </a:bodyPr>
          <a:lstStyle/>
          <a:p>
            <a:pPr marL="362426">
              <a:spcBef>
                <a:spcPts val="566"/>
              </a:spcBef>
            </a:pP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Trapped</a:t>
            </a:r>
            <a:r>
              <a:rPr sz="1800" b="1" u="sng" spc="-83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Environment</a:t>
            </a:r>
            <a:r>
              <a:rPr sz="1800" b="1" u="sng" spc="-83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spc="-8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Models</a:t>
            </a:r>
            <a:endParaRPr sz="1800">
              <a:latin typeface="Arial"/>
              <a:cs typeface="Arial"/>
            </a:endParaRPr>
          </a:p>
          <a:p>
            <a:pPr marL="179546" indent="-170021">
              <a:spcBef>
                <a:spcPts val="386"/>
              </a:spcBef>
              <a:buFont typeface="Arial"/>
              <a:buChar char="•"/>
              <a:tabLst>
                <a:tab pos="179546" algn="l"/>
              </a:tabLst>
            </a:pPr>
            <a:r>
              <a:rPr sz="1425" b="1" spc="-8" dirty="0">
                <a:latin typeface="Arial"/>
                <a:cs typeface="Arial"/>
              </a:rPr>
              <a:t>AP8/AE8</a:t>
            </a:r>
            <a:endParaRPr sz="1425">
              <a:latin typeface="Arial"/>
              <a:cs typeface="Arial"/>
            </a:endParaRPr>
          </a:p>
          <a:p>
            <a:pPr marL="351473" lvl="1" indent="-136684">
              <a:spcBef>
                <a:spcPts val="611"/>
              </a:spcBef>
              <a:buFont typeface="Wingdings"/>
              <a:buChar char=""/>
              <a:tabLst>
                <a:tab pos="351473" algn="l"/>
              </a:tabLst>
            </a:pPr>
            <a:r>
              <a:rPr sz="1200" b="1" dirty="0">
                <a:solidFill>
                  <a:srgbClr val="006FC0"/>
                </a:solidFill>
                <a:latin typeface="Arial"/>
                <a:cs typeface="Arial"/>
              </a:rPr>
              <a:t>Static</a:t>
            </a:r>
            <a:r>
              <a:rPr sz="1200" b="1" spc="-23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6FC0"/>
                </a:solidFill>
                <a:latin typeface="Arial"/>
                <a:cs typeface="Arial"/>
              </a:rPr>
              <a:t>model</a:t>
            </a:r>
            <a:r>
              <a:rPr sz="1200" b="1" spc="-19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6FC0"/>
                </a:solidFill>
                <a:latin typeface="Arial"/>
                <a:cs typeface="Arial"/>
              </a:rPr>
              <a:t>for</a:t>
            </a:r>
            <a:r>
              <a:rPr sz="1200" b="1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6FC0"/>
                </a:solidFill>
                <a:latin typeface="Arial"/>
                <a:cs typeface="Arial"/>
              </a:rPr>
              <a:t>mean</a:t>
            </a:r>
            <a:r>
              <a:rPr sz="1200" b="1" spc="-26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200" b="1" spc="-8" dirty="0">
                <a:solidFill>
                  <a:srgbClr val="006FC0"/>
                </a:solidFill>
                <a:latin typeface="Arial"/>
                <a:cs typeface="Arial"/>
              </a:rPr>
              <a:t>environment</a:t>
            </a:r>
            <a:endParaRPr sz="1200">
              <a:latin typeface="Arial"/>
              <a:cs typeface="Arial"/>
            </a:endParaRPr>
          </a:p>
          <a:p>
            <a:pPr marL="351473" lvl="1" indent="-136684">
              <a:spcBef>
                <a:spcPts val="668"/>
              </a:spcBef>
              <a:buFont typeface="Wingdings"/>
              <a:buChar char=""/>
              <a:tabLst>
                <a:tab pos="351473" algn="l"/>
              </a:tabLst>
            </a:pPr>
            <a:r>
              <a:rPr sz="1200" b="1" dirty="0">
                <a:solidFill>
                  <a:srgbClr val="00AF50"/>
                </a:solidFill>
                <a:latin typeface="Arial"/>
                <a:cs typeface="Arial"/>
              </a:rPr>
              <a:t>Based</a:t>
            </a:r>
            <a:r>
              <a:rPr sz="1200" b="1" spc="-23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AF50"/>
                </a:solidFill>
                <a:latin typeface="Arial"/>
                <a:cs typeface="Arial"/>
              </a:rPr>
              <a:t>on</a:t>
            </a:r>
            <a:r>
              <a:rPr sz="1200" b="1" spc="-1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AF50"/>
                </a:solidFill>
                <a:latin typeface="Arial"/>
                <a:cs typeface="Arial"/>
              </a:rPr>
              <a:t>data</a:t>
            </a:r>
            <a:r>
              <a:rPr sz="1200" b="1" spc="-4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AF50"/>
                </a:solidFill>
                <a:latin typeface="Arial"/>
                <a:cs typeface="Arial"/>
              </a:rPr>
              <a:t>from</a:t>
            </a:r>
            <a:r>
              <a:rPr sz="1200" b="1" spc="-4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AF50"/>
                </a:solidFill>
                <a:latin typeface="Arial"/>
                <a:cs typeface="Arial"/>
              </a:rPr>
              <a:t>1960s</a:t>
            </a:r>
            <a:r>
              <a:rPr sz="1200" b="1" spc="-11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AF50"/>
                </a:solidFill>
                <a:latin typeface="Arial"/>
                <a:cs typeface="Arial"/>
              </a:rPr>
              <a:t>and</a:t>
            </a:r>
            <a:r>
              <a:rPr sz="1200" b="1" spc="-11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200" b="1" spc="-8" dirty="0">
                <a:solidFill>
                  <a:srgbClr val="00AF50"/>
                </a:solidFill>
                <a:latin typeface="Arial"/>
                <a:cs typeface="Arial"/>
              </a:rPr>
              <a:t>1970s</a:t>
            </a:r>
            <a:endParaRPr sz="1200">
              <a:latin typeface="Arial"/>
              <a:cs typeface="Arial"/>
            </a:endParaRPr>
          </a:p>
          <a:p>
            <a:pPr marL="351473" lvl="1" indent="-136684">
              <a:spcBef>
                <a:spcPts val="656"/>
              </a:spcBef>
              <a:buFont typeface="Wingdings"/>
              <a:buChar char=""/>
              <a:tabLst>
                <a:tab pos="351473" algn="l"/>
              </a:tabLst>
            </a:pPr>
            <a:r>
              <a:rPr sz="1200" b="1" dirty="0">
                <a:solidFill>
                  <a:srgbClr val="C00000"/>
                </a:solidFill>
                <a:latin typeface="Arial"/>
                <a:cs typeface="Arial"/>
              </a:rPr>
              <a:t>Approximate</a:t>
            </a:r>
            <a:r>
              <a:rPr sz="1200" b="1" spc="-23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C00000"/>
                </a:solidFill>
                <a:latin typeface="Arial"/>
                <a:cs typeface="Arial"/>
              </a:rPr>
              <a:t>solar</a:t>
            </a:r>
            <a:r>
              <a:rPr sz="1200" b="1" spc="-49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C00000"/>
                </a:solidFill>
                <a:latin typeface="Arial"/>
                <a:cs typeface="Arial"/>
              </a:rPr>
              <a:t>cycle</a:t>
            </a:r>
            <a:r>
              <a:rPr sz="12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200" b="1" spc="-8" dirty="0">
                <a:solidFill>
                  <a:srgbClr val="C00000"/>
                </a:solidFill>
                <a:latin typeface="Arial"/>
                <a:cs typeface="Arial"/>
              </a:rPr>
              <a:t>dependence</a:t>
            </a:r>
            <a:endParaRPr sz="1200">
              <a:latin typeface="Arial"/>
              <a:cs typeface="Arial"/>
            </a:endParaRPr>
          </a:p>
          <a:p>
            <a:pPr marL="482918" lvl="2" indent="-127159">
              <a:spcBef>
                <a:spcPts val="806"/>
              </a:spcBef>
              <a:buFont typeface="Arial"/>
              <a:buChar char="•"/>
              <a:tabLst>
                <a:tab pos="482918" algn="l"/>
              </a:tabLst>
            </a:pPr>
            <a:r>
              <a:rPr sz="1050" b="1" dirty="0">
                <a:solidFill>
                  <a:srgbClr val="C00000"/>
                </a:solidFill>
                <a:latin typeface="Arial"/>
                <a:cs typeface="Arial"/>
              </a:rPr>
              <a:t>Solar</a:t>
            </a:r>
            <a:r>
              <a:rPr sz="105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050" b="1" spc="-8" dirty="0">
                <a:solidFill>
                  <a:srgbClr val="C00000"/>
                </a:solidFill>
                <a:latin typeface="Arial"/>
                <a:cs typeface="Arial"/>
              </a:rPr>
              <a:t>maximum</a:t>
            </a:r>
            <a:endParaRPr sz="1050">
              <a:latin typeface="Arial"/>
              <a:cs typeface="Arial"/>
            </a:endParaRPr>
          </a:p>
          <a:p>
            <a:pPr marL="482918" lvl="2" indent="-127159">
              <a:spcBef>
                <a:spcPts val="694"/>
              </a:spcBef>
              <a:buFont typeface="Arial"/>
              <a:buChar char="•"/>
              <a:tabLst>
                <a:tab pos="482918" algn="l"/>
              </a:tabLst>
            </a:pPr>
            <a:r>
              <a:rPr sz="1050" b="1" dirty="0">
                <a:solidFill>
                  <a:srgbClr val="C00000"/>
                </a:solidFill>
                <a:latin typeface="Arial"/>
                <a:cs typeface="Arial"/>
              </a:rPr>
              <a:t>Solar</a:t>
            </a:r>
            <a:r>
              <a:rPr sz="1050" b="1" spc="-3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050" b="1" spc="-8" dirty="0">
                <a:solidFill>
                  <a:srgbClr val="C00000"/>
                </a:solidFill>
                <a:latin typeface="Arial"/>
                <a:cs typeface="Arial"/>
              </a:rPr>
              <a:t>minimum</a:t>
            </a:r>
            <a:endParaRPr sz="1050">
              <a:latin typeface="Arial"/>
              <a:cs typeface="Arial"/>
            </a:endParaRPr>
          </a:p>
          <a:p>
            <a:pPr marL="179546" indent="-170021">
              <a:spcBef>
                <a:spcPts val="795"/>
              </a:spcBef>
              <a:buFont typeface="Arial"/>
              <a:buChar char="•"/>
              <a:tabLst>
                <a:tab pos="179546" algn="l"/>
              </a:tabLst>
            </a:pPr>
            <a:r>
              <a:rPr sz="1425" b="1" spc="-8" dirty="0">
                <a:latin typeface="Arial"/>
                <a:cs typeface="Arial"/>
              </a:rPr>
              <a:t>AP9/AE9/IRENE</a:t>
            </a:r>
            <a:endParaRPr sz="1425">
              <a:latin typeface="Arial"/>
              <a:cs typeface="Arial"/>
            </a:endParaRPr>
          </a:p>
          <a:p>
            <a:pPr marL="355759" lvl="1" indent="-176213">
              <a:spcBef>
                <a:spcPts val="615"/>
              </a:spcBef>
              <a:buFont typeface="Wingdings"/>
              <a:buChar char=""/>
              <a:tabLst>
                <a:tab pos="355759" algn="l"/>
              </a:tabLst>
            </a:pPr>
            <a:r>
              <a:rPr sz="1200" b="1" dirty="0">
                <a:solidFill>
                  <a:srgbClr val="006FC0"/>
                </a:solidFill>
                <a:latin typeface="Arial"/>
                <a:cs typeface="Arial"/>
              </a:rPr>
              <a:t>Statistical</a:t>
            </a:r>
            <a:r>
              <a:rPr sz="1200" b="1" spc="-8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6FC0"/>
                </a:solidFill>
                <a:latin typeface="Arial"/>
                <a:cs typeface="Arial"/>
              </a:rPr>
              <a:t>model</a:t>
            </a:r>
            <a:r>
              <a:rPr sz="1200" b="1" spc="-23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6FC0"/>
                </a:solidFill>
                <a:latin typeface="Arial"/>
                <a:cs typeface="Arial"/>
              </a:rPr>
              <a:t>for</a:t>
            </a:r>
            <a:r>
              <a:rPr sz="1200" b="1" spc="-23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6FC0"/>
                </a:solidFill>
                <a:latin typeface="Arial"/>
                <a:cs typeface="Arial"/>
              </a:rPr>
              <a:t>mean</a:t>
            </a:r>
            <a:r>
              <a:rPr sz="1200" b="1" spc="-34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6FC0"/>
                </a:solidFill>
                <a:latin typeface="Arial"/>
                <a:cs typeface="Arial"/>
              </a:rPr>
              <a:t>or</a:t>
            </a:r>
            <a:r>
              <a:rPr sz="1200" b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6FC0"/>
                </a:solidFill>
                <a:latin typeface="Arial"/>
                <a:cs typeface="Arial"/>
              </a:rPr>
              <a:t>percentile</a:t>
            </a:r>
            <a:r>
              <a:rPr sz="1200" b="1" spc="-11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200" b="1" spc="-8" dirty="0">
                <a:solidFill>
                  <a:srgbClr val="006FC0"/>
                </a:solidFill>
                <a:latin typeface="Arial"/>
                <a:cs typeface="Arial"/>
              </a:rPr>
              <a:t>environment</a:t>
            </a:r>
            <a:endParaRPr sz="1200">
              <a:latin typeface="Arial"/>
              <a:cs typeface="Arial"/>
            </a:endParaRPr>
          </a:p>
          <a:p>
            <a:pPr marL="355759" marR="3810" lvl="1" indent="-176213">
              <a:lnSpc>
                <a:spcPct val="125000"/>
              </a:lnSpc>
              <a:spcBef>
                <a:spcPts val="304"/>
              </a:spcBef>
              <a:buFont typeface="Wingdings"/>
              <a:buChar char=""/>
              <a:tabLst>
                <a:tab pos="355759" algn="l"/>
              </a:tabLst>
            </a:pPr>
            <a:r>
              <a:rPr sz="1200" b="1" dirty="0">
                <a:solidFill>
                  <a:srgbClr val="006FC0"/>
                </a:solidFill>
                <a:latin typeface="Arial"/>
                <a:cs typeface="Arial"/>
              </a:rPr>
              <a:t>Perturbed</a:t>
            </a:r>
            <a:r>
              <a:rPr sz="1200" b="1" spc="-34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6FC0"/>
                </a:solidFill>
                <a:latin typeface="Arial"/>
                <a:cs typeface="Arial"/>
              </a:rPr>
              <a:t>model</a:t>
            </a:r>
            <a:r>
              <a:rPr sz="1200" b="1" spc="-34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6FC0"/>
                </a:solidFill>
                <a:latin typeface="Arial"/>
                <a:cs typeface="Arial"/>
              </a:rPr>
              <a:t>adds</a:t>
            </a:r>
            <a:r>
              <a:rPr sz="1200" b="1" spc="-41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6FC0"/>
                </a:solidFill>
                <a:latin typeface="Arial"/>
                <a:cs typeface="Arial"/>
              </a:rPr>
              <a:t>measurement</a:t>
            </a:r>
            <a:r>
              <a:rPr sz="1200" b="1" spc="-26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6FC0"/>
                </a:solidFill>
                <a:latin typeface="Arial"/>
                <a:cs typeface="Arial"/>
              </a:rPr>
              <a:t>uncertainty</a:t>
            </a:r>
            <a:r>
              <a:rPr sz="1200" b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200" b="1" spc="-19" dirty="0">
                <a:solidFill>
                  <a:srgbClr val="006FC0"/>
                </a:solidFill>
                <a:latin typeface="Arial"/>
                <a:cs typeface="Arial"/>
              </a:rPr>
              <a:t>and </a:t>
            </a:r>
            <a:r>
              <a:rPr sz="1200" b="1" spc="-8" dirty="0">
                <a:solidFill>
                  <a:srgbClr val="006FC0"/>
                </a:solidFill>
                <a:latin typeface="Arial"/>
                <a:cs typeface="Arial"/>
              </a:rPr>
              <a:t>gap-</a:t>
            </a:r>
            <a:r>
              <a:rPr sz="1200" b="1" dirty="0">
                <a:solidFill>
                  <a:srgbClr val="006FC0"/>
                </a:solidFill>
                <a:latin typeface="Arial"/>
                <a:cs typeface="Arial"/>
              </a:rPr>
              <a:t>filling </a:t>
            </a:r>
            <a:r>
              <a:rPr sz="1200" b="1" spc="-8" dirty="0">
                <a:solidFill>
                  <a:srgbClr val="006FC0"/>
                </a:solidFill>
                <a:latin typeface="Arial"/>
                <a:cs typeface="Arial"/>
              </a:rPr>
              <a:t>errors</a:t>
            </a:r>
            <a:endParaRPr sz="1200">
              <a:latin typeface="Arial"/>
              <a:cs typeface="Arial"/>
            </a:endParaRPr>
          </a:p>
          <a:p>
            <a:pPr marL="355759" lvl="1" indent="-176213">
              <a:spcBef>
                <a:spcPts val="656"/>
              </a:spcBef>
              <a:buFont typeface="Wingdings"/>
              <a:buChar char=""/>
              <a:tabLst>
                <a:tab pos="355759" algn="l"/>
              </a:tabLst>
            </a:pPr>
            <a:r>
              <a:rPr sz="1200" b="1" dirty="0">
                <a:solidFill>
                  <a:srgbClr val="006FC0"/>
                </a:solidFill>
                <a:latin typeface="Arial"/>
                <a:cs typeface="Arial"/>
              </a:rPr>
              <a:t>Monte</a:t>
            </a:r>
            <a:r>
              <a:rPr sz="1200" b="1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6FC0"/>
                </a:solidFill>
                <a:latin typeface="Arial"/>
                <a:cs typeface="Arial"/>
              </a:rPr>
              <a:t>Carlo</a:t>
            </a:r>
            <a:r>
              <a:rPr sz="1200" b="1" spc="-23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6FC0"/>
                </a:solidFill>
                <a:latin typeface="Arial"/>
                <a:cs typeface="Arial"/>
              </a:rPr>
              <a:t>adds</a:t>
            </a:r>
            <a:r>
              <a:rPr sz="1200" b="1" spc="-19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6FC0"/>
                </a:solidFill>
                <a:latin typeface="Arial"/>
                <a:cs typeface="Arial"/>
              </a:rPr>
              <a:t>space</a:t>
            </a:r>
            <a:r>
              <a:rPr sz="1200" b="1" spc="-23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6FC0"/>
                </a:solidFill>
                <a:latin typeface="Arial"/>
                <a:cs typeface="Arial"/>
              </a:rPr>
              <a:t>weather</a:t>
            </a:r>
            <a:r>
              <a:rPr sz="1200" b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200" b="1" spc="-8" dirty="0">
                <a:solidFill>
                  <a:srgbClr val="006FC0"/>
                </a:solidFill>
                <a:latin typeface="Arial"/>
                <a:cs typeface="Arial"/>
              </a:rPr>
              <a:t>variations</a:t>
            </a:r>
            <a:endParaRPr sz="1200">
              <a:latin typeface="Arial"/>
              <a:cs typeface="Arial"/>
            </a:endParaRPr>
          </a:p>
          <a:p>
            <a:pPr marL="355759" lvl="1" indent="-176213">
              <a:spcBef>
                <a:spcPts val="660"/>
              </a:spcBef>
              <a:buFont typeface="Wingdings"/>
              <a:buChar char=""/>
              <a:tabLst>
                <a:tab pos="355759" algn="l"/>
              </a:tabLst>
            </a:pPr>
            <a:r>
              <a:rPr sz="1200" b="1" dirty="0">
                <a:solidFill>
                  <a:srgbClr val="00AF50"/>
                </a:solidFill>
                <a:latin typeface="Arial"/>
                <a:cs typeface="Arial"/>
              </a:rPr>
              <a:t>Based</a:t>
            </a:r>
            <a:r>
              <a:rPr sz="1200" b="1" spc="-23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AF50"/>
                </a:solidFill>
                <a:latin typeface="Arial"/>
                <a:cs typeface="Arial"/>
              </a:rPr>
              <a:t>on</a:t>
            </a:r>
            <a:r>
              <a:rPr sz="1200" b="1" spc="-11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AF50"/>
                </a:solidFill>
                <a:latin typeface="Arial"/>
                <a:cs typeface="Arial"/>
              </a:rPr>
              <a:t>data from 1976</a:t>
            </a:r>
            <a:r>
              <a:rPr sz="1200" b="1" spc="-8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AF50"/>
                </a:solidFill>
                <a:latin typeface="Arial"/>
                <a:cs typeface="Arial"/>
              </a:rPr>
              <a:t>–</a:t>
            </a:r>
            <a:r>
              <a:rPr sz="1200" b="1" spc="-19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200" b="1" spc="-8" dirty="0">
                <a:solidFill>
                  <a:srgbClr val="00AF50"/>
                </a:solidFill>
                <a:latin typeface="Arial"/>
                <a:cs typeface="Arial"/>
              </a:rPr>
              <a:t>present</a:t>
            </a:r>
            <a:endParaRPr sz="1200">
              <a:latin typeface="Arial"/>
              <a:cs typeface="Arial"/>
            </a:endParaRPr>
          </a:p>
          <a:p>
            <a:pPr marL="482918" lvl="2" indent="-127159">
              <a:spcBef>
                <a:spcPts val="814"/>
              </a:spcBef>
              <a:buFont typeface="Arial"/>
              <a:buChar char="•"/>
              <a:tabLst>
                <a:tab pos="482918" algn="l"/>
              </a:tabLst>
            </a:pPr>
            <a:r>
              <a:rPr sz="1050" b="1" dirty="0">
                <a:solidFill>
                  <a:srgbClr val="00AF50"/>
                </a:solidFill>
                <a:latin typeface="Arial"/>
                <a:cs typeface="Arial"/>
              </a:rPr>
              <a:t>~10x</a:t>
            </a:r>
            <a:r>
              <a:rPr sz="1050" b="1" spc="-34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00AF50"/>
                </a:solidFill>
                <a:latin typeface="Arial"/>
                <a:cs typeface="Arial"/>
              </a:rPr>
              <a:t>that</a:t>
            </a:r>
            <a:r>
              <a:rPr sz="1050" b="1" spc="-34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00AF50"/>
                </a:solidFill>
                <a:latin typeface="Arial"/>
                <a:cs typeface="Arial"/>
              </a:rPr>
              <a:t>of</a:t>
            </a:r>
            <a:r>
              <a:rPr sz="1050" b="1" spc="-34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00AF50"/>
                </a:solidFill>
                <a:latin typeface="Arial"/>
                <a:cs typeface="Arial"/>
              </a:rPr>
              <a:t>AP8</a:t>
            </a:r>
            <a:r>
              <a:rPr sz="1050" b="1" spc="11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00AF50"/>
                </a:solidFill>
                <a:latin typeface="Arial"/>
                <a:cs typeface="Arial"/>
              </a:rPr>
              <a:t>based</a:t>
            </a:r>
            <a:r>
              <a:rPr sz="1050" b="1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00AF50"/>
                </a:solidFill>
                <a:latin typeface="Arial"/>
                <a:cs typeface="Arial"/>
              </a:rPr>
              <a:t>on</a:t>
            </a:r>
            <a:r>
              <a:rPr sz="1050" b="1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050" b="1" dirty="0">
                <a:solidFill>
                  <a:srgbClr val="00AF50"/>
                </a:solidFill>
                <a:latin typeface="Arial"/>
                <a:cs typeface="Arial"/>
              </a:rPr>
              <a:t>instrument</a:t>
            </a:r>
            <a:r>
              <a:rPr sz="1050" b="1" spc="-38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050" b="1" spc="-8" dirty="0">
                <a:solidFill>
                  <a:srgbClr val="00AF50"/>
                </a:solidFill>
                <a:latin typeface="Arial"/>
                <a:cs typeface="Arial"/>
              </a:rPr>
              <a:t>years</a:t>
            </a:r>
            <a:endParaRPr sz="1050">
              <a:latin typeface="Arial"/>
              <a:cs typeface="Arial"/>
            </a:endParaRPr>
          </a:p>
          <a:p>
            <a:pPr marL="355759" lvl="1" indent="-176213">
              <a:spcBef>
                <a:spcPts val="536"/>
              </a:spcBef>
              <a:buFont typeface="Wingdings"/>
              <a:buChar char=""/>
              <a:tabLst>
                <a:tab pos="355759" algn="l"/>
              </a:tabLst>
            </a:pPr>
            <a:r>
              <a:rPr sz="1200" b="1" dirty="0">
                <a:solidFill>
                  <a:srgbClr val="C00000"/>
                </a:solidFill>
                <a:latin typeface="Arial"/>
                <a:cs typeface="Arial"/>
              </a:rPr>
              <a:t>Output</a:t>
            </a:r>
            <a:r>
              <a:rPr sz="1200" b="1" spc="-23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C00000"/>
                </a:solidFill>
                <a:latin typeface="Arial"/>
                <a:cs typeface="Arial"/>
              </a:rPr>
              <a:t>averaged</a:t>
            </a:r>
            <a:r>
              <a:rPr sz="1200" b="1" spc="-23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C00000"/>
                </a:solidFill>
                <a:latin typeface="Arial"/>
                <a:cs typeface="Arial"/>
              </a:rPr>
              <a:t>over</a:t>
            </a:r>
            <a:r>
              <a:rPr sz="1200" b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C00000"/>
                </a:solidFill>
                <a:latin typeface="Arial"/>
                <a:cs typeface="Arial"/>
              </a:rPr>
              <a:t>solar</a:t>
            </a:r>
            <a:r>
              <a:rPr sz="1200" b="1" spc="-41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200" b="1" spc="-15" dirty="0">
                <a:solidFill>
                  <a:srgbClr val="C00000"/>
                </a:solidFill>
                <a:latin typeface="Arial"/>
                <a:cs typeface="Arial"/>
              </a:rPr>
              <a:t>cycle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3133" y="2665302"/>
            <a:ext cx="3840956" cy="2232182"/>
          </a:xfrm>
          <a:prstGeom prst="rect">
            <a:avLst/>
          </a:prstGeom>
        </p:spPr>
        <p:txBody>
          <a:bodyPr vert="horz" wrap="square" lIns="0" tIns="49054" rIns="0" bIns="0" rtlCol="0">
            <a:spAutoFit/>
          </a:bodyPr>
          <a:lstStyle/>
          <a:p>
            <a:pPr marL="182880" indent="-173355">
              <a:spcBef>
                <a:spcPts val="386"/>
              </a:spcBef>
              <a:buFont typeface="Arial"/>
              <a:buChar char="•"/>
              <a:tabLst>
                <a:tab pos="182880" algn="l"/>
              </a:tabLst>
            </a:pPr>
            <a:r>
              <a:rPr sz="1650" b="1" dirty="0">
                <a:latin typeface="Arial"/>
                <a:cs typeface="Arial"/>
              </a:rPr>
              <a:t>General</a:t>
            </a:r>
            <a:r>
              <a:rPr sz="1650" b="1" spc="-60" dirty="0">
                <a:latin typeface="Arial"/>
                <a:cs typeface="Arial"/>
              </a:rPr>
              <a:t> </a:t>
            </a:r>
            <a:r>
              <a:rPr sz="1650" b="1" spc="-8" dirty="0">
                <a:latin typeface="Arial"/>
                <a:cs typeface="Arial"/>
              </a:rPr>
              <a:t>approach</a:t>
            </a:r>
            <a:endParaRPr sz="1650">
              <a:latin typeface="Arial"/>
              <a:cs typeface="Arial"/>
            </a:endParaRPr>
          </a:p>
          <a:p>
            <a:pPr marL="355759" marR="22860" indent="-172878">
              <a:lnSpc>
                <a:spcPct val="105300"/>
              </a:lnSpc>
              <a:spcBef>
                <a:spcPts val="180"/>
              </a:spcBef>
            </a:pPr>
            <a:r>
              <a:rPr sz="1425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425" spc="13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Use</a:t>
            </a:r>
            <a:r>
              <a:rPr sz="1425" b="1" spc="-1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an</a:t>
            </a:r>
            <a:r>
              <a:rPr sz="1425" b="1" spc="-1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orbit</a:t>
            </a:r>
            <a:r>
              <a:rPr sz="1425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generator</a:t>
            </a:r>
            <a:r>
              <a:rPr sz="1425" b="1" spc="-1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code</a:t>
            </a:r>
            <a:r>
              <a:rPr sz="1425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to</a:t>
            </a:r>
            <a:r>
              <a:rPr sz="1425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spc="-8" dirty="0">
                <a:solidFill>
                  <a:srgbClr val="0000FF"/>
                </a:solidFill>
                <a:latin typeface="Arial"/>
                <a:cs typeface="Arial"/>
              </a:rPr>
              <a:t>calculate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geographical</a:t>
            </a:r>
            <a:r>
              <a:rPr sz="1425" b="1" spc="-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coordinates</a:t>
            </a:r>
            <a:r>
              <a:rPr sz="1425" b="1" spc="-4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spc="-8" dirty="0">
                <a:solidFill>
                  <a:srgbClr val="0000FF"/>
                </a:solidFill>
                <a:latin typeface="Arial"/>
                <a:cs typeface="Arial"/>
              </a:rPr>
              <a:t>(latitude,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longitude,</a:t>
            </a:r>
            <a:r>
              <a:rPr sz="1425" b="1" spc="-5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spc="-8" dirty="0">
                <a:solidFill>
                  <a:srgbClr val="0000FF"/>
                </a:solidFill>
                <a:latin typeface="Arial"/>
                <a:cs typeface="Arial"/>
              </a:rPr>
              <a:t>altitude)</a:t>
            </a:r>
            <a:endParaRPr sz="1425">
              <a:latin typeface="Arial"/>
              <a:cs typeface="Arial"/>
            </a:endParaRPr>
          </a:p>
          <a:p>
            <a:pPr marL="355759" marR="3810" indent="-172878">
              <a:lnSpc>
                <a:spcPct val="105300"/>
              </a:lnSpc>
              <a:spcBef>
                <a:spcPts val="307"/>
              </a:spcBef>
            </a:pPr>
            <a:r>
              <a:rPr sz="1425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425" spc="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Transform</a:t>
            </a:r>
            <a:r>
              <a:rPr sz="1425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sz="1425" b="1" spc="-3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geographical</a:t>
            </a:r>
            <a:r>
              <a:rPr sz="1425" b="1" spc="-1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spc="-8" dirty="0">
                <a:solidFill>
                  <a:srgbClr val="0000FF"/>
                </a:solidFill>
                <a:latin typeface="Arial"/>
                <a:cs typeface="Arial"/>
              </a:rPr>
              <a:t>coordinates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to</a:t>
            </a:r>
            <a:r>
              <a:rPr sz="1425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dipole</a:t>
            </a:r>
            <a:r>
              <a:rPr sz="1425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coordinate</a:t>
            </a:r>
            <a:r>
              <a:rPr sz="1425" b="1" spc="-2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system in</a:t>
            </a:r>
            <a:r>
              <a:rPr sz="1425" b="1" spc="-4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spc="-8" dirty="0">
                <a:solidFill>
                  <a:srgbClr val="0000FF"/>
                </a:solidFill>
                <a:latin typeface="Arial"/>
                <a:cs typeface="Arial"/>
              </a:rPr>
              <a:t>which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particle</a:t>
            </a:r>
            <a:r>
              <a:rPr sz="1425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population</a:t>
            </a:r>
            <a:r>
              <a:rPr sz="1425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is</a:t>
            </a:r>
            <a:r>
              <a:rPr sz="1425" b="1" spc="-3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spc="-8" dirty="0">
                <a:solidFill>
                  <a:srgbClr val="0000FF"/>
                </a:solidFill>
                <a:latin typeface="Arial"/>
                <a:cs typeface="Arial"/>
              </a:rPr>
              <a:t>mapped</a:t>
            </a:r>
            <a:endParaRPr sz="1425">
              <a:latin typeface="Arial"/>
              <a:cs typeface="Arial"/>
            </a:endParaRPr>
          </a:p>
          <a:p>
            <a:pPr marL="355759" marR="48577" indent="-172878">
              <a:lnSpc>
                <a:spcPct val="105300"/>
              </a:lnSpc>
              <a:spcBef>
                <a:spcPts val="296"/>
              </a:spcBef>
            </a:pPr>
            <a:r>
              <a:rPr sz="1425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425" spc="11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Determine</a:t>
            </a:r>
            <a:r>
              <a:rPr sz="1425" b="1" spc="-1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trapped</a:t>
            </a:r>
            <a:r>
              <a:rPr sz="1425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particle</a:t>
            </a:r>
            <a:r>
              <a:rPr sz="1425" b="1" spc="-3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spc="-8" dirty="0">
                <a:solidFill>
                  <a:srgbClr val="0000FF"/>
                </a:solidFill>
                <a:latin typeface="Arial"/>
                <a:cs typeface="Arial"/>
              </a:rPr>
              <a:t>environment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external</a:t>
            </a:r>
            <a:r>
              <a:rPr sz="1425" b="1" spc="-1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dirty="0">
                <a:solidFill>
                  <a:srgbClr val="0000FF"/>
                </a:solidFill>
                <a:latin typeface="Arial"/>
                <a:cs typeface="Arial"/>
              </a:rPr>
              <a:t>to</a:t>
            </a:r>
            <a:r>
              <a:rPr sz="1425" b="1" spc="-3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25" b="1" spc="-8" dirty="0">
                <a:solidFill>
                  <a:srgbClr val="0000FF"/>
                </a:solidFill>
                <a:latin typeface="Arial"/>
                <a:cs typeface="Arial"/>
              </a:rPr>
              <a:t>spacecraft</a:t>
            </a:r>
            <a:endParaRPr sz="1425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02833" y="1122068"/>
            <a:ext cx="3954780" cy="4023836"/>
            <a:chOff x="1070444" y="1115090"/>
            <a:chExt cx="5273040" cy="536511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0444" y="1664068"/>
              <a:ext cx="3594334" cy="136584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877560" y="1143665"/>
              <a:ext cx="436880" cy="5307965"/>
            </a:xfrm>
            <a:custGeom>
              <a:avLst/>
              <a:gdLst/>
              <a:ahLst/>
              <a:cxnLst/>
              <a:rect l="l" t="t" r="r" b="b"/>
              <a:pathLst>
                <a:path w="436879" h="5307965">
                  <a:moveTo>
                    <a:pt x="436879" y="5307457"/>
                  </a:moveTo>
                  <a:lnTo>
                    <a:pt x="367837" y="5290363"/>
                  </a:lnTo>
                  <a:lnTo>
                    <a:pt x="307873" y="5242766"/>
                  </a:lnTo>
                  <a:lnTo>
                    <a:pt x="282421" y="5209254"/>
                  </a:lnTo>
                  <a:lnTo>
                    <a:pt x="260587" y="5170187"/>
                  </a:lnTo>
                  <a:lnTo>
                    <a:pt x="242822" y="5126255"/>
                  </a:lnTo>
                  <a:lnTo>
                    <a:pt x="229576" y="5078149"/>
                  </a:lnTo>
                  <a:lnTo>
                    <a:pt x="221299" y="5026560"/>
                  </a:lnTo>
                  <a:lnTo>
                    <a:pt x="218439" y="4972177"/>
                  </a:lnTo>
                  <a:lnTo>
                    <a:pt x="218439" y="2989008"/>
                  </a:lnTo>
                  <a:lnTo>
                    <a:pt x="215580" y="2934625"/>
                  </a:lnTo>
                  <a:lnTo>
                    <a:pt x="207303" y="2883035"/>
                  </a:lnTo>
                  <a:lnTo>
                    <a:pt x="194057" y="2834929"/>
                  </a:lnTo>
                  <a:lnTo>
                    <a:pt x="176292" y="2790998"/>
                  </a:lnTo>
                  <a:lnTo>
                    <a:pt x="154458" y="2751931"/>
                  </a:lnTo>
                  <a:lnTo>
                    <a:pt x="129006" y="2718419"/>
                  </a:lnTo>
                  <a:lnTo>
                    <a:pt x="100384" y="2691152"/>
                  </a:lnTo>
                  <a:lnTo>
                    <a:pt x="35431" y="2658116"/>
                  </a:lnTo>
                  <a:lnTo>
                    <a:pt x="0" y="2653728"/>
                  </a:lnTo>
                  <a:lnTo>
                    <a:pt x="35431" y="2649340"/>
                  </a:lnTo>
                  <a:lnTo>
                    <a:pt x="100384" y="2616304"/>
                  </a:lnTo>
                  <a:lnTo>
                    <a:pt x="129006" y="2589037"/>
                  </a:lnTo>
                  <a:lnTo>
                    <a:pt x="154458" y="2555525"/>
                  </a:lnTo>
                  <a:lnTo>
                    <a:pt x="176292" y="2516458"/>
                  </a:lnTo>
                  <a:lnTo>
                    <a:pt x="194057" y="2472527"/>
                  </a:lnTo>
                  <a:lnTo>
                    <a:pt x="207303" y="2424421"/>
                  </a:lnTo>
                  <a:lnTo>
                    <a:pt x="215580" y="2372831"/>
                  </a:lnTo>
                  <a:lnTo>
                    <a:pt x="218439" y="2318448"/>
                  </a:lnTo>
                  <a:lnTo>
                    <a:pt x="218439" y="335280"/>
                  </a:lnTo>
                  <a:lnTo>
                    <a:pt x="221299" y="280896"/>
                  </a:lnTo>
                  <a:lnTo>
                    <a:pt x="229576" y="229307"/>
                  </a:lnTo>
                  <a:lnTo>
                    <a:pt x="242822" y="181201"/>
                  </a:lnTo>
                  <a:lnTo>
                    <a:pt x="260587" y="137269"/>
                  </a:lnTo>
                  <a:lnTo>
                    <a:pt x="282421" y="98202"/>
                  </a:lnTo>
                  <a:lnTo>
                    <a:pt x="307873" y="64690"/>
                  </a:lnTo>
                  <a:lnTo>
                    <a:pt x="336495" y="37424"/>
                  </a:lnTo>
                  <a:lnTo>
                    <a:pt x="401448" y="4388"/>
                  </a:lnTo>
                  <a:lnTo>
                    <a:pt x="436879" y="0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8" name="object 8"/>
            <p:cNvSpPr/>
            <p:nvPr/>
          </p:nvSpPr>
          <p:spPr>
            <a:xfrm>
              <a:off x="4664779" y="2346994"/>
              <a:ext cx="1069975" cy="1450975"/>
            </a:xfrm>
            <a:custGeom>
              <a:avLst/>
              <a:gdLst/>
              <a:ahLst/>
              <a:cxnLst/>
              <a:rect l="l" t="t" r="r" b="b"/>
              <a:pathLst>
                <a:path w="1069975" h="1450975">
                  <a:moveTo>
                    <a:pt x="0" y="0"/>
                  </a:moveTo>
                  <a:lnTo>
                    <a:pt x="840066" y="0"/>
                  </a:lnTo>
                  <a:lnTo>
                    <a:pt x="840066" y="1450403"/>
                  </a:lnTo>
                  <a:lnTo>
                    <a:pt x="1069898" y="1450403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9" name="object 9"/>
            <p:cNvSpPr/>
            <p:nvPr/>
          </p:nvSpPr>
          <p:spPr>
            <a:xfrm>
              <a:off x="5706099" y="3711662"/>
              <a:ext cx="172085" cy="171450"/>
            </a:xfrm>
            <a:custGeom>
              <a:avLst/>
              <a:gdLst/>
              <a:ahLst/>
              <a:cxnLst/>
              <a:rect l="l" t="t" r="r" b="b"/>
              <a:pathLst>
                <a:path w="172085" h="171450">
                  <a:moveTo>
                    <a:pt x="12" y="0"/>
                  </a:moveTo>
                  <a:lnTo>
                    <a:pt x="0" y="171450"/>
                  </a:lnTo>
                  <a:lnTo>
                    <a:pt x="171462" y="85737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379317" y="1055429"/>
            <a:ext cx="154781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Modeling</a:t>
            </a:r>
            <a:r>
              <a:rPr sz="1800" b="1" u="sng" spc="-56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spc="-11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Tool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07DC0-DCC6-C0FA-5B91-BC4D6E268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75C0B9D1-D7C9-AB2F-1BB8-603501F4F1F6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0" y="285750"/>
            <a:ext cx="0" cy="1317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069"/>
              </a:lnSpc>
            </a:pPr>
            <a:fld id="{81D60167-4931-47E6-BA6A-407CBD079E47}" type="slidenum">
              <a:rPr spc="-38" dirty="0">
                <a:solidFill>
                  <a:srgbClr val="FFFFFF"/>
                </a:solidFill>
              </a:rPr>
              <a:pPr marL="76200">
                <a:lnSpc>
                  <a:spcPts val="1069"/>
                </a:lnSpc>
              </a:pPr>
              <a:t>32</a:t>
            </a:fld>
            <a:endParaRPr spc="-38" dirty="0">
              <a:solidFill>
                <a:srgbClr val="FFFFFF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81BB2910-A761-51C8-6A02-C22D3FEBD8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Section Topics/Outline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F665339D-1A74-405B-E574-7E2F73A2ADB1}"/>
              </a:ext>
            </a:extLst>
          </p:cNvPr>
          <p:cNvSpPr txBox="1"/>
          <p:nvPr/>
        </p:nvSpPr>
        <p:spPr>
          <a:xfrm>
            <a:off x="744846" y="1058646"/>
            <a:ext cx="7328535" cy="1859644"/>
          </a:xfrm>
          <a:prstGeom prst="rect">
            <a:avLst/>
          </a:prstGeom>
        </p:spPr>
        <p:txBody>
          <a:bodyPr vert="horz" wrap="square" lIns="0" tIns="58579" rIns="0" bIns="0" rtlCol="0">
            <a:spAutoFit/>
          </a:bodyPr>
          <a:lstStyle/>
          <a:p>
            <a:pPr marL="182403" indent="-172878">
              <a:spcBef>
                <a:spcPts val="461"/>
              </a:spcBef>
              <a:buClr>
                <a:srgbClr val="E6E6E6"/>
              </a:buClr>
              <a:buFont typeface="Arial"/>
              <a:buChar char="•"/>
              <a:tabLst>
                <a:tab pos="182403" algn="l"/>
              </a:tabLst>
            </a:pP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What</a:t>
            </a:r>
            <a:r>
              <a:rPr sz="1800" b="1" spc="-30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are</a:t>
            </a:r>
            <a:r>
              <a:rPr sz="1800" b="1" spc="-26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the</a:t>
            </a:r>
            <a:r>
              <a:rPr sz="1800" b="1" spc="-30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sources</a:t>
            </a:r>
            <a:r>
              <a:rPr sz="1800" b="1" spc="-19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of</a:t>
            </a:r>
            <a:r>
              <a:rPr sz="1800" b="1" spc="-30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the</a:t>
            </a:r>
            <a:r>
              <a:rPr sz="1800" b="1" spc="-30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natural</a:t>
            </a:r>
            <a:r>
              <a:rPr sz="1800" b="1" spc="-30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space</a:t>
            </a:r>
            <a:r>
              <a:rPr sz="1800" b="1" spc="-15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radiation</a:t>
            </a:r>
            <a:r>
              <a:rPr sz="1800" b="1" spc="-45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spc="-8" dirty="0">
                <a:solidFill>
                  <a:srgbClr val="E6E6E6"/>
                </a:solidFill>
                <a:latin typeface="Arial"/>
                <a:cs typeface="Arial"/>
              </a:rPr>
              <a:t>environment?</a:t>
            </a:r>
            <a:endParaRPr sz="1800" dirty="0">
              <a:latin typeface="Arial"/>
              <a:cs typeface="Arial"/>
            </a:endParaRPr>
          </a:p>
          <a:p>
            <a:pPr marL="182403" indent="-172878">
              <a:spcBef>
                <a:spcPts val="386"/>
              </a:spcBef>
              <a:buFont typeface="Arial"/>
              <a:buChar char="•"/>
              <a:tabLst>
                <a:tab pos="182403" algn="l"/>
              </a:tabLst>
            </a:pP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What</a:t>
            </a:r>
            <a:r>
              <a:rPr sz="1800" b="1" spc="-23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role</a:t>
            </a:r>
            <a:r>
              <a:rPr sz="1800" b="1" spc="-26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does</a:t>
            </a:r>
            <a:r>
              <a:rPr sz="1800" b="1" spc="-15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the</a:t>
            </a:r>
            <a:r>
              <a:rPr sz="1800" b="1" spc="-26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Sun</a:t>
            </a:r>
            <a:r>
              <a:rPr sz="1800" b="1" spc="-26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play</a:t>
            </a:r>
            <a:r>
              <a:rPr sz="1800" b="1" spc="-23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on</a:t>
            </a:r>
            <a:r>
              <a:rPr sz="1800" b="1" spc="-26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these</a:t>
            </a:r>
            <a:r>
              <a:rPr sz="1800" b="1" spc="-19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spc="-8" dirty="0">
                <a:solidFill>
                  <a:srgbClr val="E6E6E6"/>
                </a:solidFill>
                <a:latin typeface="Arial"/>
                <a:cs typeface="Arial"/>
              </a:rPr>
              <a:t>environments?</a:t>
            </a:r>
            <a:endParaRPr sz="1800" dirty="0">
              <a:latin typeface="Arial"/>
              <a:cs typeface="Arial"/>
            </a:endParaRPr>
          </a:p>
          <a:p>
            <a:pPr marL="182880">
              <a:spcBef>
                <a:spcPts val="307"/>
              </a:spcBef>
            </a:pPr>
            <a:r>
              <a:rPr sz="1500" dirty="0">
                <a:solidFill>
                  <a:srgbClr val="E6E6E6"/>
                </a:solidFill>
                <a:latin typeface="Arial"/>
                <a:cs typeface="Arial"/>
              </a:rPr>
              <a:t>‒</a:t>
            </a:r>
            <a:r>
              <a:rPr sz="1500" spc="86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E6E6E6"/>
                </a:solidFill>
                <a:latin typeface="Arial"/>
                <a:cs typeface="Arial"/>
              </a:rPr>
              <a:t>Active</a:t>
            </a:r>
            <a:r>
              <a:rPr sz="1500" b="1" spc="-15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500" b="1" spc="-8" dirty="0">
                <a:solidFill>
                  <a:srgbClr val="E6E6E6"/>
                </a:solidFill>
                <a:latin typeface="Arial"/>
                <a:cs typeface="Arial"/>
              </a:rPr>
              <a:t>Environments</a:t>
            </a:r>
            <a:endParaRPr sz="1500" dirty="0">
              <a:latin typeface="Arial"/>
              <a:cs typeface="Arial"/>
            </a:endParaRPr>
          </a:p>
          <a:p>
            <a:pPr marL="182880">
              <a:spcBef>
                <a:spcPts val="300"/>
              </a:spcBef>
            </a:pPr>
            <a:r>
              <a:rPr sz="1500" dirty="0">
                <a:solidFill>
                  <a:srgbClr val="E6E6E6"/>
                </a:solidFill>
                <a:latin typeface="Arial"/>
                <a:cs typeface="Arial"/>
              </a:rPr>
              <a:t>‒</a:t>
            </a:r>
            <a:r>
              <a:rPr sz="1500" spc="101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E6E6E6"/>
                </a:solidFill>
                <a:latin typeface="Arial"/>
                <a:cs typeface="Arial"/>
              </a:rPr>
              <a:t>Quiet</a:t>
            </a:r>
            <a:r>
              <a:rPr sz="1500" b="1" spc="-19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500" b="1" spc="-8" dirty="0">
                <a:solidFill>
                  <a:srgbClr val="E6E6E6"/>
                </a:solidFill>
                <a:latin typeface="Arial"/>
                <a:cs typeface="Arial"/>
              </a:rPr>
              <a:t>Environments</a:t>
            </a:r>
            <a:endParaRPr sz="1500" dirty="0">
              <a:latin typeface="Arial"/>
              <a:cs typeface="Arial"/>
            </a:endParaRPr>
          </a:p>
          <a:p>
            <a:pPr marL="182403" indent="-172878">
              <a:spcBef>
                <a:spcPts val="382"/>
              </a:spcBef>
              <a:buFont typeface="Arial"/>
              <a:buChar char="•"/>
              <a:tabLst>
                <a:tab pos="182403" algn="l"/>
              </a:tabLst>
            </a:pPr>
            <a:r>
              <a:rPr sz="1800" b="1" dirty="0">
                <a:latin typeface="Arial"/>
                <a:cs typeface="Arial"/>
              </a:rPr>
              <a:t>Why</a:t>
            </a:r>
            <a:r>
              <a:rPr sz="1800" b="1" spc="-26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do</a:t>
            </a:r>
            <a:r>
              <a:rPr sz="1800" b="1" spc="-23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environments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matter?</a:t>
            </a:r>
            <a:endParaRPr sz="1800" dirty="0">
              <a:latin typeface="Arial"/>
              <a:cs typeface="Arial"/>
            </a:endParaRPr>
          </a:p>
          <a:p>
            <a:pPr marL="182403" indent="-172878">
              <a:spcBef>
                <a:spcPts val="386"/>
              </a:spcBef>
              <a:buFont typeface="Arial"/>
              <a:buChar char="•"/>
              <a:tabLst>
                <a:tab pos="182403" algn="l"/>
              </a:tabLst>
            </a:pPr>
            <a:r>
              <a:rPr sz="1800" b="1" spc="-8" dirty="0">
                <a:solidFill>
                  <a:srgbClr val="E6E6E6"/>
                </a:solidFill>
                <a:latin typeface="Arial"/>
                <a:cs typeface="Arial"/>
              </a:rPr>
              <a:t>Summary</a:t>
            </a:r>
            <a:endParaRPr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393186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529830" y="141892"/>
            <a:ext cx="8004391" cy="642988"/>
          </a:xfrm>
          <a:prstGeom prst="rect">
            <a:avLst/>
          </a:prstGeom>
        </p:spPr>
        <p:txBody>
          <a:bodyPr vert="horz" wrap="square" lIns="0" tIns="14909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7938">
              <a:spcBef>
                <a:spcPts val="75"/>
              </a:spcBef>
            </a:pPr>
            <a:r>
              <a:rPr dirty="0"/>
              <a:t>Why</a:t>
            </a:r>
            <a:r>
              <a:rPr spc="-38" dirty="0"/>
              <a:t> </a:t>
            </a:r>
            <a:r>
              <a:rPr dirty="0"/>
              <a:t>do</a:t>
            </a:r>
            <a:r>
              <a:rPr spc="-45" dirty="0"/>
              <a:t> </a:t>
            </a:r>
            <a:r>
              <a:rPr dirty="0"/>
              <a:t>environments</a:t>
            </a:r>
            <a:r>
              <a:rPr spc="-45" dirty="0"/>
              <a:t> </a:t>
            </a:r>
            <a:r>
              <a:rPr spc="-8" dirty="0"/>
              <a:t>matter?</a:t>
            </a:r>
          </a:p>
        </p:txBody>
      </p:sp>
      <p:sp>
        <p:nvSpPr>
          <p:cNvPr id="3" name="object 3"/>
          <p:cNvSpPr/>
          <p:nvPr/>
        </p:nvSpPr>
        <p:spPr>
          <a:xfrm>
            <a:off x="1085850" y="2316128"/>
            <a:ext cx="1000125" cy="112871"/>
          </a:xfrm>
          <a:custGeom>
            <a:avLst/>
            <a:gdLst/>
            <a:ahLst/>
            <a:cxnLst/>
            <a:rect l="l" t="t" r="r" b="b"/>
            <a:pathLst>
              <a:path w="1333500" h="150494">
                <a:moveTo>
                  <a:pt x="0" y="0"/>
                </a:moveTo>
                <a:lnTo>
                  <a:pt x="1333500" y="0"/>
                </a:lnTo>
                <a:lnTo>
                  <a:pt x="1333500" y="150329"/>
                </a:lnTo>
                <a:lnTo>
                  <a:pt x="0" y="15032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" name="object 4"/>
          <p:cNvSpPr txBox="1"/>
          <p:nvPr/>
        </p:nvSpPr>
        <p:spPr>
          <a:xfrm>
            <a:off x="3500438" y="1635919"/>
            <a:ext cx="1778794" cy="2501647"/>
          </a:xfrm>
          <a:prstGeom prst="rect">
            <a:avLst/>
          </a:prstGeom>
          <a:ln w="76200">
            <a:solidFill>
              <a:srgbClr val="0000FF"/>
            </a:solidFill>
          </a:ln>
        </p:spPr>
        <p:txBody>
          <a:bodyPr vert="horz" wrap="square" lIns="0" tIns="214313" rIns="0" bIns="0" rtlCol="0">
            <a:spAutoFit/>
          </a:bodyPr>
          <a:lstStyle/>
          <a:p>
            <a:pPr algn="ctr">
              <a:spcBef>
                <a:spcPts val="1688"/>
              </a:spcBef>
            </a:pPr>
            <a:r>
              <a:rPr sz="2100" b="1" u="sng" spc="-8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Products</a:t>
            </a:r>
            <a:endParaRPr sz="2100">
              <a:latin typeface="Arial"/>
              <a:cs typeface="Arial"/>
            </a:endParaRPr>
          </a:p>
          <a:p>
            <a:pPr algn="ctr">
              <a:spcBef>
                <a:spcPts val="1376"/>
              </a:spcBef>
            </a:pPr>
            <a:r>
              <a:rPr sz="1500" b="1" spc="-8" dirty="0">
                <a:latin typeface="Arial"/>
                <a:cs typeface="Arial"/>
              </a:rPr>
              <a:t>System(s)</a:t>
            </a:r>
            <a:endParaRPr sz="1500">
              <a:latin typeface="Arial"/>
              <a:cs typeface="Arial"/>
            </a:endParaRPr>
          </a:p>
          <a:p>
            <a:pPr marL="264319" marR="259080" algn="ctr">
              <a:lnSpc>
                <a:spcPts val="3975"/>
              </a:lnSpc>
              <a:spcBef>
                <a:spcPts val="390"/>
              </a:spcBef>
            </a:pPr>
            <a:r>
              <a:rPr sz="1500" b="1" spc="-8" dirty="0">
                <a:latin typeface="Arial"/>
                <a:cs typeface="Arial"/>
              </a:rPr>
              <a:t>Subsystem(s) Device(s)</a:t>
            </a:r>
            <a:endParaRPr sz="1500">
              <a:latin typeface="Arial"/>
              <a:cs typeface="Arial"/>
            </a:endParaRPr>
          </a:p>
          <a:p>
            <a:pPr>
              <a:spcBef>
                <a:spcPts val="71"/>
              </a:spcBef>
            </a:pPr>
            <a:endParaRPr sz="1500">
              <a:latin typeface="Arial"/>
              <a:cs typeface="Arial"/>
            </a:endParaRPr>
          </a:p>
          <a:p>
            <a:pPr marL="1429" algn="ctr"/>
            <a:r>
              <a:rPr sz="1500" b="1" spc="-8" dirty="0">
                <a:latin typeface="Arial"/>
                <a:cs typeface="Arial"/>
              </a:rPr>
              <a:t>Material(s)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529830" y="141892"/>
            <a:ext cx="8004391" cy="642988"/>
          </a:xfrm>
          <a:prstGeom prst="rect">
            <a:avLst/>
          </a:prstGeom>
        </p:spPr>
        <p:txBody>
          <a:bodyPr vert="horz" wrap="square" lIns="0" tIns="14909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7938">
              <a:spcBef>
                <a:spcPts val="75"/>
              </a:spcBef>
            </a:pPr>
            <a:r>
              <a:rPr dirty="0"/>
              <a:t>Why</a:t>
            </a:r>
            <a:r>
              <a:rPr spc="-38" dirty="0"/>
              <a:t> </a:t>
            </a:r>
            <a:r>
              <a:rPr dirty="0"/>
              <a:t>do</a:t>
            </a:r>
            <a:r>
              <a:rPr spc="-45" dirty="0"/>
              <a:t> </a:t>
            </a:r>
            <a:r>
              <a:rPr dirty="0"/>
              <a:t>environments</a:t>
            </a:r>
            <a:r>
              <a:rPr spc="-45" dirty="0"/>
              <a:t> </a:t>
            </a:r>
            <a:r>
              <a:rPr spc="-8" dirty="0"/>
              <a:t>matter?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85975" y="1778794"/>
            <a:ext cx="1778794" cy="2501647"/>
          </a:xfrm>
          <a:prstGeom prst="rect">
            <a:avLst/>
          </a:prstGeom>
          <a:ln w="76200">
            <a:solidFill>
              <a:srgbClr val="0000FF"/>
            </a:solidFill>
          </a:ln>
        </p:spPr>
        <p:txBody>
          <a:bodyPr vert="horz" wrap="square" lIns="0" tIns="214313" rIns="0" bIns="0" rtlCol="0">
            <a:spAutoFit/>
          </a:bodyPr>
          <a:lstStyle/>
          <a:p>
            <a:pPr algn="ctr">
              <a:spcBef>
                <a:spcPts val="1688"/>
              </a:spcBef>
            </a:pPr>
            <a:r>
              <a:rPr sz="2100" b="1" u="sng" spc="-8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Products</a:t>
            </a:r>
            <a:endParaRPr sz="2100">
              <a:latin typeface="Arial"/>
              <a:cs typeface="Arial"/>
            </a:endParaRPr>
          </a:p>
          <a:p>
            <a:pPr algn="ctr">
              <a:spcBef>
                <a:spcPts val="1376"/>
              </a:spcBef>
            </a:pPr>
            <a:r>
              <a:rPr sz="1500" b="1" spc="-8" dirty="0">
                <a:latin typeface="Arial"/>
                <a:cs typeface="Arial"/>
              </a:rPr>
              <a:t>System(s)</a:t>
            </a:r>
            <a:endParaRPr sz="1500">
              <a:latin typeface="Arial"/>
              <a:cs typeface="Arial"/>
            </a:endParaRPr>
          </a:p>
          <a:p>
            <a:pPr marL="264319" marR="259080" algn="ctr">
              <a:lnSpc>
                <a:spcPts val="3975"/>
              </a:lnSpc>
              <a:spcBef>
                <a:spcPts val="390"/>
              </a:spcBef>
            </a:pPr>
            <a:r>
              <a:rPr sz="1500" b="1" spc="-8" dirty="0">
                <a:latin typeface="Arial"/>
                <a:cs typeface="Arial"/>
              </a:rPr>
              <a:t>Subsystem(s) Device(s)</a:t>
            </a:r>
            <a:endParaRPr sz="1500">
              <a:latin typeface="Arial"/>
              <a:cs typeface="Arial"/>
            </a:endParaRPr>
          </a:p>
          <a:p>
            <a:pPr>
              <a:spcBef>
                <a:spcPts val="71"/>
              </a:spcBef>
            </a:pPr>
            <a:endParaRPr sz="1500">
              <a:latin typeface="Arial"/>
              <a:cs typeface="Arial"/>
            </a:endParaRPr>
          </a:p>
          <a:p>
            <a:pPr marL="1429" algn="ctr"/>
            <a:r>
              <a:rPr sz="1500" b="1" spc="-8" dirty="0">
                <a:latin typeface="Arial"/>
                <a:cs typeface="Arial"/>
              </a:rPr>
              <a:t>Material(s)</a:t>
            </a:r>
            <a:endParaRPr sz="1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79232" y="1778794"/>
            <a:ext cx="1778794" cy="2565767"/>
          </a:xfrm>
          <a:prstGeom prst="rect">
            <a:avLst/>
          </a:prstGeom>
          <a:ln w="76200">
            <a:solidFill>
              <a:srgbClr val="0000FF"/>
            </a:solidFill>
          </a:ln>
        </p:spPr>
        <p:txBody>
          <a:bodyPr vert="horz" wrap="square" lIns="0" tIns="214313" rIns="0" bIns="0" rtlCol="0">
            <a:spAutoFit/>
          </a:bodyPr>
          <a:lstStyle/>
          <a:p>
            <a:pPr marL="476" algn="ctr">
              <a:spcBef>
                <a:spcPts val="1688"/>
              </a:spcBef>
            </a:pPr>
            <a:r>
              <a:rPr sz="2100" b="1" u="sng" spc="-8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Function</a:t>
            </a:r>
            <a:endParaRPr sz="2100">
              <a:latin typeface="Arial"/>
              <a:cs typeface="Arial"/>
            </a:endParaRPr>
          </a:p>
          <a:p>
            <a:pPr marL="311944" marR="306229" indent="476" algn="ctr">
              <a:spcBef>
                <a:spcPts val="1376"/>
              </a:spcBef>
            </a:pPr>
            <a:r>
              <a:rPr sz="1500" b="1" spc="-8" dirty="0">
                <a:latin typeface="Arial"/>
                <a:cs typeface="Arial"/>
              </a:rPr>
              <a:t>Perform </a:t>
            </a:r>
            <a:r>
              <a:rPr sz="1500" b="1" dirty="0">
                <a:latin typeface="Arial"/>
                <a:cs typeface="Arial"/>
              </a:rPr>
              <a:t>some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spc="-15" dirty="0">
                <a:latin typeface="Arial"/>
                <a:cs typeface="Arial"/>
              </a:rPr>
              <a:t>type</a:t>
            </a:r>
            <a:r>
              <a:rPr sz="1500" b="1" spc="37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of</a:t>
            </a:r>
            <a:r>
              <a:rPr sz="1500" b="1" spc="-23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action</a:t>
            </a:r>
            <a:r>
              <a:rPr sz="1500" b="1" spc="-23" dirty="0">
                <a:latin typeface="Arial"/>
                <a:cs typeface="Arial"/>
              </a:rPr>
              <a:t> </a:t>
            </a:r>
            <a:r>
              <a:rPr sz="1500" b="1" spc="-19" dirty="0">
                <a:latin typeface="Arial"/>
                <a:cs typeface="Arial"/>
              </a:rPr>
              <a:t>to </a:t>
            </a:r>
            <a:r>
              <a:rPr sz="1500" b="1" dirty="0">
                <a:latin typeface="Arial"/>
                <a:cs typeface="Arial"/>
              </a:rPr>
              <a:t>achieve</a:t>
            </a:r>
            <a:r>
              <a:rPr sz="1500" b="1" spc="-26" dirty="0">
                <a:latin typeface="Arial"/>
                <a:cs typeface="Arial"/>
              </a:rPr>
              <a:t> </a:t>
            </a:r>
            <a:r>
              <a:rPr sz="1500" b="1" spc="-38" dirty="0">
                <a:latin typeface="Arial"/>
                <a:cs typeface="Arial"/>
              </a:rPr>
              <a:t>a </a:t>
            </a:r>
            <a:r>
              <a:rPr sz="1500" b="1" dirty="0">
                <a:latin typeface="Arial"/>
                <a:cs typeface="Arial"/>
              </a:rPr>
              <a:t>mission</a:t>
            </a:r>
            <a:r>
              <a:rPr sz="1500" b="1" spc="-53" dirty="0">
                <a:latin typeface="Arial"/>
                <a:cs typeface="Arial"/>
              </a:rPr>
              <a:t> </a:t>
            </a:r>
            <a:r>
              <a:rPr sz="1500" b="1" spc="-15" dirty="0">
                <a:latin typeface="Arial"/>
                <a:cs typeface="Arial"/>
              </a:rPr>
              <a:t>with </a:t>
            </a:r>
            <a:r>
              <a:rPr sz="1500" b="1" dirty="0">
                <a:latin typeface="Arial"/>
                <a:cs typeface="Arial"/>
              </a:rPr>
              <a:t>some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spc="-15" dirty="0">
                <a:latin typeface="Arial"/>
                <a:cs typeface="Arial"/>
              </a:rPr>
              <a:t>type</a:t>
            </a:r>
            <a:r>
              <a:rPr sz="1500" b="1" spc="375" dirty="0">
                <a:latin typeface="Arial"/>
                <a:cs typeface="Arial"/>
              </a:rPr>
              <a:t> </a:t>
            </a:r>
            <a:r>
              <a:rPr sz="1500" b="1" spc="-19" dirty="0">
                <a:latin typeface="Arial"/>
                <a:cs typeface="Arial"/>
              </a:rPr>
              <a:t>of </a:t>
            </a:r>
            <a:r>
              <a:rPr sz="1500" b="1" spc="-8" dirty="0">
                <a:latin typeface="Arial"/>
                <a:cs typeface="Arial"/>
              </a:rPr>
              <a:t>confidence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019250" y="2755513"/>
            <a:ext cx="1105853" cy="703898"/>
            <a:chOff x="5359000" y="3293018"/>
            <a:chExt cx="1474470" cy="938530"/>
          </a:xfrm>
        </p:grpSpPr>
        <p:sp>
          <p:nvSpPr>
            <p:cNvPr id="6" name="object 6"/>
            <p:cNvSpPr/>
            <p:nvPr/>
          </p:nvSpPr>
          <p:spPr>
            <a:xfrm>
              <a:off x="5363762" y="3297780"/>
              <a:ext cx="1464945" cy="929005"/>
            </a:xfrm>
            <a:custGeom>
              <a:avLst/>
              <a:gdLst/>
              <a:ahLst/>
              <a:cxnLst/>
              <a:rect l="l" t="t" r="r" b="b"/>
              <a:pathLst>
                <a:path w="1464945" h="929004">
                  <a:moveTo>
                    <a:pt x="1000163" y="0"/>
                  </a:moveTo>
                  <a:lnTo>
                    <a:pt x="1000163" y="232156"/>
                  </a:lnTo>
                  <a:lnTo>
                    <a:pt x="0" y="232156"/>
                  </a:lnTo>
                  <a:lnTo>
                    <a:pt x="0" y="696468"/>
                  </a:lnTo>
                  <a:lnTo>
                    <a:pt x="1000163" y="696468"/>
                  </a:lnTo>
                  <a:lnTo>
                    <a:pt x="1000163" y="928611"/>
                  </a:lnTo>
                  <a:lnTo>
                    <a:pt x="1464462" y="464312"/>
                  </a:lnTo>
                  <a:lnTo>
                    <a:pt x="1000163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7" name="object 7"/>
            <p:cNvSpPr/>
            <p:nvPr/>
          </p:nvSpPr>
          <p:spPr>
            <a:xfrm>
              <a:off x="5363762" y="3297780"/>
              <a:ext cx="1464945" cy="929005"/>
            </a:xfrm>
            <a:custGeom>
              <a:avLst/>
              <a:gdLst/>
              <a:ahLst/>
              <a:cxnLst/>
              <a:rect l="l" t="t" r="r" b="b"/>
              <a:pathLst>
                <a:path w="1464945" h="929004">
                  <a:moveTo>
                    <a:pt x="0" y="232156"/>
                  </a:moveTo>
                  <a:lnTo>
                    <a:pt x="1000163" y="232156"/>
                  </a:lnTo>
                  <a:lnTo>
                    <a:pt x="1000163" y="0"/>
                  </a:lnTo>
                  <a:lnTo>
                    <a:pt x="1464462" y="464312"/>
                  </a:lnTo>
                  <a:lnTo>
                    <a:pt x="1000163" y="928611"/>
                  </a:lnTo>
                  <a:lnTo>
                    <a:pt x="1000163" y="696468"/>
                  </a:lnTo>
                  <a:lnTo>
                    <a:pt x="0" y="696468"/>
                  </a:lnTo>
                  <a:lnTo>
                    <a:pt x="0" y="23215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7424" y="1164431"/>
            <a:ext cx="8912543" cy="3980498"/>
          </a:xfrm>
          <a:custGeom>
            <a:avLst/>
            <a:gdLst/>
            <a:ahLst/>
            <a:cxnLst/>
            <a:rect l="l" t="t" r="r" b="b"/>
            <a:pathLst>
              <a:path w="11883390" h="5307330">
                <a:moveTo>
                  <a:pt x="0" y="0"/>
                </a:moveTo>
                <a:lnTo>
                  <a:pt x="11883034" y="0"/>
                </a:lnTo>
                <a:lnTo>
                  <a:pt x="11883034" y="5306860"/>
                </a:lnTo>
                <a:lnTo>
                  <a:pt x="0" y="5306860"/>
                </a:lnTo>
                <a:lnTo>
                  <a:pt x="0" y="0"/>
                </a:lnTo>
                <a:close/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529830" y="141892"/>
            <a:ext cx="8004391" cy="642988"/>
          </a:xfrm>
          <a:prstGeom prst="rect">
            <a:avLst/>
          </a:prstGeom>
        </p:spPr>
        <p:txBody>
          <a:bodyPr vert="horz" wrap="square" lIns="0" tIns="14909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7938">
              <a:spcBef>
                <a:spcPts val="75"/>
              </a:spcBef>
            </a:pPr>
            <a:r>
              <a:rPr dirty="0"/>
              <a:t>Why</a:t>
            </a:r>
            <a:r>
              <a:rPr spc="-38" dirty="0"/>
              <a:t> </a:t>
            </a:r>
            <a:r>
              <a:rPr dirty="0"/>
              <a:t>do</a:t>
            </a:r>
            <a:r>
              <a:rPr spc="-45" dirty="0"/>
              <a:t> </a:t>
            </a:r>
            <a:r>
              <a:rPr dirty="0"/>
              <a:t>environments</a:t>
            </a:r>
            <a:r>
              <a:rPr spc="-45" dirty="0"/>
              <a:t> </a:t>
            </a:r>
            <a:r>
              <a:rPr spc="-8" dirty="0"/>
              <a:t>matter?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4041" y="1156832"/>
            <a:ext cx="1794986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2100" b="1" u="sng" spc="-8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Environments</a:t>
            </a:r>
            <a:endParaRPr sz="2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4916" y="4747822"/>
            <a:ext cx="7734300" cy="282289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28099" rIns="0" bIns="0" rtlCol="0">
            <a:spAutoFit/>
          </a:bodyPr>
          <a:lstStyle/>
          <a:p>
            <a:pPr marL="120015">
              <a:spcBef>
                <a:spcPts val="221"/>
              </a:spcBef>
            </a:pPr>
            <a:r>
              <a:rPr sz="1650" b="1" dirty="0">
                <a:latin typeface="Arial"/>
                <a:cs typeface="Arial"/>
              </a:rPr>
              <a:t>A</a:t>
            </a:r>
            <a:r>
              <a:rPr sz="1650" b="1" spc="-101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products</a:t>
            </a:r>
            <a:r>
              <a:rPr sz="1650" b="1" spc="-34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mission</a:t>
            </a:r>
            <a:r>
              <a:rPr sz="1650" b="1" spc="-41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(and</a:t>
            </a:r>
            <a:r>
              <a:rPr sz="1650" b="1" spc="-41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its</a:t>
            </a:r>
            <a:r>
              <a:rPr sz="1650" b="1" spc="-45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criticality)</a:t>
            </a:r>
            <a:r>
              <a:rPr sz="1650" b="1" spc="-19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determines</a:t>
            </a:r>
            <a:r>
              <a:rPr sz="1650" b="1" spc="-45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environments</a:t>
            </a:r>
            <a:r>
              <a:rPr sz="1650" b="1" spc="-34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of</a:t>
            </a:r>
            <a:r>
              <a:rPr sz="1650" b="1" spc="-45" dirty="0">
                <a:latin typeface="Arial"/>
                <a:cs typeface="Arial"/>
              </a:rPr>
              <a:t> </a:t>
            </a:r>
            <a:r>
              <a:rPr sz="1650" b="1" spc="-8" dirty="0">
                <a:latin typeface="Arial"/>
                <a:cs typeface="Arial"/>
              </a:rPr>
              <a:t>interest</a:t>
            </a:r>
            <a:endParaRPr sz="16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85975" y="1778794"/>
            <a:ext cx="1778794" cy="2501647"/>
          </a:xfrm>
          <a:prstGeom prst="rect">
            <a:avLst/>
          </a:prstGeom>
          <a:ln w="76200">
            <a:solidFill>
              <a:srgbClr val="0000FF"/>
            </a:solidFill>
          </a:ln>
        </p:spPr>
        <p:txBody>
          <a:bodyPr vert="horz" wrap="square" lIns="0" tIns="214313" rIns="0" bIns="0" rtlCol="0">
            <a:spAutoFit/>
          </a:bodyPr>
          <a:lstStyle/>
          <a:p>
            <a:pPr algn="ctr">
              <a:spcBef>
                <a:spcPts val="1688"/>
              </a:spcBef>
            </a:pPr>
            <a:r>
              <a:rPr sz="2100" b="1" u="sng" spc="-8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Products</a:t>
            </a:r>
            <a:endParaRPr sz="2100">
              <a:latin typeface="Arial"/>
              <a:cs typeface="Arial"/>
            </a:endParaRPr>
          </a:p>
          <a:p>
            <a:pPr algn="ctr">
              <a:spcBef>
                <a:spcPts val="1376"/>
              </a:spcBef>
            </a:pPr>
            <a:r>
              <a:rPr sz="1500" b="1" spc="-8" dirty="0">
                <a:latin typeface="Arial"/>
                <a:cs typeface="Arial"/>
              </a:rPr>
              <a:t>System(s)</a:t>
            </a:r>
            <a:endParaRPr sz="1500">
              <a:latin typeface="Arial"/>
              <a:cs typeface="Arial"/>
            </a:endParaRPr>
          </a:p>
          <a:p>
            <a:pPr marL="264319" marR="259080" algn="ctr">
              <a:lnSpc>
                <a:spcPts val="3975"/>
              </a:lnSpc>
              <a:spcBef>
                <a:spcPts val="390"/>
              </a:spcBef>
            </a:pPr>
            <a:r>
              <a:rPr sz="1500" b="1" spc="-8" dirty="0">
                <a:latin typeface="Arial"/>
                <a:cs typeface="Arial"/>
              </a:rPr>
              <a:t>Subsystem(s) Device(s)</a:t>
            </a:r>
            <a:endParaRPr sz="1500">
              <a:latin typeface="Arial"/>
              <a:cs typeface="Arial"/>
            </a:endParaRPr>
          </a:p>
          <a:p>
            <a:pPr>
              <a:spcBef>
                <a:spcPts val="71"/>
              </a:spcBef>
            </a:pPr>
            <a:endParaRPr sz="1500">
              <a:latin typeface="Arial"/>
              <a:cs typeface="Arial"/>
            </a:endParaRPr>
          </a:p>
          <a:p>
            <a:pPr marL="1429" algn="ctr"/>
            <a:r>
              <a:rPr sz="1500" b="1" spc="-8" dirty="0">
                <a:latin typeface="Arial"/>
                <a:cs typeface="Arial"/>
              </a:rPr>
              <a:t>Material(s)</a:t>
            </a:r>
            <a:endParaRPr sz="15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79232" y="1778794"/>
            <a:ext cx="1778794" cy="2565767"/>
          </a:xfrm>
          <a:prstGeom prst="rect">
            <a:avLst/>
          </a:prstGeom>
          <a:ln w="76200">
            <a:solidFill>
              <a:srgbClr val="0000FF"/>
            </a:solidFill>
          </a:ln>
        </p:spPr>
        <p:txBody>
          <a:bodyPr vert="horz" wrap="square" lIns="0" tIns="214313" rIns="0" bIns="0" rtlCol="0">
            <a:spAutoFit/>
          </a:bodyPr>
          <a:lstStyle/>
          <a:p>
            <a:pPr marL="476" algn="ctr">
              <a:spcBef>
                <a:spcPts val="1688"/>
              </a:spcBef>
            </a:pPr>
            <a:r>
              <a:rPr sz="2100" b="1" u="sng" spc="-8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Function</a:t>
            </a:r>
            <a:endParaRPr sz="2100">
              <a:latin typeface="Arial"/>
              <a:cs typeface="Arial"/>
            </a:endParaRPr>
          </a:p>
          <a:p>
            <a:pPr marL="311944" marR="306229" indent="476" algn="ctr">
              <a:spcBef>
                <a:spcPts val="1376"/>
              </a:spcBef>
            </a:pPr>
            <a:r>
              <a:rPr sz="1500" b="1" spc="-8" dirty="0">
                <a:latin typeface="Arial"/>
                <a:cs typeface="Arial"/>
              </a:rPr>
              <a:t>Perform </a:t>
            </a:r>
            <a:r>
              <a:rPr sz="1500" b="1" dirty="0">
                <a:latin typeface="Arial"/>
                <a:cs typeface="Arial"/>
              </a:rPr>
              <a:t>some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spc="-15" dirty="0">
                <a:latin typeface="Arial"/>
                <a:cs typeface="Arial"/>
              </a:rPr>
              <a:t>type</a:t>
            </a:r>
            <a:r>
              <a:rPr sz="1500" b="1" spc="37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of</a:t>
            </a:r>
            <a:r>
              <a:rPr sz="1500" b="1" spc="-23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action</a:t>
            </a:r>
            <a:r>
              <a:rPr sz="1500" b="1" spc="-23" dirty="0">
                <a:latin typeface="Arial"/>
                <a:cs typeface="Arial"/>
              </a:rPr>
              <a:t> </a:t>
            </a:r>
            <a:r>
              <a:rPr sz="1500" b="1" spc="-19" dirty="0">
                <a:latin typeface="Arial"/>
                <a:cs typeface="Arial"/>
              </a:rPr>
              <a:t>to </a:t>
            </a:r>
            <a:r>
              <a:rPr sz="1500" b="1" dirty="0">
                <a:latin typeface="Arial"/>
                <a:cs typeface="Arial"/>
              </a:rPr>
              <a:t>achieve</a:t>
            </a:r>
            <a:r>
              <a:rPr sz="1500" b="1" spc="-26" dirty="0">
                <a:latin typeface="Arial"/>
                <a:cs typeface="Arial"/>
              </a:rPr>
              <a:t> </a:t>
            </a:r>
            <a:r>
              <a:rPr sz="1500" b="1" spc="-38" dirty="0">
                <a:latin typeface="Arial"/>
                <a:cs typeface="Arial"/>
              </a:rPr>
              <a:t>a </a:t>
            </a:r>
            <a:r>
              <a:rPr sz="1500" b="1" dirty="0">
                <a:latin typeface="Arial"/>
                <a:cs typeface="Arial"/>
              </a:rPr>
              <a:t>mission</a:t>
            </a:r>
            <a:r>
              <a:rPr sz="1500" b="1" spc="-53" dirty="0">
                <a:latin typeface="Arial"/>
                <a:cs typeface="Arial"/>
              </a:rPr>
              <a:t> </a:t>
            </a:r>
            <a:r>
              <a:rPr sz="1500" b="1" spc="-15" dirty="0">
                <a:latin typeface="Arial"/>
                <a:cs typeface="Arial"/>
              </a:rPr>
              <a:t>with </a:t>
            </a:r>
            <a:r>
              <a:rPr sz="1500" b="1" dirty="0">
                <a:latin typeface="Arial"/>
                <a:cs typeface="Arial"/>
              </a:rPr>
              <a:t>some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spc="-15" dirty="0">
                <a:latin typeface="Arial"/>
                <a:cs typeface="Arial"/>
              </a:rPr>
              <a:t>type</a:t>
            </a:r>
            <a:r>
              <a:rPr sz="1500" b="1" spc="375" dirty="0">
                <a:latin typeface="Arial"/>
                <a:cs typeface="Arial"/>
              </a:rPr>
              <a:t> </a:t>
            </a:r>
            <a:r>
              <a:rPr sz="1500" b="1" spc="-19" dirty="0">
                <a:latin typeface="Arial"/>
                <a:cs typeface="Arial"/>
              </a:rPr>
              <a:t>of </a:t>
            </a:r>
            <a:r>
              <a:rPr sz="1500" b="1" spc="-8" dirty="0">
                <a:latin typeface="Arial"/>
                <a:cs typeface="Arial"/>
              </a:rPr>
              <a:t>confidence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019250" y="2755513"/>
            <a:ext cx="1105853" cy="703898"/>
            <a:chOff x="5359000" y="3293018"/>
            <a:chExt cx="1474470" cy="938530"/>
          </a:xfrm>
        </p:grpSpPr>
        <p:sp>
          <p:nvSpPr>
            <p:cNvPr id="9" name="object 9"/>
            <p:cNvSpPr/>
            <p:nvPr/>
          </p:nvSpPr>
          <p:spPr>
            <a:xfrm>
              <a:off x="5363762" y="3297780"/>
              <a:ext cx="1464945" cy="929005"/>
            </a:xfrm>
            <a:custGeom>
              <a:avLst/>
              <a:gdLst/>
              <a:ahLst/>
              <a:cxnLst/>
              <a:rect l="l" t="t" r="r" b="b"/>
              <a:pathLst>
                <a:path w="1464945" h="929004">
                  <a:moveTo>
                    <a:pt x="1000163" y="0"/>
                  </a:moveTo>
                  <a:lnTo>
                    <a:pt x="1000163" y="232156"/>
                  </a:lnTo>
                  <a:lnTo>
                    <a:pt x="0" y="232156"/>
                  </a:lnTo>
                  <a:lnTo>
                    <a:pt x="0" y="696468"/>
                  </a:lnTo>
                  <a:lnTo>
                    <a:pt x="1000163" y="696468"/>
                  </a:lnTo>
                  <a:lnTo>
                    <a:pt x="1000163" y="928611"/>
                  </a:lnTo>
                  <a:lnTo>
                    <a:pt x="1464462" y="464312"/>
                  </a:lnTo>
                  <a:lnTo>
                    <a:pt x="1000163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5363762" y="3297780"/>
              <a:ext cx="1464945" cy="929005"/>
            </a:xfrm>
            <a:custGeom>
              <a:avLst/>
              <a:gdLst/>
              <a:ahLst/>
              <a:cxnLst/>
              <a:rect l="l" t="t" r="r" b="b"/>
              <a:pathLst>
                <a:path w="1464945" h="929004">
                  <a:moveTo>
                    <a:pt x="0" y="232156"/>
                  </a:moveTo>
                  <a:lnTo>
                    <a:pt x="1000163" y="232156"/>
                  </a:lnTo>
                  <a:lnTo>
                    <a:pt x="1000163" y="0"/>
                  </a:lnTo>
                  <a:lnTo>
                    <a:pt x="1464462" y="464312"/>
                  </a:lnTo>
                  <a:lnTo>
                    <a:pt x="1000163" y="928611"/>
                  </a:lnTo>
                  <a:lnTo>
                    <a:pt x="1000163" y="696468"/>
                  </a:lnTo>
                  <a:lnTo>
                    <a:pt x="0" y="696468"/>
                  </a:lnTo>
                  <a:lnTo>
                    <a:pt x="0" y="23215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529830" y="141892"/>
            <a:ext cx="8004391" cy="642988"/>
          </a:xfrm>
          <a:prstGeom prst="rect">
            <a:avLst/>
          </a:prstGeom>
        </p:spPr>
        <p:txBody>
          <a:bodyPr vert="horz" wrap="square" lIns="0" tIns="14909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7938">
              <a:spcBef>
                <a:spcPts val="75"/>
              </a:spcBef>
            </a:pPr>
            <a:r>
              <a:rPr dirty="0"/>
              <a:t>Why</a:t>
            </a:r>
            <a:r>
              <a:rPr spc="-38" dirty="0"/>
              <a:t> </a:t>
            </a:r>
            <a:r>
              <a:rPr dirty="0"/>
              <a:t>do</a:t>
            </a:r>
            <a:r>
              <a:rPr spc="-45" dirty="0"/>
              <a:t> </a:t>
            </a:r>
            <a:r>
              <a:rPr dirty="0"/>
              <a:t>environments</a:t>
            </a:r>
            <a:r>
              <a:rPr spc="-45" dirty="0"/>
              <a:t> </a:t>
            </a:r>
            <a:r>
              <a:rPr spc="-8" dirty="0"/>
              <a:t>matter?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424" y="1164432"/>
            <a:ext cx="5690711" cy="324608"/>
          </a:xfrm>
          <a:prstGeom prst="rect">
            <a:avLst/>
          </a:prstGeom>
          <a:ln w="76200">
            <a:solidFill>
              <a:srgbClr val="FF0000"/>
            </a:solidFill>
          </a:ln>
        </p:spPr>
        <p:txBody>
          <a:bodyPr vert="horz" wrap="square" lIns="0" tIns="1429" rIns="0" bIns="0" rtlCol="0">
            <a:spAutoFit/>
          </a:bodyPr>
          <a:lstStyle/>
          <a:p>
            <a:pPr marL="95726">
              <a:spcBef>
                <a:spcPts val="11"/>
              </a:spcBef>
            </a:pPr>
            <a:r>
              <a:rPr sz="2100" b="1" u="sng" spc="-8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Environments</a:t>
            </a:r>
            <a:endParaRPr sz="2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4344" y="1793081"/>
            <a:ext cx="1778794" cy="2501647"/>
          </a:xfrm>
          <a:prstGeom prst="rect">
            <a:avLst/>
          </a:prstGeom>
          <a:ln w="76200">
            <a:solidFill>
              <a:srgbClr val="0000FF"/>
            </a:solidFill>
          </a:ln>
        </p:spPr>
        <p:txBody>
          <a:bodyPr vert="horz" wrap="square" lIns="0" tIns="214313" rIns="0" bIns="0" rtlCol="0">
            <a:spAutoFit/>
          </a:bodyPr>
          <a:lstStyle/>
          <a:p>
            <a:pPr algn="ctr">
              <a:spcBef>
                <a:spcPts val="1688"/>
              </a:spcBef>
            </a:pPr>
            <a:r>
              <a:rPr sz="2100" b="1" u="sng" spc="-8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Products</a:t>
            </a:r>
            <a:endParaRPr sz="2100">
              <a:latin typeface="Arial"/>
              <a:cs typeface="Arial"/>
            </a:endParaRPr>
          </a:p>
          <a:p>
            <a:pPr algn="ctr">
              <a:spcBef>
                <a:spcPts val="1376"/>
              </a:spcBef>
            </a:pPr>
            <a:r>
              <a:rPr sz="1500" b="1" spc="-8" dirty="0">
                <a:latin typeface="Arial"/>
                <a:cs typeface="Arial"/>
              </a:rPr>
              <a:t>System(s)</a:t>
            </a:r>
            <a:endParaRPr sz="1500">
              <a:latin typeface="Arial"/>
              <a:cs typeface="Arial"/>
            </a:endParaRPr>
          </a:p>
          <a:p>
            <a:pPr marL="264319" marR="259080" algn="ctr">
              <a:lnSpc>
                <a:spcPts val="3975"/>
              </a:lnSpc>
              <a:spcBef>
                <a:spcPts val="390"/>
              </a:spcBef>
            </a:pPr>
            <a:r>
              <a:rPr sz="1500" b="1" spc="-8" dirty="0">
                <a:latin typeface="Arial"/>
                <a:cs typeface="Arial"/>
              </a:rPr>
              <a:t>Subsystem(s) Device(s)</a:t>
            </a:r>
            <a:endParaRPr sz="1500">
              <a:latin typeface="Arial"/>
              <a:cs typeface="Arial"/>
            </a:endParaRPr>
          </a:p>
          <a:p>
            <a:pPr>
              <a:spcBef>
                <a:spcPts val="71"/>
              </a:spcBef>
            </a:pPr>
            <a:endParaRPr sz="1500">
              <a:latin typeface="Arial"/>
              <a:cs typeface="Arial"/>
            </a:endParaRPr>
          </a:p>
          <a:p>
            <a:pPr marL="1429" algn="ctr"/>
            <a:r>
              <a:rPr sz="1500" b="1" spc="-8" dirty="0">
                <a:latin typeface="Arial"/>
                <a:cs typeface="Arial"/>
              </a:rPr>
              <a:t>Material(s)</a:t>
            </a:r>
            <a:endParaRPr sz="1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57600" y="1793081"/>
            <a:ext cx="1778794" cy="2565767"/>
          </a:xfrm>
          <a:prstGeom prst="rect">
            <a:avLst/>
          </a:prstGeom>
          <a:ln w="76200">
            <a:solidFill>
              <a:srgbClr val="0000FF"/>
            </a:solidFill>
          </a:ln>
        </p:spPr>
        <p:txBody>
          <a:bodyPr vert="horz" wrap="square" lIns="0" tIns="214313" rIns="0" bIns="0" rtlCol="0">
            <a:spAutoFit/>
          </a:bodyPr>
          <a:lstStyle/>
          <a:p>
            <a:pPr marL="476" algn="ctr">
              <a:spcBef>
                <a:spcPts val="1688"/>
              </a:spcBef>
            </a:pPr>
            <a:r>
              <a:rPr sz="2100" b="1" u="sng" spc="-8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Function</a:t>
            </a:r>
            <a:endParaRPr sz="2100">
              <a:latin typeface="Arial"/>
              <a:cs typeface="Arial"/>
            </a:endParaRPr>
          </a:p>
          <a:p>
            <a:pPr marL="311944" marR="306229" indent="476" algn="ctr">
              <a:spcBef>
                <a:spcPts val="1376"/>
              </a:spcBef>
            </a:pPr>
            <a:r>
              <a:rPr sz="1500" b="1" spc="-8" dirty="0">
                <a:latin typeface="Arial"/>
                <a:cs typeface="Arial"/>
              </a:rPr>
              <a:t>Perform </a:t>
            </a:r>
            <a:r>
              <a:rPr sz="1500" b="1" dirty="0">
                <a:latin typeface="Arial"/>
                <a:cs typeface="Arial"/>
              </a:rPr>
              <a:t>some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spc="-15" dirty="0">
                <a:latin typeface="Arial"/>
                <a:cs typeface="Arial"/>
              </a:rPr>
              <a:t>type</a:t>
            </a:r>
            <a:r>
              <a:rPr sz="1500" b="1" spc="37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of</a:t>
            </a:r>
            <a:r>
              <a:rPr sz="1500" b="1" spc="-23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action</a:t>
            </a:r>
            <a:r>
              <a:rPr sz="1500" b="1" spc="-23" dirty="0">
                <a:latin typeface="Arial"/>
                <a:cs typeface="Arial"/>
              </a:rPr>
              <a:t> </a:t>
            </a:r>
            <a:r>
              <a:rPr sz="1500" b="1" spc="-19" dirty="0">
                <a:latin typeface="Arial"/>
                <a:cs typeface="Arial"/>
              </a:rPr>
              <a:t>to </a:t>
            </a:r>
            <a:r>
              <a:rPr sz="1500" b="1" dirty="0">
                <a:latin typeface="Arial"/>
                <a:cs typeface="Arial"/>
              </a:rPr>
              <a:t>achieve</a:t>
            </a:r>
            <a:r>
              <a:rPr sz="1500" b="1" spc="-26" dirty="0">
                <a:latin typeface="Arial"/>
                <a:cs typeface="Arial"/>
              </a:rPr>
              <a:t> </a:t>
            </a:r>
            <a:r>
              <a:rPr sz="1500" b="1" spc="-38" dirty="0">
                <a:latin typeface="Arial"/>
                <a:cs typeface="Arial"/>
              </a:rPr>
              <a:t>a </a:t>
            </a:r>
            <a:r>
              <a:rPr sz="1500" b="1" dirty="0">
                <a:latin typeface="Arial"/>
                <a:cs typeface="Arial"/>
              </a:rPr>
              <a:t>mission</a:t>
            </a:r>
            <a:r>
              <a:rPr sz="1500" b="1" spc="-53" dirty="0">
                <a:latin typeface="Arial"/>
                <a:cs typeface="Arial"/>
              </a:rPr>
              <a:t> </a:t>
            </a:r>
            <a:r>
              <a:rPr sz="1500" b="1" spc="-15" dirty="0">
                <a:latin typeface="Arial"/>
                <a:cs typeface="Arial"/>
              </a:rPr>
              <a:t>with </a:t>
            </a:r>
            <a:r>
              <a:rPr sz="1500" b="1" dirty="0">
                <a:latin typeface="Arial"/>
                <a:cs typeface="Arial"/>
              </a:rPr>
              <a:t>some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spc="-15" dirty="0">
                <a:latin typeface="Arial"/>
                <a:cs typeface="Arial"/>
              </a:rPr>
              <a:t>type</a:t>
            </a:r>
            <a:r>
              <a:rPr sz="1500" b="1" spc="375" dirty="0">
                <a:latin typeface="Arial"/>
                <a:cs typeface="Arial"/>
              </a:rPr>
              <a:t> </a:t>
            </a:r>
            <a:r>
              <a:rPr sz="1500" b="1" spc="-19" dirty="0">
                <a:latin typeface="Arial"/>
                <a:cs typeface="Arial"/>
              </a:rPr>
              <a:t>of </a:t>
            </a:r>
            <a:r>
              <a:rPr sz="1500" b="1" spc="-8" dirty="0">
                <a:latin typeface="Arial"/>
                <a:cs typeface="Arial"/>
              </a:rPr>
              <a:t>confidence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397619" y="2769800"/>
            <a:ext cx="1105853" cy="703898"/>
            <a:chOff x="3196826" y="3312067"/>
            <a:chExt cx="1474470" cy="938530"/>
          </a:xfrm>
        </p:grpSpPr>
        <p:sp>
          <p:nvSpPr>
            <p:cNvPr id="7" name="object 7"/>
            <p:cNvSpPr/>
            <p:nvPr/>
          </p:nvSpPr>
          <p:spPr>
            <a:xfrm>
              <a:off x="3201587" y="3316829"/>
              <a:ext cx="1464945" cy="929005"/>
            </a:xfrm>
            <a:custGeom>
              <a:avLst/>
              <a:gdLst/>
              <a:ahLst/>
              <a:cxnLst/>
              <a:rect l="l" t="t" r="r" b="b"/>
              <a:pathLst>
                <a:path w="1464945" h="929004">
                  <a:moveTo>
                    <a:pt x="1000163" y="0"/>
                  </a:moveTo>
                  <a:lnTo>
                    <a:pt x="1000163" y="232156"/>
                  </a:lnTo>
                  <a:lnTo>
                    <a:pt x="0" y="232156"/>
                  </a:lnTo>
                  <a:lnTo>
                    <a:pt x="0" y="696468"/>
                  </a:lnTo>
                  <a:lnTo>
                    <a:pt x="1000163" y="696468"/>
                  </a:lnTo>
                  <a:lnTo>
                    <a:pt x="1000163" y="928611"/>
                  </a:lnTo>
                  <a:lnTo>
                    <a:pt x="1464462" y="464312"/>
                  </a:lnTo>
                  <a:lnTo>
                    <a:pt x="1000163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8" name="object 8"/>
            <p:cNvSpPr/>
            <p:nvPr/>
          </p:nvSpPr>
          <p:spPr>
            <a:xfrm>
              <a:off x="3201588" y="3316829"/>
              <a:ext cx="1464945" cy="929005"/>
            </a:xfrm>
            <a:custGeom>
              <a:avLst/>
              <a:gdLst/>
              <a:ahLst/>
              <a:cxnLst/>
              <a:rect l="l" t="t" r="r" b="b"/>
              <a:pathLst>
                <a:path w="1464945" h="929004">
                  <a:moveTo>
                    <a:pt x="0" y="232156"/>
                  </a:moveTo>
                  <a:lnTo>
                    <a:pt x="1000163" y="232156"/>
                  </a:lnTo>
                  <a:lnTo>
                    <a:pt x="1000163" y="0"/>
                  </a:lnTo>
                  <a:lnTo>
                    <a:pt x="1464462" y="464312"/>
                  </a:lnTo>
                  <a:lnTo>
                    <a:pt x="1000163" y="928611"/>
                  </a:lnTo>
                  <a:lnTo>
                    <a:pt x="1000163" y="696468"/>
                  </a:lnTo>
                  <a:lnTo>
                    <a:pt x="0" y="696468"/>
                  </a:lnTo>
                  <a:lnTo>
                    <a:pt x="0" y="23215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236494" y="3429047"/>
            <a:ext cx="2364581" cy="328936"/>
          </a:xfrm>
          <a:prstGeom prst="rect">
            <a:avLst/>
          </a:prstGeom>
          <a:ln w="76200">
            <a:solidFill>
              <a:srgbClr val="FF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 marL="57150">
              <a:spcBef>
                <a:spcPts val="45"/>
              </a:spcBef>
            </a:pPr>
            <a:r>
              <a:rPr sz="2100" b="1" u="sng" spc="-8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Endoatmospheric</a:t>
            </a:r>
            <a:endParaRPr sz="2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36494" y="1164432"/>
            <a:ext cx="2364581" cy="320601"/>
          </a:xfrm>
          <a:prstGeom prst="rect">
            <a:avLst/>
          </a:prstGeom>
          <a:ln w="76200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5256">
              <a:lnSpc>
                <a:spcPts val="2516"/>
              </a:lnSpc>
            </a:pPr>
            <a:r>
              <a:rPr sz="2100" b="1" u="sng" spc="-8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Exoatmospheric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901181" y="2074807"/>
            <a:ext cx="257175" cy="261938"/>
            <a:chOff x="7868241" y="2385410"/>
            <a:chExt cx="342900" cy="349250"/>
          </a:xfrm>
        </p:grpSpPr>
        <p:sp>
          <p:nvSpPr>
            <p:cNvPr id="12" name="object 12"/>
            <p:cNvSpPr/>
            <p:nvPr/>
          </p:nvSpPr>
          <p:spPr>
            <a:xfrm>
              <a:off x="7873003" y="2390171"/>
              <a:ext cx="333375" cy="339725"/>
            </a:xfrm>
            <a:custGeom>
              <a:avLst/>
              <a:gdLst/>
              <a:ahLst/>
              <a:cxnLst/>
              <a:rect l="l" t="t" r="r" b="b"/>
              <a:pathLst>
                <a:path w="333375" h="339725">
                  <a:moveTo>
                    <a:pt x="166687" y="0"/>
                  </a:moveTo>
                  <a:lnTo>
                    <a:pt x="166687" y="84823"/>
                  </a:lnTo>
                  <a:lnTo>
                    <a:pt x="0" y="84823"/>
                  </a:lnTo>
                  <a:lnTo>
                    <a:pt x="0" y="254457"/>
                  </a:lnTo>
                  <a:lnTo>
                    <a:pt x="166687" y="254457"/>
                  </a:lnTo>
                  <a:lnTo>
                    <a:pt x="166687" y="339280"/>
                  </a:lnTo>
                  <a:lnTo>
                    <a:pt x="333375" y="169646"/>
                  </a:lnTo>
                  <a:lnTo>
                    <a:pt x="16668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7873003" y="2390173"/>
              <a:ext cx="333375" cy="339725"/>
            </a:xfrm>
            <a:custGeom>
              <a:avLst/>
              <a:gdLst/>
              <a:ahLst/>
              <a:cxnLst/>
              <a:rect l="l" t="t" r="r" b="b"/>
              <a:pathLst>
                <a:path w="333375" h="339725">
                  <a:moveTo>
                    <a:pt x="0" y="84823"/>
                  </a:moveTo>
                  <a:lnTo>
                    <a:pt x="166687" y="84823"/>
                  </a:lnTo>
                  <a:lnTo>
                    <a:pt x="166687" y="0"/>
                  </a:lnTo>
                  <a:lnTo>
                    <a:pt x="333375" y="169646"/>
                  </a:lnTo>
                  <a:lnTo>
                    <a:pt x="166687" y="339280"/>
                  </a:lnTo>
                  <a:lnTo>
                    <a:pt x="166687" y="254457"/>
                  </a:lnTo>
                  <a:lnTo>
                    <a:pt x="0" y="254457"/>
                  </a:lnTo>
                  <a:lnTo>
                    <a:pt x="0" y="8482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934006" y="2982562"/>
            <a:ext cx="1082040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2100" b="1" dirty="0">
                <a:latin typeface="Arial"/>
                <a:cs typeface="Arial"/>
              </a:rPr>
              <a:t>~100</a:t>
            </a:r>
            <a:r>
              <a:rPr sz="2100" b="1" spc="-34" dirty="0">
                <a:latin typeface="Arial"/>
                <a:cs typeface="Arial"/>
              </a:rPr>
              <a:t> </a:t>
            </a:r>
            <a:r>
              <a:rPr sz="2100" b="1" spc="-19" dirty="0">
                <a:latin typeface="Arial"/>
                <a:cs typeface="Arial"/>
              </a:rPr>
              <a:t>km</a:t>
            </a:r>
            <a:endParaRPr sz="2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57453" y="4124002"/>
            <a:ext cx="880110" cy="718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5" algn="ctr">
              <a:lnSpc>
                <a:spcPts val="1661"/>
              </a:lnSpc>
            </a:pPr>
            <a:r>
              <a:rPr sz="1500" b="1" spc="-8" dirty="0">
                <a:latin typeface="Arial"/>
                <a:cs typeface="Arial"/>
              </a:rPr>
              <a:t>Natural</a:t>
            </a:r>
            <a:endParaRPr sz="1500">
              <a:latin typeface="Arial"/>
              <a:cs typeface="Arial"/>
            </a:endParaRPr>
          </a:p>
          <a:p>
            <a:pPr>
              <a:spcBef>
                <a:spcPts val="341"/>
              </a:spcBef>
            </a:pPr>
            <a:endParaRPr sz="15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500" b="1" spc="-8" dirty="0">
                <a:latin typeface="Arial"/>
                <a:cs typeface="Arial"/>
              </a:rPr>
              <a:t>Manmade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60788" y="1824958"/>
            <a:ext cx="880110" cy="6796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661"/>
              </a:lnSpc>
            </a:pPr>
            <a:r>
              <a:rPr sz="1500" b="1" spc="-8" dirty="0">
                <a:latin typeface="Arial"/>
                <a:cs typeface="Arial"/>
              </a:rPr>
              <a:t>Natural</a:t>
            </a:r>
            <a:endParaRPr sz="1500">
              <a:latin typeface="Arial"/>
              <a:cs typeface="Arial"/>
            </a:endParaRPr>
          </a:p>
          <a:p>
            <a:pPr>
              <a:spcBef>
                <a:spcPts val="49"/>
              </a:spcBef>
            </a:pPr>
            <a:endParaRPr sz="15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500" b="1" spc="-8" dirty="0">
                <a:latin typeface="Arial"/>
                <a:cs typeface="Arial"/>
              </a:rPr>
              <a:t>Manmade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901181" y="3932278"/>
            <a:ext cx="257175" cy="261938"/>
            <a:chOff x="7868241" y="4862037"/>
            <a:chExt cx="342900" cy="349250"/>
          </a:xfrm>
        </p:grpSpPr>
        <p:sp>
          <p:nvSpPr>
            <p:cNvPr id="18" name="object 18"/>
            <p:cNvSpPr/>
            <p:nvPr/>
          </p:nvSpPr>
          <p:spPr>
            <a:xfrm>
              <a:off x="7873003" y="4866799"/>
              <a:ext cx="333375" cy="339725"/>
            </a:xfrm>
            <a:custGeom>
              <a:avLst/>
              <a:gdLst/>
              <a:ahLst/>
              <a:cxnLst/>
              <a:rect l="l" t="t" r="r" b="b"/>
              <a:pathLst>
                <a:path w="333375" h="339725">
                  <a:moveTo>
                    <a:pt x="166687" y="0"/>
                  </a:moveTo>
                  <a:lnTo>
                    <a:pt x="166687" y="84823"/>
                  </a:lnTo>
                  <a:lnTo>
                    <a:pt x="0" y="84823"/>
                  </a:lnTo>
                  <a:lnTo>
                    <a:pt x="0" y="254457"/>
                  </a:lnTo>
                  <a:lnTo>
                    <a:pt x="166687" y="254457"/>
                  </a:lnTo>
                  <a:lnTo>
                    <a:pt x="166687" y="339280"/>
                  </a:lnTo>
                  <a:lnTo>
                    <a:pt x="333375" y="169646"/>
                  </a:lnTo>
                  <a:lnTo>
                    <a:pt x="16668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7873003" y="4866799"/>
              <a:ext cx="333375" cy="339725"/>
            </a:xfrm>
            <a:custGeom>
              <a:avLst/>
              <a:gdLst/>
              <a:ahLst/>
              <a:cxnLst/>
              <a:rect l="l" t="t" r="r" b="b"/>
              <a:pathLst>
                <a:path w="333375" h="339725">
                  <a:moveTo>
                    <a:pt x="0" y="84823"/>
                  </a:moveTo>
                  <a:lnTo>
                    <a:pt x="166687" y="84823"/>
                  </a:lnTo>
                  <a:lnTo>
                    <a:pt x="166687" y="0"/>
                  </a:lnTo>
                  <a:lnTo>
                    <a:pt x="333375" y="169646"/>
                  </a:lnTo>
                  <a:lnTo>
                    <a:pt x="166687" y="339280"/>
                  </a:lnTo>
                  <a:lnTo>
                    <a:pt x="166687" y="254457"/>
                  </a:lnTo>
                  <a:lnTo>
                    <a:pt x="0" y="254457"/>
                  </a:lnTo>
                  <a:lnTo>
                    <a:pt x="0" y="8482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8100946" y="1146722"/>
            <a:ext cx="912971" cy="3966210"/>
            <a:chOff x="10801260" y="1147963"/>
            <a:chExt cx="1217295" cy="5288280"/>
          </a:xfrm>
        </p:grpSpPr>
        <p:sp>
          <p:nvSpPr>
            <p:cNvPr id="21" name="object 21"/>
            <p:cNvSpPr/>
            <p:nvPr/>
          </p:nvSpPr>
          <p:spPr>
            <a:xfrm>
              <a:off x="11674060" y="1152725"/>
              <a:ext cx="339725" cy="2800985"/>
            </a:xfrm>
            <a:custGeom>
              <a:avLst/>
              <a:gdLst/>
              <a:ahLst/>
              <a:cxnLst/>
              <a:rect l="l" t="t" r="r" b="b"/>
              <a:pathLst>
                <a:path w="339725" h="2800985">
                  <a:moveTo>
                    <a:pt x="169646" y="0"/>
                  </a:moveTo>
                  <a:lnTo>
                    <a:pt x="0" y="169633"/>
                  </a:lnTo>
                  <a:lnTo>
                    <a:pt x="84823" y="169633"/>
                  </a:lnTo>
                  <a:lnTo>
                    <a:pt x="84823" y="2800413"/>
                  </a:lnTo>
                  <a:lnTo>
                    <a:pt x="254457" y="2800413"/>
                  </a:lnTo>
                  <a:lnTo>
                    <a:pt x="254457" y="169633"/>
                  </a:lnTo>
                  <a:lnTo>
                    <a:pt x="339280" y="169633"/>
                  </a:lnTo>
                  <a:lnTo>
                    <a:pt x="1696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11674060" y="1152725"/>
              <a:ext cx="339725" cy="2800985"/>
            </a:xfrm>
            <a:custGeom>
              <a:avLst/>
              <a:gdLst/>
              <a:ahLst/>
              <a:cxnLst/>
              <a:rect l="l" t="t" r="r" b="b"/>
              <a:pathLst>
                <a:path w="339725" h="2800985">
                  <a:moveTo>
                    <a:pt x="84823" y="2800413"/>
                  </a:moveTo>
                  <a:lnTo>
                    <a:pt x="84823" y="169633"/>
                  </a:lnTo>
                  <a:lnTo>
                    <a:pt x="0" y="169633"/>
                  </a:lnTo>
                  <a:lnTo>
                    <a:pt x="169646" y="0"/>
                  </a:lnTo>
                  <a:lnTo>
                    <a:pt x="339280" y="169633"/>
                  </a:lnTo>
                  <a:lnTo>
                    <a:pt x="254457" y="169633"/>
                  </a:lnTo>
                  <a:lnTo>
                    <a:pt x="254457" y="2800413"/>
                  </a:lnTo>
                  <a:lnTo>
                    <a:pt x="84823" y="280041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11674060" y="3772109"/>
              <a:ext cx="339725" cy="2659380"/>
            </a:xfrm>
            <a:custGeom>
              <a:avLst/>
              <a:gdLst/>
              <a:ahLst/>
              <a:cxnLst/>
              <a:rect l="l" t="t" r="r" b="b"/>
              <a:pathLst>
                <a:path w="339725" h="2659379">
                  <a:moveTo>
                    <a:pt x="254457" y="0"/>
                  </a:moveTo>
                  <a:lnTo>
                    <a:pt x="84823" y="0"/>
                  </a:lnTo>
                  <a:lnTo>
                    <a:pt x="84823" y="2489593"/>
                  </a:lnTo>
                  <a:lnTo>
                    <a:pt x="0" y="2489593"/>
                  </a:lnTo>
                  <a:lnTo>
                    <a:pt x="169633" y="2659227"/>
                  </a:lnTo>
                  <a:lnTo>
                    <a:pt x="339280" y="2489593"/>
                  </a:lnTo>
                  <a:lnTo>
                    <a:pt x="254457" y="2489593"/>
                  </a:lnTo>
                  <a:lnTo>
                    <a:pt x="2544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24" name="object 24"/>
            <p:cNvSpPr/>
            <p:nvPr/>
          </p:nvSpPr>
          <p:spPr>
            <a:xfrm>
              <a:off x="11674060" y="3772109"/>
              <a:ext cx="339725" cy="2659380"/>
            </a:xfrm>
            <a:custGeom>
              <a:avLst/>
              <a:gdLst/>
              <a:ahLst/>
              <a:cxnLst/>
              <a:rect l="l" t="t" r="r" b="b"/>
              <a:pathLst>
                <a:path w="339725" h="2659379">
                  <a:moveTo>
                    <a:pt x="254457" y="0"/>
                  </a:moveTo>
                  <a:lnTo>
                    <a:pt x="254457" y="2489593"/>
                  </a:lnTo>
                  <a:lnTo>
                    <a:pt x="339280" y="2489593"/>
                  </a:lnTo>
                  <a:lnTo>
                    <a:pt x="169633" y="2659227"/>
                  </a:lnTo>
                  <a:lnTo>
                    <a:pt x="0" y="2489593"/>
                  </a:lnTo>
                  <a:lnTo>
                    <a:pt x="84823" y="2489593"/>
                  </a:lnTo>
                  <a:lnTo>
                    <a:pt x="84823" y="0"/>
                  </a:lnTo>
                  <a:lnTo>
                    <a:pt x="254457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10839360" y="3852861"/>
              <a:ext cx="936625" cy="0"/>
            </a:xfrm>
            <a:custGeom>
              <a:avLst/>
              <a:gdLst/>
              <a:ahLst/>
              <a:cxnLst/>
              <a:rect l="l" t="t" r="r" b="b"/>
              <a:pathLst>
                <a:path w="936625">
                  <a:moveTo>
                    <a:pt x="936586" y="0"/>
                  </a:moveTo>
                  <a:lnTo>
                    <a:pt x="0" y="0"/>
                  </a:lnTo>
                </a:path>
              </a:pathLst>
            </a:custGeom>
            <a:ln w="762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6545399" y="1519517"/>
            <a:ext cx="1695450" cy="3564731"/>
            <a:chOff x="8727199" y="1645022"/>
            <a:chExt cx="2260600" cy="4752975"/>
          </a:xfrm>
        </p:grpSpPr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95607" y="1645022"/>
              <a:ext cx="2192191" cy="165884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27199" y="4682223"/>
              <a:ext cx="2253335" cy="171541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529830" y="141892"/>
            <a:ext cx="8004391" cy="642988"/>
          </a:xfrm>
          <a:prstGeom prst="rect">
            <a:avLst/>
          </a:prstGeom>
        </p:spPr>
        <p:txBody>
          <a:bodyPr vert="horz" wrap="square" lIns="0" tIns="14909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7938">
              <a:spcBef>
                <a:spcPts val="75"/>
              </a:spcBef>
            </a:pPr>
            <a:r>
              <a:rPr dirty="0"/>
              <a:t>Why</a:t>
            </a:r>
            <a:r>
              <a:rPr spc="-38" dirty="0"/>
              <a:t> </a:t>
            </a:r>
            <a:r>
              <a:rPr dirty="0"/>
              <a:t>do</a:t>
            </a:r>
            <a:r>
              <a:rPr spc="-45" dirty="0"/>
              <a:t> </a:t>
            </a:r>
            <a:r>
              <a:rPr dirty="0"/>
              <a:t>environments</a:t>
            </a:r>
            <a:r>
              <a:rPr spc="-45" dirty="0"/>
              <a:t> </a:t>
            </a:r>
            <a:r>
              <a:rPr spc="-8" dirty="0"/>
              <a:t>matter?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9146" y="4740249"/>
            <a:ext cx="8642985" cy="259686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28575" rIns="0" bIns="0" rtlCol="0">
            <a:spAutoFit/>
          </a:bodyPr>
          <a:lstStyle/>
          <a:p>
            <a:pPr marL="326231">
              <a:spcBef>
                <a:spcPts val="225"/>
              </a:spcBef>
            </a:pPr>
            <a:r>
              <a:rPr sz="1500" b="1" dirty="0">
                <a:latin typeface="Arial"/>
                <a:cs typeface="Arial"/>
              </a:rPr>
              <a:t>Environments</a:t>
            </a:r>
            <a:r>
              <a:rPr sz="1500" b="1" spc="-26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-&gt;</a:t>
            </a:r>
            <a:r>
              <a:rPr sz="1500" b="1" spc="-41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produce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effects</a:t>
            </a:r>
            <a:r>
              <a:rPr sz="1500" b="1" spc="-49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-&gt;</a:t>
            </a:r>
            <a:r>
              <a:rPr sz="1500" b="1" spc="-41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can</a:t>
            </a:r>
            <a:r>
              <a:rPr sz="1500" b="1" spc="-34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cause</a:t>
            </a:r>
            <a:r>
              <a:rPr sz="1500" b="1" spc="-34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malfunctions</a:t>
            </a:r>
            <a:r>
              <a:rPr sz="1500" b="1" spc="-53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-&gt;</a:t>
            </a:r>
            <a:r>
              <a:rPr sz="1500" b="1" spc="-41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impact</a:t>
            </a:r>
            <a:r>
              <a:rPr sz="1500" b="1" spc="-38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mission</a:t>
            </a:r>
            <a:r>
              <a:rPr sz="1500" b="1" spc="-38" dirty="0">
                <a:latin typeface="Arial"/>
                <a:cs typeface="Arial"/>
              </a:rPr>
              <a:t> </a:t>
            </a:r>
            <a:r>
              <a:rPr sz="1500" b="1" spc="-8" dirty="0">
                <a:latin typeface="Arial"/>
                <a:cs typeface="Arial"/>
              </a:rPr>
              <a:t>success?</a:t>
            </a:r>
            <a:endParaRPr sz="1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31026" y="4619444"/>
            <a:ext cx="1184434" cy="13135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788" b="1" dirty="0">
                <a:latin typeface="Arial"/>
                <a:cs typeface="Arial"/>
              </a:rPr>
              <a:t>[Credit:</a:t>
            </a:r>
            <a:r>
              <a:rPr sz="788" b="1" spc="-38" dirty="0">
                <a:latin typeface="Arial"/>
                <a:cs typeface="Arial"/>
              </a:rPr>
              <a:t> </a:t>
            </a:r>
            <a:r>
              <a:rPr sz="788" b="1" spc="-8" dirty="0">
                <a:latin typeface="Arial"/>
                <a:cs typeface="Arial"/>
              </a:rPr>
              <a:t>ESA/NASA/NRL]</a:t>
            </a:r>
            <a:endParaRPr sz="788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42544" y="1319666"/>
            <a:ext cx="3313766" cy="332673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056289" y="1141438"/>
            <a:ext cx="4088130" cy="19188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0004" rIns="0" bIns="0" rtlCol="0">
            <a:spAutoFit/>
          </a:bodyPr>
          <a:lstStyle/>
          <a:p>
            <a:pPr marL="102870">
              <a:spcBef>
                <a:spcPts val="236"/>
              </a:spcBef>
            </a:pPr>
            <a:r>
              <a:rPr sz="1050" b="1" dirty="0">
                <a:latin typeface="Arial"/>
                <a:cs typeface="Arial"/>
              </a:rPr>
              <a:t>SOHO/LASCO</a:t>
            </a:r>
            <a:r>
              <a:rPr sz="1050" b="1" spc="-4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imager</a:t>
            </a:r>
            <a:r>
              <a:rPr sz="1050" b="1" spc="-38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during</a:t>
            </a:r>
            <a:r>
              <a:rPr sz="1050" b="1" spc="-38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Oct</a:t>
            </a:r>
            <a:r>
              <a:rPr sz="1050" b="1" spc="-34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28,</a:t>
            </a:r>
            <a:r>
              <a:rPr sz="1050" b="1" spc="-34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2003</a:t>
            </a:r>
            <a:r>
              <a:rPr sz="1050" b="1" spc="-41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solar</a:t>
            </a:r>
            <a:r>
              <a:rPr sz="1050" b="1" spc="-30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particle</a:t>
            </a:r>
            <a:r>
              <a:rPr sz="1050" b="1" spc="-53" dirty="0">
                <a:latin typeface="Arial"/>
                <a:cs typeface="Arial"/>
              </a:rPr>
              <a:t> </a:t>
            </a:r>
            <a:r>
              <a:rPr sz="1050" b="1" spc="-8" dirty="0">
                <a:latin typeface="Arial"/>
                <a:cs typeface="Arial"/>
              </a:rPr>
              <a:t>event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8700" y="1376838"/>
            <a:ext cx="3216728" cy="321672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03610" y="1169358"/>
            <a:ext cx="3870960" cy="17168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1050" b="1" dirty="0">
                <a:latin typeface="Arial"/>
                <a:cs typeface="Arial"/>
              </a:rPr>
              <a:t>SOHO/LASCO</a:t>
            </a:r>
            <a:r>
              <a:rPr sz="1050" b="1" spc="-4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imager</a:t>
            </a:r>
            <a:r>
              <a:rPr sz="1050" b="1" spc="-38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during</a:t>
            </a:r>
            <a:r>
              <a:rPr sz="1050" b="1" spc="-41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Jul</a:t>
            </a:r>
            <a:r>
              <a:rPr sz="1050" b="1" spc="-30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14,</a:t>
            </a:r>
            <a:r>
              <a:rPr sz="1050" b="1" spc="-34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2000</a:t>
            </a:r>
            <a:r>
              <a:rPr sz="1050" b="1" spc="-41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solar</a:t>
            </a:r>
            <a:r>
              <a:rPr sz="1050" b="1" spc="-34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particle</a:t>
            </a:r>
            <a:r>
              <a:rPr sz="1050" b="1" spc="-53" dirty="0">
                <a:latin typeface="Arial"/>
                <a:cs typeface="Arial"/>
              </a:rPr>
              <a:t> </a:t>
            </a:r>
            <a:r>
              <a:rPr sz="1050" b="1" spc="-8" dirty="0">
                <a:latin typeface="Arial"/>
                <a:cs typeface="Arial"/>
              </a:rPr>
              <a:t>event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934E3-82B5-210C-7420-CC4AD6114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1E9CBE35-106D-2BEC-89DD-202F23A2C151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0" y="285750"/>
            <a:ext cx="0" cy="1317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069"/>
              </a:lnSpc>
            </a:pPr>
            <a:fld id="{81D60167-4931-47E6-BA6A-407CBD079E47}" type="slidenum">
              <a:rPr spc="-38" dirty="0">
                <a:solidFill>
                  <a:srgbClr val="FFFFFF"/>
                </a:solidFill>
              </a:rPr>
              <a:pPr marL="76200">
                <a:lnSpc>
                  <a:spcPts val="1069"/>
                </a:lnSpc>
              </a:pPr>
              <a:t>38</a:t>
            </a:fld>
            <a:endParaRPr spc="-38" dirty="0">
              <a:solidFill>
                <a:srgbClr val="FFFFFF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7B2C140B-DE45-CAC1-CDD9-7C70C1CA31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Section Topics/Outline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28DED2B6-26F7-BCA0-E7AB-5ED742422375}"/>
              </a:ext>
            </a:extLst>
          </p:cNvPr>
          <p:cNvSpPr txBox="1"/>
          <p:nvPr/>
        </p:nvSpPr>
        <p:spPr>
          <a:xfrm>
            <a:off x="744846" y="1058645"/>
            <a:ext cx="7328535" cy="1590339"/>
          </a:xfrm>
          <a:prstGeom prst="rect">
            <a:avLst/>
          </a:prstGeom>
        </p:spPr>
        <p:txBody>
          <a:bodyPr vert="horz" wrap="square" lIns="0" tIns="58579" rIns="0" bIns="0" rtlCol="0">
            <a:spAutoFit/>
          </a:bodyPr>
          <a:lstStyle/>
          <a:p>
            <a:pPr marL="182403" indent="-172878">
              <a:spcBef>
                <a:spcPts val="461"/>
              </a:spcBef>
              <a:buClr>
                <a:srgbClr val="E6E6E6"/>
              </a:buClr>
              <a:buFont typeface="Arial"/>
              <a:buChar char="•"/>
              <a:tabLst>
                <a:tab pos="182403" algn="l"/>
              </a:tabLst>
            </a:pP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What</a:t>
            </a:r>
            <a:r>
              <a:rPr sz="1800" b="1" spc="-30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are</a:t>
            </a:r>
            <a:r>
              <a:rPr sz="1800" b="1" spc="-26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the</a:t>
            </a:r>
            <a:r>
              <a:rPr sz="1800" b="1" spc="-30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sources</a:t>
            </a:r>
            <a:r>
              <a:rPr sz="1800" b="1" spc="-19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of</a:t>
            </a:r>
            <a:r>
              <a:rPr sz="1800" b="1" spc="-30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the</a:t>
            </a:r>
            <a:r>
              <a:rPr sz="1800" b="1" spc="-30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natural</a:t>
            </a:r>
            <a:r>
              <a:rPr sz="1800" b="1" spc="-30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space</a:t>
            </a:r>
            <a:r>
              <a:rPr sz="1800" b="1" spc="-15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radiation</a:t>
            </a:r>
            <a:r>
              <a:rPr sz="1800" b="1" spc="-45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spc="-8" dirty="0">
                <a:solidFill>
                  <a:srgbClr val="E6E6E6"/>
                </a:solidFill>
                <a:latin typeface="Arial"/>
                <a:cs typeface="Arial"/>
              </a:rPr>
              <a:t>environment?</a:t>
            </a:r>
            <a:endParaRPr sz="1800" dirty="0">
              <a:latin typeface="Arial"/>
              <a:cs typeface="Arial"/>
            </a:endParaRPr>
          </a:p>
          <a:p>
            <a:pPr marL="182403" indent="-172878">
              <a:spcBef>
                <a:spcPts val="386"/>
              </a:spcBef>
              <a:buFont typeface="Arial"/>
              <a:buChar char="•"/>
              <a:tabLst>
                <a:tab pos="182403" algn="l"/>
              </a:tabLst>
            </a:pP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What</a:t>
            </a:r>
            <a:r>
              <a:rPr sz="1800" b="1" spc="-23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role</a:t>
            </a:r>
            <a:r>
              <a:rPr sz="1800" b="1" spc="-26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does</a:t>
            </a:r>
            <a:r>
              <a:rPr sz="1800" b="1" spc="-15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the</a:t>
            </a:r>
            <a:r>
              <a:rPr sz="1800" b="1" spc="-26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Sun</a:t>
            </a:r>
            <a:r>
              <a:rPr sz="1800" b="1" spc="-26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play</a:t>
            </a:r>
            <a:r>
              <a:rPr sz="1800" b="1" spc="-23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on</a:t>
            </a:r>
            <a:r>
              <a:rPr sz="1800" b="1" spc="-26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6E6E6"/>
                </a:solidFill>
                <a:latin typeface="Arial"/>
                <a:cs typeface="Arial"/>
              </a:rPr>
              <a:t>these</a:t>
            </a:r>
            <a:r>
              <a:rPr sz="1800" b="1" spc="-19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sz="1800" b="1" spc="-8" dirty="0">
                <a:solidFill>
                  <a:srgbClr val="E6E6E6"/>
                </a:solidFill>
                <a:latin typeface="Arial"/>
                <a:cs typeface="Arial"/>
              </a:rPr>
              <a:t>environments?</a:t>
            </a:r>
            <a:endParaRPr sz="1800" dirty="0">
              <a:latin typeface="Arial"/>
              <a:cs typeface="Arial"/>
            </a:endParaRPr>
          </a:p>
          <a:p>
            <a:pPr marL="182403" indent="-172878">
              <a:spcBef>
                <a:spcPts val="386"/>
              </a:spcBef>
              <a:buFont typeface="Arial"/>
              <a:buChar char="•"/>
              <a:tabLst>
                <a:tab pos="182403" algn="l"/>
              </a:tabLst>
            </a:pPr>
            <a:r>
              <a:rPr sz="1800" b="1" dirty="0">
                <a:latin typeface="Arial"/>
                <a:cs typeface="Arial"/>
              </a:rPr>
              <a:t>Why</a:t>
            </a:r>
            <a:r>
              <a:rPr sz="1800" b="1" spc="-26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do</a:t>
            </a:r>
            <a:r>
              <a:rPr sz="1800" b="1" spc="-23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environments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matter?</a:t>
            </a:r>
            <a:endParaRPr sz="1800" dirty="0">
              <a:latin typeface="Arial"/>
              <a:cs typeface="Arial"/>
            </a:endParaRPr>
          </a:p>
          <a:p>
            <a:pPr marL="182880">
              <a:spcBef>
                <a:spcPts val="310"/>
              </a:spcBef>
            </a:pPr>
            <a:r>
              <a:rPr sz="15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500" spc="7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Environmental</a:t>
            </a:r>
            <a:r>
              <a:rPr sz="1500" b="1" spc="-2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impacts</a:t>
            </a:r>
            <a:r>
              <a:rPr sz="1500" b="1" spc="-4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on</a:t>
            </a:r>
            <a:r>
              <a:rPr sz="1500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common</a:t>
            </a:r>
            <a:r>
              <a:rPr sz="1500" b="1" spc="-2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orbit</a:t>
            </a:r>
            <a:r>
              <a:rPr sz="1500" b="1" spc="-3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regimes</a:t>
            </a:r>
            <a:endParaRPr sz="1500" dirty="0">
              <a:latin typeface="Arial"/>
              <a:cs typeface="Arial"/>
            </a:endParaRPr>
          </a:p>
          <a:p>
            <a:pPr marL="182403" indent="-172878">
              <a:spcBef>
                <a:spcPts val="382"/>
              </a:spcBef>
              <a:buFont typeface="Arial"/>
              <a:buChar char="•"/>
              <a:tabLst>
                <a:tab pos="182403" algn="l"/>
              </a:tabLst>
            </a:pPr>
            <a:r>
              <a:rPr sz="1800" b="1" spc="-8" dirty="0">
                <a:solidFill>
                  <a:srgbClr val="E6E6E6"/>
                </a:solidFill>
                <a:latin typeface="Arial"/>
                <a:cs typeface="Arial"/>
              </a:rPr>
              <a:t>Summary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221D2688-89E4-1BC2-D3CE-E1B7149A66E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68440" y="2316347"/>
            <a:ext cx="6729652" cy="290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9434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529830" y="80076"/>
            <a:ext cx="8004391" cy="766620"/>
          </a:xfrm>
          <a:prstGeom prst="rect">
            <a:avLst/>
          </a:prstGeom>
        </p:spPr>
        <p:txBody>
          <a:bodyPr vert="horz" wrap="square" lIns="0" tIns="952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3086"/>
              </a:lnSpc>
              <a:spcBef>
                <a:spcPts val="75"/>
              </a:spcBef>
            </a:pPr>
            <a:r>
              <a:rPr dirty="0"/>
              <a:t>Effect</a:t>
            </a:r>
            <a:r>
              <a:rPr spc="-49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the</a:t>
            </a:r>
            <a:r>
              <a:rPr spc="-41" dirty="0"/>
              <a:t> </a:t>
            </a:r>
            <a:r>
              <a:rPr dirty="0"/>
              <a:t>Environment</a:t>
            </a:r>
            <a:r>
              <a:rPr spc="-45" dirty="0"/>
              <a:t> </a:t>
            </a:r>
            <a:r>
              <a:rPr dirty="0"/>
              <a:t>on</a:t>
            </a:r>
            <a:r>
              <a:rPr spc="-45" dirty="0"/>
              <a:t> </a:t>
            </a:r>
            <a:r>
              <a:rPr spc="-8" dirty="0"/>
              <a:t>Mission</a:t>
            </a:r>
            <a:br>
              <a:rPr lang="en-US" spc="-8" dirty="0"/>
            </a:br>
            <a:r>
              <a:rPr sz="1500" dirty="0">
                <a:solidFill>
                  <a:srgbClr val="8B8D8E"/>
                </a:solidFill>
              </a:rPr>
              <a:t>Low</a:t>
            </a:r>
            <a:r>
              <a:rPr sz="1500" spc="-34" dirty="0">
                <a:solidFill>
                  <a:srgbClr val="8B8D8E"/>
                </a:solidFill>
              </a:rPr>
              <a:t> </a:t>
            </a:r>
            <a:r>
              <a:rPr sz="1500" dirty="0">
                <a:solidFill>
                  <a:srgbClr val="8B8D8E"/>
                </a:solidFill>
              </a:rPr>
              <a:t>Earth</a:t>
            </a:r>
            <a:r>
              <a:rPr sz="1500" spc="-38" dirty="0">
                <a:solidFill>
                  <a:srgbClr val="8B8D8E"/>
                </a:solidFill>
              </a:rPr>
              <a:t> </a:t>
            </a:r>
            <a:r>
              <a:rPr sz="1500" dirty="0">
                <a:solidFill>
                  <a:srgbClr val="8B8D8E"/>
                </a:solidFill>
              </a:rPr>
              <a:t>Orbit</a:t>
            </a:r>
            <a:r>
              <a:rPr sz="1500" spc="-26" dirty="0">
                <a:solidFill>
                  <a:srgbClr val="8B8D8E"/>
                </a:solidFill>
              </a:rPr>
              <a:t> </a:t>
            </a:r>
            <a:r>
              <a:rPr sz="1500" dirty="0">
                <a:solidFill>
                  <a:srgbClr val="8B8D8E"/>
                </a:solidFill>
              </a:rPr>
              <a:t>(LEO)</a:t>
            </a:r>
            <a:r>
              <a:rPr sz="1500" spc="-23" dirty="0">
                <a:solidFill>
                  <a:srgbClr val="8B8D8E"/>
                </a:solidFill>
              </a:rPr>
              <a:t> </a:t>
            </a:r>
            <a:endParaRPr sz="1500" dirty="0">
              <a:solidFill>
                <a:srgbClr val="8B8D8E"/>
              </a:solidFill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371833"/>
              </p:ext>
            </p:extLst>
          </p:nvPr>
        </p:nvGraphicFramePr>
        <p:xfrm>
          <a:off x="293019" y="1357310"/>
          <a:ext cx="4674395" cy="25479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7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5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7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77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3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Levels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Orbits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Env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4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Solar</a:t>
                      </a:r>
                      <a:r>
                        <a:rPr sz="1400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Max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4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Solar</a:t>
                      </a:r>
                      <a:r>
                        <a:rPr sz="1400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Min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LEO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(Low</a:t>
                      </a:r>
                      <a:r>
                        <a:rPr sz="140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Inc)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943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LEO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281940">
                        <a:lnSpc>
                          <a:spcPct val="100000"/>
                        </a:lnSpc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(Polar)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584">
                <a:tc>
                  <a:txBody>
                    <a:bodyPr/>
                    <a:lstStyle/>
                    <a:p>
                      <a:pPr marL="212090" marR="203835" indent="-19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Trapped </a:t>
                      </a:r>
                      <a:r>
                        <a:rPr sz="1100" spc="-10" dirty="0">
                          <a:latin typeface="Arial"/>
                          <a:cs typeface="Arial"/>
                        </a:rPr>
                        <a:t>Electron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Higher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Lower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Moderate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Moderate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584">
                <a:tc>
                  <a:txBody>
                    <a:bodyPr/>
                    <a:lstStyle/>
                    <a:p>
                      <a:pPr marL="238125" marR="203835" indent="-279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Trapped </a:t>
                      </a:r>
                      <a:r>
                        <a:rPr sz="1100" spc="-10" dirty="0">
                          <a:latin typeface="Arial"/>
                          <a:cs typeface="Arial"/>
                        </a:rPr>
                        <a:t>Protons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Lower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Higher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Yes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Yes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249238" marR="243840" indent="-14288">
                        <a:lnSpc>
                          <a:spcPct val="100000"/>
                        </a:lnSpc>
                        <a:spcBef>
                          <a:spcPts val="310"/>
                        </a:spcBef>
                        <a:tabLst/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Solar</a:t>
                      </a:r>
                      <a:endParaRPr lang="en-US" sz="1100" spc="-10" dirty="0">
                        <a:latin typeface="Arial"/>
                        <a:cs typeface="Arial"/>
                      </a:endParaRPr>
                    </a:p>
                    <a:p>
                      <a:pPr marL="249238" marR="243840" indent="-14288">
                        <a:lnSpc>
                          <a:spcPct val="100000"/>
                        </a:lnSpc>
                        <a:spcBef>
                          <a:spcPts val="310"/>
                        </a:spcBef>
                        <a:tabLst/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Particle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86690" marR="180975" indent="19621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More </a:t>
                      </a:r>
                      <a:r>
                        <a:rPr sz="1100" spc="-10" dirty="0">
                          <a:latin typeface="Arial"/>
                          <a:cs typeface="Arial"/>
                        </a:rPr>
                        <a:t>Frequent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73990" marR="169545" indent="2159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Less </a:t>
                      </a:r>
                      <a:r>
                        <a:rPr sz="1100" spc="-10" dirty="0">
                          <a:latin typeface="Arial"/>
                          <a:cs typeface="Arial"/>
                        </a:rPr>
                        <a:t>Frequent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No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Yes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GCRs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6953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Lower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53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Higher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53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Moderate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53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Yes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6953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35180" y="1100387"/>
            <a:ext cx="3009585" cy="194377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982228" y="3313524"/>
            <a:ext cx="3955733" cy="1683544"/>
            <a:chOff x="6642971" y="4037031"/>
            <a:chExt cx="5274310" cy="224472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42971" y="4324253"/>
              <a:ext cx="3551001" cy="166679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00437" y="4037031"/>
              <a:ext cx="2116251" cy="224468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703469" y="3234507"/>
            <a:ext cx="126920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b="1" dirty="0">
                <a:latin typeface="Arial"/>
                <a:cs typeface="Arial"/>
              </a:rPr>
              <a:t>Low</a:t>
            </a:r>
            <a:r>
              <a:rPr sz="1350" b="1" spc="-23" dirty="0">
                <a:latin typeface="Arial"/>
                <a:cs typeface="Arial"/>
              </a:rPr>
              <a:t> </a:t>
            </a:r>
            <a:r>
              <a:rPr sz="1350" b="1" spc="-8" dirty="0">
                <a:latin typeface="Arial"/>
                <a:cs typeface="Arial"/>
              </a:rPr>
              <a:t>Inclination</a:t>
            </a:r>
            <a:endParaRPr sz="13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73728" y="3230564"/>
            <a:ext cx="447675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b="1" spc="-8" dirty="0">
                <a:latin typeface="Arial"/>
                <a:cs typeface="Arial"/>
              </a:rPr>
              <a:t>Polar</a:t>
            </a:r>
            <a:endParaRPr sz="13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01767" y="5226915"/>
            <a:ext cx="7540466" cy="323374"/>
          </a:xfrm>
          <a:custGeom>
            <a:avLst/>
            <a:gdLst/>
            <a:ahLst/>
            <a:cxnLst/>
            <a:rect l="l" t="t" r="r" b="b"/>
            <a:pathLst>
              <a:path w="10053955" h="431165">
                <a:moveTo>
                  <a:pt x="10053574" y="0"/>
                </a:moveTo>
                <a:lnTo>
                  <a:pt x="0" y="0"/>
                </a:lnTo>
                <a:lnTo>
                  <a:pt x="0" y="430885"/>
                </a:lnTo>
                <a:lnTo>
                  <a:pt x="10053574" y="430885"/>
                </a:lnTo>
                <a:lnTo>
                  <a:pt x="10053574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2" name="object 12"/>
          <p:cNvSpPr txBox="1"/>
          <p:nvPr/>
        </p:nvSpPr>
        <p:spPr>
          <a:xfrm>
            <a:off x="1343263" y="5287295"/>
            <a:ext cx="6457474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98"/>
              </a:lnSpc>
            </a:pPr>
            <a:r>
              <a:rPr sz="1650" b="1" dirty="0">
                <a:latin typeface="Arial"/>
                <a:cs typeface="Arial"/>
              </a:rPr>
              <a:t>Modeling</a:t>
            </a:r>
            <a:r>
              <a:rPr sz="1650" b="1" spc="-23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and</a:t>
            </a:r>
            <a:r>
              <a:rPr sz="1650" b="1" spc="-38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simulation</a:t>
            </a:r>
            <a:r>
              <a:rPr sz="1650" b="1" spc="-26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is</a:t>
            </a:r>
            <a:r>
              <a:rPr sz="1650" b="1" spc="-45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required</a:t>
            </a:r>
            <a:r>
              <a:rPr sz="1650" b="1" spc="-30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to</a:t>
            </a:r>
            <a:r>
              <a:rPr sz="1650" b="1" spc="-34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specify</a:t>
            </a:r>
            <a:r>
              <a:rPr sz="1650" b="1" spc="-34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the</a:t>
            </a:r>
            <a:r>
              <a:rPr sz="1650" b="1" spc="-38" dirty="0">
                <a:latin typeface="Arial"/>
                <a:cs typeface="Arial"/>
              </a:rPr>
              <a:t> </a:t>
            </a:r>
            <a:r>
              <a:rPr sz="1650" b="1" spc="-8" dirty="0">
                <a:latin typeface="Arial"/>
                <a:cs typeface="Arial"/>
              </a:rPr>
              <a:t>environments</a:t>
            </a:r>
            <a:endParaRPr sz="16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529830" y="80075"/>
            <a:ext cx="8004391" cy="766620"/>
          </a:xfrm>
          <a:prstGeom prst="rect">
            <a:avLst/>
          </a:prstGeom>
        </p:spPr>
        <p:txBody>
          <a:bodyPr vert="horz" wrap="square" lIns="0" tIns="952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3086"/>
              </a:lnSpc>
              <a:spcBef>
                <a:spcPts val="75"/>
              </a:spcBef>
            </a:pPr>
            <a:r>
              <a:rPr dirty="0"/>
              <a:t>Effect</a:t>
            </a:r>
            <a:r>
              <a:rPr spc="-49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the</a:t>
            </a:r>
            <a:r>
              <a:rPr spc="-41" dirty="0"/>
              <a:t> </a:t>
            </a:r>
            <a:r>
              <a:rPr dirty="0"/>
              <a:t>Environment</a:t>
            </a:r>
            <a:r>
              <a:rPr spc="-45" dirty="0"/>
              <a:t> </a:t>
            </a:r>
            <a:r>
              <a:rPr dirty="0"/>
              <a:t>on</a:t>
            </a:r>
            <a:r>
              <a:rPr spc="-45" dirty="0"/>
              <a:t> </a:t>
            </a:r>
            <a:r>
              <a:rPr spc="-8" dirty="0"/>
              <a:t>Mission</a:t>
            </a:r>
            <a:br>
              <a:rPr lang="en-US" spc="-8" dirty="0"/>
            </a:br>
            <a:r>
              <a:rPr sz="1500" dirty="0">
                <a:solidFill>
                  <a:srgbClr val="8B8D8E"/>
                </a:solidFill>
              </a:rPr>
              <a:t>Medium</a:t>
            </a:r>
            <a:r>
              <a:rPr sz="1500" spc="-30" dirty="0">
                <a:solidFill>
                  <a:srgbClr val="8B8D8E"/>
                </a:solidFill>
              </a:rPr>
              <a:t> </a:t>
            </a:r>
            <a:r>
              <a:rPr sz="1500" dirty="0">
                <a:solidFill>
                  <a:srgbClr val="8B8D8E"/>
                </a:solidFill>
              </a:rPr>
              <a:t>Earth</a:t>
            </a:r>
            <a:r>
              <a:rPr sz="1500" spc="-41" dirty="0">
                <a:solidFill>
                  <a:srgbClr val="8B8D8E"/>
                </a:solidFill>
              </a:rPr>
              <a:t> </a:t>
            </a:r>
            <a:r>
              <a:rPr sz="1500" dirty="0">
                <a:solidFill>
                  <a:srgbClr val="8B8D8E"/>
                </a:solidFill>
              </a:rPr>
              <a:t>Orbit</a:t>
            </a:r>
            <a:r>
              <a:rPr sz="1500" spc="-38" dirty="0">
                <a:solidFill>
                  <a:srgbClr val="8B8D8E"/>
                </a:solidFill>
              </a:rPr>
              <a:t> </a:t>
            </a:r>
            <a:r>
              <a:rPr sz="1500" dirty="0">
                <a:solidFill>
                  <a:srgbClr val="8B8D8E"/>
                </a:solidFill>
              </a:rPr>
              <a:t>(MEO)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940559"/>
              </p:ext>
            </p:extLst>
          </p:nvPr>
        </p:nvGraphicFramePr>
        <p:xfrm>
          <a:off x="295167" y="1479154"/>
          <a:ext cx="3918109" cy="23421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0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48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39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9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38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Levels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Orbits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Env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Solar</a:t>
                      </a:r>
                      <a:r>
                        <a:rPr sz="1400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Max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Solar</a:t>
                      </a:r>
                      <a:r>
                        <a:rPr sz="1400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Min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MEO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94615" marR="85725" indent="-31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Trapped </a:t>
                      </a:r>
                      <a:r>
                        <a:rPr sz="1100" spc="-10" dirty="0">
                          <a:latin typeface="Arial"/>
                          <a:cs typeface="Arial"/>
                        </a:rPr>
                        <a:t>Electron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Higher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Lower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Severe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584">
                <a:tc>
                  <a:txBody>
                    <a:bodyPr/>
                    <a:lstStyle/>
                    <a:p>
                      <a:pPr marL="118745" marR="85725" indent="-279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Trapped </a:t>
                      </a:r>
                      <a:r>
                        <a:rPr sz="1100" spc="-10" dirty="0">
                          <a:latin typeface="Arial"/>
                          <a:cs typeface="Arial"/>
                        </a:rPr>
                        <a:t>Protons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Lower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Higher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Severe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131763" marR="124460" indent="-14288">
                        <a:lnSpc>
                          <a:spcPct val="100000"/>
                        </a:lnSpc>
                        <a:spcBef>
                          <a:spcPts val="310"/>
                        </a:spcBef>
                        <a:tabLst/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Solar Particle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60020" marR="153035" indent="19621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More </a:t>
                      </a:r>
                      <a:r>
                        <a:rPr sz="1100" spc="-10" dirty="0">
                          <a:latin typeface="Arial"/>
                          <a:cs typeface="Arial"/>
                        </a:rPr>
                        <a:t>Frequent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39065" marR="132715" indent="214629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Less </a:t>
                      </a:r>
                      <a:r>
                        <a:rPr sz="1100" spc="-10" dirty="0">
                          <a:latin typeface="Arial"/>
                          <a:cs typeface="Arial"/>
                        </a:rPr>
                        <a:t>Frequent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Yes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GCRs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53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Lower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53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Higher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53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Yes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6953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4568428" y="1483919"/>
            <a:ext cx="4122420" cy="2614136"/>
            <a:chOff x="6091237" y="1597558"/>
            <a:chExt cx="5496560" cy="348551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64300" y="1597558"/>
              <a:ext cx="5223256" cy="348542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096000" y="3994480"/>
              <a:ext cx="846455" cy="727710"/>
            </a:xfrm>
            <a:custGeom>
              <a:avLst/>
              <a:gdLst/>
              <a:ahLst/>
              <a:cxnLst/>
              <a:rect l="l" t="t" r="r" b="b"/>
              <a:pathLst>
                <a:path w="846454" h="727710">
                  <a:moveTo>
                    <a:pt x="846226" y="0"/>
                  </a:moveTo>
                  <a:lnTo>
                    <a:pt x="0" y="0"/>
                  </a:lnTo>
                  <a:lnTo>
                    <a:pt x="0" y="727621"/>
                  </a:lnTo>
                  <a:lnTo>
                    <a:pt x="846226" y="727621"/>
                  </a:lnTo>
                  <a:lnTo>
                    <a:pt x="8462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7" name="object 7"/>
            <p:cNvSpPr/>
            <p:nvPr/>
          </p:nvSpPr>
          <p:spPr>
            <a:xfrm>
              <a:off x="6096000" y="3994480"/>
              <a:ext cx="846455" cy="727710"/>
            </a:xfrm>
            <a:custGeom>
              <a:avLst/>
              <a:gdLst/>
              <a:ahLst/>
              <a:cxnLst/>
              <a:rect l="l" t="t" r="r" b="b"/>
              <a:pathLst>
                <a:path w="846454" h="727710">
                  <a:moveTo>
                    <a:pt x="0" y="0"/>
                  </a:moveTo>
                  <a:lnTo>
                    <a:pt x="846226" y="0"/>
                  </a:lnTo>
                  <a:lnTo>
                    <a:pt x="846226" y="727621"/>
                  </a:lnTo>
                  <a:lnTo>
                    <a:pt x="0" y="72762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8" name="object 8"/>
          <p:cNvSpPr/>
          <p:nvPr/>
        </p:nvSpPr>
        <p:spPr>
          <a:xfrm>
            <a:off x="801767" y="5218142"/>
            <a:ext cx="7540466" cy="323374"/>
          </a:xfrm>
          <a:custGeom>
            <a:avLst/>
            <a:gdLst/>
            <a:ahLst/>
            <a:cxnLst/>
            <a:rect l="l" t="t" r="r" b="b"/>
            <a:pathLst>
              <a:path w="10053955" h="431165">
                <a:moveTo>
                  <a:pt x="10053574" y="0"/>
                </a:moveTo>
                <a:lnTo>
                  <a:pt x="0" y="0"/>
                </a:lnTo>
                <a:lnTo>
                  <a:pt x="0" y="430885"/>
                </a:lnTo>
                <a:lnTo>
                  <a:pt x="10053574" y="430885"/>
                </a:lnTo>
                <a:lnTo>
                  <a:pt x="10053574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0" name="object 10"/>
          <p:cNvSpPr txBox="1"/>
          <p:nvPr/>
        </p:nvSpPr>
        <p:spPr>
          <a:xfrm>
            <a:off x="1342473" y="5257004"/>
            <a:ext cx="6457474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98"/>
              </a:lnSpc>
            </a:pPr>
            <a:r>
              <a:rPr sz="1650" b="1" dirty="0">
                <a:latin typeface="Arial"/>
                <a:cs typeface="Arial"/>
              </a:rPr>
              <a:t>Modeling</a:t>
            </a:r>
            <a:r>
              <a:rPr sz="1650" b="1" spc="-23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and</a:t>
            </a:r>
            <a:r>
              <a:rPr sz="1650" b="1" spc="-38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simulation</a:t>
            </a:r>
            <a:r>
              <a:rPr sz="1650" b="1" spc="-26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is</a:t>
            </a:r>
            <a:r>
              <a:rPr sz="1650" b="1" spc="-45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required</a:t>
            </a:r>
            <a:r>
              <a:rPr sz="1650" b="1" spc="-30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to</a:t>
            </a:r>
            <a:r>
              <a:rPr sz="1650" b="1" spc="-34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specify</a:t>
            </a:r>
            <a:r>
              <a:rPr sz="1650" b="1" spc="-34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the</a:t>
            </a:r>
            <a:r>
              <a:rPr sz="1650" b="1" spc="-38" dirty="0">
                <a:latin typeface="Arial"/>
                <a:cs typeface="Arial"/>
              </a:rPr>
              <a:t> </a:t>
            </a:r>
            <a:r>
              <a:rPr sz="1650" b="1" spc="-8" dirty="0">
                <a:latin typeface="Arial"/>
                <a:cs typeface="Arial"/>
              </a:rPr>
              <a:t>environments</a:t>
            </a:r>
            <a:endParaRPr sz="16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529830" y="80076"/>
            <a:ext cx="8004391" cy="766620"/>
          </a:xfrm>
          <a:prstGeom prst="rect">
            <a:avLst/>
          </a:prstGeom>
        </p:spPr>
        <p:txBody>
          <a:bodyPr vert="horz" wrap="square" lIns="0" tIns="952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3086"/>
              </a:lnSpc>
              <a:spcBef>
                <a:spcPts val="75"/>
              </a:spcBef>
            </a:pPr>
            <a:r>
              <a:rPr dirty="0"/>
              <a:t>Effect</a:t>
            </a:r>
            <a:r>
              <a:rPr spc="-49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the</a:t>
            </a:r>
            <a:r>
              <a:rPr spc="-41" dirty="0"/>
              <a:t> </a:t>
            </a:r>
            <a:r>
              <a:rPr dirty="0"/>
              <a:t>Environment</a:t>
            </a:r>
            <a:r>
              <a:rPr spc="-45" dirty="0"/>
              <a:t> </a:t>
            </a:r>
            <a:r>
              <a:rPr dirty="0"/>
              <a:t>on</a:t>
            </a:r>
            <a:r>
              <a:rPr spc="-45" dirty="0"/>
              <a:t> </a:t>
            </a:r>
            <a:r>
              <a:rPr spc="-8" dirty="0"/>
              <a:t>Mission</a:t>
            </a:r>
            <a:br>
              <a:rPr lang="en-US" spc="-8" dirty="0"/>
            </a:br>
            <a:r>
              <a:rPr sz="1500" dirty="0">
                <a:solidFill>
                  <a:srgbClr val="8B8D8E"/>
                </a:solidFill>
              </a:rPr>
              <a:t>Highly</a:t>
            </a:r>
            <a:r>
              <a:rPr sz="1500" spc="-38" dirty="0">
                <a:solidFill>
                  <a:srgbClr val="8B8D8E"/>
                </a:solidFill>
              </a:rPr>
              <a:t> </a:t>
            </a:r>
            <a:r>
              <a:rPr sz="1500" dirty="0">
                <a:solidFill>
                  <a:srgbClr val="8B8D8E"/>
                </a:solidFill>
              </a:rPr>
              <a:t>Elliptical</a:t>
            </a:r>
            <a:r>
              <a:rPr sz="1500" spc="-49" dirty="0">
                <a:solidFill>
                  <a:srgbClr val="8B8D8E"/>
                </a:solidFill>
              </a:rPr>
              <a:t> </a:t>
            </a:r>
            <a:r>
              <a:rPr sz="1500" dirty="0">
                <a:solidFill>
                  <a:srgbClr val="8B8D8E"/>
                </a:solidFill>
              </a:rPr>
              <a:t>Orbit</a:t>
            </a:r>
            <a:r>
              <a:rPr sz="1500" spc="-41" dirty="0">
                <a:solidFill>
                  <a:srgbClr val="8B8D8E"/>
                </a:solidFill>
              </a:rPr>
              <a:t> </a:t>
            </a:r>
            <a:r>
              <a:rPr sz="1500" dirty="0">
                <a:solidFill>
                  <a:srgbClr val="8B8D8E"/>
                </a:solidFill>
              </a:rPr>
              <a:t>(HEO)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819443"/>
              </p:ext>
            </p:extLst>
          </p:nvPr>
        </p:nvGraphicFramePr>
        <p:xfrm>
          <a:off x="329113" y="1509943"/>
          <a:ext cx="3819525" cy="23421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2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3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7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53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Levels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Orbits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Env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Solar</a:t>
                      </a:r>
                      <a:r>
                        <a:rPr sz="1400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Max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Solar</a:t>
                      </a:r>
                      <a:r>
                        <a:rPr sz="1400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Min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HEO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116205" marR="107314" indent="-19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Trapped </a:t>
                      </a:r>
                      <a:r>
                        <a:rPr sz="1100" spc="-10" dirty="0">
                          <a:latin typeface="Arial"/>
                          <a:cs typeface="Arial"/>
                        </a:rPr>
                        <a:t>Electron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Higher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Lower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Yes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141605" marR="107314" indent="-279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Trapped </a:t>
                      </a:r>
                      <a:r>
                        <a:rPr sz="1100" spc="-10" dirty="0">
                          <a:latin typeface="Arial"/>
                          <a:cs typeface="Arial"/>
                        </a:rPr>
                        <a:t>Protons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Lower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Higher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Yes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584">
                <a:tc>
                  <a:txBody>
                    <a:bodyPr/>
                    <a:lstStyle/>
                    <a:p>
                      <a:pPr marL="152400" marR="147320" indent="23813">
                        <a:lnSpc>
                          <a:spcPct val="100000"/>
                        </a:lnSpc>
                        <a:spcBef>
                          <a:spcPts val="310"/>
                        </a:spcBef>
                        <a:tabLst/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Solar Particle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34950" marR="325755" indent="7938" algn="ctr">
                        <a:lnSpc>
                          <a:spcPct val="100000"/>
                        </a:lnSpc>
                        <a:spcBef>
                          <a:spcPts val="310"/>
                        </a:spcBef>
                        <a:tabLst/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More</a:t>
                      </a:r>
                      <a:r>
                        <a:rPr lang="en-US" sz="11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latin typeface="Arial"/>
                          <a:cs typeface="Arial"/>
                        </a:rPr>
                        <a:t>Frequent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60338" marR="156210" indent="15875">
                        <a:lnSpc>
                          <a:spcPct val="100000"/>
                        </a:lnSpc>
                        <a:spcBef>
                          <a:spcPts val="310"/>
                        </a:spcBef>
                        <a:tabLst/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Less </a:t>
                      </a:r>
                      <a:r>
                        <a:rPr sz="1100" spc="-10" dirty="0">
                          <a:latin typeface="Arial"/>
                          <a:cs typeface="Arial"/>
                        </a:rPr>
                        <a:t>Frequent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Yes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GCRs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53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730"/>
                        </a:spcBef>
                        <a:tabLst>
                          <a:tab pos="454025" algn="l"/>
                        </a:tabLst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Lower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6953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Higher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6953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Yes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6953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58640" y="1897381"/>
            <a:ext cx="4548606" cy="157807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801767" y="5246482"/>
            <a:ext cx="7540466" cy="323374"/>
          </a:xfrm>
          <a:custGeom>
            <a:avLst/>
            <a:gdLst/>
            <a:ahLst/>
            <a:cxnLst/>
            <a:rect l="l" t="t" r="r" b="b"/>
            <a:pathLst>
              <a:path w="10053955" h="431165">
                <a:moveTo>
                  <a:pt x="10053574" y="0"/>
                </a:moveTo>
                <a:lnTo>
                  <a:pt x="0" y="0"/>
                </a:lnTo>
                <a:lnTo>
                  <a:pt x="0" y="430885"/>
                </a:lnTo>
                <a:lnTo>
                  <a:pt x="10053574" y="430885"/>
                </a:lnTo>
                <a:lnTo>
                  <a:pt x="10053574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7" name="object 7"/>
          <p:cNvSpPr txBox="1"/>
          <p:nvPr/>
        </p:nvSpPr>
        <p:spPr>
          <a:xfrm>
            <a:off x="1342473" y="5285344"/>
            <a:ext cx="6457474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98"/>
              </a:lnSpc>
            </a:pPr>
            <a:r>
              <a:rPr sz="1650" b="1" dirty="0">
                <a:latin typeface="Arial"/>
                <a:cs typeface="Arial"/>
              </a:rPr>
              <a:t>Modeling</a:t>
            </a:r>
            <a:r>
              <a:rPr sz="1650" b="1" spc="-23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and</a:t>
            </a:r>
            <a:r>
              <a:rPr sz="1650" b="1" spc="-38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simulation</a:t>
            </a:r>
            <a:r>
              <a:rPr sz="1650" b="1" spc="-26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is</a:t>
            </a:r>
            <a:r>
              <a:rPr sz="1650" b="1" spc="-45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required</a:t>
            </a:r>
            <a:r>
              <a:rPr sz="1650" b="1" spc="-30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to</a:t>
            </a:r>
            <a:r>
              <a:rPr sz="1650" b="1" spc="-34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specify</a:t>
            </a:r>
            <a:r>
              <a:rPr sz="1650" b="1" spc="-34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the</a:t>
            </a:r>
            <a:r>
              <a:rPr sz="1650" b="1" spc="-38" dirty="0">
                <a:latin typeface="Arial"/>
                <a:cs typeface="Arial"/>
              </a:rPr>
              <a:t> </a:t>
            </a:r>
            <a:r>
              <a:rPr sz="1650" b="1" spc="-8" dirty="0">
                <a:latin typeface="Arial"/>
                <a:cs typeface="Arial"/>
              </a:rPr>
              <a:t>environments</a:t>
            </a:r>
            <a:endParaRPr sz="16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529830" y="80075"/>
            <a:ext cx="8004391" cy="766620"/>
          </a:xfrm>
          <a:prstGeom prst="rect">
            <a:avLst/>
          </a:prstGeom>
        </p:spPr>
        <p:txBody>
          <a:bodyPr vert="horz" wrap="square" lIns="0" tIns="952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3086"/>
              </a:lnSpc>
              <a:spcBef>
                <a:spcPts val="75"/>
              </a:spcBef>
            </a:pPr>
            <a:r>
              <a:rPr dirty="0"/>
              <a:t>Effect</a:t>
            </a:r>
            <a:r>
              <a:rPr spc="-49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the</a:t>
            </a:r>
            <a:r>
              <a:rPr spc="-41" dirty="0"/>
              <a:t> </a:t>
            </a:r>
            <a:r>
              <a:rPr dirty="0"/>
              <a:t>Environment</a:t>
            </a:r>
            <a:r>
              <a:rPr spc="-45" dirty="0"/>
              <a:t> </a:t>
            </a:r>
            <a:r>
              <a:rPr dirty="0"/>
              <a:t>on</a:t>
            </a:r>
            <a:r>
              <a:rPr spc="-45" dirty="0"/>
              <a:t> </a:t>
            </a:r>
            <a:r>
              <a:rPr spc="-8" dirty="0"/>
              <a:t>Mission</a:t>
            </a:r>
            <a:br>
              <a:rPr lang="en-US" spc="-8" dirty="0"/>
            </a:br>
            <a:r>
              <a:rPr sz="1500" dirty="0">
                <a:solidFill>
                  <a:srgbClr val="8B8D8E"/>
                </a:solidFill>
              </a:rPr>
              <a:t>Geosynchronous</a:t>
            </a:r>
            <a:r>
              <a:rPr sz="1500" spc="-26" dirty="0">
                <a:solidFill>
                  <a:srgbClr val="8B8D8E"/>
                </a:solidFill>
              </a:rPr>
              <a:t> </a:t>
            </a:r>
            <a:r>
              <a:rPr sz="1500" dirty="0">
                <a:solidFill>
                  <a:srgbClr val="8B8D8E"/>
                </a:solidFill>
              </a:rPr>
              <a:t>Orbit</a:t>
            </a:r>
            <a:r>
              <a:rPr sz="1500" spc="-56" dirty="0">
                <a:solidFill>
                  <a:srgbClr val="8B8D8E"/>
                </a:solidFill>
              </a:rPr>
              <a:t> </a:t>
            </a:r>
            <a:r>
              <a:rPr sz="1500" dirty="0">
                <a:solidFill>
                  <a:srgbClr val="8B8D8E"/>
                </a:solidFill>
              </a:rPr>
              <a:t>(GEO)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17367"/>
              </p:ext>
            </p:extLst>
          </p:nvPr>
        </p:nvGraphicFramePr>
        <p:xfrm>
          <a:off x="374231" y="1564858"/>
          <a:ext cx="3757613" cy="23421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2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4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06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Levels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Orbits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Env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Solar</a:t>
                      </a:r>
                      <a:r>
                        <a:rPr sz="1400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Max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Solar</a:t>
                      </a:r>
                      <a:r>
                        <a:rPr sz="1400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Min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GEO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163195" marR="153670" indent="-31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Trapped </a:t>
                      </a:r>
                      <a:r>
                        <a:rPr sz="1100" spc="-10" dirty="0">
                          <a:latin typeface="Arial"/>
                          <a:cs typeface="Arial"/>
                        </a:rPr>
                        <a:t>Electron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Higher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Lower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Severe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187325" marR="153670" indent="-279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Trapped </a:t>
                      </a:r>
                      <a:r>
                        <a:rPr sz="1100" spc="-10" dirty="0">
                          <a:latin typeface="Arial"/>
                          <a:cs typeface="Arial"/>
                        </a:rPr>
                        <a:t>Protons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Lower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Higher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No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AD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584">
                <a:tc>
                  <a:txBody>
                    <a:bodyPr/>
                    <a:lstStyle/>
                    <a:p>
                      <a:pPr marL="201295" marR="192405" indent="1143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Solar Particle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72085" marR="165735" indent="19621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More </a:t>
                      </a:r>
                      <a:r>
                        <a:rPr sz="1100" spc="-10" dirty="0">
                          <a:latin typeface="Arial"/>
                          <a:cs typeface="Arial"/>
                        </a:rPr>
                        <a:t>Frequent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37160" marR="131445" indent="214629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Less </a:t>
                      </a:r>
                      <a:r>
                        <a:rPr sz="1100" spc="-10" dirty="0">
                          <a:latin typeface="Arial"/>
                          <a:cs typeface="Arial"/>
                        </a:rPr>
                        <a:t>Frequent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Yes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GCRs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53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Lower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53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Higher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53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Yes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6953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5895" y="1728664"/>
            <a:ext cx="4878114" cy="225767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816912" y="5271186"/>
            <a:ext cx="7540466" cy="323374"/>
          </a:xfrm>
          <a:custGeom>
            <a:avLst/>
            <a:gdLst/>
            <a:ahLst/>
            <a:cxnLst/>
            <a:rect l="l" t="t" r="r" b="b"/>
            <a:pathLst>
              <a:path w="10053955" h="431165">
                <a:moveTo>
                  <a:pt x="10053574" y="0"/>
                </a:moveTo>
                <a:lnTo>
                  <a:pt x="0" y="0"/>
                </a:lnTo>
                <a:lnTo>
                  <a:pt x="0" y="430885"/>
                </a:lnTo>
                <a:lnTo>
                  <a:pt x="10053574" y="430885"/>
                </a:lnTo>
                <a:lnTo>
                  <a:pt x="10053574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7" name="object 7"/>
          <p:cNvSpPr txBox="1"/>
          <p:nvPr/>
        </p:nvSpPr>
        <p:spPr>
          <a:xfrm>
            <a:off x="1357618" y="5310048"/>
            <a:ext cx="6457474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98"/>
              </a:lnSpc>
            </a:pPr>
            <a:r>
              <a:rPr sz="1650" b="1" dirty="0">
                <a:latin typeface="Arial"/>
                <a:cs typeface="Arial"/>
              </a:rPr>
              <a:t>Modeling</a:t>
            </a:r>
            <a:r>
              <a:rPr sz="1650" b="1" spc="-23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and</a:t>
            </a:r>
            <a:r>
              <a:rPr sz="1650" b="1" spc="-38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simulation</a:t>
            </a:r>
            <a:r>
              <a:rPr sz="1650" b="1" spc="-26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is</a:t>
            </a:r>
            <a:r>
              <a:rPr sz="1650" b="1" spc="-45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required</a:t>
            </a:r>
            <a:r>
              <a:rPr sz="1650" b="1" spc="-30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to</a:t>
            </a:r>
            <a:r>
              <a:rPr sz="1650" b="1" spc="-34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specify</a:t>
            </a:r>
            <a:r>
              <a:rPr sz="1650" b="1" spc="-34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the</a:t>
            </a:r>
            <a:r>
              <a:rPr sz="1650" b="1" spc="-38" dirty="0">
                <a:latin typeface="Arial"/>
                <a:cs typeface="Arial"/>
              </a:rPr>
              <a:t> </a:t>
            </a:r>
            <a:r>
              <a:rPr sz="1650" b="1" spc="-8" dirty="0">
                <a:latin typeface="Arial"/>
                <a:cs typeface="Arial"/>
              </a:rPr>
              <a:t>environments</a:t>
            </a:r>
            <a:endParaRPr sz="16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64607-ACBE-1488-F736-6874CD43B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D0F3E8F0-B8EB-BE6F-6A73-00941E6CB233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0" y="285750"/>
            <a:ext cx="0" cy="1317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069"/>
              </a:lnSpc>
            </a:pPr>
            <a:fld id="{81D60167-4931-47E6-BA6A-407CBD079E47}" type="slidenum">
              <a:rPr spc="-38" dirty="0">
                <a:solidFill>
                  <a:srgbClr val="FFFFFF"/>
                </a:solidFill>
              </a:rPr>
              <a:pPr marL="76200">
                <a:lnSpc>
                  <a:spcPts val="1069"/>
                </a:lnSpc>
              </a:pPr>
              <a:t>43</a:t>
            </a:fld>
            <a:endParaRPr spc="-38" dirty="0">
              <a:solidFill>
                <a:srgbClr val="FFFFFF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06AB20BE-D6C9-2978-7D65-A6E9A43B61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Section Topics/Outline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84C2AE18-CBA8-3F9A-FDA6-2CF8806A7B19}"/>
              </a:ext>
            </a:extLst>
          </p:cNvPr>
          <p:cNvSpPr txBox="1"/>
          <p:nvPr/>
        </p:nvSpPr>
        <p:spPr>
          <a:xfrm>
            <a:off x="744846" y="1058646"/>
            <a:ext cx="7328535" cy="2128948"/>
          </a:xfrm>
          <a:prstGeom prst="rect">
            <a:avLst/>
          </a:prstGeom>
        </p:spPr>
        <p:txBody>
          <a:bodyPr vert="horz" wrap="square" lIns="0" tIns="58579" rIns="0" bIns="0" rtlCol="0">
            <a:spAutoFit/>
          </a:bodyPr>
          <a:lstStyle/>
          <a:p>
            <a:pPr marL="182403" indent="-172878">
              <a:spcBef>
                <a:spcPts val="461"/>
              </a:spcBef>
              <a:buClr>
                <a:srgbClr val="E6E6E6"/>
              </a:buClr>
              <a:buFont typeface="Arial"/>
              <a:buChar char="•"/>
              <a:tabLst>
                <a:tab pos="182403" algn="l"/>
              </a:tabLst>
            </a:pPr>
            <a:r>
              <a:rPr lang="en-US" sz="1800" b="1" dirty="0">
                <a:solidFill>
                  <a:srgbClr val="E6E6E6"/>
                </a:solidFill>
                <a:latin typeface="Arial"/>
                <a:cs typeface="Arial"/>
              </a:rPr>
              <a:t>What</a:t>
            </a:r>
            <a:r>
              <a:rPr lang="en-US" sz="1800" b="1" spc="-30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lang="en-US" sz="1800" b="1" dirty="0">
                <a:solidFill>
                  <a:srgbClr val="E6E6E6"/>
                </a:solidFill>
                <a:latin typeface="Arial"/>
                <a:cs typeface="Arial"/>
              </a:rPr>
              <a:t>are</a:t>
            </a:r>
            <a:r>
              <a:rPr lang="en-US" sz="1800" b="1" spc="-26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lang="en-US" sz="1800" b="1" dirty="0">
                <a:solidFill>
                  <a:srgbClr val="E6E6E6"/>
                </a:solidFill>
                <a:latin typeface="Arial"/>
                <a:cs typeface="Arial"/>
              </a:rPr>
              <a:t>the</a:t>
            </a:r>
            <a:r>
              <a:rPr lang="en-US" sz="1800" b="1" spc="-30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lang="en-US" sz="1800" b="1" dirty="0">
                <a:solidFill>
                  <a:srgbClr val="E6E6E6"/>
                </a:solidFill>
                <a:latin typeface="Arial"/>
                <a:cs typeface="Arial"/>
              </a:rPr>
              <a:t>sources</a:t>
            </a:r>
            <a:r>
              <a:rPr lang="en-US" sz="1800" b="1" spc="-19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lang="en-US" sz="1800" b="1" dirty="0">
                <a:solidFill>
                  <a:srgbClr val="E6E6E6"/>
                </a:solidFill>
                <a:latin typeface="Arial"/>
                <a:cs typeface="Arial"/>
              </a:rPr>
              <a:t>of</a:t>
            </a:r>
            <a:r>
              <a:rPr lang="en-US" sz="1800" b="1" spc="-30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lang="en-US" sz="1800" b="1" dirty="0">
                <a:solidFill>
                  <a:srgbClr val="E6E6E6"/>
                </a:solidFill>
                <a:latin typeface="Arial"/>
                <a:cs typeface="Arial"/>
              </a:rPr>
              <a:t>the</a:t>
            </a:r>
            <a:r>
              <a:rPr lang="en-US" sz="1800" b="1" spc="-30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lang="en-US" sz="1800" b="1" dirty="0">
                <a:solidFill>
                  <a:srgbClr val="E6E6E6"/>
                </a:solidFill>
                <a:latin typeface="Arial"/>
                <a:cs typeface="Arial"/>
              </a:rPr>
              <a:t>natural</a:t>
            </a:r>
            <a:r>
              <a:rPr lang="en-US" sz="1800" b="1" spc="-30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lang="en-US" sz="1800" b="1" dirty="0">
                <a:solidFill>
                  <a:srgbClr val="E6E6E6"/>
                </a:solidFill>
                <a:latin typeface="Arial"/>
                <a:cs typeface="Arial"/>
              </a:rPr>
              <a:t>space</a:t>
            </a:r>
            <a:r>
              <a:rPr lang="en-US" sz="1800" b="1" spc="-15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lang="en-US" sz="1800" b="1" dirty="0">
                <a:solidFill>
                  <a:srgbClr val="E6E6E6"/>
                </a:solidFill>
                <a:latin typeface="Arial"/>
                <a:cs typeface="Arial"/>
              </a:rPr>
              <a:t>radiation</a:t>
            </a:r>
            <a:r>
              <a:rPr lang="en-US" sz="1800" b="1" spc="-45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lang="en-US" sz="1800" b="1" spc="-8" dirty="0">
                <a:solidFill>
                  <a:srgbClr val="E6E6E6"/>
                </a:solidFill>
                <a:latin typeface="Arial"/>
                <a:cs typeface="Arial"/>
              </a:rPr>
              <a:t>environment?</a:t>
            </a:r>
            <a:endParaRPr lang="en-US" sz="1800" dirty="0">
              <a:latin typeface="Arial"/>
              <a:cs typeface="Arial"/>
            </a:endParaRPr>
          </a:p>
          <a:p>
            <a:pPr marL="182403" indent="-172878">
              <a:spcBef>
                <a:spcPts val="386"/>
              </a:spcBef>
              <a:buFont typeface="Arial"/>
              <a:buChar char="•"/>
              <a:tabLst>
                <a:tab pos="182403" algn="l"/>
              </a:tabLst>
            </a:pPr>
            <a:r>
              <a:rPr lang="en-US" sz="1800" b="1" dirty="0">
                <a:solidFill>
                  <a:srgbClr val="E6E6E6"/>
                </a:solidFill>
                <a:latin typeface="Arial"/>
                <a:cs typeface="Arial"/>
              </a:rPr>
              <a:t>What</a:t>
            </a:r>
            <a:r>
              <a:rPr lang="en-US" sz="1800" b="1" spc="-23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lang="en-US" sz="1800" b="1" dirty="0">
                <a:solidFill>
                  <a:srgbClr val="E6E6E6"/>
                </a:solidFill>
                <a:latin typeface="Arial"/>
                <a:cs typeface="Arial"/>
              </a:rPr>
              <a:t>role</a:t>
            </a:r>
            <a:r>
              <a:rPr lang="en-US" sz="1800" b="1" spc="-26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lang="en-US" sz="1800" b="1" dirty="0">
                <a:solidFill>
                  <a:srgbClr val="E6E6E6"/>
                </a:solidFill>
                <a:latin typeface="Arial"/>
                <a:cs typeface="Arial"/>
              </a:rPr>
              <a:t>does</a:t>
            </a:r>
            <a:r>
              <a:rPr lang="en-US" sz="1800" b="1" spc="-15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lang="en-US" sz="1800" b="1" dirty="0">
                <a:solidFill>
                  <a:srgbClr val="E6E6E6"/>
                </a:solidFill>
                <a:latin typeface="Arial"/>
                <a:cs typeface="Arial"/>
              </a:rPr>
              <a:t>the</a:t>
            </a:r>
            <a:r>
              <a:rPr lang="en-US" sz="1800" b="1" spc="-26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lang="en-US" sz="1800" b="1" dirty="0">
                <a:solidFill>
                  <a:srgbClr val="E6E6E6"/>
                </a:solidFill>
                <a:latin typeface="Arial"/>
                <a:cs typeface="Arial"/>
              </a:rPr>
              <a:t>Sun</a:t>
            </a:r>
            <a:r>
              <a:rPr lang="en-US" sz="1800" b="1" spc="-26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lang="en-US" sz="1800" b="1" dirty="0">
                <a:solidFill>
                  <a:srgbClr val="E6E6E6"/>
                </a:solidFill>
                <a:latin typeface="Arial"/>
                <a:cs typeface="Arial"/>
              </a:rPr>
              <a:t>play</a:t>
            </a:r>
            <a:r>
              <a:rPr lang="en-US" sz="1800" b="1" spc="-23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lang="en-US" sz="1800" b="1" dirty="0">
                <a:solidFill>
                  <a:srgbClr val="E6E6E6"/>
                </a:solidFill>
                <a:latin typeface="Arial"/>
                <a:cs typeface="Arial"/>
              </a:rPr>
              <a:t>on</a:t>
            </a:r>
            <a:r>
              <a:rPr lang="en-US" sz="1800" b="1" spc="-26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lang="en-US" sz="1800" b="1" dirty="0">
                <a:solidFill>
                  <a:srgbClr val="E6E6E6"/>
                </a:solidFill>
                <a:latin typeface="Arial"/>
                <a:cs typeface="Arial"/>
              </a:rPr>
              <a:t>these</a:t>
            </a:r>
            <a:r>
              <a:rPr lang="en-US" sz="1800" b="1" spc="-19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lang="en-US" sz="1800" b="1" spc="-8" dirty="0">
                <a:solidFill>
                  <a:srgbClr val="E6E6E6"/>
                </a:solidFill>
                <a:latin typeface="Arial"/>
                <a:cs typeface="Arial"/>
              </a:rPr>
              <a:t>environments?</a:t>
            </a:r>
            <a:endParaRPr lang="en-US" sz="1800" dirty="0">
              <a:latin typeface="Arial"/>
              <a:cs typeface="Arial"/>
            </a:endParaRPr>
          </a:p>
          <a:p>
            <a:pPr marL="182403" indent="-172878">
              <a:spcBef>
                <a:spcPts val="386"/>
              </a:spcBef>
              <a:buFont typeface="Arial"/>
              <a:buChar char="•"/>
              <a:tabLst>
                <a:tab pos="182403" algn="l"/>
              </a:tabLst>
            </a:pPr>
            <a:r>
              <a:rPr lang="en-US" sz="1800" b="1" dirty="0">
                <a:solidFill>
                  <a:srgbClr val="E6E6E6"/>
                </a:solidFill>
                <a:latin typeface="Arial"/>
                <a:cs typeface="Arial"/>
              </a:rPr>
              <a:t>Why</a:t>
            </a:r>
            <a:r>
              <a:rPr lang="en-US" sz="1800" b="1" spc="-26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lang="en-US" sz="1800" b="1" dirty="0">
                <a:solidFill>
                  <a:srgbClr val="E6E6E6"/>
                </a:solidFill>
                <a:latin typeface="Arial"/>
                <a:cs typeface="Arial"/>
              </a:rPr>
              <a:t>do</a:t>
            </a:r>
            <a:r>
              <a:rPr lang="en-US" sz="1800" b="1" spc="-23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lang="en-US" sz="1800" b="1" dirty="0">
                <a:solidFill>
                  <a:srgbClr val="E6E6E6"/>
                </a:solidFill>
                <a:latin typeface="Arial"/>
                <a:cs typeface="Arial"/>
              </a:rPr>
              <a:t>environments</a:t>
            </a:r>
            <a:r>
              <a:rPr lang="en-US" sz="1800" b="1" spc="-15" dirty="0">
                <a:solidFill>
                  <a:srgbClr val="E6E6E6"/>
                </a:solidFill>
                <a:latin typeface="Arial"/>
                <a:cs typeface="Arial"/>
              </a:rPr>
              <a:t> </a:t>
            </a:r>
            <a:r>
              <a:rPr lang="en-US" sz="1800" b="1" spc="-8" dirty="0">
                <a:solidFill>
                  <a:srgbClr val="E6E6E6"/>
                </a:solidFill>
                <a:latin typeface="Arial"/>
                <a:cs typeface="Arial"/>
              </a:rPr>
              <a:t>matter?</a:t>
            </a:r>
            <a:endParaRPr lang="en-US" sz="1800" dirty="0">
              <a:latin typeface="Arial"/>
              <a:cs typeface="Arial"/>
            </a:endParaRPr>
          </a:p>
          <a:p>
            <a:pPr marL="182403" indent="-172878">
              <a:spcBef>
                <a:spcPts val="398"/>
              </a:spcBef>
              <a:buFont typeface="Arial"/>
              <a:buChar char="•"/>
              <a:tabLst>
                <a:tab pos="182403" algn="l"/>
              </a:tabLst>
            </a:pPr>
            <a:r>
              <a:rPr lang="en-US" sz="1800" b="1" spc="-8" dirty="0">
                <a:latin typeface="Arial"/>
                <a:cs typeface="Arial"/>
              </a:rPr>
              <a:t>Summary</a:t>
            </a:r>
            <a:endParaRPr lang="en-US" sz="1800" dirty="0">
              <a:latin typeface="Arial"/>
              <a:cs typeface="Arial"/>
            </a:endParaRPr>
          </a:p>
          <a:p>
            <a:pPr marL="182880">
              <a:spcBef>
                <a:spcPts val="300"/>
              </a:spcBef>
            </a:pPr>
            <a:r>
              <a:rPr lang="en-US" sz="15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lang="en-US" sz="1500" spc="7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1500" b="1" dirty="0">
                <a:solidFill>
                  <a:srgbClr val="0000FF"/>
                </a:solidFill>
                <a:latin typeface="Arial"/>
                <a:cs typeface="Arial"/>
              </a:rPr>
              <a:t>Environment</a:t>
            </a:r>
            <a:r>
              <a:rPr lang="en-US" sz="15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1500" b="1" spc="-8" dirty="0">
                <a:solidFill>
                  <a:srgbClr val="0000FF"/>
                </a:solidFill>
                <a:latin typeface="Arial"/>
                <a:cs typeface="Arial"/>
              </a:rPr>
              <a:t>Sources</a:t>
            </a:r>
            <a:endParaRPr lang="en-US" sz="1500" dirty="0">
              <a:latin typeface="Arial"/>
              <a:cs typeface="Arial"/>
            </a:endParaRPr>
          </a:p>
          <a:p>
            <a:pPr marL="182880">
              <a:spcBef>
                <a:spcPts val="304"/>
              </a:spcBef>
            </a:pPr>
            <a:r>
              <a:rPr lang="en-US" sz="15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lang="en-US" sz="1500" spc="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1500" b="1" dirty="0">
                <a:solidFill>
                  <a:srgbClr val="0000FF"/>
                </a:solidFill>
                <a:latin typeface="Arial"/>
                <a:cs typeface="Arial"/>
              </a:rPr>
              <a:t>Effect</a:t>
            </a:r>
            <a:r>
              <a:rPr lang="en-US" sz="1500" b="1" spc="-3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1500" b="1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lang="en-US" sz="1500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1500" b="1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lang="en-US" sz="1500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1500" b="1" dirty="0">
                <a:solidFill>
                  <a:srgbClr val="0000FF"/>
                </a:solidFill>
                <a:latin typeface="Arial"/>
                <a:cs typeface="Arial"/>
              </a:rPr>
              <a:t>Sun</a:t>
            </a:r>
            <a:r>
              <a:rPr lang="en-US" sz="1500" b="1" spc="-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1500" b="1" dirty="0">
                <a:solidFill>
                  <a:srgbClr val="0000FF"/>
                </a:solidFill>
                <a:latin typeface="Arial"/>
                <a:cs typeface="Arial"/>
              </a:rPr>
              <a:t>on</a:t>
            </a:r>
            <a:r>
              <a:rPr lang="en-US" sz="15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1500" b="1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lang="en-US" sz="1500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1500" b="1" spc="-8" dirty="0">
                <a:solidFill>
                  <a:srgbClr val="0000FF"/>
                </a:solidFill>
                <a:latin typeface="Arial"/>
                <a:cs typeface="Arial"/>
              </a:rPr>
              <a:t>Environments</a:t>
            </a:r>
            <a:endParaRPr lang="en-US" sz="1500" dirty="0">
              <a:latin typeface="Arial"/>
              <a:cs typeface="Arial"/>
            </a:endParaRPr>
          </a:p>
          <a:p>
            <a:pPr marL="182880">
              <a:spcBef>
                <a:spcPts val="300"/>
              </a:spcBef>
            </a:pPr>
            <a:r>
              <a:rPr lang="en-US" sz="15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lang="en-US" sz="1500" spc="8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1500" b="1" dirty="0">
                <a:solidFill>
                  <a:srgbClr val="0000FF"/>
                </a:solidFill>
                <a:latin typeface="Arial"/>
                <a:cs typeface="Arial"/>
              </a:rPr>
              <a:t>Effect</a:t>
            </a:r>
            <a:r>
              <a:rPr lang="en-US" sz="1500" b="1" spc="-4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1500" b="1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lang="en-US" sz="1500" b="1" spc="-2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1500" b="1" dirty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lang="en-US" sz="1500" b="1" spc="-2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1500" b="1" dirty="0">
                <a:solidFill>
                  <a:srgbClr val="0000FF"/>
                </a:solidFill>
                <a:latin typeface="Arial"/>
                <a:cs typeface="Arial"/>
              </a:rPr>
              <a:t>Environment</a:t>
            </a:r>
            <a:r>
              <a:rPr lang="en-US" sz="1500" b="1" spc="-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1500" b="1" dirty="0">
                <a:solidFill>
                  <a:srgbClr val="0000FF"/>
                </a:solidFill>
                <a:latin typeface="Arial"/>
                <a:cs typeface="Arial"/>
              </a:rPr>
              <a:t>on</a:t>
            </a:r>
            <a:r>
              <a:rPr lang="en-US" sz="1500" b="1" spc="-1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1500" b="1" spc="-8" dirty="0">
                <a:solidFill>
                  <a:srgbClr val="0000FF"/>
                </a:solidFill>
                <a:latin typeface="Arial"/>
                <a:cs typeface="Arial"/>
              </a:rPr>
              <a:t>Missions</a:t>
            </a:r>
            <a:endParaRPr lang="en-US" sz="15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634471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529830" y="133744"/>
            <a:ext cx="8004391" cy="659283"/>
          </a:xfrm>
          <a:prstGeom prst="rect">
            <a:avLst/>
          </a:prstGeom>
        </p:spPr>
        <p:txBody>
          <a:bodyPr vert="horz" wrap="square" lIns="0" tIns="952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2745"/>
              </a:lnSpc>
              <a:spcBef>
                <a:spcPts val="75"/>
              </a:spcBef>
            </a:pPr>
            <a:r>
              <a:rPr spc="-8" dirty="0"/>
              <a:t>Summary</a:t>
            </a:r>
            <a:br>
              <a:rPr lang="en-US" spc="-8" dirty="0"/>
            </a:br>
            <a:r>
              <a:rPr sz="1500" dirty="0">
                <a:solidFill>
                  <a:srgbClr val="8B8D8E"/>
                </a:solidFill>
              </a:rPr>
              <a:t>Sources</a:t>
            </a:r>
            <a:r>
              <a:rPr sz="1500" spc="-30" dirty="0">
                <a:solidFill>
                  <a:srgbClr val="8B8D8E"/>
                </a:solidFill>
              </a:rPr>
              <a:t> </a:t>
            </a:r>
            <a:r>
              <a:rPr sz="1500" dirty="0">
                <a:solidFill>
                  <a:srgbClr val="8B8D8E"/>
                </a:solidFill>
              </a:rPr>
              <a:t>of</a:t>
            </a:r>
            <a:r>
              <a:rPr sz="1500" spc="-23" dirty="0">
                <a:solidFill>
                  <a:srgbClr val="8B8D8E"/>
                </a:solidFill>
              </a:rPr>
              <a:t> </a:t>
            </a:r>
            <a:r>
              <a:rPr sz="1500" dirty="0">
                <a:solidFill>
                  <a:srgbClr val="8B8D8E"/>
                </a:solidFill>
              </a:rPr>
              <a:t>Radiation</a:t>
            </a:r>
            <a:r>
              <a:rPr sz="1500" spc="-23" dirty="0">
                <a:solidFill>
                  <a:srgbClr val="8B8D8E"/>
                </a:solidFill>
              </a:rPr>
              <a:t> </a:t>
            </a:r>
            <a:r>
              <a:rPr sz="1500" dirty="0">
                <a:solidFill>
                  <a:srgbClr val="8B8D8E"/>
                </a:solidFill>
              </a:rPr>
              <a:t>Near</a:t>
            </a:r>
            <a:r>
              <a:rPr sz="1500" spc="-38" dirty="0">
                <a:solidFill>
                  <a:srgbClr val="8B8D8E"/>
                </a:solidFill>
              </a:rPr>
              <a:t> </a:t>
            </a:r>
            <a:r>
              <a:rPr sz="1500" dirty="0">
                <a:solidFill>
                  <a:srgbClr val="8B8D8E"/>
                </a:solidFill>
              </a:rPr>
              <a:t>Earth</a:t>
            </a:r>
            <a:endParaRPr sz="1500" spc="-38" dirty="0">
              <a:solidFill>
                <a:srgbClr val="8B8D8E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0743" y="1207999"/>
            <a:ext cx="7692866" cy="2804636"/>
            <a:chOff x="507657" y="1229664"/>
            <a:chExt cx="10257155" cy="3739515"/>
          </a:xfrm>
        </p:grpSpPr>
        <p:sp>
          <p:nvSpPr>
            <p:cNvPr id="4" name="object 4"/>
            <p:cNvSpPr/>
            <p:nvPr/>
          </p:nvSpPr>
          <p:spPr>
            <a:xfrm>
              <a:off x="1924177" y="2334348"/>
              <a:ext cx="321945" cy="524510"/>
            </a:xfrm>
            <a:custGeom>
              <a:avLst/>
              <a:gdLst/>
              <a:ahLst/>
              <a:cxnLst/>
              <a:rect l="l" t="t" r="r" b="b"/>
              <a:pathLst>
                <a:path w="321944" h="524510">
                  <a:moveTo>
                    <a:pt x="0" y="0"/>
                  </a:moveTo>
                  <a:lnTo>
                    <a:pt x="321500" y="0"/>
                  </a:lnTo>
                  <a:lnTo>
                    <a:pt x="321500" y="524383"/>
                  </a:lnTo>
                  <a:lnTo>
                    <a:pt x="0" y="524383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5" name="object 5"/>
            <p:cNvSpPr/>
            <p:nvPr/>
          </p:nvSpPr>
          <p:spPr>
            <a:xfrm>
              <a:off x="1544645" y="2554637"/>
              <a:ext cx="3007995" cy="934085"/>
            </a:xfrm>
            <a:custGeom>
              <a:avLst/>
              <a:gdLst/>
              <a:ahLst/>
              <a:cxnLst/>
              <a:rect l="l" t="t" r="r" b="b"/>
              <a:pathLst>
                <a:path w="3007995" h="934085">
                  <a:moveTo>
                    <a:pt x="0" y="0"/>
                  </a:moveTo>
                  <a:lnTo>
                    <a:pt x="3007448" y="933513"/>
                  </a:lnTo>
                </a:path>
              </a:pathLst>
            </a:custGeom>
            <a:ln w="57150">
              <a:solidFill>
                <a:srgbClr val="FC9611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6" name="object 6"/>
            <p:cNvSpPr/>
            <p:nvPr/>
          </p:nvSpPr>
          <p:spPr>
            <a:xfrm>
              <a:off x="4499389" y="3397795"/>
              <a:ext cx="189230" cy="163830"/>
            </a:xfrm>
            <a:custGeom>
              <a:avLst/>
              <a:gdLst/>
              <a:ahLst/>
              <a:cxnLst/>
              <a:rect l="l" t="t" r="r" b="b"/>
              <a:pathLst>
                <a:path w="189229" h="163829">
                  <a:moveTo>
                    <a:pt x="50838" y="0"/>
                  </a:moveTo>
                  <a:lnTo>
                    <a:pt x="0" y="163741"/>
                  </a:lnTo>
                  <a:lnTo>
                    <a:pt x="189166" y="132702"/>
                  </a:lnTo>
                  <a:lnTo>
                    <a:pt x="50838" y="0"/>
                  </a:lnTo>
                  <a:close/>
                </a:path>
              </a:pathLst>
            </a:custGeom>
            <a:solidFill>
              <a:srgbClr val="FC9611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22276" y="1234427"/>
              <a:ext cx="3993984" cy="273596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309412" y="1234427"/>
              <a:ext cx="2312670" cy="656590"/>
            </a:xfrm>
            <a:custGeom>
              <a:avLst/>
              <a:gdLst/>
              <a:ahLst/>
              <a:cxnLst/>
              <a:rect l="l" t="t" r="r" b="b"/>
              <a:pathLst>
                <a:path w="2312670" h="656589">
                  <a:moveTo>
                    <a:pt x="2312085" y="0"/>
                  </a:moveTo>
                  <a:lnTo>
                    <a:pt x="0" y="0"/>
                  </a:lnTo>
                  <a:lnTo>
                    <a:pt x="0" y="656539"/>
                  </a:lnTo>
                  <a:lnTo>
                    <a:pt x="2312085" y="656539"/>
                  </a:lnTo>
                  <a:lnTo>
                    <a:pt x="23120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9" name="object 9"/>
            <p:cNvSpPr/>
            <p:nvPr/>
          </p:nvSpPr>
          <p:spPr>
            <a:xfrm>
              <a:off x="5309412" y="1234427"/>
              <a:ext cx="2312670" cy="656590"/>
            </a:xfrm>
            <a:custGeom>
              <a:avLst/>
              <a:gdLst/>
              <a:ahLst/>
              <a:cxnLst/>
              <a:rect l="l" t="t" r="r" b="b"/>
              <a:pathLst>
                <a:path w="2312670" h="656589">
                  <a:moveTo>
                    <a:pt x="0" y="0"/>
                  </a:moveTo>
                  <a:lnTo>
                    <a:pt x="2312085" y="0"/>
                  </a:lnTo>
                  <a:lnTo>
                    <a:pt x="2312085" y="656539"/>
                  </a:lnTo>
                  <a:lnTo>
                    <a:pt x="0" y="65653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8980246" y="3198621"/>
              <a:ext cx="948055" cy="748030"/>
            </a:xfrm>
            <a:custGeom>
              <a:avLst/>
              <a:gdLst/>
              <a:ahLst/>
              <a:cxnLst/>
              <a:rect l="l" t="t" r="r" b="b"/>
              <a:pathLst>
                <a:path w="948054" h="748029">
                  <a:moveTo>
                    <a:pt x="947508" y="0"/>
                  </a:moveTo>
                  <a:lnTo>
                    <a:pt x="0" y="0"/>
                  </a:lnTo>
                  <a:lnTo>
                    <a:pt x="0" y="747928"/>
                  </a:lnTo>
                  <a:lnTo>
                    <a:pt x="947508" y="747928"/>
                  </a:lnTo>
                  <a:lnTo>
                    <a:pt x="9475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8980246" y="3198621"/>
              <a:ext cx="948055" cy="748030"/>
            </a:xfrm>
            <a:custGeom>
              <a:avLst/>
              <a:gdLst/>
              <a:ahLst/>
              <a:cxnLst/>
              <a:rect l="l" t="t" r="r" b="b"/>
              <a:pathLst>
                <a:path w="948054" h="748029">
                  <a:moveTo>
                    <a:pt x="0" y="0"/>
                  </a:moveTo>
                  <a:lnTo>
                    <a:pt x="947508" y="0"/>
                  </a:lnTo>
                  <a:lnTo>
                    <a:pt x="947508" y="747928"/>
                  </a:lnTo>
                  <a:lnTo>
                    <a:pt x="0" y="747928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79306" y="3306991"/>
              <a:ext cx="1785416" cy="71611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52137" y="2539900"/>
              <a:ext cx="2166962" cy="242910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7657" y="1685918"/>
              <a:ext cx="2407335" cy="160551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801910" y="4748842"/>
            <a:ext cx="7540466" cy="282289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28099" rIns="0" bIns="0" rtlCol="0">
            <a:spAutoFit/>
          </a:bodyPr>
          <a:lstStyle/>
          <a:p>
            <a:pPr marL="107633">
              <a:spcBef>
                <a:spcPts val="221"/>
              </a:spcBef>
            </a:pPr>
            <a:r>
              <a:rPr sz="1650" b="1" dirty="0">
                <a:latin typeface="Arial"/>
                <a:cs typeface="Arial"/>
              </a:rPr>
              <a:t>Radiation</a:t>
            </a:r>
            <a:r>
              <a:rPr sz="1650" b="1" spc="-23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comes</a:t>
            </a:r>
            <a:r>
              <a:rPr sz="1650" b="1" spc="-45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from</a:t>
            </a:r>
            <a:r>
              <a:rPr sz="1650" b="1" spc="-49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the</a:t>
            </a:r>
            <a:r>
              <a:rPr sz="1650" b="1" spc="-38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Sun</a:t>
            </a:r>
            <a:r>
              <a:rPr sz="1650" b="1" spc="-34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and/or</a:t>
            </a:r>
            <a:r>
              <a:rPr sz="1650" b="1" spc="-34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other</a:t>
            </a:r>
            <a:r>
              <a:rPr sz="1650" b="1" spc="-38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stars/supernova</a:t>
            </a:r>
            <a:r>
              <a:rPr sz="1650" b="1" spc="-23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in</a:t>
            </a:r>
            <a:r>
              <a:rPr sz="1650" b="1" spc="-45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the</a:t>
            </a:r>
            <a:r>
              <a:rPr sz="1650" b="1" spc="-30" dirty="0">
                <a:latin typeface="Arial"/>
                <a:cs typeface="Arial"/>
              </a:rPr>
              <a:t> </a:t>
            </a:r>
            <a:r>
              <a:rPr sz="1650" b="1" spc="-8" dirty="0">
                <a:latin typeface="Arial"/>
                <a:cs typeface="Arial"/>
              </a:rPr>
              <a:t>galaxy</a:t>
            </a:r>
            <a:endParaRPr sz="16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4789" y="1757317"/>
            <a:ext cx="210026" cy="4251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700" b="1" spc="-38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2700"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566812" y="1333891"/>
            <a:ext cx="1292967" cy="104240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621444" y="1186986"/>
            <a:ext cx="1185386" cy="535884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29051">
              <a:lnSpc>
                <a:spcPts val="896"/>
              </a:lnSpc>
              <a:spcBef>
                <a:spcPts val="79"/>
              </a:spcBef>
            </a:pPr>
            <a:r>
              <a:rPr sz="788" b="1" dirty="0">
                <a:latin typeface="Arial"/>
                <a:cs typeface="Arial"/>
              </a:rPr>
              <a:t>Other</a:t>
            </a:r>
            <a:r>
              <a:rPr sz="788" b="1" spc="-26" dirty="0">
                <a:latin typeface="Arial"/>
                <a:cs typeface="Arial"/>
              </a:rPr>
              <a:t> </a:t>
            </a:r>
            <a:r>
              <a:rPr sz="788" b="1" dirty="0">
                <a:latin typeface="Arial"/>
                <a:cs typeface="Arial"/>
              </a:rPr>
              <a:t>Stars</a:t>
            </a:r>
            <a:r>
              <a:rPr sz="788" b="1" spc="-11" dirty="0">
                <a:latin typeface="Arial"/>
                <a:cs typeface="Arial"/>
              </a:rPr>
              <a:t> </a:t>
            </a:r>
            <a:r>
              <a:rPr sz="788" b="1" dirty="0">
                <a:latin typeface="Arial"/>
                <a:cs typeface="Arial"/>
              </a:rPr>
              <a:t>/</a:t>
            </a:r>
            <a:r>
              <a:rPr sz="788" b="1" spc="-19" dirty="0">
                <a:latin typeface="Arial"/>
                <a:cs typeface="Arial"/>
              </a:rPr>
              <a:t> </a:t>
            </a:r>
            <a:r>
              <a:rPr sz="788" b="1" spc="-8" dirty="0">
                <a:latin typeface="Arial"/>
                <a:cs typeface="Arial"/>
              </a:rPr>
              <a:t>Supernova</a:t>
            </a:r>
            <a:endParaRPr sz="788">
              <a:latin typeface="Arial"/>
              <a:cs typeface="Arial"/>
            </a:endParaRPr>
          </a:p>
          <a:p>
            <a:pPr marL="9525">
              <a:lnSpc>
                <a:spcPts val="3191"/>
              </a:lnSpc>
            </a:pPr>
            <a:r>
              <a:rPr sz="2700" b="1" spc="-38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27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38982" y="2923098"/>
            <a:ext cx="583406" cy="237566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9528" rIns="0" bIns="0" rtlCol="0">
            <a:spAutoFit/>
          </a:bodyPr>
          <a:lstStyle/>
          <a:p>
            <a:pPr marL="68104">
              <a:spcBef>
                <a:spcPts val="233"/>
              </a:spcBef>
            </a:pPr>
            <a:r>
              <a:rPr sz="1350" b="1" spc="-8" dirty="0">
                <a:latin typeface="Arial"/>
                <a:cs typeface="Arial"/>
              </a:rPr>
              <a:t>Earth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8609" y="1207998"/>
            <a:ext cx="7080885" cy="2580322"/>
            <a:chOff x="491478" y="1229664"/>
            <a:chExt cx="9441180" cy="3440429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49416" y="1234427"/>
              <a:ext cx="3675722" cy="197830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677433" y="1234427"/>
              <a:ext cx="2127885" cy="474980"/>
            </a:xfrm>
            <a:custGeom>
              <a:avLst/>
              <a:gdLst/>
              <a:ahLst/>
              <a:cxnLst/>
              <a:rect l="l" t="t" r="r" b="b"/>
              <a:pathLst>
                <a:path w="2127884" h="474980">
                  <a:moveTo>
                    <a:pt x="2127859" y="0"/>
                  </a:moveTo>
                  <a:lnTo>
                    <a:pt x="0" y="0"/>
                  </a:lnTo>
                  <a:lnTo>
                    <a:pt x="0" y="474725"/>
                  </a:lnTo>
                  <a:lnTo>
                    <a:pt x="2127859" y="474725"/>
                  </a:lnTo>
                  <a:lnTo>
                    <a:pt x="21278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5" name="object 5"/>
            <p:cNvSpPr/>
            <p:nvPr/>
          </p:nvSpPr>
          <p:spPr>
            <a:xfrm>
              <a:off x="5677433" y="1234427"/>
              <a:ext cx="2127885" cy="474980"/>
            </a:xfrm>
            <a:custGeom>
              <a:avLst/>
              <a:gdLst/>
              <a:ahLst/>
              <a:cxnLst/>
              <a:rect l="l" t="t" r="r" b="b"/>
              <a:pathLst>
                <a:path w="2127884" h="474980">
                  <a:moveTo>
                    <a:pt x="0" y="0"/>
                  </a:moveTo>
                  <a:lnTo>
                    <a:pt x="2127859" y="0"/>
                  </a:lnTo>
                  <a:lnTo>
                    <a:pt x="2127859" y="474725"/>
                  </a:lnTo>
                  <a:lnTo>
                    <a:pt x="0" y="47472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6" name="object 6"/>
            <p:cNvSpPr/>
            <p:nvPr/>
          </p:nvSpPr>
          <p:spPr>
            <a:xfrm>
              <a:off x="9055747" y="2654680"/>
              <a:ext cx="872490" cy="541020"/>
            </a:xfrm>
            <a:custGeom>
              <a:avLst/>
              <a:gdLst/>
              <a:ahLst/>
              <a:cxnLst/>
              <a:rect l="l" t="t" r="r" b="b"/>
              <a:pathLst>
                <a:path w="872490" h="541019">
                  <a:moveTo>
                    <a:pt x="872007" y="0"/>
                  </a:moveTo>
                  <a:lnTo>
                    <a:pt x="0" y="0"/>
                  </a:lnTo>
                  <a:lnTo>
                    <a:pt x="0" y="540804"/>
                  </a:lnTo>
                  <a:lnTo>
                    <a:pt x="872007" y="540804"/>
                  </a:lnTo>
                  <a:lnTo>
                    <a:pt x="8720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7" name="object 7"/>
            <p:cNvSpPr/>
            <p:nvPr/>
          </p:nvSpPr>
          <p:spPr>
            <a:xfrm>
              <a:off x="9055747" y="2654680"/>
              <a:ext cx="872490" cy="541020"/>
            </a:xfrm>
            <a:custGeom>
              <a:avLst/>
              <a:gdLst/>
              <a:ahLst/>
              <a:cxnLst/>
              <a:rect l="l" t="t" r="r" b="b"/>
              <a:pathLst>
                <a:path w="872490" h="541019">
                  <a:moveTo>
                    <a:pt x="0" y="0"/>
                  </a:moveTo>
                  <a:lnTo>
                    <a:pt x="872007" y="0"/>
                  </a:lnTo>
                  <a:lnTo>
                    <a:pt x="872007" y="540804"/>
                  </a:lnTo>
                  <a:lnTo>
                    <a:pt x="0" y="54080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19999" y="2012462"/>
              <a:ext cx="5114754" cy="265763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31014" y="2118131"/>
              <a:ext cx="2166965" cy="242909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1478" y="1252600"/>
              <a:ext cx="2407334" cy="1605521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62659" y="1432324"/>
            <a:ext cx="210026" cy="4251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700" b="1" spc="-38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27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87712" y="2632196"/>
            <a:ext cx="584835" cy="237566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9528" rIns="0" bIns="0" rtlCol="0">
            <a:spAutoFit/>
          </a:bodyPr>
          <a:lstStyle/>
          <a:p>
            <a:pPr marL="68104">
              <a:spcBef>
                <a:spcPts val="233"/>
              </a:spcBef>
            </a:pPr>
            <a:r>
              <a:rPr sz="1350" b="1" spc="-8" dirty="0">
                <a:latin typeface="Arial"/>
                <a:cs typeface="Arial"/>
              </a:rPr>
              <a:t>Earth</a:t>
            </a:r>
            <a:endParaRPr sz="135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383779" y="2467612"/>
            <a:ext cx="1339072" cy="53707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3422723" y="1246031"/>
            <a:ext cx="1250633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b="1" spc="-19" dirty="0">
                <a:latin typeface="Arial"/>
                <a:cs typeface="Arial"/>
              </a:rPr>
              <a:t>Van</a:t>
            </a:r>
            <a:r>
              <a:rPr sz="1350" b="1" spc="-75" dirty="0">
                <a:latin typeface="Arial"/>
                <a:cs typeface="Arial"/>
              </a:rPr>
              <a:t> </a:t>
            </a:r>
            <a:r>
              <a:rPr sz="1350" b="1" dirty="0">
                <a:latin typeface="Arial"/>
                <a:cs typeface="Arial"/>
              </a:rPr>
              <a:t>Allen</a:t>
            </a:r>
            <a:r>
              <a:rPr sz="1350" b="1" spc="-19" dirty="0">
                <a:latin typeface="Arial"/>
                <a:cs typeface="Arial"/>
              </a:rPr>
              <a:t> </a:t>
            </a:r>
            <a:r>
              <a:rPr sz="1350" b="1" spc="-15" dirty="0">
                <a:latin typeface="Arial"/>
                <a:cs typeface="Arial"/>
              </a:rPr>
              <a:t>Belts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124479" y="1291295"/>
            <a:ext cx="7681436" cy="2222659"/>
            <a:chOff x="1499304" y="1340726"/>
            <a:chExt cx="10241915" cy="2963545"/>
          </a:xfrm>
        </p:grpSpPr>
        <p:sp>
          <p:nvSpPr>
            <p:cNvPr id="17" name="object 17"/>
            <p:cNvSpPr/>
            <p:nvPr/>
          </p:nvSpPr>
          <p:spPr>
            <a:xfrm>
              <a:off x="5465227" y="1622783"/>
              <a:ext cx="558165" cy="861060"/>
            </a:xfrm>
            <a:custGeom>
              <a:avLst/>
              <a:gdLst/>
              <a:ahLst/>
              <a:cxnLst/>
              <a:rect l="l" t="t" r="r" b="b"/>
              <a:pathLst>
                <a:path w="558164" h="861060">
                  <a:moveTo>
                    <a:pt x="0" y="0"/>
                  </a:moveTo>
                  <a:lnTo>
                    <a:pt x="557555" y="86094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8" name="object 18"/>
            <p:cNvSpPr/>
            <p:nvPr/>
          </p:nvSpPr>
          <p:spPr>
            <a:xfrm>
              <a:off x="5983909" y="2452358"/>
              <a:ext cx="73660" cy="85090"/>
            </a:xfrm>
            <a:custGeom>
              <a:avLst/>
              <a:gdLst/>
              <a:ahLst/>
              <a:cxnLst/>
              <a:rect l="l" t="t" r="r" b="b"/>
              <a:pathLst>
                <a:path w="73660" h="85089">
                  <a:moveTo>
                    <a:pt x="63957" y="0"/>
                  </a:moveTo>
                  <a:lnTo>
                    <a:pt x="0" y="41414"/>
                  </a:lnTo>
                  <a:lnTo>
                    <a:pt x="73393" y="84670"/>
                  </a:lnTo>
                  <a:lnTo>
                    <a:pt x="639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4953722" y="1622783"/>
              <a:ext cx="511809" cy="927735"/>
            </a:xfrm>
            <a:custGeom>
              <a:avLst/>
              <a:gdLst/>
              <a:ahLst/>
              <a:cxnLst/>
              <a:rect l="l" t="t" r="r" b="b"/>
              <a:pathLst>
                <a:path w="511810" h="927735">
                  <a:moveTo>
                    <a:pt x="511505" y="0"/>
                  </a:moveTo>
                  <a:lnTo>
                    <a:pt x="0" y="92767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4923055" y="2520932"/>
              <a:ext cx="70485" cy="85725"/>
            </a:xfrm>
            <a:custGeom>
              <a:avLst/>
              <a:gdLst/>
              <a:ahLst/>
              <a:cxnLst/>
              <a:rect l="l" t="t" r="r" b="b"/>
              <a:pathLst>
                <a:path w="70485" h="85725">
                  <a:moveTo>
                    <a:pt x="3428" y="0"/>
                  </a:moveTo>
                  <a:lnTo>
                    <a:pt x="0" y="85128"/>
                  </a:lnTo>
                  <a:lnTo>
                    <a:pt x="70154" y="36791"/>
                  </a:lnTo>
                  <a:lnTo>
                    <a:pt x="34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21" name="object 21"/>
            <p:cNvSpPr/>
            <p:nvPr/>
          </p:nvSpPr>
          <p:spPr>
            <a:xfrm>
              <a:off x="1563066" y="2125770"/>
              <a:ext cx="2883535" cy="503555"/>
            </a:xfrm>
            <a:custGeom>
              <a:avLst/>
              <a:gdLst/>
              <a:ahLst/>
              <a:cxnLst/>
              <a:rect l="l" t="t" r="r" b="b"/>
              <a:pathLst>
                <a:path w="2883535" h="503555">
                  <a:moveTo>
                    <a:pt x="0" y="0"/>
                  </a:moveTo>
                  <a:lnTo>
                    <a:pt x="2883217" y="503478"/>
                  </a:lnTo>
                </a:path>
              </a:pathLst>
            </a:custGeom>
            <a:ln w="57150">
              <a:solidFill>
                <a:srgbClr val="FC9611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3384346" y="2088324"/>
              <a:ext cx="1202690" cy="621030"/>
            </a:xfrm>
            <a:custGeom>
              <a:avLst/>
              <a:gdLst/>
              <a:ahLst/>
              <a:cxnLst/>
              <a:rect l="l" t="t" r="r" b="b"/>
              <a:pathLst>
                <a:path w="1202689" h="621030">
                  <a:moveTo>
                    <a:pt x="382638" y="105321"/>
                  </a:moveTo>
                  <a:lnTo>
                    <a:pt x="313728" y="13462"/>
                  </a:lnTo>
                  <a:lnTo>
                    <a:pt x="195821" y="101904"/>
                  </a:lnTo>
                  <a:lnTo>
                    <a:pt x="89344" y="0"/>
                  </a:lnTo>
                  <a:lnTo>
                    <a:pt x="9944" y="82969"/>
                  </a:lnTo>
                  <a:lnTo>
                    <a:pt x="102717" y="171754"/>
                  </a:lnTo>
                  <a:lnTo>
                    <a:pt x="0" y="248818"/>
                  </a:lnTo>
                  <a:lnTo>
                    <a:pt x="68910" y="340677"/>
                  </a:lnTo>
                  <a:lnTo>
                    <a:pt x="186804" y="252234"/>
                  </a:lnTo>
                  <a:lnTo>
                    <a:pt x="293293" y="354139"/>
                  </a:lnTo>
                  <a:lnTo>
                    <a:pt x="372694" y="271170"/>
                  </a:lnTo>
                  <a:lnTo>
                    <a:pt x="279908" y="182384"/>
                  </a:lnTo>
                  <a:lnTo>
                    <a:pt x="382638" y="105321"/>
                  </a:lnTo>
                  <a:close/>
                </a:path>
                <a:path w="1202689" h="621030">
                  <a:moveTo>
                    <a:pt x="1202677" y="565505"/>
                  </a:moveTo>
                  <a:lnTo>
                    <a:pt x="1048537" y="451561"/>
                  </a:lnTo>
                  <a:lnTo>
                    <a:pt x="1019035" y="620458"/>
                  </a:lnTo>
                  <a:lnTo>
                    <a:pt x="1202677" y="565505"/>
                  </a:lnTo>
                  <a:close/>
                </a:path>
              </a:pathLst>
            </a:custGeom>
            <a:solidFill>
              <a:srgbClr val="FC9611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23" name="object 23"/>
            <p:cNvSpPr/>
            <p:nvPr/>
          </p:nvSpPr>
          <p:spPr>
            <a:xfrm>
              <a:off x="3384358" y="2088321"/>
              <a:ext cx="382905" cy="354330"/>
            </a:xfrm>
            <a:custGeom>
              <a:avLst/>
              <a:gdLst/>
              <a:ahLst/>
              <a:cxnLst/>
              <a:rect l="l" t="t" r="r" b="b"/>
              <a:pathLst>
                <a:path w="382904" h="354330">
                  <a:moveTo>
                    <a:pt x="9944" y="82969"/>
                  </a:moveTo>
                  <a:lnTo>
                    <a:pt x="89344" y="0"/>
                  </a:lnTo>
                  <a:lnTo>
                    <a:pt x="195821" y="101904"/>
                  </a:lnTo>
                  <a:lnTo>
                    <a:pt x="313728" y="13462"/>
                  </a:lnTo>
                  <a:lnTo>
                    <a:pt x="382638" y="105321"/>
                  </a:lnTo>
                  <a:lnTo>
                    <a:pt x="279908" y="182384"/>
                  </a:lnTo>
                  <a:lnTo>
                    <a:pt x="372694" y="271170"/>
                  </a:lnTo>
                  <a:lnTo>
                    <a:pt x="293293" y="354139"/>
                  </a:lnTo>
                  <a:lnTo>
                    <a:pt x="186804" y="252234"/>
                  </a:lnTo>
                  <a:lnTo>
                    <a:pt x="68910" y="340677"/>
                  </a:lnTo>
                  <a:lnTo>
                    <a:pt x="0" y="248818"/>
                  </a:lnTo>
                  <a:lnTo>
                    <a:pt x="102717" y="171754"/>
                  </a:lnTo>
                  <a:lnTo>
                    <a:pt x="9944" y="82969"/>
                  </a:lnTo>
                  <a:close/>
                </a:path>
              </a:pathLst>
            </a:custGeom>
            <a:ln w="9525">
              <a:solidFill>
                <a:srgbClr val="FC9611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24" name="object 24"/>
            <p:cNvSpPr/>
            <p:nvPr/>
          </p:nvSpPr>
          <p:spPr>
            <a:xfrm>
              <a:off x="4123102" y="3967148"/>
              <a:ext cx="1107440" cy="308610"/>
            </a:xfrm>
            <a:custGeom>
              <a:avLst/>
              <a:gdLst/>
              <a:ahLst/>
              <a:cxnLst/>
              <a:rect l="l" t="t" r="r" b="b"/>
              <a:pathLst>
                <a:path w="1107439" h="308610">
                  <a:moveTo>
                    <a:pt x="0" y="308114"/>
                  </a:moveTo>
                  <a:lnTo>
                    <a:pt x="67859" y="307591"/>
                  </a:lnTo>
                  <a:lnTo>
                    <a:pt x="135483" y="306051"/>
                  </a:lnTo>
                  <a:lnTo>
                    <a:pt x="202636" y="303539"/>
                  </a:lnTo>
                  <a:lnTo>
                    <a:pt x="269082" y="300099"/>
                  </a:lnTo>
                  <a:lnTo>
                    <a:pt x="334584" y="295774"/>
                  </a:lnTo>
                  <a:lnTo>
                    <a:pt x="398908" y="290610"/>
                  </a:lnTo>
                  <a:lnTo>
                    <a:pt x="461817" y="284650"/>
                  </a:lnTo>
                  <a:lnTo>
                    <a:pt x="523076" y="277939"/>
                  </a:lnTo>
                  <a:lnTo>
                    <a:pt x="582449" y="270520"/>
                  </a:lnTo>
                  <a:lnTo>
                    <a:pt x="639701" y="262439"/>
                  </a:lnTo>
                  <a:lnTo>
                    <a:pt x="694594" y="253738"/>
                  </a:lnTo>
                  <a:lnTo>
                    <a:pt x="746894" y="244463"/>
                  </a:lnTo>
                  <a:lnTo>
                    <a:pt x="796366" y="234658"/>
                  </a:lnTo>
                  <a:lnTo>
                    <a:pt x="842772" y="224366"/>
                  </a:lnTo>
                  <a:lnTo>
                    <a:pt x="885877" y="213633"/>
                  </a:lnTo>
                  <a:lnTo>
                    <a:pt x="925447" y="202501"/>
                  </a:lnTo>
                  <a:lnTo>
                    <a:pt x="993033" y="179221"/>
                  </a:lnTo>
                  <a:lnTo>
                    <a:pt x="1043643" y="154881"/>
                  </a:lnTo>
                  <a:lnTo>
                    <a:pt x="1075393" y="129833"/>
                  </a:lnTo>
                  <a:lnTo>
                    <a:pt x="1087831" y="77241"/>
                  </a:lnTo>
                  <a:lnTo>
                    <a:pt x="1091960" y="50482"/>
                  </a:lnTo>
                  <a:lnTo>
                    <a:pt x="1098520" y="24589"/>
                  </a:lnTo>
                  <a:lnTo>
                    <a:pt x="1107249" y="0"/>
                  </a:lnTo>
                </a:path>
              </a:pathLst>
            </a:custGeom>
            <a:ln w="57150">
              <a:solidFill>
                <a:srgbClr val="FC9611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5150412" y="3867910"/>
              <a:ext cx="183515" cy="180975"/>
            </a:xfrm>
            <a:custGeom>
              <a:avLst/>
              <a:gdLst/>
              <a:ahLst/>
              <a:cxnLst/>
              <a:rect l="l" t="t" r="r" b="b"/>
              <a:pathLst>
                <a:path w="183514" h="180975">
                  <a:moveTo>
                    <a:pt x="182930" y="0"/>
                  </a:moveTo>
                  <a:lnTo>
                    <a:pt x="0" y="57238"/>
                  </a:lnTo>
                  <a:lnTo>
                    <a:pt x="118960" y="180695"/>
                  </a:lnTo>
                  <a:lnTo>
                    <a:pt x="182930" y="0"/>
                  </a:lnTo>
                  <a:close/>
                </a:path>
              </a:pathLst>
            </a:custGeom>
            <a:solidFill>
              <a:srgbClr val="FC9611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26" name="object 26"/>
            <p:cNvSpPr/>
            <p:nvPr/>
          </p:nvSpPr>
          <p:spPr>
            <a:xfrm>
              <a:off x="1527879" y="2118131"/>
              <a:ext cx="1939289" cy="137795"/>
            </a:xfrm>
            <a:custGeom>
              <a:avLst/>
              <a:gdLst/>
              <a:ahLst/>
              <a:cxnLst/>
              <a:rect l="l" t="t" r="r" b="b"/>
              <a:pathLst>
                <a:path w="1939289" h="137794">
                  <a:moveTo>
                    <a:pt x="0" y="0"/>
                  </a:moveTo>
                  <a:lnTo>
                    <a:pt x="1939175" y="137172"/>
                  </a:lnTo>
                </a:path>
              </a:pathLst>
            </a:custGeom>
            <a:ln w="57150">
              <a:solidFill>
                <a:srgbClr val="FC9611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27" name="object 27"/>
            <p:cNvSpPr/>
            <p:nvPr/>
          </p:nvSpPr>
          <p:spPr>
            <a:xfrm>
              <a:off x="3432505" y="2167775"/>
              <a:ext cx="1289685" cy="615950"/>
            </a:xfrm>
            <a:custGeom>
              <a:avLst/>
              <a:gdLst/>
              <a:ahLst/>
              <a:cxnLst/>
              <a:rect l="l" t="t" r="r" b="b"/>
              <a:pathLst>
                <a:path w="1289685" h="615950">
                  <a:moveTo>
                    <a:pt x="177076" y="97612"/>
                  </a:moveTo>
                  <a:lnTo>
                    <a:pt x="12103" y="0"/>
                  </a:lnTo>
                  <a:lnTo>
                    <a:pt x="0" y="171018"/>
                  </a:lnTo>
                  <a:lnTo>
                    <a:pt x="177076" y="97612"/>
                  </a:lnTo>
                  <a:close/>
                </a:path>
                <a:path w="1289685" h="615950">
                  <a:moveTo>
                    <a:pt x="1289431" y="361924"/>
                  </a:moveTo>
                  <a:lnTo>
                    <a:pt x="1215136" y="274358"/>
                  </a:lnTo>
                  <a:lnTo>
                    <a:pt x="1102741" y="369697"/>
                  </a:lnTo>
                  <a:lnTo>
                    <a:pt x="990346" y="274358"/>
                  </a:lnTo>
                  <a:lnTo>
                    <a:pt x="916063" y="361924"/>
                  </a:lnTo>
                  <a:lnTo>
                    <a:pt x="1013993" y="444995"/>
                  </a:lnTo>
                  <a:lnTo>
                    <a:pt x="916063" y="528066"/>
                  </a:lnTo>
                  <a:lnTo>
                    <a:pt x="990346" y="615645"/>
                  </a:lnTo>
                  <a:lnTo>
                    <a:pt x="1102741" y="520293"/>
                  </a:lnTo>
                  <a:lnTo>
                    <a:pt x="1215136" y="615645"/>
                  </a:lnTo>
                  <a:lnTo>
                    <a:pt x="1289431" y="528066"/>
                  </a:lnTo>
                  <a:lnTo>
                    <a:pt x="1191501" y="444995"/>
                  </a:lnTo>
                  <a:lnTo>
                    <a:pt x="1289431" y="361924"/>
                  </a:lnTo>
                  <a:close/>
                </a:path>
              </a:pathLst>
            </a:custGeom>
            <a:solidFill>
              <a:srgbClr val="FC9611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28" name="object 28"/>
            <p:cNvSpPr/>
            <p:nvPr/>
          </p:nvSpPr>
          <p:spPr>
            <a:xfrm>
              <a:off x="4348580" y="2442123"/>
              <a:ext cx="373380" cy="341630"/>
            </a:xfrm>
            <a:custGeom>
              <a:avLst/>
              <a:gdLst/>
              <a:ahLst/>
              <a:cxnLst/>
              <a:rect l="l" t="t" r="r" b="b"/>
              <a:pathLst>
                <a:path w="373379" h="341630">
                  <a:moveTo>
                    <a:pt x="0" y="87566"/>
                  </a:moveTo>
                  <a:lnTo>
                    <a:pt x="74282" y="0"/>
                  </a:lnTo>
                  <a:lnTo>
                    <a:pt x="186677" y="95338"/>
                  </a:lnTo>
                  <a:lnTo>
                    <a:pt x="299072" y="0"/>
                  </a:lnTo>
                  <a:lnTo>
                    <a:pt x="373367" y="87566"/>
                  </a:lnTo>
                  <a:lnTo>
                    <a:pt x="275437" y="170637"/>
                  </a:lnTo>
                  <a:lnTo>
                    <a:pt x="373367" y="253707"/>
                  </a:lnTo>
                  <a:lnTo>
                    <a:pt x="299072" y="341287"/>
                  </a:lnTo>
                  <a:lnTo>
                    <a:pt x="186677" y="245935"/>
                  </a:lnTo>
                  <a:lnTo>
                    <a:pt x="74282" y="341287"/>
                  </a:lnTo>
                  <a:lnTo>
                    <a:pt x="0" y="253707"/>
                  </a:lnTo>
                  <a:lnTo>
                    <a:pt x="97929" y="170637"/>
                  </a:lnTo>
                  <a:lnTo>
                    <a:pt x="0" y="87566"/>
                  </a:lnTo>
                  <a:close/>
                </a:path>
              </a:pathLst>
            </a:custGeom>
            <a:ln w="9525">
              <a:solidFill>
                <a:srgbClr val="FC9611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29" name="object 29"/>
            <p:cNvSpPr/>
            <p:nvPr/>
          </p:nvSpPr>
          <p:spPr>
            <a:xfrm>
              <a:off x="1695449" y="2151453"/>
              <a:ext cx="3147695" cy="795020"/>
            </a:xfrm>
            <a:custGeom>
              <a:avLst/>
              <a:gdLst/>
              <a:ahLst/>
              <a:cxnLst/>
              <a:rect l="l" t="t" r="r" b="b"/>
              <a:pathLst>
                <a:path w="3147695" h="795019">
                  <a:moveTo>
                    <a:pt x="0" y="0"/>
                  </a:moveTo>
                  <a:lnTo>
                    <a:pt x="3147593" y="794893"/>
                  </a:lnTo>
                </a:path>
              </a:pathLst>
            </a:custGeom>
            <a:ln w="57150">
              <a:solidFill>
                <a:srgbClr val="FC9611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30" name="object 30"/>
            <p:cNvSpPr/>
            <p:nvPr/>
          </p:nvSpPr>
          <p:spPr>
            <a:xfrm>
              <a:off x="4794352" y="2856223"/>
              <a:ext cx="187325" cy="166370"/>
            </a:xfrm>
            <a:custGeom>
              <a:avLst/>
              <a:gdLst/>
              <a:ahLst/>
              <a:cxnLst/>
              <a:rect l="l" t="t" r="r" b="b"/>
              <a:pathLst>
                <a:path w="187325" h="166369">
                  <a:moveTo>
                    <a:pt x="41986" y="0"/>
                  </a:moveTo>
                  <a:lnTo>
                    <a:pt x="0" y="166230"/>
                  </a:lnTo>
                  <a:lnTo>
                    <a:pt x="187223" y="125107"/>
                  </a:lnTo>
                  <a:lnTo>
                    <a:pt x="41986" y="0"/>
                  </a:lnTo>
                  <a:close/>
                </a:path>
              </a:pathLst>
            </a:custGeom>
            <a:solidFill>
              <a:srgbClr val="FC9611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016667" y="1340726"/>
              <a:ext cx="1723948" cy="1389874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7567129" y="1144390"/>
            <a:ext cx="1185386" cy="535884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29051">
              <a:lnSpc>
                <a:spcPts val="896"/>
              </a:lnSpc>
              <a:spcBef>
                <a:spcPts val="79"/>
              </a:spcBef>
            </a:pPr>
            <a:r>
              <a:rPr sz="788" b="1" dirty="0">
                <a:latin typeface="Arial"/>
                <a:cs typeface="Arial"/>
              </a:rPr>
              <a:t>Other</a:t>
            </a:r>
            <a:r>
              <a:rPr sz="788" b="1" spc="-26" dirty="0">
                <a:latin typeface="Arial"/>
                <a:cs typeface="Arial"/>
              </a:rPr>
              <a:t> </a:t>
            </a:r>
            <a:r>
              <a:rPr sz="788" b="1" dirty="0">
                <a:latin typeface="Arial"/>
                <a:cs typeface="Arial"/>
              </a:rPr>
              <a:t>Stars</a:t>
            </a:r>
            <a:r>
              <a:rPr sz="788" b="1" spc="-11" dirty="0">
                <a:latin typeface="Arial"/>
                <a:cs typeface="Arial"/>
              </a:rPr>
              <a:t> </a:t>
            </a:r>
            <a:r>
              <a:rPr sz="788" b="1" dirty="0">
                <a:latin typeface="Arial"/>
                <a:cs typeface="Arial"/>
              </a:rPr>
              <a:t>/</a:t>
            </a:r>
            <a:r>
              <a:rPr sz="788" b="1" spc="-19" dirty="0">
                <a:latin typeface="Arial"/>
                <a:cs typeface="Arial"/>
              </a:rPr>
              <a:t> </a:t>
            </a:r>
            <a:r>
              <a:rPr sz="788" b="1" spc="-8" dirty="0">
                <a:latin typeface="Arial"/>
                <a:cs typeface="Arial"/>
              </a:rPr>
              <a:t>Supernova</a:t>
            </a:r>
            <a:endParaRPr sz="788">
              <a:latin typeface="Arial"/>
              <a:cs typeface="Arial"/>
            </a:endParaRPr>
          </a:p>
          <a:p>
            <a:pPr marL="9525">
              <a:lnSpc>
                <a:spcPts val="3191"/>
              </a:lnSpc>
            </a:pPr>
            <a:r>
              <a:rPr sz="2700" b="1" spc="-38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27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01910" y="4604965"/>
            <a:ext cx="7540466" cy="536205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28099" rIns="0" bIns="0" rtlCol="0">
            <a:spAutoFit/>
          </a:bodyPr>
          <a:lstStyle/>
          <a:p>
            <a:pPr marL="1198245" marR="275749" indent="-919163">
              <a:spcBef>
                <a:spcPts val="221"/>
              </a:spcBef>
            </a:pPr>
            <a:r>
              <a:rPr sz="1650" b="1" dirty="0">
                <a:latin typeface="Arial"/>
                <a:cs typeface="Arial"/>
              </a:rPr>
              <a:t>Earth</a:t>
            </a:r>
            <a:r>
              <a:rPr sz="1650" b="1" spc="-26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is</a:t>
            </a:r>
            <a:r>
              <a:rPr sz="1650" b="1" spc="-38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surrounded</a:t>
            </a:r>
            <a:r>
              <a:rPr sz="1650" b="1" spc="-11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by</a:t>
            </a:r>
            <a:r>
              <a:rPr sz="1650" b="1" spc="-34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a</a:t>
            </a:r>
            <a:r>
              <a:rPr sz="1650" b="1" spc="-30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magnetic</a:t>
            </a:r>
            <a:r>
              <a:rPr sz="1650" b="1" spc="-30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field</a:t>
            </a:r>
            <a:r>
              <a:rPr sz="1650" b="1" spc="-26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called</a:t>
            </a:r>
            <a:r>
              <a:rPr sz="1650" b="1" spc="-23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the</a:t>
            </a:r>
            <a:r>
              <a:rPr sz="1650" b="1" spc="-30" dirty="0">
                <a:latin typeface="Arial"/>
                <a:cs typeface="Arial"/>
              </a:rPr>
              <a:t> Van</a:t>
            </a:r>
            <a:r>
              <a:rPr sz="1650" b="1" spc="-86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Allen</a:t>
            </a:r>
            <a:r>
              <a:rPr sz="1650" b="1" spc="-23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Belts</a:t>
            </a:r>
            <a:r>
              <a:rPr sz="1650" b="1" spc="-30" dirty="0">
                <a:latin typeface="Arial"/>
                <a:cs typeface="Arial"/>
              </a:rPr>
              <a:t> </a:t>
            </a:r>
            <a:r>
              <a:rPr sz="1650" b="1" spc="-15" dirty="0">
                <a:latin typeface="Arial"/>
                <a:cs typeface="Arial"/>
              </a:rPr>
              <a:t>that </a:t>
            </a:r>
            <a:r>
              <a:rPr sz="1650" b="1" dirty="0">
                <a:latin typeface="Arial"/>
                <a:cs typeface="Arial"/>
              </a:rPr>
              <a:t>trap</a:t>
            </a:r>
            <a:r>
              <a:rPr sz="1650" b="1" spc="-30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some</a:t>
            </a:r>
            <a:r>
              <a:rPr sz="1650" b="1" spc="-38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radiation</a:t>
            </a:r>
            <a:r>
              <a:rPr sz="1650" b="1" spc="-23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from</a:t>
            </a:r>
            <a:r>
              <a:rPr sz="1650" b="1" spc="-26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the</a:t>
            </a:r>
            <a:r>
              <a:rPr sz="1650" b="1" spc="-34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Sun</a:t>
            </a:r>
            <a:r>
              <a:rPr sz="1650" b="1" spc="-26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and/or</a:t>
            </a:r>
            <a:r>
              <a:rPr sz="1650" b="1" spc="-38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other</a:t>
            </a:r>
            <a:r>
              <a:rPr sz="1650" b="1" spc="-34" dirty="0">
                <a:latin typeface="Arial"/>
                <a:cs typeface="Arial"/>
              </a:rPr>
              <a:t> </a:t>
            </a:r>
            <a:r>
              <a:rPr sz="1650" b="1" spc="-8" dirty="0">
                <a:latin typeface="Arial"/>
                <a:cs typeface="Arial"/>
              </a:rPr>
              <a:t>stars</a:t>
            </a:r>
            <a:endParaRPr sz="165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30210" y="1858646"/>
            <a:ext cx="6332220" cy="2705100"/>
            <a:chOff x="306946" y="2097195"/>
            <a:chExt cx="8442960" cy="3606800"/>
          </a:xfrm>
        </p:grpSpPr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6946" y="4213649"/>
              <a:ext cx="3000451" cy="149014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527879" y="2125770"/>
              <a:ext cx="2595245" cy="2142490"/>
            </a:xfrm>
            <a:custGeom>
              <a:avLst/>
              <a:gdLst/>
              <a:ahLst/>
              <a:cxnLst/>
              <a:rect l="l" t="t" r="r" b="b"/>
              <a:pathLst>
                <a:path w="2595245" h="2142490">
                  <a:moveTo>
                    <a:pt x="0" y="0"/>
                  </a:moveTo>
                  <a:lnTo>
                    <a:pt x="48650" y="995"/>
                  </a:lnTo>
                  <a:lnTo>
                    <a:pt x="97239" y="3949"/>
                  </a:lnTo>
                  <a:lnTo>
                    <a:pt x="145707" y="8811"/>
                  </a:lnTo>
                  <a:lnTo>
                    <a:pt x="193992" y="15531"/>
                  </a:lnTo>
                  <a:lnTo>
                    <a:pt x="242034" y="24058"/>
                  </a:lnTo>
                  <a:lnTo>
                    <a:pt x="289772" y="34343"/>
                  </a:lnTo>
                  <a:lnTo>
                    <a:pt x="337145" y="46335"/>
                  </a:lnTo>
                  <a:lnTo>
                    <a:pt x="384092" y="59984"/>
                  </a:lnTo>
                  <a:lnTo>
                    <a:pt x="430553" y="75239"/>
                  </a:lnTo>
                  <a:lnTo>
                    <a:pt x="476466" y="92051"/>
                  </a:lnTo>
                  <a:lnTo>
                    <a:pt x="521770" y="110369"/>
                  </a:lnTo>
                  <a:lnTo>
                    <a:pt x="566406" y="130143"/>
                  </a:lnTo>
                  <a:lnTo>
                    <a:pt x="610312" y="151324"/>
                  </a:lnTo>
                  <a:lnTo>
                    <a:pt x="653427" y="173859"/>
                  </a:lnTo>
                  <a:lnTo>
                    <a:pt x="695691" y="197701"/>
                  </a:lnTo>
                  <a:lnTo>
                    <a:pt x="737042" y="222797"/>
                  </a:lnTo>
                  <a:lnTo>
                    <a:pt x="777420" y="249099"/>
                  </a:lnTo>
                  <a:lnTo>
                    <a:pt x="816764" y="276555"/>
                  </a:lnTo>
                  <a:lnTo>
                    <a:pt x="855013" y="305116"/>
                  </a:lnTo>
                  <a:lnTo>
                    <a:pt x="892106" y="334732"/>
                  </a:lnTo>
                  <a:lnTo>
                    <a:pt x="927983" y="365351"/>
                  </a:lnTo>
                  <a:lnTo>
                    <a:pt x="962583" y="396925"/>
                  </a:lnTo>
                  <a:lnTo>
                    <a:pt x="995844" y="429402"/>
                  </a:lnTo>
                  <a:lnTo>
                    <a:pt x="1027706" y="462733"/>
                  </a:lnTo>
                  <a:lnTo>
                    <a:pt x="1058109" y="496868"/>
                  </a:lnTo>
                  <a:lnTo>
                    <a:pt x="1086991" y="531755"/>
                  </a:lnTo>
                  <a:lnTo>
                    <a:pt x="1114292" y="567346"/>
                  </a:lnTo>
                  <a:lnTo>
                    <a:pt x="1139950" y="603589"/>
                  </a:lnTo>
                  <a:lnTo>
                    <a:pt x="1163905" y="640434"/>
                  </a:lnTo>
                  <a:lnTo>
                    <a:pt x="1186096" y="677832"/>
                  </a:lnTo>
                  <a:lnTo>
                    <a:pt x="1206462" y="715732"/>
                  </a:lnTo>
                  <a:lnTo>
                    <a:pt x="1224943" y="754084"/>
                  </a:lnTo>
                  <a:lnTo>
                    <a:pt x="1241478" y="792838"/>
                  </a:lnTo>
                  <a:lnTo>
                    <a:pt x="1256005" y="831943"/>
                  </a:lnTo>
                  <a:lnTo>
                    <a:pt x="1268464" y="871350"/>
                  </a:lnTo>
                  <a:lnTo>
                    <a:pt x="1278794" y="911007"/>
                  </a:lnTo>
                  <a:lnTo>
                    <a:pt x="1286934" y="950865"/>
                  </a:lnTo>
                  <a:lnTo>
                    <a:pt x="1292824" y="990874"/>
                  </a:lnTo>
                  <a:lnTo>
                    <a:pt x="1296403" y="1030983"/>
                  </a:lnTo>
                  <a:lnTo>
                    <a:pt x="1297609" y="1071143"/>
                  </a:lnTo>
                  <a:lnTo>
                    <a:pt x="1298816" y="1111302"/>
                  </a:lnTo>
                  <a:lnTo>
                    <a:pt x="1302394" y="1151412"/>
                  </a:lnTo>
                  <a:lnTo>
                    <a:pt x="1308284" y="1191421"/>
                  </a:lnTo>
                  <a:lnTo>
                    <a:pt x="1316425" y="1231279"/>
                  </a:lnTo>
                  <a:lnTo>
                    <a:pt x="1326755" y="1270936"/>
                  </a:lnTo>
                  <a:lnTo>
                    <a:pt x="1339214" y="1310343"/>
                  </a:lnTo>
                  <a:lnTo>
                    <a:pt x="1353741" y="1349448"/>
                  </a:lnTo>
                  <a:lnTo>
                    <a:pt x="1370275" y="1388201"/>
                  </a:lnTo>
                  <a:lnTo>
                    <a:pt x="1388756" y="1426553"/>
                  </a:lnTo>
                  <a:lnTo>
                    <a:pt x="1409123" y="1464453"/>
                  </a:lnTo>
                  <a:lnTo>
                    <a:pt x="1431314" y="1501851"/>
                  </a:lnTo>
                  <a:lnTo>
                    <a:pt x="1455269" y="1538697"/>
                  </a:lnTo>
                  <a:lnTo>
                    <a:pt x="1480927" y="1574940"/>
                  </a:lnTo>
                  <a:lnTo>
                    <a:pt x="1508228" y="1610531"/>
                  </a:lnTo>
                  <a:lnTo>
                    <a:pt x="1537110" y="1645418"/>
                  </a:lnTo>
                  <a:lnTo>
                    <a:pt x="1567512" y="1679552"/>
                  </a:lnTo>
                  <a:lnTo>
                    <a:pt x="1599375" y="1712883"/>
                  </a:lnTo>
                  <a:lnTo>
                    <a:pt x="1632636" y="1745361"/>
                  </a:lnTo>
                  <a:lnTo>
                    <a:pt x="1667235" y="1776934"/>
                  </a:lnTo>
                  <a:lnTo>
                    <a:pt x="1703112" y="1807554"/>
                  </a:lnTo>
                  <a:lnTo>
                    <a:pt x="1740206" y="1837169"/>
                  </a:lnTo>
                  <a:lnTo>
                    <a:pt x="1778455" y="1865730"/>
                  </a:lnTo>
                  <a:lnTo>
                    <a:pt x="1817799" y="1893187"/>
                  </a:lnTo>
                  <a:lnTo>
                    <a:pt x="1858177" y="1919488"/>
                  </a:lnTo>
                  <a:lnTo>
                    <a:pt x="1899528" y="1944585"/>
                  </a:lnTo>
                  <a:lnTo>
                    <a:pt x="1941791" y="1968426"/>
                  </a:lnTo>
                  <a:lnTo>
                    <a:pt x="1984907" y="1990962"/>
                  </a:lnTo>
                  <a:lnTo>
                    <a:pt x="2028812" y="2012142"/>
                  </a:lnTo>
                  <a:lnTo>
                    <a:pt x="2073448" y="2031917"/>
                  </a:lnTo>
                  <a:lnTo>
                    <a:pt x="2118753" y="2050235"/>
                  </a:lnTo>
                  <a:lnTo>
                    <a:pt x="2164666" y="2067047"/>
                  </a:lnTo>
                  <a:lnTo>
                    <a:pt x="2211127" y="2082302"/>
                  </a:lnTo>
                  <a:lnTo>
                    <a:pt x="2258074" y="2095951"/>
                  </a:lnTo>
                  <a:lnTo>
                    <a:pt x="2305447" y="2107943"/>
                  </a:lnTo>
                  <a:lnTo>
                    <a:pt x="2353184" y="2118227"/>
                  </a:lnTo>
                  <a:lnTo>
                    <a:pt x="2401226" y="2126755"/>
                  </a:lnTo>
                  <a:lnTo>
                    <a:pt x="2449512" y="2133474"/>
                  </a:lnTo>
                  <a:lnTo>
                    <a:pt x="2497979" y="2138336"/>
                  </a:lnTo>
                  <a:lnTo>
                    <a:pt x="2546569" y="2141290"/>
                  </a:lnTo>
                  <a:lnTo>
                    <a:pt x="2595219" y="2142286"/>
                  </a:lnTo>
                </a:path>
              </a:pathLst>
            </a:custGeom>
            <a:ln w="57150">
              <a:solidFill>
                <a:srgbClr val="FC9611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37" name="object 37"/>
            <p:cNvSpPr/>
            <p:nvPr/>
          </p:nvSpPr>
          <p:spPr>
            <a:xfrm>
              <a:off x="1563066" y="2125770"/>
              <a:ext cx="2525395" cy="2254250"/>
            </a:xfrm>
            <a:custGeom>
              <a:avLst/>
              <a:gdLst/>
              <a:ahLst/>
              <a:cxnLst/>
              <a:rect l="l" t="t" r="r" b="b"/>
              <a:pathLst>
                <a:path w="2525395" h="2254250">
                  <a:moveTo>
                    <a:pt x="0" y="0"/>
                  </a:moveTo>
                  <a:lnTo>
                    <a:pt x="47338" y="1047"/>
                  </a:lnTo>
                  <a:lnTo>
                    <a:pt x="94618" y="4155"/>
                  </a:lnTo>
                  <a:lnTo>
                    <a:pt x="141779" y="9270"/>
                  </a:lnTo>
                  <a:lnTo>
                    <a:pt x="188763" y="16340"/>
                  </a:lnTo>
                  <a:lnTo>
                    <a:pt x="235510" y="25311"/>
                  </a:lnTo>
                  <a:lnTo>
                    <a:pt x="281961" y="36131"/>
                  </a:lnTo>
                  <a:lnTo>
                    <a:pt x="328057" y="48748"/>
                  </a:lnTo>
                  <a:lnTo>
                    <a:pt x="373739" y="63107"/>
                  </a:lnTo>
                  <a:lnTo>
                    <a:pt x="418947" y="79157"/>
                  </a:lnTo>
                  <a:lnTo>
                    <a:pt x="463623" y="96845"/>
                  </a:lnTo>
                  <a:lnTo>
                    <a:pt x="507707" y="116117"/>
                  </a:lnTo>
                  <a:lnTo>
                    <a:pt x="551139" y="136921"/>
                  </a:lnTo>
                  <a:lnTo>
                    <a:pt x="593862" y="159204"/>
                  </a:lnTo>
                  <a:lnTo>
                    <a:pt x="635815" y="182914"/>
                  </a:lnTo>
                  <a:lnTo>
                    <a:pt x="676939" y="207996"/>
                  </a:lnTo>
                  <a:lnTo>
                    <a:pt x="717176" y="234400"/>
                  </a:lnTo>
                  <a:lnTo>
                    <a:pt x="756465" y="262071"/>
                  </a:lnTo>
                  <a:lnTo>
                    <a:pt x="794749" y="290958"/>
                  </a:lnTo>
                  <a:lnTo>
                    <a:pt x="831967" y="321006"/>
                  </a:lnTo>
                  <a:lnTo>
                    <a:pt x="868060" y="352164"/>
                  </a:lnTo>
                  <a:lnTo>
                    <a:pt x="902970" y="384379"/>
                  </a:lnTo>
                  <a:lnTo>
                    <a:pt x="936637" y="417597"/>
                  </a:lnTo>
                  <a:lnTo>
                    <a:pt x="969002" y="451765"/>
                  </a:lnTo>
                  <a:lnTo>
                    <a:pt x="1000006" y="486832"/>
                  </a:lnTo>
                  <a:lnTo>
                    <a:pt x="1029589" y="522745"/>
                  </a:lnTo>
                  <a:lnTo>
                    <a:pt x="1057692" y="559449"/>
                  </a:lnTo>
                  <a:lnTo>
                    <a:pt x="1084257" y="596893"/>
                  </a:lnTo>
                  <a:lnTo>
                    <a:pt x="1109223" y="635024"/>
                  </a:lnTo>
                  <a:lnTo>
                    <a:pt x="1132533" y="673789"/>
                  </a:lnTo>
                  <a:lnTo>
                    <a:pt x="1154126" y="713135"/>
                  </a:lnTo>
                  <a:lnTo>
                    <a:pt x="1173943" y="753009"/>
                  </a:lnTo>
                  <a:lnTo>
                    <a:pt x="1191926" y="793359"/>
                  </a:lnTo>
                  <a:lnTo>
                    <a:pt x="1208015" y="834131"/>
                  </a:lnTo>
                  <a:lnTo>
                    <a:pt x="1222150" y="875273"/>
                  </a:lnTo>
                  <a:lnTo>
                    <a:pt x="1234274" y="916732"/>
                  </a:lnTo>
                  <a:lnTo>
                    <a:pt x="1244325" y="958456"/>
                  </a:lnTo>
                  <a:lnTo>
                    <a:pt x="1252246" y="1000390"/>
                  </a:lnTo>
                  <a:lnTo>
                    <a:pt x="1257978" y="1042483"/>
                  </a:lnTo>
                  <a:lnTo>
                    <a:pt x="1261460" y="1084682"/>
                  </a:lnTo>
                  <a:lnTo>
                    <a:pt x="1262634" y="1126934"/>
                  </a:lnTo>
                  <a:lnTo>
                    <a:pt x="1263807" y="1169185"/>
                  </a:lnTo>
                  <a:lnTo>
                    <a:pt x="1267289" y="1211383"/>
                  </a:lnTo>
                  <a:lnTo>
                    <a:pt x="1273020" y="1253475"/>
                  </a:lnTo>
                  <a:lnTo>
                    <a:pt x="1280941" y="1295409"/>
                  </a:lnTo>
                  <a:lnTo>
                    <a:pt x="1290993" y="1337131"/>
                  </a:lnTo>
                  <a:lnTo>
                    <a:pt x="1303116" y="1378590"/>
                  </a:lnTo>
                  <a:lnTo>
                    <a:pt x="1317251" y="1419731"/>
                  </a:lnTo>
                  <a:lnTo>
                    <a:pt x="1333340" y="1460503"/>
                  </a:lnTo>
                  <a:lnTo>
                    <a:pt x="1351322" y="1500852"/>
                  </a:lnTo>
                  <a:lnTo>
                    <a:pt x="1371139" y="1540726"/>
                  </a:lnTo>
                  <a:lnTo>
                    <a:pt x="1392732" y="1580071"/>
                  </a:lnTo>
                  <a:lnTo>
                    <a:pt x="1416041" y="1618835"/>
                  </a:lnTo>
                  <a:lnTo>
                    <a:pt x="1441007" y="1656966"/>
                  </a:lnTo>
                  <a:lnTo>
                    <a:pt x="1467571" y="1694410"/>
                  </a:lnTo>
                  <a:lnTo>
                    <a:pt x="1495674" y="1731114"/>
                  </a:lnTo>
                  <a:lnTo>
                    <a:pt x="1525257" y="1767026"/>
                  </a:lnTo>
                  <a:lnTo>
                    <a:pt x="1556260" y="1802092"/>
                  </a:lnTo>
                  <a:lnTo>
                    <a:pt x="1588624" y="1836261"/>
                  </a:lnTo>
                  <a:lnTo>
                    <a:pt x="1622291" y="1869479"/>
                  </a:lnTo>
                  <a:lnTo>
                    <a:pt x="1657200" y="1901693"/>
                  </a:lnTo>
                  <a:lnTo>
                    <a:pt x="1693293" y="1932850"/>
                  </a:lnTo>
                  <a:lnTo>
                    <a:pt x="1730511" y="1962899"/>
                  </a:lnTo>
                  <a:lnTo>
                    <a:pt x="1768794" y="1991785"/>
                  </a:lnTo>
                  <a:lnTo>
                    <a:pt x="1808083" y="2019456"/>
                  </a:lnTo>
                  <a:lnTo>
                    <a:pt x="1848319" y="2045859"/>
                  </a:lnTo>
                  <a:lnTo>
                    <a:pt x="1889443" y="2070942"/>
                  </a:lnTo>
                  <a:lnTo>
                    <a:pt x="1931396" y="2094652"/>
                  </a:lnTo>
                  <a:lnTo>
                    <a:pt x="1974118" y="2116935"/>
                  </a:lnTo>
                  <a:lnTo>
                    <a:pt x="2017550" y="2137739"/>
                  </a:lnTo>
                  <a:lnTo>
                    <a:pt x="2061633" y="2157011"/>
                  </a:lnTo>
                  <a:lnTo>
                    <a:pt x="2106309" y="2174698"/>
                  </a:lnTo>
                  <a:lnTo>
                    <a:pt x="2151516" y="2190748"/>
                  </a:lnTo>
                  <a:lnTo>
                    <a:pt x="2197198" y="2205108"/>
                  </a:lnTo>
                  <a:lnTo>
                    <a:pt x="2243294" y="2217724"/>
                  </a:lnTo>
                  <a:lnTo>
                    <a:pt x="2289745" y="2228544"/>
                  </a:lnTo>
                  <a:lnTo>
                    <a:pt x="2336491" y="2237515"/>
                  </a:lnTo>
                  <a:lnTo>
                    <a:pt x="2383475" y="2244585"/>
                  </a:lnTo>
                  <a:lnTo>
                    <a:pt x="2430636" y="2249700"/>
                  </a:lnTo>
                  <a:lnTo>
                    <a:pt x="2477916" y="2252808"/>
                  </a:lnTo>
                  <a:lnTo>
                    <a:pt x="2525255" y="2253856"/>
                  </a:lnTo>
                </a:path>
              </a:pathLst>
            </a:custGeom>
            <a:ln w="57150">
              <a:solidFill>
                <a:srgbClr val="FC9611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38" name="object 38"/>
            <p:cNvSpPr/>
            <p:nvPr/>
          </p:nvSpPr>
          <p:spPr>
            <a:xfrm>
              <a:off x="4041659" y="4381870"/>
              <a:ext cx="4566285" cy="560070"/>
            </a:xfrm>
            <a:custGeom>
              <a:avLst/>
              <a:gdLst/>
              <a:ahLst/>
              <a:cxnLst/>
              <a:rect l="l" t="t" r="r" b="b"/>
              <a:pathLst>
                <a:path w="4566284" h="560070">
                  <a:moveTo>
                    <a:pt x="0" y="0"/>
                  </a:moveTo>
                  <a:lnTo>
                    <a:pt x="4565891" y="559485"/>
                  </a:lnTo>
                </a:path>
              </a:pathLst>
            </a:custGeom>
            <a:ln w="57150">
              <a:solidFill>
                <a:srgbClr val="FC9611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39" name="object 39"/>
            <p:cNvSpPr/>
            <p:nvPr/>
          </p:nvSpPr>
          <p:spPr>
            <a:xfrm>
              <a:off x="8568752" y="4852781"/>
              <a:ext cx="180975" cy="170180"/>
            </a:xfrm>
            <a:custGeom>
              <a:avLst/>
              <a:gdLst/>
              <a:ahLst/>
              <a:cxnLst/>
              <a:rect l="l" t="t" r="r" b="b"/>
              <a:pathLst>
                <a:path w="180975" h="170179">
                  <a:moveTo>
                    <a:pt x="20866" y="0"/>
                  </a:moveTo>
                  <a:lnTo>
                    <a:pt x="0" y="170180"/>
                  </a:lnTo>
                  <a:lnTo>
                    <a:pt x="180606" y="105943"/>
                  </a:lnTo>
                  <a:lnTo>
                    <a:pt x="20866" y="0"/>
                  </a:lnTo>
                  <a:close/>
                </a:path>
              </a:pathLst>
            </a:custGeom>
            <a:solidFill>
              <a:srgbClr val="FC9611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40" name="object 40"/>
            <p:cNvSpPr/>
            <p:nvPr/>
          </p:nvSpPr>
          <p:spPr>
            <a:xfrm>
              <a:off x="3307397" y="4058999"/>
              <a:ext cx="1856105" cy="899794"/>
            </a:xfrm>
            <a:custGeom>
              <a:avLst/>
              <a:gdLst/>
              <a:ahLst/>
              <a:cxnLst/>
              <a:rect l="l" t="t" r="r" b="b"/>
              <a:pathLst>
                <a:path w="1856104" h="899795">
                  <a:moveTo>
                    <a:pt x="0" y="899731"/>
                  </a:moveTo>
                  <a:lnTo>
                    <a:pt x="1856079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41" name="object 41"/>
            <p:cNvSpPr/>
            <p:nvPr/>
          </p:nvSpPr>
          <p:spPr>
            <a:xfrm>
              <a:off x="5135441" y="4030257"/>
              <a:ext cx="85725" cy="68580"/>
            </a:xfrm>
            <a:custGeom>
              <a:avLst/>
              <a:gdLst/>
              <a:ahLst/>
              <a:cxnLst/>
              <a:rect l="l" t="t" r="r" b="b"/>
              <a:pathLst>
                <a:path w="85725" h="68579">
                  <a:moveTo>
                    <a:pt x="0" y="0"/>
                  </a:moveTo>
                  <a:lnTo>
                    <a:pt x="33235" y="68567"/>
                  </a:lnTo>
                  <a:lnTo>
                    <a:pt x="85178" y="10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46" name="object 2">
            <a:extLst>
              <a:ext uri="{FF2B5EF4-FFF2-40B4-BE49-F238E27FC236}">
                <a16:creationId xmlns:a16="http://schemas.microsoft.com/office/drawing/2014/main" id="{FA92951B-5668-70F6-DB27-4F473A87289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952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2745"/>
              </a:lnSpc>
              <a:spcBef>
                <a:spcPts val="75"/>
              </a:spcBef>
            </a:pPr>
            <a:r>
              <a:rPr spc="-8" dirty="0"/>
              <a:t>Summary</a:t>
            </a:r>
            <a:br>
              <a:rPr lang="en-US" spc="-8" dirty="0"/>
            </a:br>
            <a:r>
              <a:rPr sz="1500" dirty="0">
                <a:solidFill>
                  <a:srgbClr val="8B8D8E"/>
                </a:solidFill>
              </a:rPr>
              <a:t>Sources</a:t>
            </a:r>
            <a:r>
              <a:rPr sz="1500" spc="-30" dirty="0">
                <a:solidFill>
                  <a:srgbClr val="8B8D8E"/>
                </a:solidFill>
              </a:rPr>
              <a:t> </a:t>
            </a:r>
            <a:r>
              <a:rPr sz="1500" dirty="0">
                <a:solidFill>
                  <a:srgbClr val="8B8D8E"/>
                </a:solidFill>
              </a:rPr>
              <a:t>of</a:t>
            </a:r>
            <a:r>
              <a:rPr sz="1500" spc="-23" dirty="0">
                <a:solidFill>
                  <a:srgbClr val="8B8D8E"/>
                </a:solidFill>
              </a:rPr>
              <a:t> </a:t>
            </a:r>
            <a:r>
              <a:rPr sz="1500" dirty="0">
                <a:solidFill>
                  <a:srgbClr val="8B8D8E"/>
                </a:solidFill>
              </a:rPr>
              <a:t>Radiation</a:t>
            </a:r>
            <a:r>
              <a:rPr sz="1500" spc="-23" dirty="0">
                <a:solidFill>
                  <a:srgbClr val="8B8D8E"/>
                </a:solidFill>
              </a:rPr>
              <a:t> </a:t>
            </a:r>
            <a:r>
              <a:rPr sz="1500" dirty="0">
                <a:solidFill>
                  <a:srgbClr val="8B8D8E"/>
                </a:solidFill>
              </a:rPr>
              <a:t>Near</a:t>
            </a:r>
            <a:r>
              <a:rPr sz="1500" spc="-38" dirty="0">
                <a:solidFill>
                  <a:srgbClr val="8B8D8E"/>
                </a:solidFill>
              </a:rPr>
              <a:t> </a:t>
            </a:r>
            <a:r>
              <a:rPr sz="1500" dirty="0">
                <a:solidFill>
                  <a:srgbClr val="8B8D8E"/>
                </a:solidFill>
              </a:rPr>
              <a:t>Earth</a:t>
            </a:r>
            <a:endParaRPr sz="1500" spc="-38" dirty="0">
              <a:solidFill>
                <a:srgbClr val="8B8D8E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4633" y="1961045"/>
            <a:ext cx="3952399" cy="2361724"/>
            <a:chOff x="552843" y="2233726"/>
            <a:chExt cx="5269865" cy="314896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2843" y="2233726"/>
              <a:ext cx="5269484" cy="314836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06802" y="2614434"/>
              <a:ext cx="2166962" cy="242909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42443" y="4674269"/>
            <a:ext cx="8314849" cy="536205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28099" rIns="0" bIns="0" rtlCol="0">
            <a:spAutoFit/>
          </a:bodyPr>
          <a:lstStyle/>
          <a:p>
            <a:pPr marL="2578418" marR="213360" indent="-2361724">
              <a:spcBef>
                <a:spcPts val="221"/>
              </a:spcBef>
            </a:pPr>
            <a:r>
              <a:rPr sz="1650" b="1" spc="-8" dirty="0">
                <a:latin typeface="Arial"/>
                <a:cs typeface="Arial"/>
              </a:rPr>
              <a:t>Trapped</a:t>
            </a:r>
            <a:r>
              <a:rPr sz="1650" b="1" spc="-41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radiation</a:t>
            </a:r>
            <a:r>
              <a:rPr sz="1650" b="1" spc="-26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comes</a:t>
            </a:r>
            <a:r>
              <a:rPr sz="1650" b="1" spc="-45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in</a:t>
            </a:r>
            <a:r>
              <a:rPr sz="1650" b="1" spc="-34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two</a:t>
            </a:r>
            <a:r>
              <a:rPr sz="1650" b="1" spc="-45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forms:</a:t>
            </a:r>
            <a:r>
              <a:rPr sz="1650" b="1" spc="-41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radiation</a:t>
            </a:r>
            <a:r>
              <a:rPr sz="1650" b="1" spc="-19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trapped</a:t>
            </a:r>
            <a:r>
              <a:rPr sz="1650" b="1" spc="-30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by</a:t>
            </a:r>
            <a:r>
              <a:rPr sz="1650" b="1" spc="-41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the</a:t>
            </a:r>
            <a:r>
              <a:rPr sz="1650" b="1" spc="-38" dirty="0">
                <a:latin typeface="Arial"/>
                <a:cs typeface="Arial"/>
              </a:rPr>
              <a:t> </a:t>
            </a:r>
            <a:r>
              <a:rPr sz="1650" b="1" spc="-30" dirty="0">
                <a:latin typeface="Arial"/>
                <a:cs typeface="Arial"/>
              </a:rPr>
              <a:t>Van</a:t>
            </a:r>
            <a:r>
              <a:rPr sz="1650" b="1" spc="-86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Allen</a:t>
            </a:r>
            <a:r>
              <a:rPr sz="1650" b="1" spc="-30" dirty="0">
                <a:latin typeface="Arial"/>
                <a:cs typeface="Arial"/>
              </a:rPr>
              <a:t> </a:t>
            </a:r>
            <a:r>
              <a:rPr sz="1650" b="1" spc="-8" dirty="0">
                <a:latin typeface="Arial"/>
                <a:cs typeface="Arial"/>
              </a:rPr>
              <a:t>Belts </a:t>
            </a:r>
            <a:r>
              <a:rPr sz="1650" b="1" dirty="0">
                <a:latin typeface="Arial"/>
                <a:cs typeface="Arial"/>
              </a:rPr>
              <a:t>and</a:t>
            </a:r>
            <a:r>
              <a:rPr sz="1650" b="1" spc="-34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the</a:t>
            </a:r>
            <a:r>
              <a:rPr sz="1650" b="1" spc="-34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South</a:t>
            </a:r>
            <a:r>
              <a:rPr sz="1650" b="1" spc="-83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Atlantic</a:t>
            </a:r>
            <a:r>
              <a:rPr sz="1650" b="1" spc="-75" dirty="0">
                <a:latin typeface="Arial"/>
                <a:cs typeface="Arial"/>
              </a:rPr>
              <a:t> </a:t>
            </a:r>
            <a:r>
              <a:rPr sz="1650" b="1" spc="-8" dirty="0">
                <a:latin typeface="Arial"/>
                <a:cs typeface="Arial"/>
              </a:rPr>
              <a:t>Anomaly</a:t>
            </a:r>
            <a:endParaRPr sz="16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82663" y="2976010"/>
            <a:ext cx="583406" cy="237566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9528" rIns="0" bIns="0" rtlCol="0">
            <a:spAutoFit/>
          </a:bodyPr>
          <a:lstStyle/>
          <a:p>
            <a:pPr marL="68580">
              <a:spcBef>
                <a:spcPts val="233"/>
              </a:spcBef>
            </a:pPr>
            <a:r>
              <a:rPr sz="1350" b="1" spc="-8" dirty="0">
                <a:latin typeface="Arial"/>
                <a:cs typeface="Arial"/>
              </a:rPr>
              <a:t>Earth</a:t>
            </a:r>
            <a:endParaRPr sz="13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45524" y="1098203"/>
            <a:ext cx="2610803" cy="4251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700" b="1" dirty="0">
                <a:latin typeface="Arial"/>
                <a:cs typeface="Arial"/>
              </a:rPr>
              <a:t>3</a:t>
            </a:r>
            <a:r>
              <a:rPr sz="2700" b="1" spc="-188" dirty="0">
                <a:latin typeface="Arial"/>
                <a:cs typeface="Arial"/>
              </a:rPr>
              <a:t> </a:t>
            </a:r>
            <a:r>
              <a:rPr sz="2100" b="1" spc="-8" dirty="0">
                <a:latin typeface="Arial"/>
                <a:cs typeface="Arial"/>
              </a:rPr>
              <a:t>Trapped</a:t>
            </a:r>
            <a:r>
              <a:rPr sz="2100" b="1" spc="-109" dirty="0">
                <a:latin typeface="Arial"/>
                <a:cs typeface="Arial"/>
              </a:rPr>
              <a:t> </a:t>
            </a:r>
            <a:r>
              <a:rPr sz="2100" b="1" spc="-8" dirty="0">
                <a:latin typeface="Arial"/>
                <a:cs typeface="Arial"/>
              </a:rPr>
              <a:t>Radiation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979661" y="1857244"/>
            <a:ext cx="1132999" cy="1033939"/>
            <a:chOff x="2639547" y="2095325"/>
            <a:chExt cx="1510665" cy="1378585"/>
          </a:xfrm>
        </p:grpSpPr>
        <p:sp>
          <p:nvSpPr>
            <p:cNvPr id="10" name="object 10"/>
            <p:cNvSpPr/>
            <p:nvPr/>
          </p:nvSpPr>
          <p:spPr>
            <a:xfrm>
              <a:off x="3513440" y="2105258"/>
              <a:ext cx="607695" cy="1311275"/>
            </a:xfrm>
            <a:custGeom>
              <a:avLst/>
              <a:gdLst/>
              <a:ahLst/>
              <a:cxnLst/>
              <a:rect l="l" t="t" r="r" b="b"/>
              <a:pathLst>
                <a:path w="607695" h="1311275">
                  <a:moveTo>
                    <a:pt x="0" y="0"/>
                  </a:moveTo>
                  <a:lnTo>
                    <a:pt x="607466" y="1310957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4080998" y="3388677"/>
              <a:ext cx="69215" cy="85725"/>
            </a:xfrm>
            <a:custGeom>
              <a:avLst/>
              <a:gdLst/>
              <a:ahLst/>
              <a:cxnLst/>
              <a:rect l="l" t="t" r="r" b="b"/>
              <a:pathLst>
                <a:path w="69214" h="85725">
                  <a:moveTo>
                    <a:pt x="69138" y="0"/>
                  </a:moveTo>
                  <a:lnTo>
                    <a:pt x="0" y="32029"/>
                  </a:lnTo>
                  <a:lnTo>
                    <a:pt x="66598" y="85153"/>
                  </a:lnTo>
                  <a:lnTo>
                    <a:pt x="691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2" name="object 12"/>
            <p:cNvSpPr/>
            <p:nvPr/>
          </p:nvSpPr>
          <p:spPr>
            <a:xfrm>
              <a:off x="2687585" y="2100088"/>
              <a:ext cx="826135" cy="714375"/>
            </a:xfrm>
            <a:custGeom>
              <a:avLst/>
              <a:gdLst/>
              <a:ahLst/>
              <a:cxnLst/>
              <a:rect l="l" t="t" r="r" b="b"/>
              <a:pathLst>
                <a:path w="826135" h="714375">
                  <a:moveTo>
                    <a:pt x="825855" y="0"/>
                  </a:moveTo>
                  <a:lnTo>
                    <a:pt x="0" y="71398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2639547" y="2776945"/>
              <a:ext cx="83185" cy="78740"/>
            </a:xfrm>
            <a:custGeom>
              <a:avLst/>
              <a:gdLst/>
              <a:ahLst/>
              <a:cxnLst/>
              <a:rect l="l" t="t" r="r" b="b"/>
              <a:pathLst>
                <a:path w="83185" h="78739">
                  <a:moveTo>
                    <a:pt x="32727" y="0"/>
                  </a:moveTo>
                  <a:lnTo>
                    <a:pt x="0" y="78663"/>
                  </a:lnTo>
                  <a:lnTo>
                    <a:pt x="82562" y="57645"/>
                  </a:lnTo>
                  <a:lnTo>
                    <a:pt x="327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50847" y="1860817"/>
            <a:ext cx="3376241" cy="264211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002867" y="1623797"/>
            <a:ext cx="1266825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b="1" dirty="0">
                <a:latin typeface="Arial"/>
                <a:cs typeface="Arial"/>
              </a:rPr>
              <a:t>Radiation</a:t>
            </a:r>
            <a:r>
              <a:rPr sz="1350" b="1" spc="-49" dirty="0">
                <a:latin typeface="Arial"/>
                <a:cs typeface="Arial"/>
              </a:rPr>
              <a:t> </a:t>
            </a:r>
            <a:r>
              <a:rPr sz="1350" b="1" spc="-8" dirty="0">
                <a:latin typeface="Arial"/>
                <a:cs typeface="Arial"/>
              </a:rPr>
              <a:t>Belts</a:t>
            </a:r>
            <a:endParaRPr sz="13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09579" y="1625169"/>
            <a:ext cx="2458403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b="1" dirty="0">
                <a:latin typeface="Arial"/>
                <a:cs typeface="Arial"/>
              </a:rPr>
              <a:t>South</a:t>
            </a:r>
            <a:r>
              <a:rPr sz="1350" b="1" spc="-90" dirty="0">
                <a:latin typeface="Arial"/>
                <a:cs typeface="Arial"/>
              </a:rPr>
              <a:t> </a:t>
            </a:r>
            <a:r>
              <a:rPr sz="1350" b="1" spc="-8" dirty="0">
                <a:latin typeface="Arial"/>
                <a:cs typeface="Arial"/>
              </a:rPr>
              <a:t>Atlantic</a:t>
            </a:r>
            <a:r>
              <a:rPr sz="1350" b="1" spc="-53" dirty="0">
                <a:latin typeface="Arial"/>
                <a:cs typeface="Arial"/>
              </a:rPr>
              <a:t> </a:t>
            </a:r>
            <a:r>
              <a:rPr sz="1350" b="1" dirty="0">
                <a:latin typeface="Arial"/>
                <a:cs typeface="Arial"/>
              </a:rPr>
              <a:t>Anomaly</a:t>
            </a:r>
            <a:r>
              <a:rPr sz="1350" b="1" spc="-11" dirty="0">
                <a:latin typeface="Arial"/>
                <a:cs typeface="Arial"/>
              </a:rPr>
              <a:t> </a:t>
            </a:r>
            <a:r>
              <a:rPr sz="1350" b="1" spc="-15" dirty="0">
                <a:latin typeface="Arial"/>
                <a:cs typeface="Arial"/>
              </a:rPr>
              <a:t>(SAA)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593846" y="1310669"/>
            <a:ext cx="531495" cy="293370"/>
            <a:chOff x="3458461" y="1366559"/>
            <a:chExt cx="708660" cy="391160"/>
          </a:xfrm>
        </p:grpSpPr>
        <p:sp>
          <p:nvSpPr>
            <p:cNvPr id="18" name="object 18"/>
            <p:cNvSpPr/>
            <p:nvPr/>
          </p:nvSpPr>
          <p:spPr>
            <a:xfrm>
              <a:off x="3515610" y="1385609"/>
              <a:ext cx="632460" cy="276860"/>
            </a:xfrm>
            <a:custGeom>
              <a:avLst/>
              <a:gdLst/>
              <a:ahLst/>
              <a:cxnLst/>
              <a:rect l="l" t="t" r="r" b="b"/>
              <a:pathLst>
                <a:path w="632460" h="276860">
                  <a:moveTo>
                    <a:pt x="631990" y="0"/>
                  </a:moveTo>
                  <a:lnTo>
                    <a:pt x="0" y="0"/>
                  </a:lnTo>
                  <a:lnTo>
                    <a:pt x="0" y="27627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3458461" y="1642837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0"/>
                  </a:ln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5977439" y="1310669"/>
            <a:ext cx="704850" cy="294323"/>
            <a:chOff x="7969918" y="1366559"/>
            <a:chExt cx="939800" cy="392430"/>
          </a:xfrm>
        </p:grpSpPr>
        <p:sp>
          <p:nvSpPr>
            <p:cNvPr id="21" name="object 21"/>
            <p:cNvSpPr/>
            <p:nvPr/>
          </p:nvSpPr>
          <p:spPr>
            <a:xfrm>
              <a:off x="7988968" y="1385609"/>
              <a:ext cx="863600" cy="278130"/>
            </a:xfrm>
            <a:custGeom>
              <a:avLst/>
              <a:gdLst/>
              <a:ahLst/>
              <a:cxnLst/>
              <a:rect l="l" t="t" r="r" b="b"/>
              <a:pathLst>
                <a:path w="863600" h="278130">
                  <a:moveTo>
                    <a:pt x="0" y="0"/>
                  </a:moveTo>
                  <a:lnTo>
                    <a:pt x="862990" y="0"/>
                  </a:lnTo>
                  <a:lnTo>
                    <a:pt x="862990" y="278066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22" name="object 22"/>
            <p:cNvSpPr/>
            <p:nvPr/>
          </p:nvSpPr>
          <p:spPr>
            <a:xfrm>
              <a:off x="8794808" y="164462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0"/>
                  </a:ln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27" name="object 2">
            <a:extLst>
              <a:ext uri="{FF2B5EF4-FFF2-40B4-BE49-F238E27FC236}">
                <a16:creationId xmlns:a16="http://schemas.microsoft.com/office/drawing/2014/main" id="{F5A439C3-8977-FEB1-5AB9-0AC25B81712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952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2745"/>
              </a:lnSpc>
              <a:spcBef>
                <a:spcPts val="75"/>
              </a:spcBef>
            </a:pPr>
            <a:r>
              <a:rPr spc="-8" dirty="0"/>
              <a:t>Summary</a:t>
            </a:r>
            <a:br>
              <a:rPr lang="en-US" spc="-8" dirty="0"/>
            </a:br>
            <a:r>
              <a:rPr sz="1500" dirty="0">
                <a:solidFill>
                  <a:srgbClr val="8B8D8E"/>
                </a:solidFill>
              </a:rPr>
              <a:t>Sources</a:t>
            </a:r>
            <a:r>
              <a:rPr sz="1500" spc="-30" dirty="0">
                <a:solidFill>
                  <a:srgbClr val="8B8D8E"/>
                </a:solidFill>
              </a:rPr>
              <a:t> </a:t>
            </a:r>
            <a:r>
              <a:rPr sz="1500" dirty="0">
                <a:solidFill>
                  <a:srgbClr val="8B8D8E"/>
                </a:solidFill>
              </a:rPr>
              <a:t>of</a:t>
            </a:r>
            <a:r>
              <a:rPr sz="1500" spc="-23" dirty="0">
                <a:solidFill>
                  <a:srgbClr val="8B8D8E"/>
                </a:solidFill>
              </a:rPr>
              <a:t> </a:t>
            </a:r>
            <a:r>
              <a:rPr sz="1500" dirty="0">
                <a:solidFill>
                  <a:srgbClr val="8B8D8E"/>
                </a:solidFill>
              </a:rPr>
              <a:t>Radiation</a:t>
            </a:r>
            <a:r>
              <a:rPr sz="1500" spc="-23" dirty="0">
                <a:solidFill>
                  <a:srgbClr val="8B8D8E"/>
                </a:solidFill>
              </a:rPr>
              <a:t> </a:t>
            </a:r>
            <a:r>
              <a:rPr sz="1500" dirty="0">
                <a:solidFill>
                  <a:srgbClr val="8B8D8E"/>
                </a:solidFill>
              </a:rPr>
              <a:t>Near</a:t>
            </a:r>
            <a:r>
              <a:rPr sz="1500" spc="-38" dirty="0">
                <a:solidFill>
                  <a:srgbClr val="8B8D8E"/>
                </a:solidFill>
              </a:rPr>
              <a:t> </a:t>
            </a:r>
            <a:r>
              <a:rPr sz="1500" dirty="0">
                <a:solidFill>
                  <a:srgbClr val="8B8D8E"/>
                </a:solidFill>
              </a:rPr>
              <a:t>Earth</a:t>
            </a:r>
            <a:endParaRPr sz="1500" spc="-38" dirty="0">
              <a:solidFill>
                <a:srgbClr val="8B8D8E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35743" y="2883684"/>
            <a:ext cx="3449955" cy="1483519"/>
            <a:chOff x="580991" y="3463912"/>
            <a:chExt cx="4599940" cy="197802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15925" y="3797439"/>
              <a:ext cx="2112284" cy="164416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783578" y="4052648"/>
              <a:ext cx="1120775" cy="552450"/>
            </a:xfrm>
            <a:custGeom>
              <a:avLst/>
              <a:gdLst/>
              <a:ahLst/>
              <a:cxnLst/>
              <a:rect l="l" t="t" r="r" b="b"/>
              <a:pathLst>
                <a:path w="1120775" h="552450">
                  <a:moveTo>
                    <a:pt x="1047496" y="0"/>
                  </a:moveTo>
                  <a:lnTo>
                    <a:pt x="0" y="268858"/>
                  </a:lnTo>
                  <a:lnTo>
                    <a:pt x="72656" y="551954"/>
                  </a:lnTo>
                  <a:lnTo>
                    <a:pt x="1120165" y="283095"/>
                  </a:lnTo>
                  <a:lnTo>
                    <a:pt x="10474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5" name="object 5"/>
            <p:cNvSpPr/>
            <p:nvPr/>
          </p:nvSpPr>
          <p:spPr>
            <a:xfrm>
              <a:off x="2783577" y="4052648"/>
              <a:ext cx="1120775" cy="552450"/>
            </a:xfrm>
            <a:custGeom>
              <a:avLst/>
              <a:gdLst/>
              <a:ahLst/>
              <a:cxnLst/>
              <a:rect l="l" t="t" r="r" b="b"/>
              <a:pathLst>
                <a:path w="1120775" h="552450">
                  <a:moveTo>
                    <a:pt x="0" y="268858"/>
                  </a:moveTo>
                  <a:lnTo>
                    <a:pt x="1047496" y="0"/>
                  </a:lnTo>
                  <a:lnTo>
                    <a:pt x="1120165" y="283095"/>
                  </a:lnTo>
                  <a:lnTo>
                    <a:pt x="72656" y="551954"/>
                  </a:lnTo>
                  <a:lnTo>
                    <a:pt x="0" y="268858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6" name="object 6"/>
            <p:cNvSpPr/>
            <p:nvPr/>
          </p:nvSpPr>
          <p:spPr>
            <a:xfrm>
              <a:off x="4664040" y="4631421"/>
              <a:ext cx="512445" cy="433070"/>
            </a:xfrm>
            <a:custGeom>
              <a:avLst/>
              <a:gdLst/>
              <a:ahLst/>
              <a:cxnLst/>
              <a:rect l="l" t="t" r="r" b="b"/>
              <a:pathLst>
                <a:path w="512445" h="433070">
                  <a:moveTo>
                    <a:pt x="429272" y="0"/>
                  </a:moveTo>
                  <a:lnTo>
                    <a:pt x="0" y="110185"/>
                  </a:lnTo>
                  <a:lnTo>
                    <a:pt x="82778" y="432688"/>
                  </a:lnTo>
                  <a:lnTo>
                    <a:pt x="512051" y="322516"/>
                  </a:lnTo>
                  <a:lnTo>
                    <a:pt x="4292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7" name="object 7"/>
            <p:cNvSpPr/>
            <p:nvPr/>
          </p:nvSpPr>
          <p:spPr>
            <a:xfrm>
              <a:off x="4664040" y="4631421"/>
              <a:ext cx="512445" cy="433070"/>
            </a:xfrm>
            <a:custGeom>
              <a:avLst/>
              <a:gdLst/>
              <a:ahLst/>
              <a:cxnLst/>
              <a:rect l="l" t="t" r="r" b="b"/>
              <a:pathLst>
                <a:path w="512445" h="433070">
                  <a:moveTo>
                    <a:pt x="0" y="110185"/>
                  </a:moveTo>
                  <a:lnTo>
                    <a:pt x="429272" y="0"/>
                  </a:lnTo>
                  <a:lnTo>
                    <a:pt x="512051" y="322516"/>
                  </a:lnTo>
                  <a:lnTo>
                    <a:pt x="82778" y="432688"/>
                  </a:lnTo>
                  <a:lnTo>
                    <a:pt x="0" y="110185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0991" y="3463912"/>
              <a:ext cx="2407341" cy="1605521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ctrTitle"/>
          </p:nvPr>
        </p:nvSpPr>
        <p:spPr>
          <a:xfrm>
            <a:off x="529830" y="133744"/>
            <a:ext cx="8004391" cy="659283"/>
          </a:xfrm>
          <a:prstGeom prst="rect">
            <a:avLst/>
          </a:prstGeom>
        </p:spPr>
        <p:txBody>
          <a:bodyPr vert="horz" wrap="square" lIns="0" tIns="952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2745"/>
              </a:lnSpc>
              <a:spcBef>
                <a:spcPts val="75"/>
              </a:spcBef>
            </a:pPr>
            <a:r>
              <a:rPr spc="-8" dirty="0"/>
              <a:t>Summary</a:t>
            </a:r>
            <a:br>
              <a:rPr lang="en-US" spc="-8" dirty="0"/>
            </a:br>
            <a:r>
              <a:rPr sz="1500" dirty="0">
                <a:solidFill>
                  <a:srgbClr val="8B8D8E"/>
                </a:solidFill>
              </a:rPr>
              <a:t>Effect</a:t>
            </a:r>
            <a:r>
              <a:rPr sz="1500" spc="-41" dirty="0">
                <a:solidFill>
                  <a:srgbClr val="8B8D8E"/>
                </a:solidFill>
              </a:rPr>
              <a:t> </a:t>
            </a:r>
            <a:r>
              <a:rPr sz="1500" dirty="0">
                <a:solidFill>
                  <a:srgbClr val="8B8D8E"/>
                </a:solidFill>
              </a:rPr>
              <a:t>of</a:t>
            </a:r>
            <a:r>
              <a:rPr sz="1500" spc="-34" dirty="0">
                <a:solidFill>
                  <a:srgbClr val="8B8D8E"/>
                </a:solidFill>
              </a:rPr>
              <a:t> </a:t>
            </a:r>
            <a:r>
              <a:rPr sz="1500" dirty="0">
                <a:solidFill>
                  <a:srgbClr val="8B8D8E"/>
                </a:solidFill>
              </a:rPr>
              <a:t>the</a:t>
            </a:r>
            <a:r>
              <a:rPr sz="1500" spc="-41" dirty="0">
                <a:solidFill>
                  <a:srgbClr val="8B8D8E"/>
                </a:solidFill>
              </a:rPr>
              <a:t> </a:t>
            </a:r>
            <a:r>
              <a:rPr sz="1500" dirty="0">
                <a:solidFill>
                  <a:srgbClr val="8B8D8E"/>
                </a:solidFill>
              </a:rPr>
              <a:t>Sun</a:t>
            </a:r>
            <a:r>
              <a:rPr sz="1500" spc="-38" dirty="0">
                <a:solidFill>
                  <a:srgbClr val="8B8D8E"/>
                </a:solidFill>
              </a:rPr>
              <a:t> </a:t>
            </a:r>
            <a:r>
              <a:rPr sz="1500" dirty="0">
                <a:solidFill>
                  <a:srgbClr val="8B8D8E"/>
                </a:solidFill>
              </a:rPr>
              <a:t>on</a:t>
            </a:r>
            <a:r>
              <a:rPr sz="1500" spc="-38" dirty="0">
                <a:solidFill>
                  <a:srgbClr val="8B8D8E"/>
                </a:solidFill>
              </a:rPr>
              <a:t> </a:t>
            </a:r>
            <a:r>
              <a:rPr sz="1500" dirty="0">
                <a:solidFill>
                  <a:srgbClr val="8B8D8E"/>
                </a:solidFill>
              </a:rPr>
              <a:t>Environment</a:t>
            </a:r>
            <a:endParaRPr sz="1500" spc="-38" dirty="0">
              <a:solidFill>
                <a:srgbClr val="8B8D8E"/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91259" y="2718204"/>
            <a:ext cx="1156335" cy="13135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>
              <a:spcBef>
                <a:spcPts val="79"/>
              </a:spcBef>
            </a:pPr>
            <a:r>
              <a:rPr sz="788" b="1" dirty="0">
                <a:latin typeface="Arial"/>
                <a:cs typeface="Arial"/>
              </a:rPr>
              <a:t>Other</a:t>
            </a:r>
            <a:r>
              <a:rPr sz="788" b="1" spc="-26" dirty="0">
                <a:latin typeface="Arial"/>
                <a:cs typeface="Arial"/>
              </a:rPr>
              <a:t> </a:t>
            </a:r>
            <a:r>
              <a:rPr sz="788" b="1" dirty="0">
                <a:latin typeface="Arial"/>
                <a:cs typeface="Arial"/>
              </a:rPr>
              <a:t>Stars</a:t>
            </a:r>
            <a:r>
              <a:rPr sz="788" b="1" spc="-11" dirty="0">
                <a:latin typeface="Arial"/>
                <a:cs typeface="Arial"/>
              </a:rPr>
              <a:t> </a:t>
            </a:r>
            <a:r>
              <a:rPr sz="788" b="1" dirty="0">
                <a:latin typeface="Arial"/>
                <a:cs typeface="Arial"/>
              </a:rPr>
              <a:t>/</a:t>
            </a:r>
            <a:r>
              <a:rPr sz="788" b="1" spc="-19" dirty="0">
                <a:latin typeface="Arial"/>
                <a:cs typeface="Arial"/>
              </a:rPr>
              <a:t> </a:t>
            </a:r>
            <a:r>
              <a:rPr sz="788" b="1" spc="-8" dirty="0">
                <a:latin typeface="Arial"/>
                <a:cs typeface="Arial"/>
              </a:rPr>
              <a:t>Supernova</a:t>
            </a:r>
            <a:endParaRPr sz="788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47888" y="1224582"/>
            <a:ext cx="8667750" cy="2965609"/>
            <a:chOff x="330517" y="1251775"/>
            <a:chExt cx="11557000" cy="3954145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09837" y="3439138"/>
              <a:ext cx="1723945" cy="138987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35279" y="1256538"/>
              <a:ext cx="11547475" cy="3944620"/>
            </a:xfrm>
            <a:custGeom>
              <a:avLst/>
              <a:gdLst/>
              <a:ahLst/>
              <a:cxnLst/>
              <a:rect l="l" t="t" r="r" b="b"/>
              <a:pathLst>
                <a:path w="11547475" h="3944620">
                  <a:moveTo>
                    <a:pt x="2840215" y="0"/>
                  </a:moveTo>
                  <a:lnTo>
                    <a:pt x="11547157" y="0"/>
                  </a:lnTo>
                  <a:lnTo>
                    <a:pt x="11547157" y="3944315"/>
                  </a:lnTo>
                  <a:lnTo>
                    <a:pt x="2840215" y="3944315"/>
                  </a:lnTo>
                  <a:lnTo>
                    <a:pt x="2840215" y="0"/>
                  </a:lnTo>
                  <a:close/>
                </a:path>
                <a:path w="11547475" h="3944620">
                  <a:moveTo>
                    <a:pt x="0" y="0"/>
                  </a:moveTo>
                  <a:lnTo>
                    <a:pt x="2696413" y="0"/>
                  </a:lnTo>
                  <a:lnTo>
                    <a:pt x="2696413" y="3944315"/>
                  </a:lnTo>
                  <a:lnTo>
                    <a:pt x="0" y="394431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20896" y="1352835"/>
            <a:ext cx="1669733" cy="4251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07181" marR="3810" indent="-307657">
              <a:spcBef>
                <a:spcPts val="75"/>
              </a:spcBef>
            </a:pPr>
            <a:r>
              <a:rPr sz="135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Episodic</a:t>
            </a:r>
            <a:r>
              <a:rPr sz="135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35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or</a:t>
            </a:r>
            <a:r>
              <a:rPr sz="1350" b="1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350" b="1" u="sng" spc="-8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“Active”</a:t>
            </a:r>
            <a:r>
              <a:rPr sz="1350" b="1" spc="-8" dirty="0">
                <a:latin typeface="Arial"/>
                <a:cs typeface="Arial"/>
              </a:rPr>
              <a:t> </a:t>
            </a:r>
            <a:r>
              <a:rPr sz="1350" b="1" u="sng" spc="-8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Environment</a:t>
            </a:r>
            <a:endParaRPr sz="13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73689" y="2339984"/>
            <a:ext cx="599599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>
              <a:spcBef>
                <a:spcPts val="75"/>
              </a:spcBef>
            </a:pPr>
            <a:r>
              <a:rPr sz="1350" b="1" spc="-8" dirty="0">
                <a:latin typeface="Arial"/>
                <a:cs typeface="Arial"/>
              </a:rPr>
              <a:t>(GCRs)</a:t>
            </a:r>
            <a:endParaRPr sz="13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94521" y="2331411"/>
            <a:ext cx="722948" cy="4251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80963" marR="3810" indent="-81439">
              <a:spcBef>
                <a:spcPts val="75"/>
              </a:spcBef>
            </a:pPr>
            <a:r>
              <a:rPr sz="1350" b="1" spc="-8" dirty="0">
                <a:latin typeface="Arial"/>
                <a:cs typeface="Arial"/>
              </a:rPr>
              <a:t>Particles (SEPs)</a:t>
            </a:r>
            <a:endParaRPr sz="13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62594" y="1952238"/>
            <a:ext cx="1564004" cy="4251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9050">
              <a:spcBef>
                <a:spcPts val="75"/>
              </a:spcBef>
            </a:pPr>
            <a:r>
              <a:rPr sz="4050" b="1" baseline="-12345" dirty="0">
                <a:latin typeface="Arial"/>
                <a:cs typeface="Arial"/>
              </a:rPr>
              <a:t>3</a:t>
            </a:r>
            <a:r>
              <a:rPr sz="4050" b="1" spc="-236" baseline="-12345" dirty="0">
                <a:latin typeface="Arial"/>
                <a:cs typeface="Arial"/>
              </a:rPr>
              <a:t> </a:t>
            </a:r>
            <a:r>
              <a:rPr sz="1350" b="1" dirty="0">
                <a:latin typeface="Arial"/>
                <a:cs typeface="Arial"/>
              </a:rPr>
              <a:t>Radiation</a:t>
            </a:r>
            <a:r>
              <a:rPr sz="1350" b="1" spc="-19" dirty="0">
                <a:latin typeface="Arial"/>
                <a:cs typeface="Arial"/>
              </a:rPr>
              <a:t> </a:t>
            </a:r>
            <a:r>
              <a:rPr sz="1350" b="1" spc="-8" dirty="0">
                <a:latin typeface="Arial"/>
                <a:cs typeface="Arial"/>
              </a:rPr>
              <a:t>Belts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852168" y="2658808"/>
            <a:ext cx="3873341" cy="1284446"/>
            <a:chOff x="6469557" y="3164077"/>
            <a:chExt cx="5164455" cy="1712595"/>
          </a:xfrm>
        </p:grpSpPr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69557" y="3167125"/>
              <a:ext cx="2745931" cy="160865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443239" y="3164077"/>
              <a:ext cx="2190277" cy="1712451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7240714" y="2042393"/>
            <a:ext cx="1250633" cy="4251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R="3810" indent="45720">
              <a:spcBef>
                <a:spcPts val="75"/>
              </a:spcBef>
            </a:pPr>
            <a:r>
              <a:rPr sz="1350" b="1" dirty="0">
                <a:latin typeface="Arial"/>
                <a:cs typeface="Arial"/>
              </a:rPr>
              <a:t>South</a:t>
            </a:r>
            <a:r>
              <a:rPr sz="1350" b="1" spc="-83" dirty="0">
                <a:latin typeface="Arial"/>
                <a:cs typeface="Arial"/>
              </a:rPr>
              <a:t> </a:t>
            </a:r>
            <a:r>
              <a:rPr sz="1350" b="1" spc="-8" dirty="0">
                <a:latin typeface="Arial"/>
                <a:cs typeface="Arial"/>
              </a:rPr>
              <a:t>Atlantic </a:t>
            </a:r>
            <a:r>
              <a:rPr sz="1350" b="1" dirty="0">
                <a:latin typeface="Arial"/>
                <a:cs typeface="Arial"/>
              </a:rPr>
              <a:t>Anomaly</a:t>
            </a:r>
            <a:r>
              <a:rPr sz="1350" b="1" spc="-53" dirty="0">
                <a:latin typeface="Arial"/>
                <a:cs typeface="Arial"/>
              </a:rPr>
              <a:t> </a:t>
            </a:r>
            <a:r>
              <a:rPr sz="1350" b="1" spc="-15" dirty="0">
                <a:latin typeface="Arial"/>
                <a:cs typeface="Arial"/>
              </a:rPr>
              <a:t>(SAA)</a:t>
            </a:r>
            <a:endParaRPr sz="13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88950" y="2028621"/>
            <a:ext cx="200501" cy="4251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>
              <a:spcBef>
                <a:spcPts val="75"/>
              </a:spcBef>
            </a:pPr>
            <a:r>
              <a:rPr sz="2700" b="1" spc="-38" dirty="0">
                <a:latin typeface="Arial"/>
                <a:cs typeface="Arial"/>
              </a:rPr>
              <a:t>4</a:t>
            </a:r>
            <a:endParaRPr sz="27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7080" y="1954221"/>
            <a:ext cx="1591628" cy="4251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9050">
              <a:spcBef>
                <a:spcPts val="75"/>
              </a:spcBef>
            </a:pPr>
            <a:r>
              <a:rPr sz="4050" b="1" baseline="-13117" dirty="0">
                <a:latin typeface="Arial"/>
                <a:cs typeface="Arial"/>
              </a:rPr>
              <a:t>1</a:t>
            </a:r>
            <a:r>
              <a:rPr sz="4050" b="1" spc="-23" baseline="-13117" dirty="0">
                <a:latin typeface="Arial"/>
                <a:cs typeface="Arial"/>
              </a:rPr>
              <a:t> </a:t>
            </a:r>
            <a:r>
              <a:rPr sz="1350" b="1" dirty="0">
                <a:latin typeface="Arial"/>
                <a:cs typeface="Arial"/>
              </a:rPr>
              <a:t>Solar</a:t>
            </a:r>
            <a:r>
              <a:rPr sz="1350" b="1" spc="-11" dirty="0">
                <a:latin typeface="Arial"/>
                <a:cs typeface="Arial"/>
              </a:rPr>
              <a:t> </a:t>
            </a:r>
            <a:r>
              <a:rPr sz="1350" b="1" spc="-8" dirty="0">
                <a:latin typeface="Arial"/>
                <a:cs typeface="Arial"/>
              </a:rPr>
              <a:t>Energetic</a:t>
            </a:r>
            <a:endParaRPr sz="13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69464" y="1962793"/>
            <a:ext cx="2122170" cy="4251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9050">
              <a:spcBef>
                <a:spcPts val="75"/>
              </a:spcBef>
            </a:pPr>
            <a:r>
              <a:rPr sz="4050" b="1" baseline="-12345" dirty="0">
                <a:latin typeface="Arial"/>
                <a:cs typeface="Arial"/>
              </a:rPr>
              <a:t>2</a:t>
            </a:r>
            <a:r>
              <a:rPr sz="4050" b="1" spc="-39" baseline="-12345" dirty="0">
                <a:latin typeface="Arial"/>
                <a:cs typeface="Arial"/>
              </a:rPr>
              <a:t> </a:t>
            </a:r>
            <a:r>
              <a:rPr sz="1350" b="1" dirty="0">
                <a:latin typeface="Arial"/>
                <a:cs typeface="Arial"/>
              </a:rPr>
              <a:t>Galactic</a:t>
            </a:r>
            <a:r>
              <a:rPr sz="1350" b="1" spc="-15" dirty="0">
                <a:latin typeface="Arial"/>
                <a:cs typeface="Arial"/>
              </a:rPr>
              <a:t> </a:t>
            </a:r>
            <a:r>
              <a:rPr sz="1350" b="1" dirty="0">
                <a:latin typeface="Arial"/>
                <a:cs typeface="Arial"/>
              </a:rPr>
              <a:t>Cosmic</a:t>
            </a:r>
            <a:r>
              <a:rPr sz="1350" b="1" spc="-15" dirty="0">
                <a:latin typeface="Arial"/>
                <a:cs typeface="Arial"/>
              </a:rPr>
              <a:t> Rays</a:t>
            </a:r>
            <a:endParaRPr sz="13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10403" y="4415961"/>
            <a:ext cx="8314849" cy="536205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28099" rIns="0" bIns="0" rtlCol="0">
            <a:spAutoFit/>
          </a:bodyPr>
          <a:lstStyle/>
          <a:p>
            <a:pPr marL="1556861" marR="392906" indent="-1162526">
              <a:spcBef>
                <a:spcPts val="221"/>
              </a:spcBef>
            </a:pPr>
            <a:r>
              <a:rPr sz="1650" b="1" dirty="0">
                <a:latin typeface="Arial"/>
                <a:cs typeface="Arial"/>
              </a:rPr>
              <a:t>The</a:t>
            </a:r>
            <a:r>
              <a:rPr sz="1650" b="1" spc="-38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space</a:t>
            </a:r>
            <a:r>
              <a:rPr sz="1650" b="1" spc="-38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environment</a:t>
            </a:r>
            <a:r>
              <a:rPr sz="1650" b="1" spc="-26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is</a:t>
            </a:r>
            <a:r>
              <a:rPr sz="1650" b="1" spc="-41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dynamic</a:t>
            </a:r>
            <a:r>
              <a:rPr sz="1650" b="1" spc="-19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due</a:t>
            </a:r>
            <a:r>
              <a:rPr sz="1650" b="1" spc="-38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to</a:t>
            </a:r>
            <a:r>
              <a:rPr sz="1650" b="1" spc="-34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the</a:t>
            </a:r>
            <a:r>
              <a:rPr sz="1650" b="1" spc="-38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solar</a:t>
            </a:r>
            <a:r>
              <a:rPr sz="1650" b="1" spc="-38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cycle</a:t>
            </a:r>
            <a:r>
              <a:rPr sz="1650" b="1" spc="-26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which</a:t>
            </a:r>
            <a:r>
              <a:rPr sz="1650" b="1" spc="-45" dirty="0">
                <a:latin typeface="Arial"/>
                <a:cs typeface="Arial"/>
              </a:rPr>
              <a:t> </a:t>
            </a:r>
            <a:r>
              <a:rPr sz="1650" b="1" spc="-8" dirty="0">
                <a:latin typeface="Arial"/>
                <a:cs typeface="Arial"/>
              </a:rPr>
              <a:t>determines </a:t>
            </a:r>
            <a:r>
              <a:rPr sz="1650" b="1" dirty="0">
                <a:latin typeface="Arial"/>
                <a:cs typeface="Arial"/>
              </a:rPr>
              <a:t>environments</a:t>
            </a:r>
            <a:r>
              <a:rPr sz="1650" b="1" spc="-34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that</a:t>
            </a:r>
            <a:r>
              <a:rPr sz="1650" b="1" spc="-34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are</a:t>
            </a:r>
            <a:r>
              <a:rPr sz="1650" b="1" spc="-53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most</a:t>
            </a:r>
            <a:r>
              <a:rPr sz="1650" b="1" spc="-49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prominent</a:t>
            </a:r>
            <a:r>
              <a:rPr sz="1650" b="1" spc="-34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around</a:t>
            </a:r>
            <a:r>
              <a:rPr sz="1650" b="1" spc="-34" dirty="0">
                <a:latin typeface="Arial"/>
                <a:cs typeface="Arial"/>
              </a:rPr>
              <a:t> </a:t>
            </a:r>
            <a:r>
              <a:rPr sz="1650" b="1" spc="-8" dirty="0">
                <a:latin typeface="Arial"/>
                <a:cs typeface="Arial"/>
              </a:rPr>
              <a:t>Earth</a:t>
            </a:r>
            <a:endParaRPr sz="16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963248" y="1337438"/>
            <a:ext cx="3562350" cy="604813"/>
          </a:xfrm>
          <a:prstGeom prst="rect">
            <a:avLst/>
          </a:prstGeom>
        </p:spPr>
        <p:txBody>
          <a:bodyPr vert="horz" wrap="square" lIns="0" tIns="98584" rIns="0" bIns="0" rtlCol="0">
            <a:spAutoFit/>
          </a:bodyPr>
          <a:lstStyle/>
          <a:p>
            <a:pPr>
              <a:spcBef>
                <a:spcPts val="776"/>
              </a:spcBef>
            </a:pPr>
            <a:r>
              <a:rPr sz="135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Continuous</a:t>
            </a:r>
            <a:r>
              <a:rPr sz="1350" b="1" u="sng" spc="-6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35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or</a:t>
            </a:r>
            <a:r>
              <a:rPr sz="1350" b="1" u="sng" spc="-38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35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“Quiet</a:t>
            </a:r>
            <a:r>
              <a:rPr sz="1350" b="1" u="sng" spc="-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35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Time”</a:t>
            </a:r>
            <a:r>
              <a:rPr sz="1350" b="1" u="sng" spc="-34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350" b="1" u="sng" spc="-8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Environment</a:t>
            </a:r>
            <a:endParaRPr sz="1350">
              <a:latin typeface="Arial"/>
              <a:cs typeface="Arial"/>
            </a:endParaRPr>
          </a:p>
          <a:p>
            <a:pPr marL="2056924">
              <a:spcBef>
                <a:spcPts val="701"/>
              </a:spcBef>
            </a:pPr>
            <a:r>
              <a:rPr sz="1350" b="1" spc="-8" dirty="0">
                <a:latin typeface="Arial"/>
                <a:cs typeface="Arial"/>
              </a:rPr>
              <a:t>Trapped</a:t>
            </a:r>
            <a:r>
              <a:rPr sz="1350" b="1" spc="-71" dirty="0">
                <a:latin typeface="Arial"/>
                <a:cs typeface="Arial"/>
              </a:rPr>
              <a:t> </a:t>
            </a:r>
            <a:r>
              <a:rPr sz="1350" b="1" spc="-8" dirty="0">
                <a:latin typeface="Arial"/>
                <a:cs typeface="Arial"/>
              </a:rPr>
              <a:t>Radiation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731240" y="1824218"/>
            <a:ext cx="2174081" cy="278130"/>
            <a:chOff x="7641652" y="2051291"/>
            <a:chExt cx="2898775" cy="370840"/>
          </a:xfrm>
        </p:grpSpPr>
        <p:sp>
          <p:nvSpPr>
            <p:cNvPr id="28" name="object 28"/>
            <p:cNvSpPr/>
            <p:nvPr/>
          </p:nvSpPr>
          <p:spPr>
            <a:xfrm>
              <a:off x="7698807" y="2070341"/>
              <a:ext cx="230504" cy="256540"/>
            </a:xfrm>
            <a:custGeom>
              <a:avLst/>
              <a:gdLst/>
              <a:ahLst/>
              <a:cxnLst/>
              <a:rect l="l" t="t" r="r" b="b"/>
              <a:pathLst>
                <a:path w="230504" h="256539">
                  <a:moveTo>
                    <a:pt x="230238" y="0"/>
                  </a:moveTo>
                  <a:lnTo>
                    <a:pt x="0" y="0"/>
                  </a:lnTo>
                  <a:lnTo>
                    <a:pt x="0" y="256286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29" name="object 29"/>
            <p:cNvSpPr/>
            <p:nvPr/>
          </p:nvSpPr>
          <p:spPr>
            <a:xfrm>
              <a:off x="7641652" y="2307573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0"/>
                  </a:ln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30" name="object 30"/>
            <p:cNvSpPr/>
            <p:nvPr/>
          </p:nvSpPr>
          <p:spPr>
            <a:xfrm>
              <a:off x="10119321" y="2070341"/>
              <a:ext cx="363855" cy="146685"/>
            </a:xfrm>
            <a:custGeom>
              <a:avLst/>
              <a:gdLst/>
              <a:ahLst/>
              <a:cxnLst/>
              <a:rect l="l" t="t" r="r" b="b"/>
              <a:pathLst>
                <a:path w="363854" h="146685">
                  <a:moveTo>
                    <a:pt x="0" y="0"/>
                  </a:moveTo>
                  <a:lnTo>
                    <a:pt x="363588" y="0"/>
                  </a:lnTo>
                  <a:lnTo>
                    <a:pt x="363588" y="146545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31" name="object 31"/>
            <p:cNvSpPr/>
            <p:nvPr/>
          </p:nvSpPr>
          <p:spPr>
            <a:xfrm>
              <a:off x="10425760" y="2197841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0"/>
                  </a:lnTo>
                  <a:lnTo>
                    <a:pt x="5715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529830" y="133744"/>
            <a:ext cx="8004391" cy="659283"/>
          </a:xfrm>
          <a:prstGeom prst="rect">
            <a:avLst/>
          </a:prstGeom>
        </p:spPr>
        <p:txBody>
          <a:bodyPr vert="horz" wrap="square" lIns="0" tIns="952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905">
              <a:lnSpc>
                <a:spcPts val="2745"/>
              </a:lnSpc>
              <a:spcBef>
                <a:spcPts val="75"/>
              </a:spcBef>
            </a:pPr>
            <a:r>
              <a:rPr spc="-8" dirty="0"/>
              <a:t>Summary</a:t>
            </a:r>
            <a:br>
              <a:rPr lang="en-US" spc="-8" dirty="0"/>
            </a:br>
            <a:r>
              <a:rPr sz="1500" dirty="0">
                <a:solidFill>
                  <a:srgbClr val="8B8D8E"/>
                </a:solidFill>
              </a:rPr>
              <a:t>Effect</a:t>
            </a:r>
            <a:r>
              <a:rPr sz="1500" spc="-45" dirty="0">
                <a:solidFill>
                  <a:srgbClr val="8B8D8E"/>
                </a:solidFill>
              </a:rPr>
              <a:t> </a:t>
            </a:r>
            <a:r>
              <a:rPr sz="1500" dirty="0">
                <a:solidFill>
                  <a:srgbClr val="8B8D8E"/>
                </a:solidFill>
              </a:rPr>
              <a:t>of</a:t>
            </a:r>
            <a:r>
              <a:rPr sz="1500" spc="-38" dirty="0">
                <a:solidFill>
                  <a:srgbClr val="8B8D8E"/>
                </a:solidFill>
              </a:rPr>
              <a:t> </a:t>
            </a:r>
            <a:r>
              <a:rPr sz="1500" dirty="0">
                <a:solidFill>
                  <a:srgbClr val="8B8D8E"/>
                </a:solidFill>
              </a:rPr>
              <a:t>the</a:t>
            </a:r>
            <a:r>
              <a:rPr sz="1500" spc="-49" dirty="0">
                <a:solidFill>
                  <a:srgbClr val="8B8D8E"/>
                </a:solidFill>
              </a:rPr>
              <a:t> </a:t>
            </a:r>
            <a:r>
              <a:rPr sz="1500" dirty="0">
                <a:solidFill>
                  <a:srgbClr val="8B8D8E"/>
                </a:solidFill>
              </a:rPr>
              <a:t>Environment</a:t>
            </a:r>
            <a:r>
              <a:rPr sz="1500" spc="-38" dirty="0">
                <a:solidFill>
                  <a:srgbClr val="8B8D8E"/>
                </a:solidFill>
              </a:rPr>
              <a:t> </a:t>
            </a:r>
            <a:r>
              <a:rPr sz="1500" dirty="0">
                <a:solidFill>
                  <a:srgbClr val="8B8D8E"/>
                </a:solidFill>
              </a:rPr>
              <a:t>on</a:t>
            </a:r>
            <a:r>
              <a:rPr sz="1500" spc="-45" dirty="0">
                <a:solidFill>
                  <a:srgbClr val="8B8D8E"/>
                </a:solidFill>
              </a:rPr>
              <a:t> </a:t>
            </a:r>
            <a:r>
              <a:rPr sz="1500" dirty="0">
                <a:solidFill>
                  <a:srgbClr val="8B8D8E"/>
                </a:solidFill>
              </a:rPr>
              <a:t>Mission</a:t>
            </a:r>
            <a:endParaRPr sz="1500" spc="-38" dirty="0">
              <a:solidFill>
                <a:srgbClr val="8B8D8E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8026" y="4981678"/>
            <a:ext cx="7540466" cy="536205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28099" rIns="0" bIns="0" rtlCol="0">
            <a:spAutoFit/>
          </a:bodyPr>
          <a:lstStyle/>
          <a:p>
            <a:pPr marL="1250633" marR="410528" indent="-836771">
              <a:spcBef>
                <a:spcPts val="221"/>
              </a:spcBef>
            </a:pPr>
            <a:r>
              <a:rPr sz="1650" b="1" dirty="0">
                <a:latin typeface="Arial"/>
                <a:cs typeface="Arial"/>
              </a:rPr>
              <a:t>Modeling</a:t>
            </a:r>
            <a:r>
              <a:rPr sz="1650" b="1" spc="-38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and</a:t>
            </a:r>
            <a:r>
              <a:rPr sz="1650" b="1" spc="-49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simulation</a:t>
            </a:r>
            <a:r>
              <a:rPr sz="1650" b="1" spc="-45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is</a:t>
            </a:r>
            <a:r>
              <a:rPr sz="1650" b="1" spc="-56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required</a:t>
            </a:r>
            <a:r>
              <a:rPr sz="1650" b="1" spc="-45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to</a:t>
            </a:r>
            <a:r>
              <a:rPr sz="1650" b="1" spc="-49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understand</a:t>
            </a:r>
            <a:r>
              <a:rPr sz="1650" b="1" spc="-34" dirty="0">
                <a:latin typeface="Arial"/>
                <a:cs typeface="Arial"/>
              </a:rPr>
              <a:t> </a:t>
            </a:r>
            <a:r>
              <a:rPr sz="1650" b="1" spc="-8" dirty="0">
                <a:latin typeface="Arial"/>
                <a:cs typeface="Arial"/>
              </a:rPr>
              <a:t>HOW,</a:t>
            </a:r>
            <a:r>
              <a:rPr sz="1650" b="1" spc="-49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not</a:t>
            </a:r>
            <a:r>
              <a:rPr sz="1650" b="1" spc="-53" dirty="0">
                <a:latin typeface="Arial"/>
                <a:cs typeface="Arial"/>
              </a:rPr>
              <a:t> </a:t>
            </a:r>
            <a:r>
              <a:rPr sz="1650" b="1" spc="-38" dirty="0">
                <a:latin typeface="Arial"/>
                <a:cs typeface="Arial"/>
              </a:rPr>
              <a:t>IF,</a:t>
            </a:r>
            <a:r>
              <a:rPr sz="1650" b="1" spc="-53" dirty="0">
                <a:latin typeface="Arial"/>
                <a:cs typeface="Arial"/>
              </a:rPr>
              <a:t> </a:t>
            </a:r>
            <a:r>
              <a:rPr sz="1650" b="1" spc="-19" dirty="0">
                <a:latin typeface="Arial"/>
                <a:cs typeface="Arial"/>
              </a:rPr>
              <a:t>the </a:t>
            </a:r>
            <a:r>
              <a:rPr sz="1650" b="1" dirty="0">
                <a:latin typeface="Arial"/>
                <a:cs typeface="Arial"/>
              </a:rPr>
              <a:t>natural</a:t>
            </a:r>
            <a:r>
              <a:rPr sz="1650" b="1" spc="-38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space</a:t>
            </a:r>
            <a:r>
              <a:rPr sz="1650" b="1" spc="-53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environment</a:t>
            </a:r>
            <a:r>
              <a:rPr sz="1650" b="1" spc="-30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will</a:t>
            </a:r>
            <a:r>
              <a:rPr sz="1650" b="1" spc="-68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affect</a:t>
            </a:r>
            <a:r>
              <a:rPr sz="1650" b="1" spc="-38" dirty="0">
                <a:latin typeface="Arial"/>
                <a:cs typeface="Arial"/>
              </a:rPr>
              <a:t> </a:t>
            </a:r>
            <a:r>
              <a:rPr sz="1650" b="1" dirty="0">
                <a:latin typeface="Arial"/>
                <a:cs typeface="Arial"/>
              </a:rPr>
              <a:t>your</a:t>
            </a:r>
            <a:r>
              <a:rPr sz="1650" b="1" spc="-34" dirty="0">
                <a:latin typeface="Arial"/>
                <a:cs typeface="Arial"/>
              </a:rPr>
              <a:t> </a:t>
            </a:r>
            <a:r>
              <a:rPr sz="1650" b="1" spc="-8" dirty="0">
                <a:latin typeface="Arial"/>
                <a:cs typeface="Arial"/>
              </a:rPr>
              <a:t>system.</a:t>
            </a:r>
            <a:endParaRPr sz="165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32002" y="1240005"/>
          <a:ext cx="8672514" cy="35513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0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48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39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9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39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68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68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168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Levels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Orbits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844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Env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Solar</a:t>
                      </a:r>
                      <a:r>
                        <a:rPr sz="1400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Max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Solar</a:t>
                      </a:r>
                      <a:r>
                        <a:rPr sz="1400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Min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LEO</a:t>
                      </a:r>
                      <a:r>
                        <a:rPr sz="140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(Low</a:t>
                      </a:r>
                      <a:r>
                        <a:rPr sz="140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Inc)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LEO</a:t>
                      </a:r>
                      <a:r>
                        <a:rPr sz="1400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(Polar)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MEO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HEO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GEO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94615" marR="85725" indent="-31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Trapped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Electron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Higher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Lower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Moderate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Moderate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Severe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Yes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Severe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118745" marR="85725" indent="-279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Trapped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Protons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Lower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Higher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Yes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Yes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Severe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Yes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No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584">
                <a:tc>
                  <a:txBody>
                    <a:bodyPr/>
                    <a:lstStyle/>
                    <a:p>
                      <a:pPr marL="132715" marR="124460" indent="11430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Solar Particle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60020" marR="153035" indent="19621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spc="-20" dirty="0">
                          <a:latin typeface="Arial"/>
                          <a:cs typeface="Arial"/>
                        </a:rPr>
                        <a:t>More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Frequent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39065" marR="132715" indent="214629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spc="-20" dirty="0">
                          <a:latin typeface="Arial"/>
                          <a:cs typeface="Arial"/>
                        </a:rPr>
                        <a:t>Less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Frequent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95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No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Yes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Yes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Yes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Yes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3239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400" spc="-20" dirty="0">
                          <a:latin typeface="Arial"/>
                          <a:cs typeface="Arial"/>
                        </a:rPr>
                        <a:t>GCRs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953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Lower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953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Higher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953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Moderate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6953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Yes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953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Yes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6953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Yes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953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Yes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6953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9D904-097F-1285-B0DC-74A80AE26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586DF-9C8D-3240-68C4-67A719970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589" y="1492520"/>
            <a:ext cx="8381504" cy="1703315"/>
          </a:xfrm>
        </p:spPr>
        <p:txBody>
          <a:bodyPr>
            <a:normAutofit/>
          </a:bodyPr>
          <a:lstStyle/>
          <a:p>
            <a:pPr marL="9525" algn="ctr">
              <a:spcBef>
                <a:spcPts val="71"/>
              </a:spcBef>
            </a:pPr>
            <a:r>
              <a:rPr lang="en-US" spc="-8" dirty="0"/>
              <a:t>Questions?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A5BDC5-84E8-9336-5F66-E3A134EAA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34"/>
            <a:ext cx="787400" cy="787400"/>
          </a:xfrm>
          <a:prstGeom prst="rect">
            <a:avLst/>
          </a:prstGeom>
        </p:spPr>
      </p:pic>
      <p:pic>
        <p:nvPicPr>
          <p:cNvPr id="8" name="Picture 7" descr="A black and white logo&#10;&#10;Description automatically generated">
            <a:extLst>
              <a:ext uri="{FF2B5EF4-FFF2-40B4-BE49-F238E27FC236}">
                <a16:creationId xmlns:a16="http://schemas.microsoft.com/office/drawing/2014/main" id="{18923F81-0CD9-37BF-5695-98DB4D634A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883" y="4906644"/>
            <a:ext cx="3849552" cy="73082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9B030D7C-1A1B-9BBC-E3B5-6D01E99AEB10}"/>
              </a:ext>
            </a:extLst>
          </p:cNvPr>
          <p:cNvGrpSpPr/>
          <p:nvPr/>
        </p:nvGrpSpPr>
        <p:grpSpPr>
          <a:xfrm>
            <a:off x="112565" y="4878366"/>
            <a:ext cx="1654161" cy="753510"/>
            <a:chOff x="3906647" y="4143602"/>
            <a:chExt cx="1654161" cy="75351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8FF3D75-ED28-0D81-BFE7-229D947392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06647" y="4143602"/>
              <a:ext cx="753510" cy="75351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994B658-DE26-9198-D01A-A600693B6E2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97491" y="4147304"/>
              <a:ext cx="763317" cy="749808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1C9C3674-7BF9-9D76-84C5-1FF75F0B5D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1960" y="4878365"/>
            <a:ext cx="753511" cy="7535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B42B12-352C-6A10-6E38-5F4CF5DEFCF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8586" b="17476"/>
          <a:stretch>
            <a:fillRect/>
          </a:stretch>
        </p:blipFill>
        <p:spPr>
          <a:xfrm>
            <a:off x="2645471" y="4878365"/>
            <a:ext cx="1765300" cy="73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1838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529830" y="133744"/>
            <a:ext cx="8004391" cy="659283"/>
          </a:xfrm>
          <a:prstGeom prst="rect">
            <a:avLst/>
          </a:prstGeom>
        </p:spPr>
        <p:txBody>
          <a:bodyPr vert="horz" wrap="square" lIns="0" tIns="952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381">
              <a:lnSpc>
                <a:spcPts val="2745"/>
              </a:lnSpc>
              <a:spcBef>
                <a:spcPts val="75"/>
              </a:spcBef>
            </a:pPr>
            <a:r>
              <a:rPr dirty="0"/>
              <a:t>Why</a:t>
            </a:r>
            <a:r>
              <a:rPr spc="-38" dirty="0"/>
              <a:t> </a:t>
            </a:r>
            <a:r>
              <a:rPr dirty="0"/>
              <a:t>do</a:t>
            </a:r>
            <a:r>
              <a:rPr spc="-45" dirty="0"/>
              <a:t> </a:t>
            </a:r>
            <a:r>
              <a:rPr dirty="0"/>
              <a:t>environments</a:t>
            </a:r>
            <a:r>
              <a:rPr spc="-45" dirty="0"/>
              <a:t> </a:t>
            </a:r>
            <a:r>
              <a:rPr spc="-8" dirty="0"/>
              <a:t>matter?</a:t>
            </a:r>
            <a:br>
              <a:rPr lang="en-US" spc="-8" dirty="0"/>
            </a:br>
            <a:r>
              <a:rPr sz="1500" dirty="0">
                <a:solidFill>
                  <a:srgbClr val="8B8D8E"/>
                </a:solidFill>
              </a:rPr>
              <a:t>Historical</a:t>
            </a:r>
            <a:r>
              <a:rPr sz="1500" spc="-23" dirty="0">
                <a:solidFill>
                  <a:srgbClr val="8B8D8E"/>
                </a:solidFill>
              </a:rPr>
              <a:t> </a:t>
            </a:r>
            <a:r>
              <a:rPr sz="1500" dirty="0">
                <a:solidFill>
                  <a:srgbClr val="8B8D8E"/>
                </a:solidFill>
              </a:rPr>
              <a:t>Examples</a:t>
            </a:r>
            <a:endParaRPr sz="1500" spc="-38" dirty="0">
              <a:solidFill>
                <a:srgbClr val="8B8D8E"/>
              </a:solidFill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4294967295"/>
          </p:nvPr>
        </p:nvSpPr>
        <p:spPr>
          <a:xfrm>
            <a:off x="8904288" y="6626225"/>
            <a:ext cx="239712" cy="1984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0F6EC5"/>
                </a:solidFill>
                <a:latin typeface="Arial"/>
                <a:cs typeface="Arial"/>
              </a:defRPr>
            </a:lvl1pPr>
          </a:lstStyle>
          <a:p>
            <a:pPr marL="101600">
              <a:lnSpc>
                <a:spcPts val="1425"/>
              </a:lnSpc>
            </a:pPr>
            <a:fld id="{81D60167-4931-47E6-BA6A-407CBD079E47}" type="slidenum">
              <a:rPr lang="en-US" spc="-50" smtClean="0">
                <a:solidFill>
                  <a:srgbClr val="FFFFFF"/>
                </a:solidFill>
              </a:rPr>
              <a:pPr marL="101600">
                <a:lnSpc>
                  <a:spcPts val="1425"/>
                </a:lnSpc>
              </a:pPr>
              <a:t>50</a:t>
            </a:fld>
            <a:endParaRPr spc="-19" dirty="0"/>
          </a:p>
        </p:txBody>
      </p:sp>
      <p:grpSp>
        <p:nvGrpSpPr>
          <p:cNvPr id="3" name="object 3"/>
          <p:cNvGrpSpPr/>
          <p:nvPr/>
        </p:nvGrpSpPr>
        <p:grpSpPr>
          <a:xfrm>
            <a:off x="2446020" y="1187568"/>
            <a:ext cx="4083844" cy="3499009"/>
            <a:chOff x="3261359" y="1202423"/>
            <a:chExt cx="5445125" cy="466534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0884" y="1211948"/>
              <a:ext cx="5425643" cy="464570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266122" y="1207185"/>
              <a:ext cx="5435600" cy="4655820"/>
            </a:xfrm>
            <a:custGeom>
              <a:avLst/>
              <a:gdLst/>
              <a:ahLst/>
              <a:cxnLst/>
              <a:rect l="l" t="t" r="r" b="b"/>
              <a:pathLst>
                <a:path w="5435600" h="4655820">
                  <a:moveTo>
                    <a:pt x="0" y="0"/>
                  </a:moveTo>
                  <a:lnTo>
                    <a:pt x="5435168" y="0"/>
                  </a:lnTo>
                  <a:lnTo>
                    <a:pt x="5435168" y="4655235"/>
                  </a:lnTo>
                  <a:lnTo>
                    <a:pt x="0" y="465523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821265" y="4700326"/>
            <a:ext cx="3128009" cy="13135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788" b="1" dirty="0">
                <a:latin typeface="Arial"/>
                <a:cs typeface="Arial"/>
              </a:rPr>
              <a:t>[Credit:</a:t>
            </a:r>
            <a:r>
              <a:rPr sz="788" b="1" spc="-23" dirty="0">
                <a:latin typeface="Arial"/>
                <a:cs typeface="Arial"/>
              </a:rPr>
              <a:t> </a:t>
            </a:r>
            <a:r>
              <a:rPr sz="788" b="1" dirty="0">
                <a:latin typeface="Arial"/>
                <a:cs typeface="Arial"/>
              </a:rPr>
              <a:t>T.</a:t>
            </a:r>
            <a:r>
              <a:rPr sz="788" b="1" spc="-23" dirty="0">
                <a:latin typeface="Arial"/>
                <a:cs typeface="Arial"/>
              </a:rPr>
              <a:t> </a:t>
            </a:r>
            <a:r>
              <a:rPr sz="788" b="1" dirty="0">
                <a:latin typeface="Arial"/>
                <a:cs typeface="Arial"/>
              </a:rPr>
              <a:t>Malik,</a:t>
            </a:r>
            <a:r>
              <a:rPr sz="788" b="1" spc="-30" dirty="0">
                <a:latin typeface="Arial"/>
                <a:cs typeface="Arial"/>
              </a:rPr>
              <a:t> </a:t>
            </a:r>
            <a:r>
              <a:rPr sz="788" b="1" dirty="0">
                <a:latin typeface="Arial"/>
                <a:cs typeface="Arial"/>
              </a:rPr>
              <a:t>July</a:t>
            </a:r>
            <a:r>
              <a:rPr sz="788" b="1" spc="-15" dirty="0">
                <a:latin typeface="Arial"/>
                <a:cs typeface="Arial"/>
              </a:rPr>
              <a:t> </a:t>
            </a:r>
            <a:r>
              <a:rPr sz="788" b="1" dirty="0">
                <a:latin typeface="Arial"/>
                <a:cs typeface="Arial"/>
              </a:rPr>
              <a:t>20,</a:t>
            </a:r>
            <a:r>
              <a:rPr sz="788" b="1" spc="-11" dirty="0">
                <a:latin typeface="Arial"/>
                <a:cs typeface="Arial"/>
              </a:rPr>
              <a:t> </a:t>
            </a:r>
            <a:r>
              <a:rPr sz="788" b="1" dirty="0">
                <a:latin typeface="Arial"/>
                <a:cs typeface="Arial"/>
              </a:rPr>
              <a:t>2022</a:t>
            </a:r>
            <a:r>
              <a:rPr sz="788" b="1" spc="-8" dirty="0">
                <a:latin typeface="Arial"/>
                <a:cs typeface="Arial"/>
              </a:rPr>
              <a:t> </a:t>
            </a:r>
            <a:r>
              <a:rPr sz="788" b="1" dirty="0">
                <a:latin typeface="Arial"/>
                <a:cs typeface="Arial"/>
              </a:rPr>
              <a:t>The</a:t>
            </a:r>
            <a:r>
              <a:rPr sz="788" b="1" spc="-26" dirty="0">
                <a:latin typeface="Arial"/>
                <a:cs typeface="Arial"/>
              </a:rPr>
              <a:t> </a:t>
            </a:r>
            <a:r>
              <a:rPr sz="788" b="1" dirty="0">
                <a:latin typeface="Arial"/>
                <a:cs typeface="Arial"/>
              </a:rPr>
              <a:t>Worst</a:t>
            </a:r>
            <a:r>
              <a:rPr sz="788" b="1" spc="-19" dirty="0">
                <a:latin typeface="Arial"/>
                <a:cs typeface="Arial"/>
              </a:rPr>
              <a:t> </a:t>
            </a:r>
            <a:r>
              <a:rPr sz="788" b="1" dirty="0">
                <a:latin typeface="Arial"/>
                <a:cs typeface="Arial"/>
              </a:rPr>
              <a:t>Solar</a:t>
            </a:r>
            <a:r>
              <a:rPr sz="788" b="1" spc="-30" dirty="0">
                <a:latin typeface="Arial"/>
                <a:cs typeface="Arial"/>
              </a:rPr>
              <a:t> </a:t>
            </a:r>
            <a:r>
              <a:rPr sz="788" b="1" dirty="0">
                <a:latin typeface="Arial"/>
                <a:cs typeface="Arial"/>
              </a:rPr>
              <a:t>Storms</a:t>
            </a:r>
            <a:r>
              <a:rPr sz="788" b="1" spc="-15" dirty="0">
                <a:latin typeface="Arial"/>
                <a:cs typeface="Arial"/>
              </a:rPr>
              <a:t> </a:t>
            </a:r>
            <a:r>
              <a:rPr sz="788" b="1" dirty="0">
                <a:latin typeface="Arial"/>
                <a:cs typeface="Arial"/>
              </a:rPr>
              <a:t>in</a:t>
            </a:r>
            <a:r>
              <a:rPr sz="788" b="1" spc="-8" dirty="0">
                <a:latin typeface="Arial"/>
                <a:cs typeface="Arial"/>
              </a:rPr>
              <a:t> History]</a:t>
            </a:r>
            <a:endParaRPr sz="788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7944" y="1756838"/>
            <a:ext cx="3365183" cy="3043782"/>
          </a:xfrm>
          <a:prstGeom prst="rect">
            <a:avLst/>
          </a:prstGeom>
        </p:spPr>
        <p:txBody>
          <a:bodyPr vert="horz" wrap="square" lIns="0" tIns="55245" rIns="0" bIns="0" rtlCol="0">
            <a:spAutoFit/>
          </a:bodyPr>
          <a:lstStyle/>
          <a:p>
            <a:pPr marL="181928" marR="281940" indent="-172878">
              <a:lnSpc>
                <a:spcPts val="1800"/>
              </a:lnSpc>
              <a:spcBef>
                <a:spcPts val="435"/>
              </a:spcBef>
              <a:buFont typeface="Arial"/>
              <a:buChar char="•"/>
              <a:tabLst>
                <a:tab pos="182880" algn="l"/>
              </a:tabLst>
            </a:pPr>
            <a:r>
              <a:rPr sz="1800" b="1" dirty="0">
                <a:latin typeface="Arial"/>
                <a:cs typeface="Arial"/>
              </a:rPr>
              <a:t>Models</a:t>
            </a:r>
            <a:r>
              <a:rPr sz="1800" b="1" spc="-41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based</a:t>
            </a:r>
            <a:r>
              <a:rPr sz="1800" b="1" spc="-3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on</a:t>
            </a:r>
            <a:r>
              <a:rPr sz="1800" b="1" spc="-41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theory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19" dirty="0">
                <a:latin typeface="Arial"/>
                <a:cs typeface="Arial"/>
              </a:rPr>
              <a:t>of 	</a:t>
            </a:r>
            <a:r>
              <a:rPr sz="1800" b="1" dirty="0">
                <a:latin typeface="Arial"/>
                <a:cs typeface="Arial"/>
              </a:rPr>
              <a:t>solar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modulation</a:t>
            </a:r>
            <a:r>
              <a:rPr sz="1800" b="1" spc="-41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38" dirty="0">
                <a:latin typeface="Arial"/>
                <a:cs typeface="Arial"/>
              </a:rPr>
              <a:t> </a:t>
            </a:r>
            <a:r>
              <a:rPr sz="1800" b="1" spc="-19" dirty="0">
                <a:latin typeface="Arial"/>
                <a:cs typeface="Arial"/>
              </a:rPr>
              <a:t>GCR 	</a:t>
            </a:r>
            <a:r>
              <a:rPr sz="1800" b="1" spc="-8" dirty="0">
                <a:latin typeface="Arial"/>
                <a:cs typeface="Arial"/>
              </a:rPr>
              <a:t>fluxes</a:t>
            </a:r>
            <a:endParaRPr sz="1800">
              <a:latin typeface="Arial"/>
              <a:cs typeface="Arial"/>
            </a:endParaRPr>
          </a:p>
          <a:p>
            <a:pPr marL="181928" marR="51435" indent="-172878">
              <a:lnSpc>
                <a:spcPts val="1800"/>
              </a:lnSpc>
              <a:spcBef>
                <a:spcPts val="746"/>
              </a:spcBef>
              <a:buFont typeface="Arial"/>
              <a:buChar char="•"/>
              <a:tabLst>
                <a:tab pos="182880" algn="l"/>
              </a:tabLst>
            </a:pPr>
            <a:r>
              <a:rPr sz="1800" b="1" dirty="0">
                <a:latin typeface="Arial"/>
                <a:cs typeface="Arial"/>
              </a:rPr>
              <a:t>Describe</a:t>
            </a:r>
            <a:r>
              <a:rPr sz="1800" b="1" spc="-3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penetration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41" dirty="0">
                <a:latin typeface="Arial"/>
                <a:cs typeface="Arial"/>
              </a:rPr>
              <a:t> </a:t>
            </a:r>
            <a:r>
              <a:rPr sz="1800" b="1" spc="-19" dirty="0">
                <a:latin typeface="Arial"/>
                <a:cs typeface="Arial"/>
              </a:rPr>
              <a:t>GCR 	</a:t>
            </a:r>
            <a:r>
              <a:rPr sz="1800" b="1" dirty="0">
                <a:latin typeface="Arial"/>
                <a:cs typeface="Arial"/>
              </a:rPr>
              <a:t>Local</a:t>
            </a:r>
            <a:r>
              <a:rPr sz="1800" b="1" spc="-41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Interstellar</a:t>
            </a:r>
            <a:r>
              <a:rPr sz="1800" b="1" spc="-53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Spectra 	</a:t>
            </a:r>
            <a:r>
              <a:rPr sz="1800" b="1" dirty="0">
                <a:latin typeface="Arial"/>
                <a:cs typeface="Arial"/>
              </a:rPr>
              <a:t>(LIS)</a:t>
            </a:r>
            <a:r>
              <a:rPr sz="1800" b="1" spc="-26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into</a:t>
            </a:r>
            <a:r>
              <a:rPr sz="1800" b="1" spc="-3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heliosphere</a:t>
            </a:r>
            <a:r>
              <a:rPr sz="1800" b="1" spc="-23" dirty="0">
                <a:latin typeface="Arial"/>
                <a:cs typeface="Arial"/>
              </a:rPr>
              <a:t> </a:t>
            </a:r>
            <a:r>
              <a:rPr sz="1800" b="1" spc="-19" dirty="0">
                <a:latin typeface="Arial"/>
                <a:cs typeface="Arial"/>
              </a:rPr>
              <a:t>and 	</a:t>
            </a:r>
            <a:r>
              <a:rPr sz="1800" b="1" dirty="0">
                <a:latin typeface="Arial"/>
                <a:cs typeface="Arial"/>
              </a:rPr>
              <a:t>transport</a:t>
            </a:r>
            <a:r>
              <a:rPr sz="1800" b="1" spc="-38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to</a:t>
            </a:r>
            <a:r>
              <a:rPr sz="1800" b="1" spc="-38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near</a:t>
            </a:r>
            <a:r>
              <a:rPr sz="1800" b="1" spc="-26" dirty="0">
                <a:latin typeface="Arial"/>
                <a:cs typeface="Arial"/>
              </a:rPr>
              <a:t> </a:t>
            </a:r>
            <a:r>
              <a:rPr sz="1800" b="1" spc="-15" dirty="0">
                <a:latin typeface="Arial"/>
                <a:cs typeface="Arial"/>
              </a:rPr>
              <a:t>Earth</a:t>
            </a:r>
            <a:endParaRPr sz="1800">
              <a:latin typeface="Arial"/>
              <a:cs typeface="Arial"/>
            </a:endParaRPr>
          </a:p>
          <a:p>
            <a:pPr marL="181928" marR="3810" indent="-172878">
              <a:lnSpc>
                <a:spcPts val="1800"/>
              </a:lnSpc>
              <a:spcBef>
                <a:spcPts val="746"/>
              </a:spcBef>
              <a:buFont typeface="Arial"/>
              <a:buChar char="•"/>
              <a:tabLst>
                <a:tab pos="182880" algn="l"/>
              </a:tabLst>
            </a:pPr>
            <a:r>
              <a:rPr sz="1800" b="1" dirty="0">
                <a:latin typeface="Arial"/>
                <a:cs typeface="Arial"/>
              </a:rPr>
              <a:t>Variation</a:t>
            </a:r>
            <a:r>
              <a:rPr sz="1800" b="1" spc="-53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over</a:t>
            </a:r>
            <a:r>
              <a:rPr sz="1800" b="1" spc="-19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38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solar</a:t>
            </a:r>
            <a:r>
              <a:rPr sz="1800" b="1" spc="-38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cycle 	</a:t>
            </a:r>
            <a:r>
              <a:rPr sz="1800" b="1" dirty="0">
                <a:latin typeface="Arial"/>
                <a:cs typeface="Arial"/>
              </a:rPr>
              <a:t>results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from</a:t>
            </a:r>
            <a:r>
              <a:rPr sz="1800" b="1" spc="-26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sun’s</a:t>
            </a:r>
            <a:r>
              <a:rPr sz="1800" b="1" spc="-23" dirty="0">
                <a:latin typeface="Arial"/>
                <a:cs typeface="Arial"/>
              </a:rPr>
              <a:t> </a:t>
            </a:r>
            <a:r>
              <a:rPr sz="1800" b="1" spc="-8" dirty="0">
                <a:latin typeface="Arial"/>
                <a:cs typeface="Arial"/>
              </a:rPr>
              <a:t>magnetic 	activity</a:t>
            </a:r>
            <a:endParaRPr sz="1800">
              <a:latin typeface="Arial"/>
              <a:cs typeface="Arial"/>
            </a:endParaRPr>
          </a:p>
          <a:p>
            <a:pPr marL="355759" marR="276225" indent="-172878">
              <a:spcBef>
                <a:spcPts val="310"/>
              </a:spcBef>
            </a:pPr>
            <a:r>
              <a:rPr sz="1500" dirty="0">
                <a:solidFill>
                  <a:srgbClr val="0000FF"/>
                </a:solidFill>
                <a:latin typeface="Arial"/>
                <a:cs typeface="Arial"/>
              </a:rPr>
              <a:t>‒</a:t>
            </a:r>
            <a:r>
              <a:rPr sz="1500" spc="8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Higher</a:t>
            </a:r>
            <a:r>
              <a:rPr sz="15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activity</a:t>
            </a:r>
            <a:r>
              <a:rPr sz="1500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during</a:t>
            </a:r>
            <a:r>
              <a:rPr sz="15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8" dirty="0">
                <a:solidFill>
                  <a:srgbClr val="0000FF"/>
                </a:solidFill>
                <a:latin typeface="Arial"/>
                <a:cs typeface="Arial"/>
              </a:rPr>
              <a:t>solar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maximum</a:t>
            </a:r>
            <a:r>
              <a:rPr sz="1500" b="1" spc="-2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results</a:t>
            </a:r>
            <a:r>
              <a:rPr sz="15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in</a:t>
            </a:r>
            <a:r>
              <a:rPr sz="1500" b="1" spc="-2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000FF"/>
                </a:solidFill>
                <a:latin typeface="Arial"/>
                <a:cs typeface="Arial"/>
              </a:rPr>
              <a:t>lower</a:t>
            </a:r>
            <a:r>
              <a:rPr sz="1500" b="1" spc="-3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500" b="1" spc="-15" dirty="0">
                <a:solidFill>
                  <a:srgbClr val="0000FF"/>
                </a:solidFill>
                <a:latin typeface="Arial"/>
                <a:cs typeface="Arial"/>
              </a:rPr>
              <a:t>flux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56916" y="4807748"/>
            <a:ext cx="4305300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spc="-34" dirty="0">
                <a:latin typeface="Arial"/>
                <a:cs typeface="Arial"/>
              </a:rPr>
              <a:t>P.M.</a:t>
            </a:r>
            <a:r>
              <a:rPr sz="1050" b="1" spc="-41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O’Neill,</a:t>
            </a:r>
            <a:r>
              <a:rPr sz="1050" b="1" spc="-56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S.</a:t>
            </a:r>
            <a:r>
              <a:rPr sz="1050" b="1" spc="-19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Golge</a:t>
            </a:r>
            <a:r>
              <a:rPr sz="1050" b="1" spc="-41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and</a:t>
            </a:r>
            <a:r>
              <a:rPr sz="1050" b="1" spc="-30" dirty="0">
                <a:latin typeface="Arial"/>
                <a:cs typeface="Arial"/>
              </a:rPr>
              <a:t> </a:t>
            </a:r>
            <a:r>
              <a:rPr sz="1050" b="1" spc="-23" dirty="0">
                <a:latin typeface="Arial"/>
                <a:cs typeface="Arial"/>
              </a:rPr>
              <a:t>T.C.</a:t>
            </a:r>
            <a:r>
              <a:rPr sz="1050" b="1" spc="-30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Slaba,</a:t>
            </a:r>
            <a:r>
              <a:rPr sz="1050" b="1" spc="-34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NASA</a:t>
            </a:r>
            <a:r>
              <a:rPr sz="1050" b="1" spc="-38" dirty="0">
                <a:latin typeface="Arial"/>
                <a:cs typeface="Arial"/>
              </a:rPr>
              <a:t> </a:t>
            </a:r>
            <a:r>
              <a:rPr sz="1050" b="1" spc="-15" dirty="0">
                <a:latin typeface="Arial"/>
                <a:cs typeface="Arial"/>
              </a:rPr>
              <a:t>Tech.</a:t>
            </a:r>
            <a:r>
              <a:rPr sz="1050" b="1" spc="-26" dirty="0">
                <a:latin typeface="Arial"/>
                <a:cs typeface="Arial"/>
              </a:rPr>
              <a:t> </a:t>
            </a:r>
            <a:r>
              <a:rPr sz="1050" b="1" spc="-8" dirty="0">
                <a:latin typeface="Arial"/>
                <a:cs typeface="Arial"/>
              </a:rPr>
              <a:t>Paper,</a:t>
            </a:r>
            <a:r>
              <a:rPr sz="1050" b="1" spc="-38" dirty="0">
                <a:latin typeface="Arial"/>
                <a:cs typeface="Arial"/>
              </a:rPr>
              <a:t> </a:t>
            </a:r>
            <a:r>
              <a:rPr sz="1050" b="1" dirty="0">
                <a:latin typeface="Arial"/>
                <a:cs typeface="Arial"/>
              </a:rPr>
              <a:t>March</a:t>
            </a:r>
            <a:r>
              <a:rPr sz="1050" b="1" spc="-53" dirty="0">
                <a:latin typeface="Arial"/>
                <a:cs typeface="Arial"/>
              </a:rPr>
              <a:t> </a:t>
            </a:r>
            <a:r>
              <a:rPr sz="1050" b="1" spc="-15" dirty="0">
                <a:latin typeface="Arial"/>
                <a:cs typeface="Arial"/>
              </a:rPr>
              <a:t>2015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48718" y="1721406"/>
            <a:ext cx="4699445" cy="289588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862349" y="2320097"/>
            <a:ext cx="313849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15" dirty="0">
                <a:latin typeface="Arial"/>
                <a:cs typeface="Arial"/>
              </a:rPr>
              <a:t>Iron</a:t>
            </a:r>
            <a:endParaRPr sz="1350">
              <a:latin typeface="Arial"/>
              <a:cs typeface="Arial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150FE82-FF1F-E23D-5452-69B4C05210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pc="-8" dirty="0"/>
              <a:t>Model </a:t>
            </a:r>
            <a:r>
              <a:rPr lang="en-US" dirty="0"/>
              <a:t>Variation</a:t>
            </a:r>
            <a:r>
              <a:rPr lang="en-US" spc="-38" dirty="0"/>
              <a:t> </a:t>
            </a:r>
            <a:r>
              <a:rPr lang="en-US" dirty="0"/>
              <a:t>with</a:t>
            </a:r>
            <a:r>
              <a:rPr lang="en-US" spc="-49" dirty="0"/>
              <a:t> </a:t>
            </a:r>
            <a:r>
              <a:rPr lang="en-US" dirty="0"/>
              <a:t>Solar</a:t>
            </a:r>
            <a:r>
              <a:rPr lang="en-US" spc="-34" dirty="0"/>
              <a:t> </a:t>
            </a:r>
            <a:r>
              <a:rPr lang="en-US" spc="-8" dirty="0"/>
              <a:t>Cycle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SDE - Ti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VUSE - Review Template">
  <a:themeElements>
    <a:clrScheme name="DTRA Briefing Slide 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TRA Briefing Slide Template">
      <a:majorFont>
        <a:latin typeface="Univers"/>
        <a:ea typeface="ＭＳ Ｐゴシック"/>
        <a:cs typeface="ＭＳ Ｐゴシック"/>
      </a:majorFont>
      <a:minorFont>
        <a:latin typeface="Univers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lnDef>
  </a:objectDefaults>
  <a:extraClrSchemeLst>
    <a:extraClrScheme>
      <a:clrScheme name="DTRA Briefing Slide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TRA Briefing Slide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TRA Briefing Slide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TRA Briefing Slide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TRA Briefing Slide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TRA Briefing Slide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TRA Briefing Slide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TRA Briefing Slide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TRA Briefing Slide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TRA Briefing Slide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TRA Briefing Slide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TRA Briefing Slide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21583</TotalTime>
  <Words>7308</Words>
  <Application>Microsoft Macintosh PowerPoint</Application>
  <PresentationFormat>On-screen Show (16:10)</PresentationFormat>
  <Paragraphs>802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51</vt:i4>
      </vt:variant>
    </vt:vector>
  </HeadingPairs>
  <TitlesOfParts>
    <vt:vector size="60" baseType="lpstr">
      <vt:lpstr>Arial</vt:lpstr>
      <vt:lpstr>Helvetica</vt:lpstr>
      <vt:lpstr>Lucida Grande</vt:lpstr>
      <vt:lpstr>Times</vt:lpstr>
      <vt:lpstr>Times New Roman</vt:lpstr>
      <vt:lpstr>Univers</vt:lpstr>
      <vt:lpstr>Wingdings</vt:lpstr>
      <vt:lpstr>ISDE - Title</vt:lpstr>
      <vt:lpstr>VUSE - Review Template</vt:lpstr>
      <vt:lpstr>02 – The Natural Space Radiation Environment  ENGR-E 399/599 Microelectronics Radiation Effects and Reliability</vt:lpstr>
      <vt:lpstr>Context</vt:lpstr>
      <vt:lpstr>Learning Objectives</vt:lpstr>
      <vt:lpstr>Section Topics/Outline</vt:lpstr>
      <vt:lpstr>Section Topics/Outline</vt:lpstr>
      <vt:lpstr>The Natural Space Radiation Environment</vt:lpstr>
      <vt:lpstr>Sources of Natural Space Radiation Environment</vt:lpstr>
      <vt:lpstr>Sources of Natural Space Radiation Environment</vt:lpstr>
      <vt:lpstr>Radiation Belts Trapped</vt:lpstr>
      <vt:lpstr>Radiation Belts</vt:lpstr>
      <vt:lpstr>Section Topics/Outline</vt:lpstr>
      <vt:lpstr>Effects of the Sun on Space Environment</vt:lpstr>
      <vt:lpstr>The Sun and It’s Effect on the Natural Space Environment</vt:lpstr>
      <vt:lpstr>The Sunspot Cycle</vt:lpstr>
      <vt:lpstr>Section Topics/Outline</vt:lpstr>
      <vt:lpstr>Solar Energetic Particles</vt:lpstr>
      <vt:lpstr>Solar Cycle Dependence</vt:lpstr>
      <vt:lpstr>Worst Case Solar Particle Events</vt:lpstr>
      <vt:lpstr>Worst Case Solar Particle Event Model CREME96</vt:lpstr>
      <vt:lpstr>Section Topics/Outline</vt:lpstr>
      <vt:lpstr>Galactic Cosmic Rays</vt:lpstr>
      <vt:lpstr>Solar Cycle Dependence</vt:lpstr>
      <vt:lpstr>Models</vt:lpstr>
      <vt:lpstr>Section Topics/Outline</vt:lpstr>
      <vt:lpstr>Earth’s Internal Magnetic Field</vt:lpstr>
      <vt:lpstr>Trapped Charged Particle Motion and  L-Shells</vt:lpstr>
      <vt:lpstr>Charged Particle Distribution</vt:lpstr>
      <vt:lpstr>Solar Cycle Dependence</vt:lpstr>
      <vt:lpstr>Trapped Proton and Electron Properties</vt:lpstr>
      <vt:lpstr>Trapped Proton Properties South Atlantic Anomaly</vt:lpstr>
      <vt:lpstr>Trapped Proton and Electron Models</vt:lpstr>
      <vt:lpstr>Section Topics/Outline</vt:lpstr>
      <vt:lpstr>Why do environments matter?</vt:lpstr>
      <vt:lpstr>Why do environments matter?</vt:lpstr>
      <vt:lpstr>Why do environments matter?</vt:lpstr>
      <vt:lpstr>Why do environments matter?</vt:lpstr>
      <vt:lpstr>Why do environments matter?</vt:lpstr>
      <vt:lpstr>Section Topics/Outline</vt:lpstr>
      <vt:lpstr>Effect of the Environment on Mission Low Earth Orbit (LEO) </vt:lpstr>
      <vt:lpstr>Effect of the Environment on Mission Medium Earth Orbit (MEO)</vt:lpstr>
      <vt:lpstr>Effect of the Environment on Mission Highly Elliptical Orbit (HEO)</vt:lpstr>
      <vt:lpstr>Effect of the Environment on Mission Geosynchronous Orbit (GEO)</vt:lpstr>
      <vt:lpstr>Section Topics/Outline</vt:lpstr>
      <vt:lpstr>Summary Sources of Radiation Near Earth</vt:lpstr>
      <vt:lpstr>Summary Sources of Radiation Near Earth</vt:lpstr>
      <vt:lpstr>Summary Sources of Radiation Near Earth</vt:lpstr>
      <vt:lpstr>Summary Effect of the Sun on Environment</vt:lpstr>
      <vt:lpstr>Summary Effect of the Environment on Mission</vt:lpstr>
      <vt:lpstr>Questions?</vt:lpstr>
      <vt:lpstr>Why do environments matter? Historical Examples</vt:lpstr>
      <vt:lpstr>Model Variation with Solar Cycle</vt:lpstr>
    </vt:vector>
  </TitlesOfParts>
  <Manager/>
  <Company>Vanderbilt University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Loveless, Daniel</cp:lastModifiedBy>
  <cp:revision>477</cp:revision>
  <cp:lastPrinted>2014-09-11T17:50:01Z</cp:lastPrinted>
  <dcterms:created xsi:type="dcterms:W3CDTF">2006-03-07T17:15:04Z</dcterms:created>
  <dcterms:modified xsi:type="dcterms:W3CDTF">2025-09-09T18:35:13Z</dcterms:modified>
  <cp:category/>
</cp:coreProperties>
</file>